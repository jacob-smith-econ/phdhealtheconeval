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1" r:id="rId1"/>
  </p:sldMasterIdLst>
  <p:notesMasterIdLst>
    <p:notesMasterId r:id="rId46"/>
  </p:notesMasterIdLst>
  <p:sldIdLst>
    <p:sldId id="256" r:id="rId2"/>
    <p:sldId id="260" r:id="rId3"/>
    <p:sldId id="292" r:id="rId4"/>
    <p:sldId id="289" r:id="rId5"/>
    <p:sldId id="290" r:id="rId6"/>
    <p:sldId id="283" r:id="rId7"/>
    <p:sldId id="291" r:id="rId8"/>
    <p:sldId id="259" r:id="rId9"/>
    <p:sldId id="261" r:id="rId10"/>
    <p:sldId id="265" r:id="rId11"/>
    <p:sldId id="266" r:id="rId12"/>
    <p:sldId id="263" r:id="rId13"/>
    <p:sldId id="267" r:id="rId14"/>
    <p:sldId id="280" r:id="rId15"/>
    <p:sldId id="275" r:id="rId16"/>
    <p:sldId id="278" r:id="rId17"/>
    <p:sldId id="279" r:id="rId18"/>
    <p:sldId id="277" r:id="rId19"/>
    <p:sldId id="276" r:id="rId20"/>
    <p:sldId id="269" r:id="rId21"/>
    <p:sldId id="310" r:id="rId22"/>
    <p:sldId id="309" r:id="rId23"/>
    <p:sldId id="282" r:id="rId24"/>
    <p:sldId id="284" r:id="rId25"/>
    <p:sldId id="285" r:id="rId26"/>
    <p:sldId id="296" r:id="rId27"/>
    <p:sldId id="297" r:id="rId28"/>
    <p:sldId id="298" r:id="rId29"/>
    <p:sldId id="307" r:id="rId30"/>
    <p:sldId id="299" r:id="rId31"/>
    <p:sldId id="286" r:id="rId32"/>
    <p:sldId id="303" r:id="rId33"/>
    <p:sldId id="293" r:id="rId34"/>
    <p:sldId id="305" r:id="rId35"/>
    <p:sldId id="304" r:id="rId36"/>
    <p:sldId id="311" r:id="rId37"/>
    <p:sldId id="274" r:id="rId38"/>
    <p:sldId id="300" r:id="rId39"/>
    <p:sldId id="262" r:id="rId40"/>
    <p:sldId id="257" r:id="rId41"/>
    <p:sldId id="301" r:id="rId42"/>
    <p:sldId id="302" r:id="rId43"/>
    <p:sldId id="264" r:id="rId44"/>
    <p:sldId id="306"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106" d="100"/>
          <a:sy n="106" d="100"/>
        </p:scale>
        <p:origin x="67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Sheet1!$I$11</c:f>
              <c:strCache>
                <c:ptCount val="1"/>
                <c:pt idx="0">
                  <c:v>Delta C</c:v>
                </c:pt>
              </c:strCache>
            </c:strRef>
          </c:tx>
          <c:spPr>
            <a:ln w="28575" cap="rnd">
              <a:solidFill>
                <a:schemeClr val="accent1"/>
              </a:solidFill>
              <a:round/>
            </a:ln>
            <a:effectLst/>
          </c:spPr>
          <c:marker>
            <c:symbol val="circle"/>
            <c:size val="5"/>
            <c:spPr>
              <a:solidFill>
                <a:schemeClr val="accent1"/>
              </a:solidFill>
              <a:ln w="28575">
                <a:solidFill>
                  <a:schemeClr val="accent1"/>
                </a:solidFill>
              </a:ln>
              <a:effectLst/>
            </c:spPr>
          </c:marker>
          <c:xVal>
            <c:numRef>
              <c:f>Sheet1!$H$12:$H$16</c:f>
              <c:numCache>
                <c:formatCode>#,##0</c:formatCode>
                <c:ptCount val="5"/>
                <c:pt idx="0" formatCode="General">
                  <c:v>0</c:v>
                </c:pt>
                <c:pt idx="1">
                  <c:v>4000</c:v>
                </c:pt>
                <c:pt idx="2">
                  <c:v>6000</c:v>
                </c:pt>
                <c:pt idx="3">
                  <c:v>9000</c:v>
                </c:pt>
                <c:pt idx="4">
                  <c:v>10000</c:v>
                </c:pt>
              </c:numCache>
            </c:numRef>
          </c:xVal>
          <c:yVal>
            <c:numRef>
              <c:f>Sheet1!$I$12:$I$16</c:f>
              <c:numCache>
                <c:formatCode>#,##0</c:formatCode>
                <c:ptCount val="5"/>
                <c:pt idx="0" formatCode="General">
                  <c:v>0</c:v>
                </c:pt>
                <c:pt idx="1">
                  <c:v>50000000</c:v>
                </c:pt>
                <c:pt idx="2">
                  <c:v>100000000</c:v>
                </c:pt>
                <c:pt idx="3">
                  <c:v>140000000</c:v>
                </c:pt>
                <c:pt idx="4">
                  <c:v>200000000</c:v>
                </c:pt>
              </c:numCache>
            </c:numRef>
          </c:yVal>
          <c:smooth val="0"/>
          <c:extLst>
            <c:ext xmlns:c16="http://schemas.microsoft.com/office/drawing/2014/chart" uri="{C3380CC4-5D6E-409C-BE32-E72D297353CC}">
              <c16:uniqueId val="{00000000-15C0-4A47-AC73-AAB684D2E506}"/>
            </c:ext>
          </c:extLst>
        </c:ser>
        <c:dLbls>
          <c:showLegendKey val="0"/>
          <c:showVal val="0"/>
          <c:showCatName val="0"/>
          <c:showSerName val="0"/>
          <c:showPercent val="0"/>
          <c:showBubbleSize val="0"/>
        </c:dLbls>
        <c:axId val="912864447"/>
        <c:axId val="912864031"/>
      </c:scatterChart>
      <c:valAx>
        <c:axId val="912864447"/>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12864031"/>
        <c:crosses val="autoZero"/>
        <c:crossBetween val="midCat"/>
      </c:valAx>
      <c:valAx>
        <c:axId val="912864031"/>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12864447"/>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Sheet1!$I$11</c:f>
              <c:strCache>
                <c:ptCount val="1"/>
                <c:pt idx="0">
                  <c:v>Delta C</c:v>
                </c:pt>
              </c:strCache>
            </c:strRef>
          </c:tx>
          <c:spPr>
            <a:ln w="28575" cap="rnd">
              <a:solidFill>
                <a:schemeClr val="accent1"/>
              </a:solidFill>
              <a:round/>
            </a:ln>
            <a:effectLst/>
          </c:spPr>
          <c:marker>
            <c:symbol val="circle"/>
            <c:size val="5"/>
            <c:spPr>
              <a:solidFill>
                <a:schemeClr val="accent1"/>
              </a:solidFill>
              <a:ln w="28575">
                <a:solidFill>
                  <a:schemeClr val="accent1"/>
                </a:solidFill>
              </a:ln>
              <a:effectLst/>
            </c:spPr>
          </c:marker>
          <c:xVal>
            <c:numRef>
              <c:f>Sheet1!$H$12:$H$16</c:f>
              <c:numCache>
                <c:formatCode>#,##0</c:formatCode>
                <c:ptCount val="5"/>
                <c:pt idx="0" formatCode="General">
                  <c:v>0</c:v>
                </c:pt>
                <c:pt idx="1">
                  <c:v>4000</c:v>
                </c:pt>
                <c:pt idx="2">
                  <c:v>6000</c:v>
                </c:pt>
                <c:pt idx="3">
                  <c:v>9000</c:v>
                </c:pt>
                <c:pt idx="4">
                  <c:v>10000</c:v>
                </c:pt>
              </c:numCache>
            </c:numRef>
          </c:xVal>
          <c:yVal>
            <c:numRef>
              <c:f>Sheet1!$I$12:$I$16</c:f>
              <c:numCache>
                <c:formatCode>#,##0</c:formatCode>
                <c:ptCount val="5"/>
                <c:pt idx="0" formatCode="General">
                  <c:v>0</c:v>
                </c:pt>
                <c:pt idx="1">
                  <c:v>50000000</c:v>
                </c:pt>
                <c:pt idx="2">
                  <c:v>100000000</c:v>
                </c:pt>
                <c:pt idx="3">
                  <c:v>140000000</c:v>
                </c:pt>
                <c:pt idx="4">
                  <c:v>200000000</c:v>
                </c:pt>
              </c:numCache>
            </c:numRef>
          </c:yVal>
          <c:smooth val="0"/>
          <c:extLst>
            <c:ext xmlns:c16="http://schemas.microsoft.com/office/drawing/2014/chart" uri="{C3380CC4-5D6E-409C-BE32-E72D297353CC}">
              <c16:uniqueId val="{00000000-15C0-4A47-AC73-AAB684D2E506}"/>
            </c:ext>
          </c:extLst>
        </c:ser>
        <c:ser>
          <c:idx val="1"/>
          <c:order val="1"/>
          <c:tx>
            <c:strRef>
              <c:f>Sheet1!$J$11</c:f>
              <c:strCache>
                <c:ptCount val="1"/>
                <c:pt idx="0">
                  <c:v>Delta C2</c:v>
                </c:pt>
              </c:strCache>
            </c:strRef>
          </c:tx>
          <c:spPr>
            <a:ln w="38100" cap="rnd">
              <a:solidFill>
                <a:srgbClr val="C00000"/>
              </a:solidFill>
              <a:round/>
            </a:ln>
            <a:effectLst/>
          </c:spPr>
          <c:marker>
            <c:symbol val="circle"/>
            <c:size val="5"/>
            <c:spPr>
              <a:solidFill>
                <a:srgbClr val="C00000"/>
              </a:solidFill>
              <a:ln w="38100">
                <a:solidFill>
                  <a:srgbClr val="C00000"/>
                </a:solidFill>
              </a:ln>
              <a:effectLst/>
            </c:spPr>
          </c:marker>
          <c:xVal>
            <c:numRef>
              <c:f>Sheet1!$H$12:$H$16</c:f>
              <c:numCache>
                <c:formatCode>#,##0</c:formatCode>
                <c:ptCount val="5"/>
                <c:pt idx="0" formatCode="General">
                  <c:v>0</c:v>
                </c:pt>
                <c:pt idx="1">
                  <c:v>4000</c:v>
                </c:pt>
                <c:pt idx="2">
                  <c:v>6000</c:v>
                </c:pt>
                <c:pt idx="3">
                  <c:v>9000</c:v>
                </c:pt>
                <c:pt idx="4">
                  <c:v>10000</c:v>
                </c:pt>
              </c:numCache>
            </c:numRef>
          </c:xVal>
          <c:yVal>
            <c:numRef>
              <c:f>Sheet1!$J$12:$J$15</c:f>
              <c:numCache>
                <c:formatCode>#,##0</c:formatCode>
                <c:ptCount val="4"/>
                <c:pt idx="1">
                  <c:v>50000000</c:v>
                </c:pt>
                <c:pt idx="3">
                  <c:v>140000000</c:v>
                </c:pt>
              </c:numCache>
            </c:numRef>
          </c:yVal>
          <c:smooth val="0"/>
          <c:extLst>
            <c:ext xmlns:c16="http://schemas.microsoft.com/office/drawing/2014/chart" uri="{C3380CC4-5D6E-409C-BE32-E72D297353CC}">
              <c16:uniqueId val="{00000001-15C0-4A47-AC73-AAB684D2E506}"/>
            </c:ext>
          </c:extLst>
        </c:ser>
        <c:dLbls>
          <c:showLegendKey val="0"/>
          <c:showVal val="0"/>
          <c:showCatName val="0"/>
          <c:showSerName val="0"/>
          <c:showPercent val="0"/>
          <c:showBubbleSize val="0"/>
        </c:dLbls>
        <c:axId val="912864447"/>
        <c:axId val="912864031"/>
      </c:scatterChart>
      <c:valAx>
        <c:axId val="912864447"/>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12864031"/>
        <c:crosses val="autoZero"/>
        <c:crossBetween val="midCat"/>
      </c:valAx>
      <c:valAx>
        <c:axId val="912864031"/>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12864447"/>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Sheet1!$F$29</c:f>
              <c:strCache>
                <c:ptCount val="1"/>
                <c:pt idx="0">
                  <c:v>Delta C</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Sheet1!$E$30:$E$33</c:f>
              <c:numCache>
                <c:formatCode>General</c:formatCode>
                <c:ptCount val="4"/>
                <c:pt idx="0">
                  <c:v>0</c:v>
                </c:pt>
                <c:pt idx="1">
                  <c:v>4000</c:v>
                </c:pt>
                <c:pt idx="2">
                  <c:v>9000</c:v>
                </c:pt>
                <c:pt idx="3">
                  <c:v>10000</c:v>
                </c:pt>
              </c:numCache>
            </c:numRef>
          </c:xVal>
          <c:yVal>
            <c:numRef>
              <c:f>Sheet1!$F$30:$F$33</c:f>
              <c:numCache>
                <c:formatCode>General</c:formatCode>
                <c:ptCount val="4"/>
                <c:pt idx="0">
                  <c:v>0</c:v>
                </c:pt>
                <c:pt idx="1">
                  <c:v>50000000</c:v>
                </c:pt>
                <c:pt idx="2">
                  <c:v>140000000</c:v>
                </c:pt>
                <c:pt idx="3">
                  <c:v>200000000</c:v>
                </c:pt>
              </c:numCache>
            </c:numRef>
          </c:yVal>
          <c:smooth val="0"/>
          <c:extLst>
            <c:ext xmlns:c16="http://schemas.microsoft.com/office/drawing/2014/chart" uri="{C3380CC4-5D6E-409C-BE32-E72D297353CC}">
              <c16:uniqueId val="{00000000-558C-414F-8143-69A92A4543DD}"/>
            </c:ext>
          </c:extLst>
        </c:ser>
        <c:dLbls>
          <c:showLegendKey val="0"/>
          <c:showVal val="0"/>
          <c:showCatName val="0"/>
          <c:showSerName val="0"/>
          <c:showPercent val="0"/>
          <c:showBubbleSize val="0"/>
        </c:dLbls>
        <c:axId val="1011628415"/>
        <c:axId val="1011628831"/>
      </c:scatterChart>
      <c:valAx>
        <c:axId val="1011628415"/>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11628831"/>
        <c:crosses val="autoZero"/>
        <c:crossBetween val="midCat"/>
      </c:valAx>
      <c:valAx>
        <c:axId val="1011628831"/>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11628415"/>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0.38977</cdr:x>
      <cdr:y>0.43922</cdr:y>
    </cdr:from>
    <cdr:to>
      <cdr:x>0.7394</cdr:x>
      <cdr:y>0.76089</cdr:y>
    </cdr:to>
    <cdr:cxnSp macro="">
      <cdr:nvCxnSpPr>
        <cdr:cNvPr id="3" name="Straight Connector 2">
          <a:extLst xmlns:a="http://schemas.openxmlformats.org/drawingml/2006/main">
            <a:ext uri="{FF2B5EF4-FFF2-40B4-BE49-F238E27FC236}">
              <a16:creationId xmlns:a16="http://schemas.microsoft.com/office/drawing/2014/main" id="{9FC3D596-6389-4984-ABDF-8326E8ABBB87}"/>
            </a:ext>
          </a:extLst>
        </cdr:cNvPr>
        <cdr:cNvCxnSpPr/>
      </cdr:nvCxnSpPr>
      <cdr:spPr>
        <a:xfrm xmlns:a="http://schemas.openxmlformats.org/drawingml/2006/main" flipV="1">
          <a:off x="3177369" y="2535270"/>
          <a:ext cx="2850136" cy="1856756"/>
        </a:xfrm>
        <a:prstGeom xmlns:a="http://schemas.openxmlformats.org/drawingml/2006/main" prst="line">
          <a:avLst/>
        </a:prstGeom>
        <a:ln xmlns:a="http://schemas.openxmlformats.org/drawingml/2006/main" w="38100" cap="flat" cmpd="sng" algn="ctr">
          <a:solidFill>
            <a:srgbClr val="C00000"/>
          </a:solidFill>
          <a:prstDash val="sysDot"/>
          <a:round/>
          <a:headEnd type="none" w="med" len="med"/>
          <a:tailEnd type="none" w="med" len="med"/>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285F2B-9DB3-46C6-BD28-BD611964EFEF}" type="datetimeFigureOut">
              <a:rPr lang="en-CA" smtClean="0"/>
              <a:t>2026-08-21</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E760D0-8468-434B-992C-0B7D2D93019E}" type="slidenum">
              <a:rPr lang="en-CA" smtClean="0"/>
              <a:t>‹#›</a:t>
            </a:fld>
            <a:endParaRPr lang="en-CA"/>
          </a:p>
        </p:txBody>
      </p:sp>
    </p:spTree>
    <p:extLst>
      <p:ext uri="{BB962C8B-B14F-4D97-AF65-F5344CB8AC3E}">
        <p14:creationId xmlns:p14="http://schemas.microsoft.com/office/powerpoint/2010/main" val="1054136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7940B-AEBA-DDBD-929E-837B1EC3D8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4DC766-DFD6-8A1F-4A4C-DF4535B3A4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612674-A92F-0E91-DD6B-D201F6DF3329}"/>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CB374B73-45C8-CED1-6386-4A89FEB44C22}"/>
              </a:ext>
            </a:extLst>
          </p:cNvPr>
          <p:cNvSpPr>
            <a:spLocks noGrp="1"/>
          </p:cNvSpPr>
          <p:nvPr>
            <p:ph type="sldNum" sz="quarter" idx="5"/>
          </p:nvPr>
        </p:nvSpPr>
        <p:spPr/>
        <p:txBody>
          <a:bodyPr/>
          <a:lstStyle/>
          <a:p>
            <a:fld id="{CE3E61FF-07A4-4C6C-B06F-DD1DA8ACF568}" type="slidenum">
              <a:rPr lang="en-CA" smtClean="0"/>
              <a:t>26</a:t>
            </a:fld>
            <a:endParaRPr lang="en-CA"/>
          </a:p>
        </p:txBody>
      </p:sp>
    </p:spTree>
    <p:extLst>
      <p:ext uri="{BB962C8B-B14F-4D97-AF65-F5344CB8AC3E}">
        <p14:creationId xmlns:p14="http://schemas.microsoft.com/office/powerpoint/2010/main" val="190315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8/21/2026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78024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8/21/2026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123097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8/21/2026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9826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8/21/2026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002187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8/21/2026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057677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8/21/2026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033923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8/21/2026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840889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8/21/2026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754749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8/21/2026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18625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8/21/2026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119280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8/21/2026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5958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8/21/2026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066053621"/>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70" r:id="rId6"/>
    <p:sldLayoutId id="2147483775" r:id="rId7"/>
    <p:sldLayoutId id="2147483771" r:id="rId8"/>
    <p:sldLayoutId id="2147483772" r:id="rId9"/>
    <p:sldLayoutId id="2147483773" r:id="rId10"/>
    <p:sldLayoutId id="2147483774"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0.png"/><Relationship Id="rId4" Type="http://schemas.openxmlformats.org/officeDocument/2006/relationships/image" Target="../media/image70.png"/></Relationships>
</file>

<file path=ppt/slides/_rels/slide3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60.png"/><Relationship Id="rId7"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1.png"/><Relationship Id="rId4" Type="http://schemas.openxmlformats.org/officeDocument/2006/relationships/image" Target="../media/image70.png"/><Relationship Id="rId9" Type="http://schemas.openxmlformats.org/officeDocument/2006/relationships/image" Target="../media/image15.png"/></Relationships>
</file>

<file path=ppt/slides/_rels/slide3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4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chart" Target="../charts/chart1.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42.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chart" Target="../charts/chart2.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4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chart" Target="../charts/chart3.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5820888B-4EA5-E0E8-6D52-7733E1E774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813863-F928-09F7-33F8-93C103CEAA85}"/>
              </a:ext>
            </a:extLst>
          </p:cNvPr>
          <p:cNvSpPr>
            <a:spLocks noGrp="1"/>
          </p:cNvSpPr>
          <p:nvPr>
            <p:ph type="ctrTitle"/>
          </p:nvPr>
        </p:nvSpPr>
        <p:spPr>
          <a:xfrm>
            <a:off x="521208" y="978408"/>
            <a:ext cx="3397649" cy="3303764"/>
          </a:xfrm>
        </p:spPr>
        <p:txBody>
          <a:bodyPr anchor="t">
            <a:normAutofit/>
          </a:bodyPr>
          <a:lstStyle/>
          <a:p>
            <a:pPr>
              <a:lnSpc>
                <a:spcPct val="90000"/>
              </a:lnSpc>
            </a:pPr>
            <a:r>
              <a:rPr lang="en-US" sz="3700" dirty="0"/>
              <a:t>Advanced Topics in Economic Evaluation and Healthcare</a:t>
            </a:r>
            <a:endParaRPr lang="en-CA" sz="3700" dirty="0"/>
          </a:p>
        </p:txBody>
      </p:sp>
      <p:sp>
        <p:nvSpPr>
          <p:cNvPr id="3" name="Subtitle 2">
            <a:extLst>
              <a:ext uri="{FF2B5EF4-FFF2-40B4-BE49-F238E27FC236}">
                <a16:creationId xmlns:a16="http://schemas.microsoft.com/office/drawing/2014/main" id="{DB04B19C-1926-B464-1194-E2E07EBD9E44}"/>
              </a:ext>
            </a:extLst>
          </p:cNvPr>
          <p:cNvSpPr>
            <a:spLocks noGrp="1"/>
          </p:cNvSpPr>
          <p:nvPr>
            <p:ph type="subTitle" idx="1"/>
          </p:nvPr>
        </p:nvSpPr>
        <p:spPr>
          <a:xfrm>
            <a:off x="521208" y="4354633"/>
            <a:ext cx="3397649" cy="1706533"/>
          </a:xfrm>
        </p:spPr>
        <p:txBody>
          <a:bodyPr anchor="t">
            <a:normAutofit/>
          </a:bodyPr>
          <a:lstStyle/>
          <a:p>
            <a:r>
              <a:rPr lang="en-US" dirty="0"/>
              <a:t>Lecture #1: An Introduction to Economic Evaluation in Healthcare</a:t>
            </a:r>
            <a:endParaRPr lang="en-CA" dirty="0"/>
          </a:p>
        </p:txBody>
      </p:sp>
      <p:sp>
        <p:nvSpPr>
          <p:cNvPr id="35" name="Freeform: Shape 34">
            <a:extLst>
              <a:ext uri="{FF2B5EF4-FFF2-40B4-BE49-F238E27FC236}">
                <a16:creationId xmlns:a16="http://schemas.microsoft.com/office/drawing/2014/main" id="{06B5A8BF-0680-F9A7-27B1-3971EC9347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Logo Request Form - McMaster Brand">
            <a:extLst>
              <a:ext uri="{FF2B5EF4-FFF2-40B4-BE49-F238E27FC236}">
                <a16:creationId xmlns:a16="http://schemas.microsoft.com/office/drawing/2014/main" id="{9B664600-1FAC-3307-6550-FD235344C1A8}"/>
              </a:ext>
            </a:extLst>
          </p:cNvPr>
          <p:cNvPicPr>
            <a:picLocks noChangeAspect="1"/>
          </p:cNvPicPr>
          <p:nvPr/>
        </p:nvPicPr>
        <p:blipFill>
          <a:blip r:embed="rId2"/>
          <a:stretch>
            <a:fillRect/>
          </a:stretch>
        </p:blipFill>
        <p:spPr>
          <a:xfrm>
            <a:off x="6585625" y="5679630"/>
            <a:ext cx="5192171" cy="1005924"/>
          </a:xfrm>
          <a:prstGeom prst="rect">
            <a:avLst/>
          </a:prstGeom>
        </p:spPr>
      </p:pic>
    </p:spTree>
    <p:extLst>
      <p:ext uri="{BB962C8B-B14F-4D97-AF65-F5344CB8AC3E}">
        <p14:creationId xmlns:p14="http://schemas.microsoft.com/office/powerpoint/2010/main" val="38173063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EE945-ECFF-01C1-FCC9-F9923950F1C1}"/>
              </a:ext>
            </a:extLst>
          </p:cNvPr>
          <p:cNvSpPr>
            <a:spLocks noGrp="1"/>
          </p:cNvSpPr>
          <p:nvPr>
            <p:ph type="title"/>
          </p:nvPr>
        </p:nvSpPr>
        <p:spPr/>
        <p:txBody>
          <a:bodyPr/>
          <a:lstStyle/>
          <a:p>
            <a:r>
              <a:rPr lang="en-US" dirty="0"/>
              <a:t>About this Course</a:t>
            </a:r>
            <a:endParaRPr lang="en-CA" dirty="0"/>
          </a:p>
        </p:txBody>
      </p:sp>
      <p:sp>
        <p:nvSpPr>
          <p:cNvPr id="3" name="Content Placeholder 2">
            <a:extLst>
              <a:ext uri="{FF2B5EF4-FFF2-40B4-BE49-F238E27FC236}">
                <a16:creationId xmlns:a16="http://schemas.microsoft.com/office/drawing/2014/main" id="{CBD0F9F0-8CB2-F0E2-4025-A5B9027A6FD1}"/>
              </a:ext>
            </a:extLst>
          </p:cNvPr>
          <p:cNvSpPr>
            <a:spLocks noGrp="1"/>
          </p:cNvSpPr>
          <p:nvPr>
            <p:ph idx="1"/>
          </p:nvPr>
        </p:nvSpPr>
        <p:spPr>
          <a:xfrm>
            <a:off x="515112" y="2112263"/>
            <a:ext cx="11155680" cy="4161787"/>
          </a:xfrm>
        </p:spPr>
        <p:txBody>
          <a:bodyPr>
            <a:normAutofit fontScale="92500" lnSpcReduction="10000"/>
          </a:bodyPr>
          <a:lstStyle/>
          <a:p>
            <a:r>
              <a:rPr lang="en-US" sz="2600" dirty="0"/>
              <a:t>The objective of this course is to provide students an introduction to </a:t>
            </a:r>
            <a:r>
              <a:rPr lang="en-US" sz="2600" b="1" dirty="0"/>
              <a:t>decision analytic methods </a:t>
            </a:r>
            <a:r>
              <a:rPr lang="en-US" sz="2600" dirty="0"/>
              <a:t>used in </a:t>
            </a:r>
            <a:r>
              <a:rPr lang="en-US" sz="2600" b="1" dirty="0"/>
              <a:t>economic evaluation </a:t>
            </a:r>
            <a:r>
              <a:rPr lang="en-US" sz="2600" dirty="0"/>
              <a:t>of health care implementation.</a:t>
            </a:r>
          </a:p>
          <a:p>
            <a:r>
              <a:rPr lang="en-US" sz="2600" b="1" dirty="0"/>
              <a:t>Decision analysis </a:t>
            </a:r>
            <a:r>
              <a:rPr lang="en-US" sz="2600" dirty="0"/>
              <a:t>refers to the field of study that examines how decision makers should make the best choices under uncertainty.</a:t>
            </a:r>
          </a:p>
          <a:p>
            <a:r>
              <a:rPr lang="en-US" sz="2600" b="1" dirty="0"/>
              <a:t>Economic Evaluation </a:t>
            </a:r>
            <a:r>
              <a:rPr lang="en-US" sz="2600" dirty="0"/>
              <a:t>refers to the act of valuing and ranking outcomes for the purpose of allocating scarce resources.</a:t>
            </a:r>
          </a:p>
          <a:p>
            <a:r>
              <a:rPr lang="en-US" sz="2600" dirty="0"/>
              <a:t>The goal of this course is to teach you how to model utilization of novel medical treatments and compute key statistics which answer the following questions:</a:t>
            </a:r>
            <a:br>
              <a:rPr lang="en-US" sz="2600" dirty="0"/>
            </a:br>
            <a:br>
              <a:rPr lang="en-US" sz="2600" dirty="0"/>
            </a:br>
            <a:r>
              <a:rPr lang="en-US" sz="2600" dirty="0"/>
              <a:t>“</a:t>
            </a:r>
            <a:r>
              <a:rPr lang="en-US" sz="2600" i="1" dirty="0"/>
              <a:t>Does this medical treatment generate value for money or not”  </a:t>
            </a:r>
            <a:endParaRPr lang="en-CA" sz="2600" dirty="0"/>
          </a:p>
        </p:txBody>
      </p:sp>
    </p:spTree>
    <p:extLst>
      <p:ext uri="{BB962C8B-B14F-4D97-AF65-F5344CB8AC3E}">
        <p14:creationId xmlns:p14="http://schemas.microsoft.com/office/powerpoint/2010/main" val="876875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4DE56-81E4-E336-42B5-214AE8E605FF}"/>
              </a:ext>
            </a:extLst>
          </p:cNvPr>
          <p:cNvSpPr>
            <a:spLocks noGrp="1"/>
          </p:cNvSpPr>
          <p:nvPr>
            <p:ph type="ctrTitle"/>
          </p:nvPr>
        </p:nvSpPr>
        <p:spPr/>
        <p:txBody>
          <a:bodyPr/>
          <a:lstStyle/>
          <a:p>
            <a:r>
              <a:rPr lang="en-US" dirty="0"/>
              <a:t>An Overview of Economic Evaluation</a:t>
            </a:r>
            <a:endParaRPr lang="en-CA" dirty="0"/>
          </a:p>
        </p:txBody>
      </p:sp>
      <p:sp>
        <p:nvSpPr>
          <p:cNvPr id="3" name="Subtitle 2">
            <a:extLst>
              <a:ext uri="{FF2B5EF4-FFF2-40B4-BE49-F238E27FC236}">
                <a16:creationId xmlns:a16="http://schemas.microsoft.com/office/drawing/2014/main" id="{47C83B63-9D98-C702-BAC7-6882CC10879A}"/>
              </a:ext>
            </a:extLst>
          </p:cNvPr>
          <p:cNvSpPr>
            <a:spLocks noGrp="1"/>
          </p:cNvSpPr>
          <p:nvPr>
            <p:ph type="subTitle" idx="1"/>
          </p:nvPr>
        </p:nvSpPr>
        <p:spPr/>
        <p:txBody>
          <a:bodyPr/>
          <a:lstStyle/>
          <a:p>
            <a:endParaRPr lang="en-CA"/>
          </a:p>
        </p:txBody>
      </p:sp>
    </p:spTree>
    <p:extLst>
      <p:ext uri="{BB962C8B-B14F-4D97-AF65-F5344CB8AC3E}">
        <p14:creationId xmlns:p14="http://schemas.microsoft.com/office/powerpoint/2010/main" val="2282681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282B9-3B97-018B-58C6-D03301D301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D304DC-6953-E964-AB4D-7EAEA1AA350C}"/>
              </a:ext>
            </a:extLst>
          </p:cNvPr>
          <p:cNvSpPr>
            <a:spLocks noGrp="1"/>
          </p:cNvSpPr>
          <p:nvPr>
            <p:ph type="title"/>
          </p:nvPr>
        </p:nvSpPr>
        <p:spPr>
          <a:xfrm>
            <a:off x="482600" y="597408"/>
            <a:ext cx="10634472" cy="1117092"/>
          </a:xfrm>
        </p:spPr>
        <p:txBody>
          <a:bodyPr/>
          <a:lstStyle/>
          <a:p>
            <a:r>
              <a:rPr lang="en-US" sz="4800" dirty="0"/>
              <a:t>What is Economic Evaluation</a:t>
            </a:r>
            <a:endParaRPr lang="en-CA" sz="4800" dirty="0"/>
          </a:p>
        </p:txBody>
      </p:sp>
      <p:sp>
        <p:nvSpPr>
          <p:cNvPr id="3" name="Content Placeholder 2">
            <a:extLst>
              <a:ext uri="{FF2B5EF4-FFF2-40B4-BE49-F238E27FC236}">
                <a16:creationId xmlns:a16="http://schemas.microsoft.com/office/drawing/2014/main" id="{7D85F92D-DB77-9695-2B5F-7787453ED324}"/>
              </a:ext>
            </a:extLst>
          </p:cNvPr>
          <p:cNvSpPr>
            <a:spLocks noGrp="1"/>
          </p:cNvSpPr>
          <p:nvPr>
            <p:ph idx="1"/>
          </p:nvPr>
        </p:nvSpPr>
        <p:spPr>
          <a:xfrm>
            <a:off x="482600" y="1943100"/>
            <a:ext cx="10506991" cy="3936491"/>
          </a:xfrm>
        </p:spPr>
        <p:txBody>
          <a:bodyPr>
            <a:noAutofit/>
          </a:bodyPr>
          <a:lstStyle/>
          <a:p>
            <a:r>
              <a:rPr lang="en-US" sz="2000" b="1" dirty="0"/>
              <a:t>Economic evaluation</a:t>
            </a:r>
            <a:r>
              <a:rPr lang="en-US" sz="2000" dirty="0"/>
              <a:t> is the process of systematic identification, measurement and valuation of the inputs and outcomes of two alternative activities, and the subsequent comparative analysis of these.</a:t>
            </a:r>
            <a:br>
              <a:rPr lang="en-US" sz="2000" dirty="0"/>
            </a:br>
            <a:br>
              <a:rPr lang="en-US" sz="2000" dirty="0"/>
            </a:br>
            <a:r>
              <a:rPr lang="en-US" sz="2000" dirty="0"/>
              <a:t>-</a:t>
            </a:r>
            <a:r>
              <a:rPr lang="en-US" sz="2000" i="1" dirty="0"/>
              <a:t>Drummond, Michael; </a:t>
            </a:r>
            <a:r>
              <a:rPr lang="en-US" sz="2000" i="1" dirty="0" err="1"/>
              <a:t>Sculpher</a:t>
            </a:r>
            <a:r>
              <a:rPr lang="en-US" sz="2000" i="1" dirty="0"/>
              <a:t>, Mark; Torrance, George; O'Brien, Bernie; Stoddart, Greg (2005). Methods for the Economic Evaluation of Health Care </a:t>
            </a:r>
            <a:r>
              <a:rPr lang="en-US" sz="2000" i="1" dirty="0" err="1"/>
              <a:t>Programmes</a:t>
            </a:r>
            <a:r>
              <a:rPr lang="en-US" sz="2000" i="1" dirty="0"/>
              <a:t> (3 ed.)</a:t>
            </a:r>
            <a:br>
              <a:rPr lang="en-US" sz="2000" i="1" dirty="0"/>
            </a:br>
            <a:endParaRPr lang="en-US" sz="2000" i="1" dirty="0"/>
          </a:p>
          <a:p>
            <a:r>
              <a:rPr lang="en-US" sz="2000" dirty="0"/>
              <a:t>In the context of health, economic evaluation is used to determine if it makes sense to pay for or fund new drugs and medical technologies.</a:t>
            </a:r>
          </a:p>
          <a:p>
            <a:r>
              <a:rPr lang="en-US" sz="2000" dirty="0"/>
              <a:t>Because of this, economic evaluation has played a role in both assessing the value of new medical technologies and marketing them.</a:t>
            </a:r>
            <a:endParaRPr lang="en-CA" sz="2000" dirty="0"/>
          </a:p>
        </p:txBody>
      </p:sp>
    </p:spTree>
    <p:extLst>
      <p:ext uri="{BB962C8B-B14F-4D97-AF65-F5344CB8AC3E}">
        <p14:creationId xmlns:p14="http://schemas.microsoft.com/office/powerpoint/2010/main" val="2587581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CDA1D-9A52-2C6F-5A9C-A9527ADD28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F745F5-FCAA-9D25-1B36-B1DC2498FC56}"/>
              </a:ext>
            </a:extLst>
          </p:cNvPr>
          <p:cNvSpPr>
            <a:spLocks noGrp="1"/>
          </p:cNvSpPr>
          <p:nvPr>
            <p:ph type="title"/>
          </p:nvPr>
        </p:nvSpPr>
        <p:spPr>
          <a:xfrm>
            <a:off x="355119" y="534177"/>
            <a:ext cx="10634472" cy="1117092"/>
          </a:xfrm>
        </p:spPr>
        <p:txBody>
          <a:bodyPr/>
          <a:lstStyle/>
          <a:p>
            <a:r>
              <a:rPr lang="en-US" sz="3600" dirty="0"/>
              <a:t>Economic Evaluation and The Life Cycle of a Drug</a:t>
            </a:r>
            <a:endParaRPr lang="en-CA" sz="3600" dirty="0"/>
          </a:p>
        </p:txBody>
      </p:sp>
      <p:cxnSp>
        <p:nvCxnSpPr>
          <p:cNvPr id="5" name="Straight Arrow Connector 4">
            <a:extLst>
              <a:ext uri="{FF2B5EF4-FFF2-40B4-BE49-F238E27FC236}">
                <a16:creationId xmlns:a16="http://schemas.microsoft.com/office/drawing/2014/main" id="{1F4C43E5-5306-6DEE-39E5-3A078A7FF97D}"/>
              </a:ext>
            </a:extLst>
          </p:cNvPr>
          <p:cNvCxnSpPr>
            <a:cxnSpLocks/>
            <a:stCxn id="7" idx="0"/>
          </p:cNvCxnSpPr>
          <p:nvPr/>
        </p:nvCxnSpPr>
        <p:spPr>
          <a:xfrm>
            <a:off x="826850" y="4280170"/>
            <a:ext cx="11245176" cy="6756"/>
          </a:xfrm>
          <a:prstGeom prst="straightConnector1">
            <a:avLst/>
          </a:prstGeom>
          <a:ln w="571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7" name="Freeform: Shape 6">
            <a:extLst>
              <a:ext uri="{FF2B5EF4-FFF2-40B4-BE49-F238E27FC236}">
                <a16:creationId xmlns:a16="http://schemas.microsoft.com/office/drawing/2014/main" id="{D00C9074-F4FB-C538-A114-6BA6478D4F81}"/>
              </a:ext>
            </a:extLst>
          </p:cNvPr>
          <p:cNvSpPr/>
          <p:nvPr/>
        </p:nvSpPr>
        <p:spPr>
          <a:xfrm>
            <a:off x="826850" y="2937755"/>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a:extLst>
              <a:ext uri="{FF2B5EF4-FFF2-40B4-BE49-F238E27FC236}">
                <a16:creationId xmlns:a16="http://schemas.microsoft.com/office/drawing/2014/main" id="{9FD37E33-D5D3-2CDF-3A60-7B6F66DC0660}"/>
              </a:ext>
            </a:extLst>
          </p:cNvPr>
          <p:cNvSpPr txBox="1"/>
          <p:nvPr/>
        </p:nvSpPr>
        <p:spPr>
          <a:xfrm rot="19311110">
            <a:off x="849889" y="2226576"/>
            <a:ext cx="1811363" cy="369332"/>
          </a:xfrm>
          <a:prstGeom prst="rect">
            <a:avLst/>
          </a:prstGeom>
          <a:noFill/>
        </p:spPr>
        <p:txBody>
          <a:bodyPr wrap="square" rtlCol="0">
            <a:spAutoFit/>
          </a:bodyPr>
          <a:lstStyle/>
          <a:p>
            <a:r>
              <a:rPr lang="en-US" i="1" dirty="0"/>
              <a:t>Patent filed</a:t>
            </a:r>
            <a:endParaRPr lang="en-CA" i="1" dirty="0"/>
          </a:p>
        </p:txBody>
      </p:sp>
      <p:sp>
        <p:nvSpPr>
          <p:cNvPr id="10" name="Freeform: Shape 9">
            <a:extLst>
              <a:ext uri="{FF2B5EF4-FFF2-40B4-BE49-F238E27FC236}">
                <a16:creationId xmlns:a16="http://schemas.microsoft.com/office/drawing/2014/main" id="{5FC2D05D-943A-1DDF-97D5-0800DCF15FCB}"/>
              </a:ext>
            </a:extLst>
          </p:cNvPr>
          <p:cNvSpPr/>
          <p:nvPr/>
        </p:nvSpPr>
        <p:spPr>
          <a:xfrm>
            <a:off x="233463" y="2937754"/>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3" name="Straight Connector 12">
            <a:extLst>
              <a:ext uri="{FF2B5EF4-FFF2-40B4-BE49-F238E27FC236}">
                <a16:creationId xmlns:a16="http://schemas.microsoft.com/office/drawing/2014/main" id="{69350319-A9B7-129E-5CD6-8597E43AF428}"/>
              </a:ext>
            </a:extLst>
          </p:cNvPr>
          <p:cNvCxnSpPr>
            <a:cxnSpLocks/>
            <a:endCxn id="7" idx="0"/>
          </p:cNvCxnSpPr>
          <p:nvPr/>
        </p:nvCxnSpPr>
        <p:spPr>
          <a:xfrm>
            <a:off x="233463" y="4280170"/>
            <a:ext cx="593387" cy="0"/>
          </a:xfrm>
          <a:prstGeom prst="line">
            <a:avLst/>
          </a:prstGeom>
          <a:ln w="571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FA2B26A-4829-1C3D-CF89-9599943870DD}"/>
              </a:ext>
            </a:extLst>
          </p:cNvPr>
          <p:cNvSpPr txBox="1"/>
          <p:nvPr/>
        </p:nvSpPr>
        <p:spPr>
          <a:xfrm rot="19260489">
            <a:off x="318884" y="2322722"/>
            <a:ext cx="1210053" cy="369332"/>
          </a:xfrm>
          <a:prstGeom prst="rect">
            <a:avLst/>
          </a:prstGeom>
          <a:noFill/>
        </p:spPr>
        <p:txBody>
          <a:bodyPr wrap="square" rtlCol="0">
            <a:spAutoFit/>
          </a:bodyPr>
          <a:lstStyle/>
          <a:p>
            <a:r>
              <a:rPr lang="en-US" i="1" dirty="0"/>
              <a:t>Discovery</a:t>
            </a:r>
          </a:p>
        </p:txBody>
      </p:sp>
      <p:sp>
        <p:nvSpPr>
          <p:cNvPr id="16" name="Freeform: Shape 15">
            <a:extLst>
              <a:ext uri="{FF2B5EF4-FFF2-40B4-BE49-F238E27FC236}">
                <a16:creationId xmlns:a16="http://schemas.microsoft.com/office/drawing/2014/main" id="{98059795-6022-995A-7662-80FE3D75F050}"/>
              </a:ext>
            </a:extLst>
          </p:cNvPr>
          <p:cNvSpPr/>
          <p:nvPr/>
        </p:nvSpPr>
        <p:spPr>
          <a:xfrm>
            <a:off x="1575881" y="2932889"/>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TextBox 16">
            <a:extLst>
              <a:ext uri="{FF2B5EF4-FFF2-40B4-BE49-F238E27FC236}">
                <a16:creationId xmlns:a16="http://schemas.microsoft.com/office/drawing/2014/main" id="{7AA3DECA-A0CC-9DDA-EE4E-E85FDAB2DEB7}"/>
              </a:ext>
            </a:extLst>
          </p:cNvPr>
          <p:cNvSpPr txBox="1"/>
          <p:nvPr/>
        </p:nvSpPr>
        <p:spPr>
          <a:xfrm rot="19311110">
            <a:off x="1558769" y="2065906"/>
            <a:ext cx="2254124" cy="369332"/>
          </a:xfrm>
          <a:prstGeom prst="rect">
            <a:avLst/>
          </a:prstGeom>
          <a:noFill/>
        </p:spPr>
        <p:txBody>
          <a:bodyPr wrap="square" rtlCol="0">
            <a:spAutoFit/>
          </a:bodyPr>
          <a:lstStyle/>
          <a:p>
            <a:r>
              <a:rPr lang="en-US" i="1" dirty="0"/>
              <a:t>Acute Toxicology</a:t>
            </a:r>
            <a:endParaRPr lang="en-CA" i="1" dirty="0"/>
          </a:p>
        </p:txBody>
      </p:sp>
      <p:sp>
        <p:nvSpPr>
          <p:cNvPr id="18" name="Freeform: Shape 17">
            <a:extLst>
              <a:ext uri="{FF2B5EF4-FFF2-40B4-BE49-F238E27FC236}">
                <a16:creationId xmlns:a16="http://schemas.microsoft.com/office/drawing/2014/main" id="{A0FA65E3-6BE8-18C1-E48E-628F913D809A}"/>
              </a:ext>
            </a:extLst>
          </p:cNvPr>
          <p:cNvSpPr/>
          <p:nvPr/>
        </p:nvSpPr>
        <p:spPr>
          <a:xfrm>
            <a:off x="1979848" y="2924244"/>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Freeform: Shape 18">
            <a:extLst>
              <a:ext uri="{FF2B5EF4-FFF2-40B4-BE49-F238E27FC236}">
                <a16:creationId xmlns:a16="http://schemas.microsoft.com/office/drawing/2014/main" id="{E6F27F8F-15AF-5F14-B800-CE9584CFC33B}"/>
              </a:ext>
            </a:extLst>
          </p:cNvPr>
          <p:cNvSpPr/>
          <p:nvPr/>
        </p:nvSpPr>
        <p:spPr>
          <a:xfrm>
            <a:off x="2458100" y="2937753"/>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2" name="TextBox 21">
            <a:extLst>
              <a:ext uri="{FF2B5EF4-FFF2-40B4-BE49-F238E27FC236}">
                <a16:creationId xmlns:a16="http://schemas.microsoft.com/office/drawing/2014/main" id="{88460A9B-0EF0-7110-984B-69DE5BF41EA8}"/>
              </a:ext>
            </a:extLst>
          </p:cNvPr>
          <p:cNvSpPr txBox="1"/>
          <p:nvPr/>
        </p:nvSpPr>
        <p:spPr>
          <a:xfrm rot="19311110">
            <a:off x="2037021" y="2041980"/>
            <a:ext cx="2254124" cy="369332"/>
          </a:xfrm>
          <a:prstGeom prst="rect">
            <a:avLst/>
          </a:prstGeom>
          <a:noFill/>
        </p:spPr>
        <p:txBody>
          <a:bodyPr wrap="square" rtlCol="0">
            <a:spAutoFit/>
          </a:bodyPr>
          <a:lstStyle/>
          <a:p>
            <a:r>
              <a:rPr lang="en-US" i="1" dirty="0"/>
              <a:t>Pharmacology</a:t>
            </a:r>
            <a:endParaRPr lang="en-CA" i="1" dirty="0"/>
          </a:p>
        </p:txBody>
      </p:sp>
      <p:sp>
        <p:nvSpPr>
          <p:cNvPr id="23" name="TextBox 22">
            <a:extLst>
              <a:ext uri="{FF2B5EF4-FFF2-40B4-BE49-F238E27FC236}">
                <a16:creationId xmlns:a16="http://schemas.microsoft.com/office/drawing/2014/main" id="{AF46C2EE-2A1E-8D79-DD8D-D0114177DCBD}"/>
              </a:ext>
            </a:extLst>
          </p:cNvPr>
          <p:cNvSpPr txBox="1"/>
          <p:nvPr/>
        </p:nvSpPr>
        <p:spPr>
          <a:xfrm rot="19311110">
            <a:off x="2497218" y="2055492"/>
            <a:ext cx="2254124" cy="369332"/>
          </a:xfrm>
          <a:prstGeom prst="rect">
            <a:avLst/>
          </a:prstGeom>
          <a:noFill/>
        </p:spPr>
        <p:txBody>
          <a:bodyPr wrap="square" rtlCol="0">
            <a:spAutoFit/>
          </a:bodyPr>
          <a:lstStyle/>
          <a:p>
            <a:r>
              <a:rPr lang="en-US" i="1" dirty="0"/>
              <a:t>Chronical toxicity</a:t>
            </a:r>
            <a:endParaRPr lang="en-CA" i="1" dirty="0"/>
          </a:p>
        </p:txBody>
      </p:sp>
      <p:sp>
        <p:nvSpPr>
          <p:cNvPr id="24" name="Freeform: Shape 23">
            <a:extLst>
              <a:ext uri="{FF2B5EF4-FFF2-40B4-BE49-F238E27FC236}">
                <a16:creationId xmlns:a16="http://schemas.microsoft.com/office/drawing/2014/main" id="{738CCB43-5020-6980-7F09-9021BB97E8BC}"/>
              </a:ext>
            </a:extLst>
          </p:cNvPr>
          <p:cNvSpPr/>
          <p:nvPr/>
        </p:nvSpPr>
        <p:spPr>
          <a:xfrm>
            <a:off x="3914652" y="2924243"/>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5" name="TextBox 24">
            <a:extLst>
              <a:ext uri="{FF2B5EF4-FFF2-40B4-BE49-F238E27FC236}">
                <a16:creationId xmlns:a16="http://schemas.microsoft.com/office/drawing/2014/main" id="{26FA8090-FEB7-BB2F-0AB8-F95CD084F05B}"/>
              </a:ext>
            </a:extLst>
          </p:cNvPr>
          <p:cNvSpPr txBox="1"/>
          <p:nvPr/>
        </p:nvSpPr>
        <p:spPr>
          <a:xfrm rot="19311110">
            <a:off x="3910043" y="2024494"/>
            <a:ext cx="2376365" cy="369332"/>
          </a:xfrm>
          <a:prstGeom prst="rect">
            <a:avLst/>
          </a:prstGeom>
          <a:noFill/>
        </p:spPr>
        <p:txBody>
          <a:bodyPr wrap="square" rtlCol="0">
            <a:spAutoFit/>
          </a:bodyPr>
          <a:lstStyle/>
          <a:p>
            <a:r>
              <a:rPr lang="en-US" i="1" dirty="0"/>
              <a:t>Clinical Trials Phase I </a:t>
            </a:r>
            <a:endParaRPr lang="en-CA" i="1" dirty="0"/>
          </a:p>
        </p:txBody>
      </p:sp>
      <p:sp>
        <p:nvSpPr>
          <p:cNvPr id="26" name="Freeform: Shape 25">
            <a:extLst>
              <a:ext uri="{FF2B5EF4-FFF2-40B4-BE49-F238E27FC236}">
                <a16:creationId xmlns:a16="http://schemas.microsoft.com/office/drawing/2014/main" id="{357A89DF-CDDC-4939-DC95-C926AE3FF4AB}"/>
              </a:ext>
            </a:extLst>
          </p:cNvPr>
          <p:cNvSpPr/>
          <p:nvPr/>
        </p:nvSpPr>
        <p:spPr>
          <a:xfrm>
            <a:off x="4534130" y="2930999"/>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7" name="TextBox 26">
            <a:extLst>
              <a:ext uri="{FF2B5EF4-FFF2-40B4-BE49-F238E27FC236}">
                <a16:creationId xmlns:a16="http://schemas.microsoft.com/office/drawing/2014/main" id="{C6BD3763-1257-7F86-B214-C20EE2B0367E}"/>
              </a:ext>
            </a:extLst>
          </p:cNvPr>
          <p:cNvSpPr txBox="1"/>
          <p:nvPr/>
        </p:nvSpPr>
        <p:spPr>
          <a:xfrm rot="19311110">
            <a:off x="4526969" y="2031251"/>
            <a:ext cx="2376365" cy="369332"/>
          </a:xfrm>
          <a:prstGeom prst="rect">
            <a:avLst/>
          </a:prstGeom>
          <a:noFill/>
        </p:spPr>
        <p:txBody>
          <a:bodyPr wrap="square" rtlCol="0">
            <a:spAutoFit/>
          </a:bodyPr>
          <a:lstStyle/>
          <a:p>
            <a:r>
              <a:rPr lang="en-US" i="1" dirty="0"/>
              <a:t>Phase II</a:t>
            </a:r>
            <a:endParaRPr lang="en-CA" i="1" dirty="0"/>
          </a:p>
        </p:txBody>
      </p:sp>
      <p:sp>
        <p:nvSpPr>
          <p:cNvPr id="28" name="Freeform: Shape 27">
            <a:extLst>
              <a:ext uri="{FF2B5EF4-FFF2-40B4-BE49-F238E27FC236}">
                <a16:creationId xmlns:a16="http://schemas.microsoft.com/office/drawing/2014/main" id="{2867CEAA-E317-A3F7-7184-4F19CD51AF0F}"/>
              </a:ext>
            </a:extLst>
          </p:cNvPr>
          <p:cNvSpPr/>
          <p:nvPr/>
        </p:nvSpPr>
        <p:spPr>
          <a:xfrm>
            <a:off x="5036319" y="2944511"/>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9" name="TextBox 28">
            <a:extLst>
              <a:ext uri="{FF2B5EF4-FFF2-40B4-BE49-F238E27FC236}">
                <a16:creationId xmlns:a16="http://schemas.microsoft.com/office/drawing/2014/main" id="{2199FE58-AD61-368F-8417-EF2F46673930}"/>
              </a:ext>
            </a:extLst>
          </p:cNvPr>
          <p:cNvSpPr txBox="1"/>
          <p:nvPr/>
        </p:nvSpPr>
        <p:spPr>
          <a:xfrm rot="19311110">
            <a:off x="5063697" y="2093245"/>
            <a:ext cx="2376365" cy="369332"/>
          </a:xfrm>
          <a:prstGeom prst="rect">
            <a:avLst/>
          </a:prstGeom>
          <a:noFill/>
        </p:spPr>
        <p:txBody>
          <a:bodyPr wrap="square" rtlCol="0">
            <a:spAutoFit/>
          </a:bodyPr>
          <a:lstStyle/>
          <a:p>
            <a:r>
              <a:rPr lang="en-US" i="1" dirty="0"/>
              <a:t>Phase III</a:t>
            </a:r>
            <a:endParaRPr lang="en-CA" i="1" dirty="0"/>
          </a:p>
        </p:txBody>
      </p:sp>
      <p:sp>
        <p:nvSpPr>
          <p:cNvPr id="34" name="Freeform: Shape 33">
            <a:extLst>
              <a:ext uri="{FF2B5EF4-FFF2-40B4-BE49-F238E27FC236}">
                <a16:creationId xmlns:a16="http://schemas.microsoft.com/office/drawing/2014/main" id="{4B135D3C-2578-2DDF-93AC-76FED926FE60}"/>
              </a:ext>
            </a:extLst>
          </p:cNvPr>
          <p:cNvSpPr/>
          <p:nvPr/>
        </p:nvSpPr>
        <p:spPr>
          <a:xfrm>
            <a:off x="6078882" y="2924243"/>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5" name="Freeform: Shape 34">
            <a:extLst>
              <a:ext uri="{FF2B5EF4-FFF2-40B4-BE49-F238E27FC236}">
                <a16:creationId xmlns:a16="http://schemas.microsoft.com/office/drawing/2014/main" id="{4059B8F4-17B2-53F2-1E30-18AF873CA567}"/>
              </a:ext>
            </a:extLst>
          </p:cNvPr>
          <p:cNvSpPr/>
          <p:nvPr/>
        </p:nvSpPr>
        <p:spPr>
          <a:xfrm>
            <a:off x="6726986" y="2930999"/>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6" name="Freeform: Shape 35">
            <a:extLst>
              <a:ext uri="{FF2B5EF4-FFF2-40B4-BE49-F238E27FC236}">
                <a16:creationId xmlns:a16="http://schemas.microsoft.com/office/drawing/2014/main" id="{A867CB66-B1A2-7D14-6B79-4DA97888273F}"/>
              </a:ext>
            </a:extLst>
          </p:cNvPr>
          <p:cNvSpPr/>
          <p:nvPr/>
        </p:nvSpPr>
        <p:spPr>
          <a:xfrm>
            <a:off x="7229175" y="2944511"/>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7" name="TextBox 36">
            <a:extLst>
              <a:ext uri="{FF2B5EF4-FFF2-40B4-BE49-F238E27FC236}">
                <a16:creationId xmlns:a16="http://schemas.microsoft.com/office/drawing/2014/main" id="{D2EC2455-2CFF-1E0B-7841-90879832B0B7}"/>
              </a:ext>
            </a:extLst>
          </p:cNvPr>
          <p:cNvSpPr txBox="1"/>
          <p:nvPr/>
        </p:nvSpPr>
        <p:spPr>
          <a:xfrm rot="19311110">
            <a:off x="6112171" y="2024493"/>
            <a:ext cx="2376365" cy="369332"/>
          </a:xfrm>
          <a:prstGeom prst="rect">
            <a:avLst/>
          </a:prstGeom>
          <a:noFill/>
        </p:spPr>
        <p:txBody>
          <a:bodyPr wrap="square" rtlCol="0">
            <a:spAutoFit/>
          </a:bodyPr>
          <a:lstStyle/>
          <a:p>
            <a:r>
              <a:rPr lang="en-US" i="1" dirty="0"/>
              <a:t>Registration </a:t>
            </a:r>
            <a:endParaRPr lang="en-CA" i="1" dirty="0"/>
          </a:p>
        </p:txBody>
      </p:sp>
      <p:sp>
        <p:nvSpPr>
          <p:cNvPr id="38" name="TextBox 37">
            <a:extLst>
              <a:ext uri="{FF2B5EF4-FFF2-40B4-BE49-F238E27FC236}">
                <a16:creationId xmlns:a16="http://schemas.microsoft.com/office/drawing/2014/main" id="{605701D9-4666-B01F-5D42-5E2E51312B98}"/>
              </a:ext>
            </a:extLst>
          </p:cNvPr>
          <p:cNvSpPr txBox="1"/>
          <p:nvPr/>
        </p:nvSpPr>
        <p:spPr>
          <a:xfrm rot="19311110">
            <a:off x="6707524" y="2015750"/>
            <a:ext cx="2376365" cy="369332"/>
          </a:xfrm>
          <a:prstGeom prst="rect">
            <a:avLst/>
          </a:prstGeom>
          <a:noFill/>
        </p:spPr>
        <p:txBody>
          <a:bodyPr wrap="square" rtlCol="0">
            <a:spAutoFit/>
          </a:bodyPr>
          <a:lstStyle/>
          <a:p>
            <a:r>
              <a:rPr lang="en-US" i="1" dirty="0"/>
              <a:t>Price</a:t>
            </a:r>
            <a:endParaRPr lang="en-CA" i="1" dirty="0"/>
          </a:p>
        </p:txBody>
      </p:sp>
      <p:sp>
        <p:nvSpPr>
          <p:cNvPr id="39" name="TextBox 38">
            <a:extLst>
              <a:ext uri="{FF2B5EF4-FFF2-40B4-BE49-F238E27FC236}">
                <a16:creationId xmlns:a16="http://schemas.microsoft.com/office/drawing/2014/main" id="{67A74C9F-16E4-826E-313D-2C221654B5B1}"/>
              </a:ext>
            </a:extLst>
          </p:cNvPr>
          <p:cNvSpPr txBox="1"/>
          <p:nvPr/>
        </p:nvSpPr>
        <p:spPr>
          <a:xfrm rot="19311110">
            <a:off x="7254972" y="2048738"/>
            <a:ext cx="2376365" cy="369332"/>
          </a:xfrm>
          <a:prstGeom prst="rect">
            <a:avLst/>
          </a:prstGeom>
          <a:noFill/>
        </p:spPr>
        <p:txBody>
          <a:bodyPr wrap="square" rtlCol="0">
            <a:spAutoFit/>
          </a:bodyPr>
          <a:lstStyle/>
          <a:p>
            <a:r>
              <a:rPr lang="en-US" i="1" dirty="0"/>
              <a:t>Drug surveillance</a:t>
            </a:r>
            <a:endParaRPr lang="en-CA" i="1" dirty="0"/>
          </a:p>
        </p:txBody>
      </p:sp>
      <p:sp>
        <p:nvSpPr>
          <p:cNvPr id="41" name="Left Brace 40">
            <a:extLst>
              <a:ext uri="{FF2B5EF4-FFF2-40B4-BE49-F238E27FC236}">
                <a16:creationId xmlns:a16="http://schemas.microsoft.com/office/drawing/2014/main" id="{2D0710DA-1E91-5279-6371-D1D646AF7C97}"/>
              </a:ext>
            </a:extLst>
          </p:cNvPr>
          <p:cNvSpPr/>
          <p:nvPr/>
        </p:nvSpPr>
        <p:spPr>
          <a:xfrm rot="16200000">
            <a:off x="2794219" y="2420952"/>
            <a:ext cx="316239" cy="4250977"/>
          </a:xfrm>
          <a:prstGeom prst="leftBrace">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42" name="TextBox 41">
            <a:extLst>
              <a:ext uri="{FF2B5EF4-FFF2-40B4-BE49-F238E27FC236}">
                <a16:creationId xmlns:a16="http://schemas.microsoft.com/office/drawing/2014/main" id="{39F9A302-3365-806B-743B-C99A7B8DFEA0}"/>
              </a:ext>
            </a:extLst>
          </p:cNvPr>
          <p:cNvSpPr txBox="1"/>
          <p:nvPr/>
        </p:nvSpPr>
        <p:spPr>
          <a:xfrm>
            <a:off x="2378623" y="4622775"/>
            <a:ext cx="1147430" cy="369332"/>
          </a:xfrm>
          <a:prstGeom prst="rect">
            <a:avLst/>
          </a:prstGeom>
          <a:noFill/>
        </p:spPr>
        <p:txBody>
          <a:bodyPr wrap="none" rtlCol="0">
            <a:spAutoFit/>
          </a:bodyPr>
          <a:lstStyle/>
          <a:p>
            <a:r>
              <a:rPr lang="en-US" dirty="0"/>
              <a:t>Research</a:t>
            </a:r>
            <a:endParaRPr lang="en-CA" dirty="0"/>
          </a:p>
        </p:txBody>
      </p:sp>
      <p:sp>
        <p:nvSpPr>
          <p:cNvPr id="43" name="Left Brace 42">
            <a:extLst>
              <a:ext uri="{FF2B5EF4-FFF2-40B4-BE49-F238E27FC236}">
                <a16:creationId xmlns:a16="http://schemas.microsoft.com/office/drawing/2014/main" id="{20CBC3BE-0E47-D445-F11F-6AD554030CAA}"/>
              </a:ext>
            </a:extLst>
          </p:cNvPr>
          <p:cNvSpPr/>
          <p:nvPr/>
        </p:nvSpPr>
        <p:spPr>
          <a:xfrm rot="16200000">
            <a:off x="6488098" y="3634863"/>
            <a:ext cx="247227" cy="1727113"/>
          </a:xfrm>
          <a:prstGeom prst="leftBrace">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44" name="TextBox 43">
            <a:extLst>
              <a:ext uri="{FF2B5EF4-FFF2-40B4-BE49-F238E27FC236}">
                <a16:creationId xmlns:a16="http://schemas.microsoft.com/office/drawing/2014/main" id="{86EFE60F-86AF-5502-A64B-3E52321FED9D}"/>
              </a:ext>
            </a:extLst>
          </p:cNvPr>
          <p:cNvSpPr txBox="1"/>
          <p:nvPr/>
        </p:nvSpPr>
        <p:spPr>
          <a:xfrm>
            <a:off x="5824643" y="4549903"/>
            <a:ext cx="1696362" cy="369332"/>
          </a:xfrm>
          <a:prstGeom prst="rect">
            <a:avLst/>
          </a:prstGeom>
          <a:noFill/>
        </p:spPr>
        <p:txBody>
          <a:bodyPr wrap="none" rtlCol="0">
            <a:spAutoFit/>
          </a:bodyPr>
          <a:lstStyle/>
          <a:p>
            <a:r>
              <a:rPr lang="en-US" dirty="0"/>
              <a:t>Administration</a:t>
            </a:r>
            <a:endParaRPr lang="en-CA" dirty="0"/>
          </a:p>
        </p:txBody>
      </p:sp>
      <p:sp>
        <p:nvSpPr>
          <p:cNvPr id="45" name="Oval 44">
            <a:extLst>
              <a:ext uri="{FF2B5EF4-FFF2-40B4-BE49-F238E27FC236}">
                <a16:creationId xmlns:a16="http://schemas.microsoft.com/office/drawing/2014/main" id="{8345F288-9F1F-6216-C18E-BA60CB19C5FE}"/>
              </a:ext>
            </a:extLst>
          </p:cNvPr>
          <p:cNvSpPr/>
          <p:nvPr/>
        </p:nvSpPr>
        <p:spPr>
          <a:xfrm>
            <a:off x="5203406" y="4198475"/>
            <a:ext cx="175978" cy="176901"/>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6" name="TextBox 45">
            <a:extLst>
              <a:ext uri="{FF2B5EF4-FFF2-40B4-BE49-F238E27FC236}">
                <a16:creationId xmlns:a16="http://schemas.microsoft.com/office/drawing/2014/main" id="{3E3B55C8-8BA6-B9C1-6ECC-A206BEA33A1B}"/>
              </a:ext>
            </a:extLst>
          </p:cNvPr>
          <p:cNvSpPr txBox="1"/>
          <p:nvPr/>
        </p:nvSpPr>
        <p:spPr>
          <a:xfrm>
            <a:off x="11473534" y="4361774"/>
            <a:ext cx="718466" cy="369332"/>
          </a:xfrm>
          <a:prstGeom prst="rect">
            <a:avLst/>
          </a:prstGeom>
          <a:noFill/>
        </p:spPr>
        <p:txBody>
          <a:bodyPr wrap="none" rtlCol="0">
            <a:spAutoFit/>
          </a:bodyPr>
          <a:lstStyle/>
          <a:p>
            <a:r>
              <a:rPr lang="en-US" b="1" i="1" dirty="0"/>
              <a:t>Time</a:t>
            </a:r>
            <a:endParaRPr lang="en-CA" b="1" i="1" dirty="0"/>
          </a:p>
        </p:txBody>
      </p:sp>
      <p:sp>
        <p:nvSpPr>
          <p:cNvPr id="47" name="TextBox 46">
            <a:extLst>
              <a:ext uri="{FF2B5EF4-FFF2-40B4-BE49-F238E27FC236}">
                <a16:creationId xmlns:a16="http://schemas.microsoft.com/office/drawing/2014/main" id="{6E82A5BA-920F-B8C5-D089-BE44B9A87F93}"/>
              </a:ext>
            </a:extLst>
          </p:cNvPr>
          <p:cNvSpPr txBox="1"/>
          <p:nvPr/>
        </p:nvSpPr>
        <p:spPr>
          <a:xfrm rot="3757880">
            <a:off x="5121490" y="4586210"/>
            <a:ext cx="1016432" cy="369332"/>
          </a:xfrm>
          <a:prstGeom prst="rect">
            <a:avLst/>
          </a:prstGeom>
          <a:noFill/>
        </p:spPr>
        <p:txBody>
          <a:bodyPr wrap="none" rtlCol="0">
            <a:spAutoFit/>
          </a:bodyPr>
          <a:lstStyle/>
          <a:p>
            <a:r>
              <a:rPr lang="en-US" dirty="0"/>
              <a:t>10 years</a:t>
            </a:r>
            <a:endParaRPr lang="en-CA" dirty="0"/>
          </a:p>
        </p:txBody>
      </p:sp>
      <p:sp>
        <p:nvSpPr>
          <p:cNvPr id="48" name="Oval 47">
            <a:extLst>
              <a:ext uri="{FF2B5EF4-FFF2-40B4-BE49-F238E27FC236}">
                <a16:creationId xmlns:a16="http://schemas.microsoft.com/office/drawing/2014/main" id="{08ADFF5C-19E7-AEF2-830C-D08E77B46421}"/>
              </a:ext>
            </a:extLst>
          </p:cNvPr>
          <p:cNvSpPr/>
          <p:nvPr/>
        </p:nvSpPr>
        <p:spPr>
          <a:xfrm>
            <a:off x="7574480" y="4166331"/>
            <a:ext cx="175978" cy="176901"/>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9" name="TextBox 48">
            <a:extLst>
              <a:ext uri="{FF2B5EF4-FFF2-40B4-BE49-F238E27FC236}">
                <a16:creationId xmlns:a16="http://schemas.microsoft.com/office/drawing/2014/main" id="{F45CB52B-423F-6F2D-41A6-7F7446C47FEF}"/>
              </a:ext>
            </a:extLst>
          </p:cNvPr>
          <p:cNvSpPr txBox="1"/>
          <p:nvPr/>
        </p:nvSpPr>
        <p:spPr>
          <a:xfrm rot="3757880">
            <a:off x="9535700" y="4606207"/>
            <a:ext cx="1016432" cy="369332"/>
          </a:xfrm>
          <a:prstGeom prst="rect">
            <a:avLst/>
          </a:prstGeom>
          <a:noFill/>
        </p:spPr>
        <p:txBody>
          <a:bodyPr wrap="none" rtlCol="0">
            <a:spAutoFit/>
          </a:bodyPr>
          <a:lstStyle/>
          <a:p>
            <a:r>
              <a:rPr lang="en-US" dirty="0"/>
              <a:t>20 years</a:t>
            </a:r>
            <a:endParaRPr lang="en-CA" dirty="0"/>
          </a:p>
        </p:txBody>
      </p:sp>
      <p:sp>
        <p:nvSpPr>
          <p:cNvPr id="50" name="Oval 49">
            <a:extLst>
              <a:ext uri="{FF2B5EF4-FFF2-40B4-BE49-F238E27FC236}">
                <a16:creationId xmlns:a16="http://schemas.microsoft.com/office/drawing/2014/main" id="{46E42915-B19F-2445-48EC-CFCA4065083B}"/>
              </a:ext>
            </a:extLst>
          </p:cNvPr>
          <p:cNvSpPr/>
          <p:nvPr/>
        </p:nvSpPr>
        <p:spPr>
          <a:xfrm>
            <a:off x="9667951" y="4182826"/>
            <a:ext cx="175978" cy="176901"/>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1" name="TextBox 50">
            <a:extLst>
              <a:ext uri="{FF2B5EF4-FFF2-40B4-BE49-F238E27FC236}">
                <a16:creationId xmlns:a16="http://schemas.microsoft.com/office/drawing/2014/main" id="{21E1A587-1F5A-8B68-5E2B-39207C6F66D5}"/>
              </a:ext>
            </a:extLst>
          </p:cNvPr>
          <p:cNvSpPr txBox="1"/>
          <p:nvPr/>
        </p:nvSpPr>
        <p:spPr>
          <a:xfrm rot="3757880">
            <a:off x="7562819" y="4702432"/>
            <a:ext cx="1016432" cy="369332"/>
          </a:xfrm>
          <a:prstGeom prst="rect">
            <a:avLst/>
          </a:prstGeom>
          <a:noFill/>
        </p:spPr>
        <p:txBody>
          <a:bodyPr wrap="none" rtlCol="0">
            <a:spAutoFit/>
          </a:bodyPr>
          <a:lstStyle/>
          <a:p>
            <a:r>
              <a:rPr lang="en-US" dirty="0"/>
              <a:t>15 years</a:t>
            </a:r>
            <a:endParaRPr lang="en-CA" dirty="0"/>
          </a:p>
        </p:txBody>
      </p:sp>
      <p:sp>
        <p:nvSpPr>
          <p:cNvPr id="52" name="TextBox 51">
            <a:extLst>
              <a:ext uri="{FF2B5EF4-FFF2-40B4-BE49-F238E27FC236}">
                <a16:creationId xmlns:a16="http://schemas.microsoft.com/office/drawing/2014/main" id="{FDD3E3AF-992E-9781-A547-F8A0C9712D59}"/>
              </a:ext>
            </a:extLst>
          </p:cNvPr>
          <p:cNvSpPr txBox="1"/>
          <p:nvPr/>
        </p:nvSpPr>
        <p:spPr>
          <a:xfrm>
            <a:off x="9537618" y="3757188"/>
            <a:ext cx="1652825" cy="369332"/>
          </a:xfrm>
          <a:prstGeom prst="rect">
            <a:avLst/>
          </a:prstGeom>
          <a:noFill/>
        </p:spPr>
        <p:txBody>
          <a:bodyPr wrap="none" rtlCol="0">
            <a:spAutoFit/>
          </a:bodyPr>
          <a:lstStyle/>
          <a:p>
            <a:r>
              <a:rPr lang="en-US" i="1" dirty="0"/>
              <a:t>Patent Expires</a:t>
            </a:r>
            <a:endParaRPr lang="en-CA" i="1" dirty="0"/>
          </a:p>
        </p:txBody>
      </p:sp>
    </p:spTree>
    <p:extLst>
      <p:ext uri="{BB962C8B-B14F-4D97-AF65-F5344CB8AC3E}">
        <p14:creationId xmlns:p14="http://schemas.microsoft.com/office/powerpoint/2010/main" val="2606127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67B85-E6BF-04EE-8B4E-B0AFA37EB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D0FFCD-13EA-920D-2BC0-2D5CA63B4B79}"/>
              </a:ext>
            </a:extLst>
          </p:cNvPr>
          <p:cNvSpPr>
            <a:spLocks noGrp="1"/>
          </p:cNvSpPr>
          <p:nvPr>
            <p:ph type="title"/>
          </p:nvPr>
        </p:nvSpPr>
        <p:spPr>
          <a:xfrm>
            <a:off x="355119" y="534177"/>
            <a:ext cx="10634472" cy="1117092"/>
          </a:xfrm>
        </p:spPr>
        <p:txBody>
          <a:bodyPr/>
          <a:lstStyle/>
          <a:p>
            <a:r>
              <a:rPr lang="en-US" sz="3600" dirty="0"/>
              <a:t>Economic Evaluation and The Life Cycle of a Drug</a:t>
            </a:r>
            <a:endParaRPr lang="en-CA" sz="3600" dirty="0"/>
          </a:p>
        </p:txBody>
      </p:sp>
      <p:cxnSp>
        <p:nvCxnSpPr>
          <p:cNvPr id="5" name="Straight Arrow Connector 4">
            <a:extLst>
              <a:ext uri="{FF2B5EF4-FFF2-40B4-BE49-F238E27FC236}">
                <a16:creationId xmlns:a16="http://schemas.microsoft.com/office/drawing/2014/main" id="{F999DE85-8ADC-13C7-2D2D-C7F596A5C18D}"/>
              </a:ext>
            </a:extLst>
          </p:cNvPr>
          <p:cNvCxnSpPr>
            <a:cxnSpLocks/>
            <a:stCxn id="7" idx="0"/>
          </p:cNvCxnSpPr>
          <p:nvPr/>
        </p:nvCxnSpPr>
        <p:spPr>
          <a:xfrm>
            <a:off x="826850" y="4280170"/>
            <a:ext cx="11245176" cy="6756"/>
          </a:xfrm>
          <a:prstGeom prst="straightConnector1">
            <a:avLst/>
          </a:prstGeom>
          <a:ln w="571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7" name="Freeform: Shape 6">
            <a:extLst>
              <a:ext uri="{FF2B5EF4-FFF2-40B4-BE49-F238E27FC236}">
                <a16:creationId xmlns:a16="http://schemas.microsoft.com/office/drawing/2014/main" id="{B2693E17-089D-290A-4D0F-6A5155D5096C}"/>
              </a:ext>
            </a:extLst>
          </p:cNvPr>
          <p:cNvSpPr/>
          <p:nvPr/>
        </p:nvSpPr>
        <p:spPr>
          <a:xfrm>
            <a:off x="826850" y="2937755"/>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a:extLst>
              <a:ext uri="{FF2B5EF4-FFF2-40B4-BE49-F238E27FC236}">
                <a16:creationId xmlns:a16="http://schemas.microsoft.com/office/drawing/2014/main" id="{BCD6B847-0023-C2CD-6327-D8A77547B191}"/>
              </a:ext>
            </a:extLst>
          </p:cNvPr>
          <p:cNvSpPr txBox="1"/>
          <p:nvPr/>
        </p:nvSpPr>
        <p:spPr>
          <a:xfrm rot="19311110">
            <a:off x="849889" y="2226576"/>
            <a:ext cx="1811363" cy="369332"/>
          </a:xfrm>
          <a:prstGeom prst="rect">
            <a:avLst/>
          </a:prstGeom>
          <a:noFill/>
        </p:spPr>
        <p:txBody>
          <a:bodyPr wrap="square" rtlCol="0">
            <a:spAutoFit/>
          </a:bodyPr>
          <a:lstStyle/>
          <a:p>
            <a:r>
              <a:rPr lang="en-US" i="1" dirty="0"/>
              <a:t>Patent filed</a:t>
            </a:r>
            <a:endParaRPr lang="en-CA" i="1" dirty="0"/>
          </a:p>
        </p:txBody>
      </p:sp>
      <p:sp>
        <p:nvSpPr>
          <p:cNvPr id="10" name="Freeform: Shape 9">
            <a:extLst>
              <a:ext uri="{FF2B5EF4-FFF2-40B4-BE49-F238E27FC236}">
                <a16:creationId xmlns:a16="http://schemas.microsoft.com/office/drawing/2014/main" id="{A490771B-AAE4-4FC5-1271-4776BB9E429D}"/>
              </a:ext>
            </a:extLst>
          </p:cNvPr>
          <p:cNvSpPr/>
          <p:nvPr/>
        </p:nvSpPr>
        <p:spPr>
          <a:xfrm>
            <a:off x="233463" y="2937754"/>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3" name="Straight Connector 12">
            <a:extLst>
              <a:ext uri="{FF2B5EF4-FFF2-40B4-BE49-F238E27FC236}">
                <a16:creationId xmlns:a16="http://schemas.microsoft.com/office/drawing/2014/main" id="{6A677B1F-7627-9E1F-7A61-8F13EC1AD7C7}"/>
              </a:ext>
            </a:extLst>
          </p:cNvPr>
          <p:cNvCxnSpPr>
            <a:cxnSpLocks/>
            <a:endCxn id="7" idx="0"/>
          </p:cNvCxnSpPr>
          <p:nvPr/>
        </p:nvCxnSpPr>
        <p:spPr>
          <a:xfrm>
            <a:off x="233463" y="4280170"/>
            <a:ext cx="593387" cy="0"/>
          </a:xfrm>
          <a:prstGeom prst="line">
            <a:avLst/>
          </a:prstGeom>
          <a:ln w="571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E46428B-02AB-583E-A34B-3459E77A1B90}"/>
              </a:ext>
            </a:extLst>
          </p:cNvPr>
          <p:cNvSpPr txBox="1"/>
          <p:nvPr/>
        </p:nvSpPr>
        <p:spPr>
          <a:xfrm rot="19260489">
            <a:off x="318884" y="2322722"/>
            <a:ext cx="1210053" cy="369332"/>
          </a:xfrm>
          <a:prstGeom prst="rect">
            <a:avLst/>
          </a:prstGeom>
          <a:noFill/>
        </p:spPr>
        <p:txBody>
          <a:bodyPr wrap="square" rtlCol="0">
            <a:spAutoFit/>
          </a:bodyPr>
          <a:lstStyle/>
          <a:p>
            <a:r>
              <a:rPr lang="en-US" i="1" dirty="0"/>
              <a:t>Discovery</a:t>
            </a:r>
          </a:p>
        </p:txBody>
      </p:sp>
      <p:sp>
        <p:nvSpPr>
          <p:cNvPr id="16" name="Freeform: Shape 15">
            <a:extLst>
              <a:ext uri="{FF2B5EF4-FFF2-40B4-BE49-F238E27FC236}">
                <a16:creationId xmlns:a16="http://schemas.microsoft.com/office/drawing/2014/main" id="{93D21F0B-95B8-F6F9-F2C7-02AF7394D5C6}"/>
              </a:ext>
            </a:extLst>
          </p:cNvPr>
          <p:cNvSpPr/>
          <p:nvPr/>
        </p:nvSpPr>
        <p:spPr>
          <a:xfrm>
            <a:off x="1575881" y="2932889"/>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TextBox 16">
            <a:extLst>
              <a:ext uri="{FF2B5EF4-FFF2-40B4-BE49-F238E27FC236}">
                <a16:creationId xmlns:a16="http://schemas.microsoft.com/office/drawing/2014/main" id="{8F7D6E4A-0369-AC57-F2DF-68B33C54B0AC}"/>
              </a:ext>
            </a:extLst>
          </p:cNvPr>
          <p:cNvSpPr txBox="1"/>
          <p:nvPr/>
        </p:nvSpPr>
        <p:spPr>
          <a:xfrm rot="19311110">
            <a:off x="1558769" y="2065906"/>
            <a:ext cx="2254124" cy="369332"/>
          </a:xfrm>
          <a:prstGeom prst="rect">
            <a:avLst/>
          </a:prstGeom>
          <a:noFill/>
        </p:spPr>
        <p:txBody>
          <a:bodyPr wrap="square" rtlCol="0">
            <a:spAutoFit/>
          </a:bodyPr>
          <a:lstStyle/>
          <a:p>
            <a:r>
              <a:rPr lang="en-US" i="1" dirty="0"/>
              <a:t>Acute Toxicology</a:t>
            </a:r>
            <a:endParaRPr lang="en-CA" i="1" dirty="0"/>
          </a:p>
        </p:txBody>
      </p:sp>
      <p:sp>
        <p:nvSpPr>
          <p:cNvPr id="18" name="Freeform: Shape 17">
            <a:extLst>
              <a:ext uri="{FF2B5EF4-FFF2-40B4-BE49-F238E27FC236}">
                <a16:creationId xmlns:a16="http://schemas.microsoft.com/office/drawing/2014/main" id="{F9A0E3B1-3F84-6174-434B-9761EA65DACA}"/>
              </a:ext>
            </a:extLst>
          </p:cNvPr>
          <p:cNvSpPr/>
          <p:nvPr/>
        </p:nvSpPr>
        <p:spPr>
          <a:xfrm>
            <a:off x="1979848" y="2924244"/>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Freeform: Shape 18">
            <a:extLst>
              <a:ext uri="{FF2B5EF4-FFF2-40B4-BE49-F238E27FC236}">
                <a16:creationId xmlns:a16="http://schemas.microsoft.com/office/drawing/2014/main" id="{D2678304-C00F-9165-B215-7ABC18D86F00}"/>
              </a:ext>
            </a:extLst>
          </p:cNvPr>
          <p:cNvSpPr/>
          <p:nvPr/>
        </p:nvSpPr>
        <p:spPr>
          <a:xfrm>
            <a:off x="2458100" y="2937753"/>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2" name="TextBox 21">
            <a:extLst>
              <a:ext uri="{FF2B5EF4-FFF2-40B4-BE49-F238E27FC236}">
                <a16:creationId xmlns:a16="http://schemas.microsoft.com/office/drawing/2014/main" id="{BBF687DA-B279-B185-8269-B8E34D3FD75A}"/>
              </a:ext>
            </a:extLst>
          </p:cNvPr>
          <p:cNvSpPr txBox="1"/>
          <p:nvPr/>
        </p:nvSpPr>
        <p:spPr>
          <a:xfrm rot="19311110">
            <a:off x="2037021" y="2041980"/>
            <a:ext cx="2254124" cy="369332"/>
          </a:xfrm>
          <a:prstGeom prst="rect">
            <a:avLst/>
          </a:prstGeom>
          <a:noFill/>
        </p:spPr>
        <p:txBody>
          <a:bodyPr wrap="square" rtlCol="0">
            <a:spAutoFit/>
          </a:bodyPr>
          <a:lstStyle/>
          <a:p>
            <a:r>
              <a:rPr lang="en-US" i="1" dirty="0"/>
              <a:t>Pharmacology</a:t>
            </a:r>
            <a:endParaRPr lang="en-CA" i="1" dirty="0"/>
          </a:p>
        </p:txBody>
      </p:sp>
      <p:sp>
        <p:nvSpPr>
          <p:cNvPr id="23" name="TextBox 22">
            <a:extLst>
              <a:ext uri="{FF2B5EF4-FFF2-40B4-BE49-F238E27FC236}">
                <a16:creationId xmlns:a16="http://schemas.microsoft.com/office/drawing/2014/main" id="{3D40EBF3-B6DC-39CB-78A1-0B411C1D0A9F}"/>
              </a:ext>
            </a:extLst>
          </p:cNvPr>
          <p:cNvSpPr txBox="1"/>
          <p:nvPr/>
        </p:nvSpPr>
        <p:spPr>
          <a:xfrm rot="19311110">
            <a:off x="2497218" y="2055492"/>
            <a:ext cx="2254124" cy="369332"/>
          </a:xfrm>
          <a:prstGeom prst="rect">
            <a:avLst/>
          </a:prstGeom>
          <a:noFill/>
        </p:spPr>
        <p:txBody>
          <a:bodyPr wrap="square" rtlCol="0">
            <a:spAutoFit/>
          </a:bodyPr>
          <a:lstStyle/>
          <a:p>
            <a:r>
              <a:rPr lang="en-US" i="1" dirty="0"/>
              <a:t>Chronical toxicity</a:t>
            </a:r>
            <a:endParaRPr lang="en-CA" i="1" dirty="0"/>
          </a:p>
        </p:txBody>
      </p:sp>
      <p:sp>
        <p:nvSpPr>
          <p:cNvPr id="24" name="Freeform: Shape 23">
            <a:extLst>
              <a:ext uri="{FF2B5EF4-FFF2-40B4-BE49-F238E27FC236}">
                <a16:creationId xmlns:a16="http://schemas.microsoft.com/office/drawing/2014/main" id="{A64D978B-098A-EE24-5A68-DC9CA100DDDA}"/>
              </a:ext>
            </a:extLst>
          </p:cNvPr>
          <p:cNvSpPr/>
          <p:nvPr/>
        </p:nvSpPr>
        <p:spPr>
          <a:xfrm>
            <a:off x="3914652" y="2924243"/>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5" name="TextBox 24">
            <a:extLst>
              <a:ext uri="{FF2B5EF4-FFF2-40B4-BE49-F238E27FC236}">
                <a16:creationId xmlns:a16="http://schemas.microsoft.com/office/drawing/2014/main" id="{A5EEA24F-E9F4-1037-088C-B07A3ACBB1E1}"/>
              </a:ext>
            </a:extLst>
          </p:cNvPr>
          <p:cNvSpPr txBox="1"/>
          <p:nvPr/>
        </p:nvSpPr>
        <p:spPr>
          <a:xfrm rot="19311110">
            <a:off x="3910043" y="2024494"/>
            <a:ext cx="2376365" cy="369332"/>
          </a:xfrm>
          <a:prstGeom prst="rect">
            <a:avLst/>
          </a:prstGeom>
          <a:noFill/>
        </p:spPr>
        <p:txBody>
          <a:bodyPr wrap="square" rtlCol="0">
            <a:spAutoFit/>
          </a:bodyPr>
          <a:lstStyle/>
          <a:p>
            <a:r>
              <a:rPr lang="en-US" i="1" dirty="0"/>
              <a:t>Clinical Trials Phase I </a:t>
            </a:r>
            <a:endParaRPr lang="en-CA" i="1" dirty="0"/>
          </a:p>
        </p:txBody>
      </p:sp>
      <p:sp>
        <p:nvSpPr>
          <p:cNvPr id="26" name="Freeform: Shape 25">
            <a:extLst>
              <a:ext uri="{FF2B5EF4-FFF2-40B4-BE49-F238E27FC236}">
                <a16:creationId xmlns:a16="http://schemas.microsoft.com/office/drawing/2014/main" id="{EEFF99B2-7A80-0855-2BB4-230990E7E6B7}"/>
              </a:ext>
            </a:extLst>
          </p:cNvPr>
          <p:cNvSpPr/>
          <p:nvPr/>
        </p:nvSpPr>
        <p:spPr>
          <a:xfrm>
            <a:off x="4534130" y="2930999"/>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7" name="TextBox 26">
            <a:extLst>
              <a:ext uri="{FF2B5EF4-FFF2-40B4-BE49-F238E27FC236}">
                <a16:creationId xmlns:a16="http://schemas.microsoft.com/office/drawing/2014/main" id="{3FCAC838-740F-C632-724C-0C8301222959}"/>
              </a:ext>
            </a:extLst>
          </p:cNvPr>
          <p:cNvSpPr txBox="1"/>
          <p:nvPr/>
        </p:nvSpPr>
        <p:spPr>
          <a:xfrm rot="19311110">
            <a:off x="4526969" y="2031251"/>
            <a:ext cx="2376365" cy="369332"/>
          </a:xfrm>
          <a:prstGeom prst="rect">
            <a:avLst/>
          </a:prstGeom>
          <a:noFill/>
        </p:spPr>
        <p:txBody>
          <a:bodyPr wrap="square" rtlCol="0">
            <a:spAutoFit/>
          </a:bodyPr>
          <a:lstStyle/>
          <a:p>
            <a:r>
              <a:rPr lang="en-US" i="1" dirty="0"/>
              <a:t>Phase II</a:t>
            </a:r>
            <a:endParaRPr lang="en-CA" i="1" dirty="0"/>
          </a:p>
        </p:txBody>
      </p:sp>
      <p:sp>
        <p:nvSpPr>
          <p:cNvPr id="28" name="Freeform: Shape 27">
            <a:extLst>
              <a:ext uri="{FF2B5EF4-FFF2-40B4-BE49-F238E27FC236}">
                <a16:creationId xmlns:a16="http://schemas.microsoft.com/office/drawing/2014/main" id="{1964C1B6-F7D8-79A2-1502-3FACF4C03C4B}"/>
              </a:ext>
            </a:extLst>
          </p:cNvPr>
          <p:cNvSpPr/>
          <p:nvPr/>
        </p:nvSpPr>
        <p:spPr>
          <a:xfrm>
            <a:off x="5036319" y="2944511"/>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9" name="TextBox 28">
            <a:extLst>
              <a:ext uri="{FF2B5EF4-FFF2-40B4-BE49-F238E27FC236}">
                <a16:creationId xmlns:a16="http://schemas.microsoft.com/office/drawing/2014/main" id="{131FDF38-98C2-BB4A-8601-F7EBBB032355}"/>
              </a:ext>
            </a:extLst>
          </p:cNvPr>
          <p:cNvSpPr txBox="1"/>
          <p:nvPr/>
        </p:nvSpPr>
        <p:spPr>
          <a:xfrm rot="19311110">
            <a:off x="5063697" y="2093245"/>
            <a:ext cx="2376365" cy="369332"/>
          </a:xfrm>
          <a:prstGeom prst="rect">
            <a:avLst/>
          </a:prstGeom>
          <a:noFill/>
        </p:spPr>
        <p:txBody>
          <a:bodyPr wrap="square" rtlCol="0">
            <a:spAutoFit/>
          </a:bodyPr>
          <a:lstStyle/>
          <a:p>
            <a:r>
              <a:rPr lang="en-US" i="1" dirty="0"/>
              <a:t>Phase III</a:t>
            </a:r>
            <a:endParaRPr lang="en-CA" i="1" dirty="0"/>
          </a:p>
        </p:txBody>
      </p:sp>
      <p:sp>
        <p:nvSpPr>
          <p:cNvPr id="34" name="Freeform: Shape 33">
            <a:extLst>
              <a:ext uri="{FF2B5EF4-FFF2-40B4-BE49-F238E27FC236}">
                <a16:creationId xmlns:a16="http://schemas.microsoft.com/office/drawing/2014/main" id="{55F11137-4321-E4F1-C4CB-74610399AC60}"/>
              </a:ext>
            </a:extLst>
          </p:cNvPr>
          <p:cNvSpPr/>
          <p:nvPr/>
        </p:nvSpPr>
        <p:spPr>
          <a:xfrm>
            <a:off x="6078882" y="2924243"/>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5" name="Freeform: Shape 34">
            <a:extLst>
              <a:ext uri="{FF2B5EF4-FFF2-40B4-BE49-F238E27FC236}">
                <a16:creationId xmlns:a16="http://schemas.microsoft.com/office/drawing/2014/main" id="{00A37F55-4371-D033-9E76-8754F3E8B519}"/>
              </a:ext>
            </a:extLst>
          </p:cNvPr>
          <p:cNvSpPr/>
          <p:nvPr/>
        </p:nvSpPr>
        <p:spPr>
          <a:xfrm>
            <a:off x="6726986" y="2930999"/>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6" name="Freeform: Shape 35">
            <a:extLst>
              <a:ext uri="{FF2B5EF4-FFF2-40B4-BE49-F238E27FC236}">
                <a16:creationId xmlns:a16="http://schemas.microsoft.com/office/drawing/2014/main" id="{1F67399B-8373-0262-F344-F526572EC5CC}"/>
              </a:ext>
            </a:extLst>
          </p:cNvPr>
          <p:cNvSpPr/>
          <p:nvPr/>
        </p:nvSpPr>
        <p:spPr>
          <a:xfrm>
            <a:off x="7229175" y="2944511"/>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7" name="TextBox 36">
            <a:extLst>
              <a:ext uri="{FF2B5EF4-FFF2-40B4-BE49-F238E27FC236}">
                <a16:creationId xmlns:a16="http://schemas.microsoft.com/office/drawing/2014/main" id="{D0AB07CA-87D2-5C9D-E120-6F97E487516A}"/>
              </a:ext>
            </a:extLst>
          </p:cNvPr>
          <p:cNvSpPr txBox="1"/>
          <p:nvPr/>
        </p:nvSpPr>
        <p:spPr>
          <a:xfrm rot="19311110">
            <a:off x="6112171" y="2024493"/>
            <a:ext cx="2376365" cy="369332"/>
          </a:xfrm>
          <a:prstGeom prst="rect">
            <a:avLst/>
          </a:prstGeom>
          <a:noFill/>
        </p:spPr>
        <p:txBody>
          <a:bodyPr wrap="square" rtlCol="0">
            <a:spAutoFit/>
          </a:bodyPr>
          <a:lstStyle/>
          <a:p>
            <a:r>
              <a:rPr lang="en-US" b="1" i="1" dirty="0">
                <a:solidFill>
                  <a:srgbClr val="C00000"/>
                </a:solidFill>
              </a:rPr>
              <a:t>Registration</a:t>
            </a:r>
            <a:r>
              <a:rPr lang="en-US" i="1" dirty="0"/>
              <a:t> </a:t>
            </a:r>
            <a:endParaRPr lang="en-CA" i="1" dirty="0"/>
          </a:p>
        </p:txBody>
      </p:sp>
      <p:sp>
        <p:nvSpPr>
          <p:cNvPr id="38" name="TextBox 37">
            <a:extLst>
              <a:ext uri="{FF2B5EF4-FFF2-40B4-BE49-F238E27FC236}">
                <a16:creationId xmlns:a16="http://schemas.microsoft.com/office/drawing/2014/main" id="{10DAC0FE-9D1A-A31B-1D83-58E42B652DA1}"/>
              </a:ext>
            </a:extLst>
          </p:cNvPr>
          <p:cNvSpPr txBox="1"/>
          <p:nvPr/>
        </p:nvSpPr>
        <p:spPr>
          <a:xfrm rot="19311110">
            <a:off x="6707524" y="2015750"/>
            <a:ext cx="2376365" cy="369332"/>
          </a:xfrm>
          <a:prstGeom prst="rect">
            <a:avLst/>
          </a:prstGeom>
          <a:noFill/>
        </p:spPr>
        <p:txBody>
          <a:bodyPr wrap="square" rtlCol="0">
            <a:spAutoFit/>
          </a:bodyPr>
          <a:lstStyle/>
          <a:p>
            <a:r>
              <a:rPr lang="en-US" b="1" i="1" dirty="0">
                <a:solidFill>
                  <a:srgbClr val="C00000"/>
                </a:solidFill>
              </a:rPr>
              <a:t>Price</a:t>
            </a:r>
            <a:endParaRPr lang="en-CA" b="1" i="1" dirty="0">
              <a:solidFill>
                <a:srgbClr val="C00000"/>
              </a:solidFill>
            </a:endParaRPr>
          </a:p>
        </p:txBody>
      </p:sp>
      <p:sp>
        <p:nvSpPr>
          <p:cNvPr id="39" name="TextBox 38">
            <a:extLst>
              <a:ext uri="{FF2B5EF4-FFF2-40B4-BE49-F238E27FC236}">
                <a16:creationId xmlns:a16="http://schemas.microsoft.com/office/drawing/2014/main" id="{22E7EA41-08B4-371F-B4F2-194DB18178EF}"/>
              </a:ext>
            </a:extLst>
          </p:cNvPr>
          <p:cNvSpPr txBox="1"/>
          <p:nvPr/>
        </p:nvSpPr>
        <p:spPr>
          <a:xfrm rot="19311110">
            <a:off x="7254972" y="2048738"/>
            <a:ext cx="2376365" cy="369332"/>
          </a:xfrm>
          <a:prstGeom prst="rect">
            <a:avLst/>
          </a:prstGeom>
          <a:noFill/>
        </p:spPr>
        <p:txBody>
          <a:bodyPr wrap="square" rtlCol="0">
            <a:spAutoFit/>
          </a:bodyPr>
          <a:lstStyle/>
          <a:p>
            <a:r>
              <a:rPr lang="en-US" b="1" i="1" dirty="0">
                <a:solidFill>
                  <a:srgbClr val="C00000"/>
                </a:solidFill>
              </a:rPr>
              <a:t>Drug</a:t>
            </a:r>
            <a:r>
              <a:rPr lang="en-US" b="1" i="1" dirty="0"/>
              <a:t> </a:t>
            </a:r>
            <a:r>
              <a:rPr lang="en-US" b="1" i="1" dirty="0">
                <a:solidFill>
                  <a:srgbClr val="C00000"/>
                </a:solidFill>
              </a:rPr>
              <a:t>surveillance</a:t>
            </a:r>
            <a:endParaRPr lang="en-CA" b="1" i="1" dirty="0">
              <a:solidFill>
                <a:srgbClr val="C00000"/>
              </a:solidFill>
            </a:endParaRPr>
          </a:p>
        </p:txBody>
      </p:sp>
      <p:sp>
        <p:nvSpPr>
          <p:cNvPr id="41" name="Left Brace 40">
            <a:extLst>
              <a:ext uri="{FF2B5EF4-FFF2-40B4-BE49-F238E27FC236}">
                <a16:creationId xmlns:a16="http://schemas.microsoft.com/office/drawing/2014/main" id="{F25B5B92-DEC8-0336-7BE2-DF9616805D2C}"/>
              </a:ext>
            </a:extLst>
          </p:cNvPr>
          <p:cNvSpPr/>
          <p:nvPr/>
        </p:nvSpPr>
        <p:spPr>
          <a:xfrm rot="16200000">
            <a:off x="2794219" y="2420952"/>
            <a:ext cx="316239" cy="4250977"/>
          </a:xfrm>
          <a:prstGeom prst="leftBrace">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42" name="TextBox 41">
            <a:extLst>
              <a:ext uri="{FF2B5EF4-FFF2-40B4-BE49-F238E27FC236}">
                <a16:creationId xmlns:a16="http://schemas.microsoft.com/office/drawing/2014/main" id="{DC367A3F-D7C5-6019-C55C-0F07F5DDC487}"/>
              </a:ext>
            </a:extLst>
          </p:cNvPr>
          <p:cNvSpPr txBox="1"/>
          <p:nvPr/>
        </p:nvSpPr>
        <p:spPr>
          <a:xfrm>
            <a:off x="2378623" y="4622775"/>
            <a:ext cx="1147430" cy="369332"/>
          </a:xfrm>
          <a:prstGeom prst="rect">
            <a:avLst/>
          </a:prstGeom>
          <a:noFill/>
        </p:spPr>
        <p:txBody>
          <a:bodyPr wrap="none" rtlCol="0">
            <a:spAutoFit/>
          </a:bodyPr>
          <a:lstStyle/>
          <a:p>
            <a:r>
              <a:rPr lang="en-US" dirty="0"/>
              <a:t>Research</a:t>
            </a:r>
            <a:endParaRPr lang="en-CA" dirty="0"/>
          </a:p>
        </p:txBody>
      </p:sp>
      <p:sp>
        <p:nvSpPr>
          <p:cNvPr id="43" name="Left Brace 42">
            <a:extLst>
              <a:ext uri="{FF2B5EF4-FFF2-40B4-BE49-F238E27FC236}">
                <a16:creationId xmlns:a16="http://schemas.microsoft.com/office/drawing/2014/main" id="{4771D3F3-56F3-27D2-3560-C87DA9801305}"/>
              </a:ext>
            </a:extLst>
          </p:cNvPr>
          <p:cNvSpPr/>
          <p:nvPr/>
        </p:nvSpPr>
        <p:spPr>
          <a:xfrm rot="16200000">
            <a:off x="6488098" y="3634863"/>
            <a:ext cx="247227" cy="1727113"/>
          </a:xfrm>
          <a:prstGeom prst="leftBrace">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44" name="TextBox 43">
            <a:extLst>
              <a:ext uri="{FF2B5EF4-FFF2-40B4-BE49-F238E27FC236}">
                <a16:creationId xmlns:a16="http://schemas.microsoft.com/office/drawing/2014/main" id="{D1B58A8D-6B5A-EB78-5B9F-43712EE5AEF5}"/>
              </a:ext>
            </a:extLst>
          </p:cNvPr>
          <p:cNvSpPr txBox="1"/>
          <p:nvPr/>
        </p:nvSpPr>
        <p:spPr>
          <a:xfrm>
            <a:off x="5824643" y="4549903"/>
            <a:ext cx="1696362" cy="369332"/>
          </a:xfrm>
          <a:prstGeom prst="rect">
            <a:avLst/>
          </a:prstGeom>
          <a:noFill/>
        </p:spPr>
        <p:txBody>
          <a:bodyPr wrap="none" rtlCol="0">
            <a:spAutoFit/>
          </a:bodyPr>
          <a:lstStyle/>
          <a:p>
            <a:r>
              <a:rPr lang="en-US" dirty="0"/>
              <a:t>Administration</a:t>
            </a:r>
            <a:endParaRPr lang="en-CA" dirty="0"/>
          </a:p>
        </p:txBody>
      </p:sp>
      <p:sp>
        <p:nvSpPr>
          <p:cNvPr id="45" name="Oval 44">
            <a:extLst>
              <a:ext uri="{FF2B5EF4-FFF2-40B4-BE49-F238E27FC236}">
                <a16:creationId xmlns:a16="http://schemas.microsoft.com/office/drawing/2014/main" id="{8AC05D74-DAA8-9825-5B65-D38C837710DD}"/>
              </a:ext>
            </a:extLst>
          </p:cNvPr>
          <p:cNvSpPr/>
          <p:nvPr/>
        </p:nvSpPr>
        <p:spPr>
          <a:xfrm>
            <a:off x="5203406" y="4198475"/>
            <a:ext cx="175978" cy="176901"/>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6" name="TextBox 45">
            <a:extLst>
              <a:ext uri="{FF2B5EF4-FFF2-40B4-BE49-F238E27FC236}">
                <a16:creationId xmlns:a16="http://schemas.microsoft.com/office/drawing/2014/main" id="{C5ECA71E-B23B-9AF2-C181-3654A473FFD4}"/>
              </a:ext>
            </a:extLst>
          </p:cNvPr>
          <p:cNvSpPr txBox="1"/>
          <p:nvPr/>
        </p:nvSpPr>
        <p:spPr>
          <a:xfrm>
            <a:off x="11473534" y="4361774"/>
            <a:ext cx="718466" cy="369332"/>
          </a:xfrm>
          <a:prstGeom prst="rect">
            <a:avLst/>
          </a:prstGeom>
          <a:noFill/>
        </p:spPr>
        <p:txBody>
          <a:bodyPr wrap="none" rtlCol="0">
            <a:spAutoFit/>
          </a:bodyPr>
          <a:lstStyle/>
          <a:p>
            <a:r>
              <a:rPr lang="en-US" b="1" i="1" dirty="0"/>
              <a:t>Time</a:t>
            </a:r>
            <a:endParaRPr lang="en-CA" b="1" i="1" dirty="0"/>
          </a:p>
        </p:txBody>
      </p:sp>
      <p:sp>
        <p:nvSpPr>
          <p:cNvPr id="47" name="TextBox 46">
            <a:extLst>
              <a:ext uri="{FF2B5EF4-FFF2-40B4-BE49-F238E27FC236}">
                <a16:creationId xmlns:a16="http://schemas.microsoft.com/office/drawing/2014/main" id="{B1A343F5-4F64-3024-4DB9-8395AD5D8554}"/>
              </a:ext>
            </a:extLst>
          </p:cNvPr>
          <p:cNvSpPr txBox="1"/>
          <p:nvPr/>
        </p:nvSpPr>
        <p:spPr>
          <a:xfrm rot="3757880">
            <a:off x="5121490" y="4586210"/>
            <a:ext cx="1016432" cy="369332"/>
          </a:xfrm>
          <a:prstGeom prst="rect">
            <a:avLst/>
          </a:prstGeom>
          <a:noFill/>
        </p:spPr>
        <p:txBody>
          <a:bodyPr wrap="none" rtlCol="0">
            <a:spAutoFit/>
          </a:bodyPr>
          <a:lstStyle/>
          <a:p>
            <a:r>
              <a:rPr lang="en-US" dirty="0"/>
              <a:t>10 years</a:t>
            </a:r>
            <a:endParaRPr lang="en-CA" dirty="0"/>
          </a:p>
        </p:txBody>
      </p:sp>
      <p:sp>
        <p:nvSpPr>
          <p:cNvPr id="48" name="Oval 47">
            <a:extLst>
              <a:ext uri="{FF2B5EF4-FFF2-40B4-BE49-F238E27FC236}">
                <a16:creationId xmlns:a16="http://schemas.microsoft.com/office/drawing/2014/main" id="{32AB162B-4E21-FE05-6BA6-F84F01DD28F7}"/>
              </a:ext>
            </a:extLst>
          </p:cNvPr>
          <p:cNvSpPr/>
          <p:nvPr/>
        </p:nvSpPr>
        <p:spPr>
          <a:xfrm>
            <a:off x="7574480" y="4166331"/>
            <a:ext cx="175978" cy="176901"/>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9" name="TextBox 48">
            <a:extLst>
              <a:ext uri="{FF2B5EF4-FFF2-40B4-BE49-F238E27FC236}">
                <a16:creationId xmlns:a16="http://schemas.microsoft.com/office/drawing/2014/main" id="{012BBF26-F1C3-4F18-2549-A053F696EA25}"/>
              </a:ext>
            </a:extLst>
          </p:cNvPr>
          <p:cNvSpPr txBox="1"/>
          <p:nvPr/>
        </p:nvSpPr>
        <p:spPr>
          <a:xfrm rot="3757880">
            <a:off x="9535700" y="4606207"/>
            <a:ext cx="1016432" cy="369332"/>
          </a:xfrm>
          <a:prstGeom prst="rect">
            <a:avLst/>
          </a:prstGeom>
          <a:noFill/>
        </p:spPr>
        <p:txBody>
          <a:bodyPr wrap="none" rtlCol="0">
            <a:spAutoFit/>
          </a:bodyPr>
          <a:lstStyle/>
          <a:p>
            <a:r>
              <a:rPr lang="en-US" dirty="0"/>
              <a:t>20 years</a:t>
            </a:r>
            <a:endParaRPr lang="en-CA" dirty="0"/>
          </a:p>
        </p:txBody>
      </p:sp>
      <p:sp>
        <p:nvSpPr>
          <p:cNvPr id="50" name="Oval 49">
            <a:extLst>
              <a:ext uri="{FF2B5EF4-FFF2-40B4-BE49-F238E27FC236}">
                <a16:creationId xmlns:a16="http://schemas.microsoft.com/office/drawing/2014/main" id="{65C15C2D-562B-993D-F9EA-5D83C659D7FA}"/>
              </a:ext>
            </a:extLst>
          </p:cNvPr>
          <p:cNvSpPr/>
          <p:nvPr/>
        </p:nvSpPr>
        <p:spPr>
          <a:xfrm>
            <a:off x="9667951" y="4182826"/>
            <a:ext cx="175978" cy="176901"/>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1" name="TextBox 50">
            <a:extLst>
              <a:ext uri="{FF2B5EF4-FFF2-40B4-BE49-F238E27FC236}">
                <a16:creationId xmlns:a16="http://schemas.microsoft.com/office/drawing/2014/main" id="{FCD5199D-52AF-4EF3-5CE4-9972EA9F2C61}"/>
              </a:ext>
            </a:extLst>
          </p:cNvPr>
          <p:cNvSpPr txBox="1"/>
          <p:nvPr/>
        </p:nvSpPr>
        <p:spPr>
          <a:xfrm rot="3757880">
            <a:off x="7562819" y="4702432"/>
            <a:ext cx="1016432" cy="369332"/>
          </a:xfrm>
          <a:prstGeom prst="rect">
            <a:avLst/>
          </a:prstGeom>
          <a:noFill/>
        </p:spPr>
        <p:txBody>
          <a:bodyPr wrap="none" rtlCol="0">
            <a:spAutoFit/>
          </a:bodyPr>
          <a:lstStyle/>
          <a:p>
            <a:r>
              <a:rPr lang="en-US" dirty="0"/>
              <a:t>15 years</a:t>
            </a:r>
            <a:endParaRPr lang="en-CA" dirty="0"/>
          </a:p>
        </p:txBody>
      </p:sp>
      <p:sp>
        <p:nvSpPr>
          <p:cNvPr id="52" name="TextBox 51">
            <a:extLst>
              <a:ext uri="{FF2B5EF4-FFF2-40B4-BE49-F238E27FC236}">
                <a16:creationId xmlns:a16="http://schemas.microsoft.com/office/drawing/2014/main" id="{AE05476F-416C-5698-C069-8A1A67D1EC7C}"/>
              </a:ext>
            </a:extLst>
          </p:cNvPr>
          <p:cNvSpPr txBox="1"/>
          <p:nvPr/>
        </p:nvSpPr>
        <p:spPr>
          <a:xfrm>
            <a:off x="9537618" y="3757188"/>
            <a:ext cx="1652825" cy="369332"/>
          </a:xfrm>
          <a:prstGeom prst="rect">
            <a:avLst/>
          </a:prstGeom>
          <a:noFill/>
        </p:spPr>
        <p:txBody>
          <a:bodyPr wrap="none" rtlCol="0">
            <a:spAutoFit/>
          </a:bodyPr>
          <a:lstStyle/>
          <a:p>
            <a:r>
              <a:rPr lang="en-US" i="1" dirty="0"/>
              <a:t>Patent Expires</a:t>
            </a:r>
            <a:endParaRPr lang="en-CA" i="1" dirty="0"/>
          </a:p>
        </p:txBody>
      </p:sp>
      <p:sp>
        <p:nvSpPr>
          <p:cNvPr id="4" name="TextBox 3">
            <a:extLst>
              <a:ext uri="{FF2B5EF4-FFF2-40B4-BE49-F238E27FC236}">
                <a16:creationId xmlns:a16="http://schemas.microsoft.com/office/drawing/2014/main" id="{7100B33D-DE5D-86A6-0B8E-500520C676CC}"/>
              </a:ext>
            </a:extLst>
          </p:cNvPr>
          <p:cNvSpPr txBox="1"/>
          <p:nvPr/>
        </p:nvSpPr>
        <p:spPr>
          <a:xfrm>
            <a:off x="6847233" y="1409164"/>
            <a:ext cx="2809487" cy="646331"/>
          </a:xfrm>
          <a:prstGeom prst="rect">
            <a:avLst/>
          </a:prstGeom>
          <a:noFill/>
          <a:ln>
            <a:noFill/>
          </a:ln>
        </p:spPr>
        <p:txBody>
          <a:bodyPr wrap="none" rtlCol="0">
            <a:spAutoFit/>
          </a:bodyPr>
          <a:lstStyle/>
          <a:p>
            <a:r>
              <a:rPr lang="en-US" b="1" dirty="0">
                <a:solidFill>
                  <a:srgbClr val="C00000"/>
                </a:solidFill>
              </a:rPr>
              <a:t>Health Economists Work</a:t>
            </a:r>
            <a:br>
              <a:rPr lang="en-US" b="1" dirty="0">
                <a:solidFill>
                  <a:srgbClr val="C00000"/>
                </a:solidFill>
              </a:rPr>
            </a:br>
            <a:r>
              <a:rPr lang="en-US" b="1" dirty="0">
                <a:solidFill>
                  <a:srgbClr val="C00000"/>
                </a:solidFill>
              </a:rPr>
              <a:t>Here!</a:t>
            </a:r>
            <a:endParaRPr lang="en-CA" b="1" dirty="0">
              <a:solidFill>
                <a:srgbClr val="C00000"/>
              </a:solidFill>
            </a:endParaRPr>
          </a:p>
        </p:txBody>
      </p:sp>
    </p:spTree>
    <p:extLst>
      <p:ext uri="{BB962C8B-B14F-4D97-AF65-F5344CB8AC3E}">
        <p14:creationId xmlns:p14="http://schemas.microsoft.com/office/powerpoint/2010/main" val="2496605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A8F23-1A47-D6C8-235A-0886A185CE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BCA805-7AFA-A50B-AA58-AD73469ED8B3}"/>
              </a:ext>
            </a:extLst>
          </p:cNvPr>
          <p:cNvSpPr>
            <a:spLocks noGrp="1"/>
          </p:cNvSpPr>
          <p:nvPr>
            <p:ph type="title"/>
          </p:nvPr>
        </p:nvSpPr>
        <p:spPr>
          <a:xfrm>
            <a:off x="510118" y="862426"/>
            <a:ext cx="11870418" cy="1117092"/>
          </a:xfrm>
        </p:spPr>
        <p:txBody>
          <a:bodyPr/>
          <a:lstStyle/>
          <a:p>
            <a:r>
              <a:rPr lang="en-US" sz="4800" dirty="0"/>
              <a:t>Who does Economic Evaluation?</a:t>
            </a:r>
            <a:endParaRPr lang="en-CA" sz="4800" dirty="0"/>
          </a:p>
        </p:txBody>
      </p:sp>
      <p:sp>
        <p:nvSpPr>
          <p:cNvPr id="3" name="Content Placeholder 2">
            <a:extLst>
              <a:ext uri="{FF2B5EF4-FFF2-40B4-BE49-F238E27FC236}">
                <a16:creationId xmlns:a16="http://schemas.microsoft.com/office/drawing/2014/main" id="{1BBFCFC9-A448-D426-858D-411DCF8CF537}"/>
              </a:ext>
            </a:extLst>
          </p:cNvPr>
          <p:cNvSpPr>
            <a:spLocks noGrp="1"/>
          </p:cNvSpPr>
          <p:nvPr>
            <p:ph idx="1"/>
          </p:nvPr>
        </p:nvSpPr>
        <p:spPr>
          <a:xfrm>
            <a:off x="510118" y="1820020"/>
            <a:ext cx="10506991" cy="4360737"/>
          </a:xfrm>
        </p:spPr>
        <p:txBody>
          <a:bodyPr>
            <a:noAutofit/>
          </a:bodyPr>
          <a:lstStyle/>
          <a:p>
            <a:r>
              <a:rPr lang="en-US" sz="2000" dirty="0"/>
              <a:t>Economic Evaluation is often used to tell a story of if a drug is </a:t>
            </a:r>
            <a:r>
              <a:rPr lang="en-US" sz="2000" b="1" dirty="0"/>
              <a:t>cost effective</a:t>
            </a:r>
            <a:r>
              <a:rPr lang="en-US" sz="2000" dirty="0"/>
              <a:t>. Meaning: “does this new drug more effective and/or cheaper than current treatments on the market”.</a:t>
            </a:r>
            <a:br>
              <a:rPr lang="en-US" sz="2000" dirty="0"/>
            </a:br>
            <a:endParaRPr lang="en-US" sz="2000" dirty="0"/>
          </a:p>
          <a:p>
            <a:r>
              <a:rPr lang="en-CA" sz="2000" dirty="0"/>
              <a:t>Often Drug R&amp;D firms will submit Economic Evaluations to governments or 3</a:t>
            </a:r>
            <a:r>
              <a:rPr lang="en-CA" sz="2000" baseline="30000" dirty="0"/>
              <a:t>rd</a:t>
            </a:r>
            <a:r>
              <a:rPr lang="en-CA" sz="2000" dirty="0"/>
              <a:t> party payers (i.e. insurance companies) when applying for funding.</a:t>
            </a:r>
            <a:br>
              <a:rPr lang="en-CA" sz="2000" dirty="0"/>
            </a:br>
            <a:endParaRPr lang="en-CA" sz="2000" dirty="0"/>
          </a:p>
          <a:p>
            <a:r>
              <a:rPr lang="en-CA" sz="2000" dirty="0"/>
              <a:t>Because of this “marketing” aspect of economic evaluation assessors must carefully review submitted results and model structures to see if their assessment is accurate.</a:t>
            </a:r>
            <a:br>
              <a:rPr lang="en-CA" sz="2000" dirty="0"/>
            </a:br>
            <a:endParaRPr lang="en-CA" sz="2000" dirty="0"/>
          </a:p>
          <a:p>
            <a:r>
              <a:rPr lang="en-CA" sz="2000" dirty="0"/>
              <a:t>Still, a large majority of economic evaluation work is done by independent researchers.</a:t>
            </a:r>
            <a:endParaRPr lang="en-US" sz="2000" dirty="0"/>
          </a:p>
        </p:txBody>
      </p:sp>
    </p:spTree>
    <p:extLst>
      <p:ext uri="{BB962C8B-B14F-4D97-AF65-F5344CB8AC3E}">
        <p14:creationId xmlns:p14="http://schemas.microsoft.com/office/powerpoint/2010/main" val="3392533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66F3C-10E7-2A97-6D1A-EF68EFC6EB92}"/>
              </a:ext>
            </a:extLst>
          </p:cNvPr>
          <p:cNvSpPr>
            <a:spLocks noGrp="1"/>
          </p:cNvSpPr>
          <p:nvPr>
            <p:ph type="ctrTitle"/>
          </p:nvPr>
        </p:nvSpPr>
        <p:spPr/>
        <p:txBody>
          <a:bodyPr/>
          <a:lstStyle/>
          <a:p>
            <a:r>
              <a:rPr lang="en-US" dirty="0"/>
              <a:t>Economics and Economic Evaluation</a:t>
            </a:r>
            <a:endParaRPr lang="en-CA" dirty="0"/>
          </a:p>
        </p:txBody>
      </p:sp>
      <p:sp>
        <p:nvSpPr>
          <p:cNvPr id="3" name="Subtitle 2">
            <a:extLst>
              <a:ext uri="{FF2B5EF4-FFF2-40B4-BE49-F238E27FC236}">
                <a16:creationId xmlns:a16="http://schemas.microsoft.com/office/drawing/2014/main" id="{F655CA7F-B7A8-A1C6-FC7A-5308EE4EA2E4}"/>
              </a:ext>
            </a:extLst>
          </p:cNvPr>
          <p:cNvSpPr>
            <a:spLocks noGrp="1"/>
          </p:cNvSpPr>
          <p:nvPr>
            <p:ph type="subTitle" idx="1"/>
          </p:nvPr>
        </p:nvSpPr>
        <p:spPr/>
        <p:txBody>
          <a:bodyPr/>
          <a:lstStyle/>
          <a:p>
            <a:r>
              <a:rPr lang="en-US" dirty="0"/>
              <a:t>Terminology</a:t>
            </a:r>
            <a:endParaRPr lang="en-CA" dirty="0"/>
          </a:p>
        </p:txBody>
      </p:sp>
    </p:spTree>
    <p:extLst>
      <p:ext uri="{BB962C8B-B14F-4D97-AF65-F5344CB8AC3E}">
        <p14:creationId xmlns:p14="http://schemas.microsoft.com/office/powerpoint/2010/main" val="1569961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B5E4-7E08-AE61-CD3B-6C88255E4170}"/>
              </a:ext>
            </a:extLst>
          </p:cNvPr>
          <p:cNvSpPr>
            <a:spLocks noGrp="1"/>
          </p:cNvSpPr>
          <p:nvPr>
            <p:ph type="title"/>
          </p:nvPr>
        </p:nvSpPr>
        <p:spPr/>
        <p:txBody>
          <a:bodyPr/>
          <a:lstStyle/>
          <a:p>
            <a:r>
              <a:rPr lang="en-US" dirty="0"/>
              <a:t>What is Economics?</a:t>
            </a:r>
            <a:endParaRPr lang="en-CA" dirty="0"/>
          </a:p>
        </p:txBody>
      </p:sp>
      <p:sp>
        <p:nvSpPr>
          <p:cNvPr id="3" name="Content Placeholder 2">
            <a:extLst>
              <a:ext uri="{FF2B5EF4-FFF2-40B4-BE49-F238E27FC236}">
                <a16:creationId xmlns:a16="http://schemas.microsoft.com/office/drawing/2014/main" id="{2C6440B6-02BF-0393-76F6-3AF48082F2D8}"/>
              </a:ext>
            </a:extLst>
          </p:cNvPr>
          <p:cNvSpPr>
            <a:spLocks noGrp="1"/>
          </p:cNvSpPr>
          <p:nvPr>
            <p:ph idx="1"/>
          </p:nvPr>
        </p:nvSpPr>
        <p:spPr>
          <a:xfrm>
            <a:off x="515112" y="1908650"/>
            <a:ext cx="11155680" cy="4320133"/>
          </a:xfrm>
        </p:spPr>
        <p:txBody>
          <a:bodyPr>
            <a:normAutofit fontScale="92500"/>
          </a:bodyPr>
          <a:lstStyle/>
          <a:p>
            <a:r>
              <a:rPr lang="en-US" sz="2500" b="1" dirty="0"/>
              <a:t>Economics</a:t>
            </a:r>
            <a:r>
              <a:rPr lang="en-US" sz="2500" dirty="0"/>
              <a:t> studies the allocation of scarce resources under conditions of scarcity.</a:t>
            </a:r>
            <a:endParaRPr lang="en-US" sz="2500" b="1" dirty="0"/>
          </a:p>
          <a:p>
            <a:pPr lvl="1"/>
            <a:r>
              <a:rPr lang="en-US" sz="2300" dirty="0"/>
              <a:t>Microeconomics is the subfield which analyzes how consumer and firms behave and how they interact in a single market, determining prices and quantities transacted.</a:t>
            </a:r>
          </a:p>
          <a:p>
            <a:pPr lvl="1"/>
            <a:r>
              <a:rPr lang="en-US" sz="2300" dirty="0"/>
              <a:t>Macroeconomics is the subfield which analyzes the whole economy focusing on economy wide productivity through GDP, Inflation and Unemployment. </a:t>
            </a:r>
          </a:p>
          <a:p>
            <a:r>
              <a:rPr lang="en-US" sz="2500" b="1" dirty="0"/>
              <a:t>Economic evaluation </a:t>
            </a:r>
            <a:r>
              <a:rPr lang="en-US" sz="2500" dirty="0"/>
              <a:t>is a subfield of Microeconomics, in particular its focus is on how decision makers should choose between two or more options.</a:t>
            </a:r>
          </a:p>
          <a:p>
            <a:r>
              <a:rPr lang="en-US" sz="2500" dirty="0"/>
              <a:t>This course is about economic evaluation in health, so we are looking at a</a:t>
            </a:r>
            <a:r>
              <a:rPr lang="en-US" sz="2500" i="1" dirty="0"/>
              <a:t> subfield of a subfield </a:t>
            </a:r>
            <a:r>
              <a:rPr lang="en-US" sz="2500" dirty="0"/>
              <a:t>within economics as a whole.</a:t>
            </a:r>
          </a:p>
        </p:txBody>
      </p:sp>
    </p:spTree>
    <p:extLst>
      <p:ext uri="{BB962C8B-B14F-4D97-AF65-F5344CB8AC3E}">
        <p14:creationId xmlns:p14="http://schemas.microsoft.com/office/powerpoint/2010/main" val="3183193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8080C-C59C-39B8-9CEA-0D6CACE11E2C}"/>
              </a:ext>
            </a:extLst>
          </p:cNvPr>
          <p:cNvSpPr>
            <a:spLocks noGrp="1"/>
          </p:cNvSpPr>
          <p:nvPr>
            <p:ph type="title"/>
          </p:nvPr>
        </p:nvSpPr>
        <p:spPr/>
        <p:txBody>
          <a:bodyPr/>
          <a:lstStyle/>
          <a:p>
            <a:r>
              <a:rPr lang="en-US" dirty="0"/>
              <a:t>A Conceptual Map of the Field of Economics</a:t>
            </a:r>
            <a:endParaRPr lang="en-CA" dirty="0"/>
          </a:p>
        </p:txBody>
      </p:sp>
      <p:sp>
        <p:nvSpPr>
          <p:cNvPr id="4" name="Rectangle 3">
            <a:extLst>
              <a:ext uri="{FF2B5EF4-FFF2-40B4-BE49-F238E27FC236}">
                <a16:creationId xmlns:a16="http://schemas.microsoft.com/office/drawing/2014/main" id="{BBCB446C-D48E-01F0-CA60-2D264754D0D9}"/>
              </a:ext>
            </a:extLst>
          </p:cNvPr>
          <p:cNvSpPr/>
          <p:nvPr/>
        </p:nvSpPr>
        <p:spPr>
          <a:xfrm>
            <a:off x="1376127" y="2643612"/>
            <a:ext cx="8084744" cy="3865830"/>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Oval 9">
            <a:extLst>
              <a:ext uri="{FF2B5EF4-FFF2-40B4-BE49-F238E27FC236}">
                <a16:creationId xmlns:a16="http://schemas.microsoft.com/office/drawing/2014/main" id="{8F6FAB9C-2BB9-130B-D97C-88552EC7AE0A}"/>
              </a:ext>
            </a:extLst>
          </p:cNvPr>
          <p:cNvSpPr/>
          <p:nvPr/>
        </p:nvSpPr>
        <p:spPr>
          <a:xfrm>
            <a:off x="6732761" y="3809479"/>
            <a:ext cx="2082297" cy="13978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Health Economics</a:t>
            </a:r>
            <a:endParaRPr lang="en-CA" dirty="0">
              <a:solidFill>
                <a:sysClr val="windowText" lastClr="000000"/>
              </a:solidFill>
            </a:endParaRPr>
          </a:p>
        </p:txBody>
      </p:sp>
      <p:sp>
        <p:nvSpPr>
          <p:cNvPr id="11" name="Rectangle 10">
            <a:extLst>
              <a:ext uri="{FF2B5EF4-FFF2-40B4-BE49-F238E27FC236}">
                <a16:creationId xmlns:a16="http://schemas.microsoft.com/office/drawing/2014/main" id="{8EEF190C-3947-3A02-8D12-4D87BC070E59}"/>
              </a:ext>
            </a:extLst>
          </p:cNvPr>
          <p:cNvSpPr/>
          <p:nvPr/>
        </p:nvSpPr>
        <p:spPr>
          <a:xfrm>
            <a:off x="7244281" y="4886035"/>
            <a:ext cx="1059256" cy="98943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Economic Evaluation</a:t>
            </a:r>
            <a:endParaRPr lang="en-CA" sz="1200" dirty="0">
              <a:solidFill>
                <a:schemeClr val="tx1"/>
              </a:solidFill>
            </a:endParaRPr>
          </a:p>
        </p:txBody>
      </p:sp>
      <p:sp>
        <p:nvSpPr>
          <p:cNvPr id="12" name="TextBox 11">
            <a:extLst>
              <a:ext uri="{FF2B5EF4-FFF2-40B4-BE49-F238E27FC236}">
                <a16:creationId xmlns:a16="http://schemas.microsoft.com/office/drawing/2014/main" id="{4863BD8F-A7A4-8792-17BF-2C0310B39AD2}"/>
              </a:ext>
            </a:extLst>
          </p:cNvPr>
          <p:cNvSpPr txBox="1"/>
          <p:nvPr/>
        </p:nvSpPr>
        <p:spPr>
          <a:xfrm>
            <a:off x="5990920" y="3440147"/>
            <a:ext cx="1947456" cy="369332"/>
          </a:xfrm>
          <a:prstGeom prst="rect">
            <a:avLst/>
          </a:prstGeom>
          <a:noFill/>
        </p:spPr>
        <p:txBody>
          <a:bodyPr wrap="none" rtlCol="0">
            <a:spAutoFit/>
          </a:bodyPr>
          <a:lstStyle/>
          <a:p>
            <a:r>
              <a:rPr lang="en-US" b="1" dirty="0"/>
              <a:t>Microeconomics</a:t>
            </a:r>
            <a:endParaRPr lang="en-CA" b="1" dirty="0"/>
          </a:p>
        </p:txBody>
      </p:sp>
      <p:sp>
        <p:nvSpPr>
          <p:cNvPr id="13" name="TextBox 12">
            <a:extLst>
              <a:ext uri="{FF2B5EF4-FFF2-40B4-BE49-F238E27FC236}">
                <a16:creationId xmlns:a16="http://schemas.microsoft.com/office/drawing/2014/main" id="{E3255286-80F7-596C-AB8A-E70E1797BA31}"/>
              </a:ext>
            </a:extLst>
          </p:cNvPr>
          <p:cNvSpPr txBox="1"/>
          <p:nvPr/>
        </p:nvSpPr>
        <p:spPr>
          <a:xfrm>
            <a:off x="2408800" y="3446937"/>
            <a:ext cx="2013180" cy="369332"/>
          </a:xfrm>
          <a:prstGeom prst="rect">
            <a:avLst/>
          </a:prstGeom>
          <a:noFill/>
        </p:spPr>
        <p:txBody>
          <a:bodyPr wrap="none" rtlCol="0">
            <a:spAutoFit/>
          </a:bodyPr>
          <a:lstStyle/>
          <a:p>
            <a:r>
              <a:rPr lang="en-US" b="1" dirty="0"/>
              <a:t>Macroeconomics</a:t>
            </a:r>
            <a:endParaRPr lang="en-CA" b="1" dirty="0"/>
          </a:p>
        </p:txBody>
      </p:sp>
      <p:sp>
        <p:nvSpPr>
          <p:cNvPr id="14" name="Rectangle: Rounded Corners 13">
            <a:extLst>
              <a:ext uri="{FF2B5EF4-FFF2-40B4-BE49-F238E27FC236}">
                <a16:creationId xmlns:a16="http://schemas.microsoft.com/office/drawing/2014/main" id="{C1920E1D-2A37-EE64-8A70-05BCE97531EF}"/>
              </a:ext>
            </a:extLst>
          </p:cNvPr>
          <p:cNvSpPr/>
          <p:nvPr/>
        </p:nvSpPr>
        <p:spPr>
          <a:xfrm>
            <a:off x="5528752" y="2859386"/>
            <a:ext cx="3878446" cy="3630440"/>
          </a:xfrm>
          <a:prstGeom prst="round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Rectangle: Rounded Corners 15">
            <a:extLst>
              <a:ext uri="{FF2B5EF4-FFF2-40B4-BE49-F238E27FC236}">
                <a16:creationId xmlns:a16="http://schemas.microsoft.com/office/drawing/2014/main" id="{C5D4FE7C-50AB-5FEE-1875-FE4E910E0726}"/>
              </a:ext>
            </a:extLst>
          </p:cNvPr>
          <p:cNvSpPr/>
          <p:nvPr/>
        </p:nvSpPr>
        <p:spPr>
          <a:xfrm>
            <a:off x="1619061" y="2859386"/>
            <a:ext cx="3878446" cy="3630440"/>
          </a:xfrm>
          <a:prstGeom prst="round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20837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27632-7870-2999-951E-A47157208B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729FD5-26DB-F8B5-8B61-81F649D2DF50}"/>
              </a:ext>
            </a:extLst>
          </p:cNvPr>
          <p:cNvSpPr>
            <a:spLocks noGrp="1"/>
          </p:cNvSpPr>
          <p:nvPr>
            <p:ph type="title"/>
          </p:nvPr>
        </p:nvSpPr>
        <p:spPr/>
        <p:txBody>
          <a:bodyPr/>
          <a:lstStyle/>
          <a:p>
            <a:r>
              <a:rPr lang="en-US" dirty="0"/>
              <a:t>A Conceptual Map of the Field of Economics</a:t>
            </a:r>
            <a:endParaRPr lang="en-CA" dirty="0"/>
          </a:p>
        </p:txBody>
      </p:sp>
      <p:sp>
        <p:nvSpPr>
          <p:cNvPr id="4" name="Rectangle 3">
            <a:extLst>
              <a:ext uri="{FF2B5EF4-FFF2-40B4-BE49-F238E27FC236}">
                <a16:creationId xmlns:a16="http://schemas.microsoft.com/office/drawing/2014/main" id="{685E7F5A-D213-4B30-DF38-322233515F9F}"/>
              </a:ext>
            </a:extLst>
          </p:cNvPr>
          <p:cNvSpPr/>
          <p:nvPr/>
        </p:nvSpPr>
        <p:spPr>
          <a:xfrm>
            <a:off x="1376127" y="2643612"/>
            <a:ext cx="8084744" cy="3865830"/>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Oval 9">
            <a:extLst>
              <a:ext uri="{FF2B5EF4-FFF2-40B4-BE49-F238E27FC236}">
                <a16:creationId xmlns:a16="http://schemas.microsoft.com/office/drawing/2014/main" id="{9CD87766-AB48-0A41-1C6B-8E9CC118A207}"/>
              </a:ext>
            </a:extLst>
          </p:cNvPr>
          <p:cNvSpPr/>
          <p:nvPr/>
        </p:nvSpPr>
        <p:spPr>
          <a:xfrm>
            <a:off x="6732761" y="3809479"/>
            <a:ext cx="2082297" cy="13978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Health Economics</a:t>
            </a:r>
            <a:endParaRPr lang="en-CA" dirty="0">
              <a:solidFill>
                <a:sysClr val="windowText" lastClr="000000"/>
              </a:solidFill>
            </a:endParaRPr>
          </a:p>
        </p:txBody>
      </p:sp>
      <p:sp>
        <p:nvSpPr>
          <p:cNvPr id="11" name="Rectangle 10">
            <a:extLst>
              <a:ext uri="{FF2B5EF4-FFF2-40B4-BE49-F238E27FC236}">
                <a16:creationId xmlns:a16="http://schemas.microsoft.com/office/drawing/2014/main" id="{C46D4B9E-4FEC-A343-7B9E-06255A6E79FF}"/>
              </a:ext>
            </a:extLst>
          </p:cNvPr>
          <p:cNvSpPr/>
          <p:nvPr/>
        </p:nvSpPr>
        <p:spPr>
          <a:xfrm>
            <a:off x="7244281" y="4886035"/>
            <a:ext cx="1059256" cy="98943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Economic Evaluation</a:t>
            </a:r>
            <a:endParaRPr lang="en-CA" sz="1200" dirty="0">
              <a:solidFill>
                <a:schemeClr val="tx1"/>
              </a:solidFill>
            </a:endParaRPr>
          </a:p>
        </p:txBody>
      </p:sp>
      <p:sp>
        <p:nvSpPr>
          <p:cNvPr id="12" name="TextBox 11">
            <a:extLst>
              <a:ext uri="{FF2B5EF4-FFF2-40B4-BE49-F238E27FC236}">
                <a16:creationId xmlns:a16="http://schemas.microsoft.com/office/drawing/2014/main" id="{1E10ED7F-0B8B-C9DC-2204-2439AD52D00A}"/>
              </a:ext>
            </a:extLst>
          </p:cNvPr>
          <p:cNvSpPr txBox="1"/>
          <p:nvPr/>
        </p:nvSpPr>
        <p:spPr>
          <a:xfrm>
            <a:off x="5990920" y="3440147"/>
            <a:ext cx="1947456" cy="369332"/>
          </a:xfrm>
          <a:prstGeom prst="rect">
            <a:avLst/>
          </a:prstGeom>
          <a:noFill/>
        </p:spPr>
        <p:txBody>
          <a:bodyPr wrap="none" rtlCol="0">
            <a:spAutoFit/>
          </a:bodyPr>
          <a:lstStyle/>
          <a:p>
            <a:r>
              <a:rPr lang="en-US" b="1" dirty="0"/>
              <a:t>Microeconomics</a:t>
            </a:r>
            <a:endParaRPr lang="en-CA" b="1" dirty="0"/>
          </a:p>
        </p:txBody>
      </p:sp>
      <p:sp>
        <p:nvSpPr>
          <p:cNvPr id="13" name="TextBox 12">
            <a:extLst>
              <a:ext uri="{FF2B5EF4-FFF2-40B4-BE49-F238E27FC236}">
                <a16:creationId xmlns:a16="http://schemas.microsoft.com/office/drawing/2014/main" id="{26719018-9855-FBAD-526B-417AA99687F5}"/>
              </a:ext>
            </a:extLst>
          </p:cNvPr>
          <p:cNvSpPr txBox="1"/>
          <p:nvPr/>
        </p:nvSpPr>
        <p:spPr>
          <a:xfrm>
            <a:off x="2408800" y="3446937"/>
            <a:ext cx="2013180" cy="369332"/>
          </a:xfrm>
          <a:prstGeom prst="rect">
            <a:avLst/>
          </a:prstGeom>
          <a:noFill/>
        </p:spPr>
        <p:txBody>
          <a:bodyPr wrap="none" rtlCol="0">
            <a:spAutoFit/>
          </a:bodyPr>
          <a:lstStyle/>
          <a:p>
            <a:r>
              <a:rPr lang="en-US" b="1" dirty="0"/>
              <a:t>Macroeconomics</a:t>
            </a:r>
            <a:endParaRPr lang="en-CA" b="1" dirty="0"/>
          </a:p>
        </p:txBody>
      </p:sp>
      <p:sp>
        <p:nvSpPr>
          <p:cNvPr id="14" name="Rectangle: Rounded Corners 13">
            <a:extLst>
              <a:ext uri="{FF2B5EF4-FFF2-40B4-BE49-F238E27FC236}">
                <a16:creationId xmlns:a16="http://schemas.microsoft.com/office/drawing/2014/main" id="{56DFE929-356E-9B53-35B8-E4C4723D8789}"/>
              </a:ext>
            </a:extLst>
          </p:cNvPr>
          <p:cNvSpPr/>
          <p:nvPr/>
        </p:nvSpPr>
        <p:spPr>
          <a:xfrm>
            <a:off x="5528752" y="2859386"/>
            <a:ext cx="3878446" cy="3630440"/>
          </a:xfrm>
          <a:prstGeom prst="round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Rectangle: Rounded Corners 15">
            <a:extLst>
              <a:ext uri="{FF2B5EF4-FFF2-40B4-BE49-F238E27FC236}">
                <a16:creationId xmlns:a16="http://schemas.microsoft.com/office/drawing/2014/main" id="{1E104279-F180-4760-3299-4896E5667034}"/>
              </a:ext>
            </a:extLst>
          </p:cNvPr>
          <p:cNvSpPr/>
          <p:nvPr/>
        </p:nvSpPr>
        <p:spPr>
          <a:xfrm>
            <a:off x="1619061" y="2859386"/>
            <a:ext cx="3878446" cy="3630440"/>
          </a:xfrm>
          <a:prstGeom prst="round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Freeform: Shape 14">
            <a:extLst>
              <a:ext uri="{FF2B5EF4-FFF2-40B4-BE49-F238E27FC236}">
                <a16:creationId xmlns:a16="http://schemas.microsoft.com/office/drawing/2014/main" id="{0708A35D-E772-FFDB-3412-C82378ACCD1B}"/>
              </a:ext>
            </a:extLst>
          </p:cNvPr>
          <p:cNvSpPr/>
          <p:nvPr/>
        </p:nvSpPr>
        <p:spPr>
          <a:xfrm>
            <a:off x="7244281" y="4895843"/>
            <a:ext cx="1059256" cy="321276"/>
          </a:xfrm>
          <a:custGeom>
            <a:avLst/>
            <a:gdLst>
              <a:gd name="csX0" fmla="*/ 0 w 1059256"/>
              <a:gd name="csY0" fmla="*/ 0 h 321276"/>
              <a:gd name="csX1" fmla="*/ 1059256 w 1059256"/>
              <a:gd name="csY1" fmla="*/ 0 h 321276"/>
              <a:gd name="csX2" fmla="*/ 1059256 w 1059256"/>
              <a:gd name="csY2" fmla="*/ 221038 h 321276"/>
              <a:gd name="csX3" fmla="*/ 934892 w 1059256"/>
              <a:gd name="csY3" fmla="*/ 266352 h 321276"/>
              <a:gd name="csX4" fmla="*/ 529629 w 1059256"/>
              <a:gd name="csY4" fmla="*/ 321276 h 321276"/>
              <a:gd name="csX5" fmla="*/ 124367 w 1059256"/>
              <a:gd name="csY5" fmla="*/ 266352 h 321276"/>
              <a:gd name="csX6" fmla="*/ 0 w 1059256"/>
              <a:gd name="csY6" fmla="*/ 221037 h 3212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9256" h="321276">
                <a:moveTo>
                  <a:pt x="0" y="0"/>
                </a:moveTo>
                <a:lnTo>
                  <a:pt x="1059256" y="0"/>
                </a:lnTo>
                <a:lnTo>
                  <a:pt x="1059256" y="221038"/>
                </a:lnTo>
                <a:lnTo>
                  <a:pt x="934892" y="266352"/>
                </a:lnTo>
                <a:cubicBezTo>
                  <a:pt x="810330" y="301719"/>
                  <a:pt x="673382" y="321276"/>
                  <a:pt x="529629" y="321276"/>
                </a:cubicBezTo>
                <a:cubicBezTo>
                  <a:pt x="385877" y="321276"/>
                  <a:pt x="248928" y="301719"/>
                  <a:pt x="124367" y="266352"/>
                </a:cubicBezTo>
                <a:lnTo>
                  <a:pt x="0" y="221037"/>
                </a:lnTo>
                <a:close/>
              </a:path>
            </a:pathLst>
          </a:cu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dirty="0">
              <a:solidFill>
                <a:sysClr val="windowText" lastClr="000000"/>
              </a:solidFill>
            </a:endParaRPr>
          </a:p>
        </p:txBody>
      </p:sp>
      <p:sp>
        <p:nvSpPr>
          <p:cNvPr id="17" name="TextBox 16">
            <a:extLst>
              <a:ext uri="{FF2B5EF4-FFF2-40B4-BE49-F238E27FC236}">
                <a16:creationId xmlns:a16="http://schemas.microsoft.com/office/drawing/2014/main" id="{3566F608-32FA-0CD8-7425-D798CD604687}"/>
              </a:ext>
            </a:extLst>
          </p:cNvPr>
          <p:cNvSpPr txBox="1"/>
          <p:nvPr/>
        </p:nvSpPr>
        <p:spPr>
          <a:xfrm>
            <a:off x="9853581" y="3631603"/>
            <a:ext cx="1823307" cy="646331"/>
          </a:xfrm>
          <a:prstGeom prst="rect">
            <a:avLst/>
          </a:prstGeom>
          <a:noFill/>
        </p:spPr>
        <p:txBody>
          <a:bodyPr wrap="square" rtlCol="0">
            <a:spAutoFit/>
          </a:bodyPr>
          <a:lstStyle/>
          <a:p>
            <a:r>
              <a:rPr lang="en-US" b="1" dirty="0"/>
              <a:t>What this course is about</a:t>
            </a:r>
            <a:endParaRPr lang="en-CA" b="1" dirty="0"/>
          </a:p>
        </p:txBody>
      </p:sp>
      <p:cxnSp>
        <p:nvCxnSpPr>
          <p:cNvPr id="19" name="Straight Arrow Connector 18">
            <a:extLst>
              <a:ext uri="{FF2B5EF4-FFF2-40B4-BE49-F238E27FC236}">
                <a16:creationId xmlns:a16="http://schemas.microsoft.com/office/drawing/2014/main" id="{17B10DCF-5595-F778-0025-85820E60E05E}"/>
              </a:ext>
            </a:extLst>
          </p:cNvPr>
          <p:cNvCxnSpPr>
            <a:stCxn id="17" idx="1"/>
          </p:cNvCxnSpPr>
          <p:nvPr/>
        </p:nvCxnSpPr>
        <p:spPr>
          <a:xfrm flipH="1">
            <a:off x="8057584" y="3954769"/>
            <a:ext cx="1795997" cy="1101712"/>
          </a:xfrm>
          <a:prstGeom prst="straightConnector1">
            <a:avLst/>
          </a:prstGeom>
          <a:ln w="76200">
            <a:solidFill>
              <a:schemeClr val="tx2"/>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924114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17202-9B54-33A9-0E69-D5AA06FB3610}"/>
              </a:ext>
            </a:extLst>
          </p:cNvPr>
          <p:cNvSpPr>
            <a:spLocks noGrp="1"/>
          </p:cNvSpPr>
          <p:nvPr>
            <p:ph type="title"/>
          </p:nvPr>
        </p:nvSpPr>
        <p:spPr/>
        <p:txBody>
          <a:bodyPr/>
          <a:lstStyle/>
          <a:p>
            <a:r>
              <a:rPr lang="en-US" dirty="0"/>
              <a:t>Key Concepts in Economics</a:t>
            </a:r>
            <a:endParaRPr lang="en-CA" dirty="0"/>
          </a:p>
        </p:txBody>
      </p:sp>
      <p:sp>
        <p:nvSpPr>
          <p:cNvPr id="3" name="Content Placeholder 2">
            <a:extLst>
              <a:ext uri="{FF2B5EF4-FFF2-40B4-BE49-F238E27FC236}">
                <a16:creationId xmlns:a16="http://schemas.microsoft.com/office/drawing/2014/main" id="{07465E94-D20D-D354-571D-11F64BC9FC64}"/>
              </a:ext>
            </a:extLst>
          </p:cNvPr>
          <p:cNvSpPr>
            <a:spLocks noGrp="1"/>
          </p:cNvSpPr>
          <p:nvPr>
            <p:ph idx="1"/>
          </p:nvPr>
        </p:nvSpPr>
        <p:spPr>
          <a:xfrm>
            <a:off x="521208" y="2112264"/>
            <a:ext cx="11155680" cy="3767328"/>
          </a:xfrm>
        </p:spPr>
        <p:txBody>
          <a:bodyPr/>
          <a:lstStyle/>
          <a:p>
            <a:r>
              <a:rPr lang="en-US" sz="2300" dirty="0"/>
              <a:t>There are several concepts from economics which we will serve as the conceptual basis for this course.</a:t>
            </a:r>
          </a:p>
          <a:p>
            <a:pPr lvl="1"/>
            <a:r>
              <a:rPr lang="en-US" sz="2300" b="1" dirty="0"/>
              <a:t>Scarcity</a:t>
            </a:r>
          </a:p>
          <a:p>
            <a:pPr lvl="1"/>
            <a:r>
              <a:rPr lang="en-US" sz="2300" b="1" dirty="0"/>
              <a:t>Opportunity Cost</a:t>
            </a:r>
          </a:p>
          <a:p>
            <a:pPr lvl="1"/>
            <a:r>
              <a:rPr lang="en-US" sz="2300" b="1" dirty="0"/>
              <a:t>Marginal Analysis</a:t>
            </a:r>
          </a:p>
          <a:p>
            <a:r>
              <a:rPr lang="en-US" sz="2500" dirty="0"/>
              <a:t>Over the next couple of slides we will explore each of these conceptually.</a:t>
            </a:r>
          </a:p>
          <a:p>
            <a:pPr lvl="1"/>
            <a:endParaRPr lang="en-CA" b="1" dirty="0"/>
          </a:p>
        </p:txBody>
      </p:sp>
    </p:spTree>
    <p:extLst>
      <p:ext uri="{BB962C8B-B14F-4D97-AF65-F5344CB8AC3E}">
        <p14:creationId xmlns:p14="http://schemas.microsoft.com/office/powerpoint/2010/main" val="2351926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2820E-0334-6D5C-4D49-924A4CB92D58}"/>
              </a:ext>
            </a:extLst>
          </p:cNvPr>
          <p:cNvSpPr>
            <a:spLocks noGrp="1"/>
          </p:cNvSpPr>
          <p:nvPr>
            <p:ph type="title"/>
          </p:nvPr>
        </p:nvSpPr>
        <p:spPr/>
        <p:txBody>
          <a:bodyPr/>
          <a:lstStyle/>
          <a:p>
            <a:r>
              <a:rPr lang="en-US" dirty="0"/>
              <a:t>Scarcity</a:t>
            </a:r>
            <a:endParaRPr lang="en-CA" dirty="0"/>
          </a:p>
        </p:txBody>
      </p:sp>
      <p:sp>
        <p:nvSpPr>
          <p:cNvPr id="3" name="Content Placeholder 2">
            <a:extLst>
              <a:ext uri="{FF2B5EF4-FFF2-40B4-BE49-F238E27FC236}">
                <a16:creationId xmlns:a16="http://schemas.microsoft.com/office/drawing/2014/main" id="{BC51666E-F241-EFD4-82FD-D2449F9DD8F4}"/>
              </a:ext>
            </a:extLst>
          </p:cNvPr>
          <p:cNvSpPr>
            <a:spLocks noGrp="1"/>
          </p:cNvSpPr>
          <p:nvPr>
            <p:ph idx="1"/>
          </p:nvPr>
        </p:nvSpPr>
        <p:spPr>
          <a:xfrm>
            <a:off x="521208" y="2062264"/>
            <a:ext cx="11155680" cy="4283672"/>
          </a:xfrm>
        </p:spPr>
        <p:txBody>
          <a:bodyPr/>
          <a:lstStyle/>
          <a:p>
            <a:r>
              <a:rPr lang="en-US" dirty="0"/>
              <a:t>Economics is based on the premise of scarcity.</a:t>
            </a:r>
          </a:p>
          <a:p>
            <a:pPr lvl="1"/>
            <a:r>
              <a:rPr lang="en-US" dirty="0"/>
              <a:t>There are limited resources (time for a doctor, medical equipment or number of beds in an emergency room).</a:t>
            </a:r>
          </a:p>
          <a:p>
            <a:pPr lvl="1"/>
            <a:r>
              <a:rPr lang="en-US" dirty="0"/>
              <a:t>But Unlimited wants (unlimited needs of patients)</a:t>
            </a:r>
          </a:p>
          <a:p>
            <a:r>
              <a:rPr lang="en-US" dirty="0"/>
              <a:t>In the face of limited or scarce resources, we’re interested in how decision makers in healthcare make decisions on how to allocate resources.</a:t>
            </a:r>
          </a:p>
          <a:p>
            <a:pPr lvl="1"/>
            <a:r>
              <a:rPr lang="en-US" dirty="0"/>
              <a:t>Which technologies are adopted?</a:t>
            </a:r>
          </a:p>
          <a:p>
            <a:pPr lvl="1"/>
            <a:r>
              <a:rPr lang="en-US" dirty="0"/>
              <a:t>Which patient groups are prioritized?</a:t>
            </a:r>
          </a:p>
          <a:p>
            <a:pPr lvl="1"/>
            <a:r>
              <a:rPr lang="en-US" dirty="0"/>
              <a:t>What set of conditions does a hospital or clinic service?</a:t>
            </a:r>
          </a:p>
          <a:p>
            <a:r>
              <a:rPr lang="en-US" dirty="0"/>
              <a:t>When making these decisions hospital are constrained by their budgets and current technologies. As such the task of dealing with scarcity has broadly been the main focus of economists.</a:t>
            </a:r>
          </a:p>
        </p:txBody>
      </p:sp>
    </p:spTree>
    <p:extLst>
      <p:ext uri="{BB962C8B-B14F-4D97-AF65-F5344CB8AC3E}">
        <p14:creationId xmlns:p14="http://schemas.microsoft.com/office/powerpoint/2010/main" val="1867084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D061C-DDD5-4B3F-CED0-42450B3B9B25}"/>
              </a:ext>
            </a:extLst>
          </p:cNvPr>
          <p:cNvSpPr>
            <a:spLocks noGrp="1"/>
          </p:cNvSpPr>
          <p:nvPr>
            <p:ph type="title"/>
          </p:nvPr>
        </p:nvSpPr>
        <p:spPr/>
        <p:txBody>
          <a:bodyPr/>
          <a:lstStyle/>
          <a:p>
            <a:r>
              <a:rPr lang="en-US" dirty="0"/>
              <a:t>Opportunity Cost</a:t>
            </a:r>
            <a:endParaRPr lang="en-CA"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BE663C-4D8A-8628-44DF-190D605118AA}"/>
                  </a:ext>
                </a:extLst>
              </p:cNvPr>
              <p:cNvSpPr>
                <a:spLocks noGrp="1"/>
              </p:cNvSpPr>
              <p:nvPr>
                <p:ph idx="1"/>
              </p:nvPr>
            </p:nvSpPr>
            <p:spPr/>
            <p:txBody>
              <a:bodyPr>
                <a:normAutofit lnSpcReduction="10000"/>
              </a:bodyPr>
              <a:lstStyle/>
              <a:p>
                <a:r>
                  <a:rPr lang="en-US" dirty="0"/>
                  <a:t>Opportunity cost is the idea that when we choose, we are sacrifice the next best alternative</a:t>
                </a:r>
                <a:r>
                  <a:rPr lang="en-CA" dirty="0"/>
                  <a:t>.</a:t>
                </a:r>
              </a:p>
              <a:p>
                <a:r>
                  <a:rPr lang="en-CA" dirty="0"/>
                  <a:t>In the context of health, if decision makers decide to fund one treatment they are directing resources away from funding others.</a:t>
                </a:r>
                <a:endParaRPr lang="en-US" dirty="0"/>
              </a:p>
              <a:p>
                <a:r>
                  <a:rPr lang="en-US" dirty="0"/>
                  <a:t>Even in circumstances where budgets are not fixed, there are other constraints like time and space.</a:t>
                </a:r>
              </a:p>
              <a:p>
                <a:pPr lvl="1"/>
                <a:r>
                  <a:rPr lang="en-US" dirty="0"/>
                  <a:t>a room in a hospital can be used for many purposes, triaging patients, clinics for nurses  or office space for administrative work.</a:t>
                </a:r>
              </a:p>
              <a:p>
                <a:pPr lvl="1"/>
                <a:r>
                  <a:rPr lang="en-CA" dirty="0"/>
                  <a:t>A doctor may see a set of patients with different conditions– how do they prioritize which patients get seen sooner or later?</a:t>
                </a:r>
              </a:p>
              <a:p>
                <a:r>
                  <a:rPr lang="en-CA" dirty="0"/>
                  <a:t>Opportunity Cost is defined simply by the following equation:</a:t>
                </a:r>
                <a:br>
                  <a:rPr lang="en-CA" dirty="0"/>
                </a:br>
                <a14:m>
                  <m:oMath xmlns:m="http://schemas.openxmlformats.org/officeDocument/2006/math">
                    <m:r>
                      <m:rPr>
                        <m:sty m:val="p"/>
                      </m:rPr>
                      <a:rPr lang="en-US" b="0" i="0" smtClean="0">
                        <a:latin typeface="Cambria Math" panose="02040503050406030204" pitchFamily="18" charset="0"/>
                      </a:rPr>
                      <m:t>Opportunity</m:t>
                    </m:r>
                    <m:r>
                      <a:rPr lang="en-US" b="0" i="0" smtClean="0">
                        <a:latin typeface="Cambria Math" panose="02040503050406030204" pitchFamily="18" charset="0"/>
                      </a:rPr>
                      <m:t> </m:t>
                    </m:r>
                    <m:r>
                      <m:rPr>
                        <m:sty m:val="p"/>
                      </m:rPr>
                      <a:rPr lang="en-US" b="0" i="0" smtClean="0">
                        <a:latin typeface="Cambria Math" panose="02040503050406030204" pitchFamily="18" charset="0"/>
                      </a:rPr>
                      <m:t>Cost</m:t>
                    </m:r>
                    <m:r>
                      <a:rPr lang="en-US" b="0" i="0" smtClean="0">
                        <a:latin typeface="Cambria Math" panose="02040503050406030204" pitchFamily="18" charset="0"/>
                      </a:rPr>
                      <m:t>=</m:t>
                    </m:r>
                    <m:f>
                      <m:fPr>
                        <m:ctrlPr>
                          <a:rPr lang="en-US" b="0" i="0" smtClean="0">
                            <a:latin typeface="Cambria Math" panose="02040503050406030204" pitchFamily="18" charset="0"/>
                          </a:rPr>
                        </m:ctrlPr>
                      </m:fPr>
                      <m:num>
                        <m:r>
                          <m:rPr>
                            <m:sty m:val="p"/>
                          </m:rPr>
                          <a:rPr lang="en-US" b="0" i="0" smtClean="0">
                            <a:latin typeface="Cambria Math" panose="02040503050406030204" pitchFamily="18" charset="0"/>
                          </a:rPr>
                          <m:t>what</m:t>
                        </m:r>
                        <m:r>
                          <a:rPr lang="en-US" b="0" i="0" smtClean="0">
                            <a:latin typeface="Cambria Math" panose="02040503050406030204" pitchFamily="18" charset="0"/>
                          </a:rPr>
                          <m:t> </m:t>
                        </m:r>
                        <m:r>
                          <m:rPr>
                            <m:sty m:val="p"/>
                          </m:rPr>
                          <a:rPr lang="en-US" b="0" i="0" smtClean="0">
                            <a:latin typeface="Cambria Math" panose="02040503050406030204" pitchFamily="18" charset="0"/>
                          </a:rPr>
                          <m:t>you</m:t>
                        </m:r>
                        <m:r>
                          <a:rPr lang="en-US" b="0" i="0" smtClean="0">
                            <a:latin typeface="Cambria Math" panose="02040503050406030204" pitchFamily="18" charset="0"/>
                          </a:rPr>
                          <m:t> </m:t>
                        </m:r>
                        <m:r>
                          <m:rPr>
                            <m:sty m:val="p"/>
                          </m:rPr>
                          <a:rPr lang="en-US" b="0" i="0" smtClean="0">
                            <a:latin typeface="Cambria Math" panose="02040503050406030204" pitchFamily="18" charset="0"/>
                          </a:rPr>
                          <m:t>give</m:t>
                        </m:r>
                        <m:r>
                          <a:rPr lang="en-US" b="0" i="0" smtClean="0">
                            <a:latin typeface="Cambria Math" panose="02040503050406030204" pitchFamily="18" charset="0"/>
                          </a:rPr>
                          <m:t> </m:t>
                        </m:r>
                        <m:r>
                          <m:rPr>
                            <m:sty m:val="p"/>
                          </m:rPr>
                          <a:rPr lang="en-US" b="0" i="0" smtClean="0">
                            <a:latin typeface="Cambria Math" panose="02040503050406030204" pitchFamily="18" charset="0"/>
                          </a:rPr>
                          <m:t>up</m:t>
                        </m:r>
                      </m:num>
                      <m:den>
                        <m:r>
                          <m:rPr>
                            <m:sty m:val="p"/>
                          </m:rPr>
                          <a:rPr lang="en-US" b="0" i="0" smtClean="0">
                            <a:latin typeface="Cambria Math" panose="02040503050406030204" pitchFamily="18" charset="0"/>
                          </a:rPr>
                          <m:t>what</m:t>
                        </m:r>
                        <m:r>
                          <a:rPr lang="en-US" b="0" i="0" smtClean="0">
                            <a:latin typeface="Cambria Math" panose="02040503050406030204" pitchFamily="18" charset="0"/>
                          </a:rPr>
                          <m:t> </m:t>
                        </m:r>
                        <m:r>
                          <m:rPr>
                            <m:sty m:val="p"/>
                          </m:rPr>
                          <a:rPr lang="en-US" b="0" i="0" smtClean="0">
                            <a:latin typeface="Cambria Math" panose="02040503050406030204" pitchFamily="18" charset="0"/>
                          </a:rPr>
                          <m:t>you</m:t>
                        </m:r>
                        <m:r>
                          <a:rPr lang="en-US" b="0" i="0" smtClean="0">
                            <a:latin typeface="Cambria Math" panose="02040503050406030204" pitchFamily="18" charset="0"/>
                          </a:rPr>
                          <m:t> </m:t>
                        </m:r>
                        <m:r>
                          <m:rPr>
                            <m:sty m:val="p"/>
                          </m:rPr>
                          <a:rPr lang="en-US" b="0" i="0" smtClean="0">
                            <a:latin typeface="Cambria Math" panose="02040503050406030204" pitchFamily="18" charset="0"/>
                          </a:rPr>
                          <m:t>get</m:t>
                        </m:r>
                      </m:den>
                    </m:f>
                  </m:oMath>
                </a14:m>
                <a:endParaRPr lang="en-CA" dirty="0"/>
              </a:p>
            </p:txBody>
          </p:sp>
        </mc:Choice>
        <mc:Fallback xmlns="">
          <p:sp>
            <p:nvSpPr>
              <p:cNvPr id="3" name="Content Placeholder 2">
                <a:extLst>
                  <a:ext uri="{FF2B5EF4-FFF2-40B4-BE49-F238E27FC236}">
                    <a16:creationId xmlns:a16="http://schemas.microsoft.com/office/drawing/2014/main" id="{D5BE663C-4D8A-8628-44DF-190D605118AA}"/>
                  </a:ext>
                </a:extLst>
              </p:cNvPr>
              <p:cNvSpPr>
                <a:spLocks noGrp="1" noRot="1" noChangeAspect="1" noMove="1" noResize="1" noEditPoints="1" noAdjustHandles="1" noChangeArrowheads="1" noChangeShapeType="1" noTextEdit="1"/>
              </p:cNvSpPr>
              <p:nvPr>
                <p:ph idx="1"/>
              </p:nvPr>
            </p:nvSpPr>
            <p:spPr>
              <a:blipFill>
                <a:blip r:embed="rId2"/>
                <a:stretch>
                  <a:fillRect l="-383" t="-809"/>
                </a:stretch>
              </a:blipFill>
            </p:spPr>
            <p:txBody>
              <a:bodyPr/>
              <a:lstStyle/>
              <a:p>
                <a:r>
                  <a:rPr lang="en-CA">
                    <a:noFill/>
                  </a:rPr>
                  <a:t> </a:t>
                </a:r>
              </a:p>
            </p:txBody>
          </p:sp>
        </mc:Fallback>
      </mc:AlternateContent>
    </p:spTree>
    <p:extLst>
      <p:ext uri="{BB962C8B-B14F-4D97-AF65-F5344CB8AC3E}">
        <p14:creationId xmlns:p14="http://schemas.microsoft.com/office/powerpoint/2010/main" val="2355976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6A1C7-C515-244A-839B-23E7E2E26BD1}"/>
              </a:ext>
            </a:extLst>
          </p:cNvPr>
          <p:cNvSpPr>
            <a:spLocks noGrp="1"/>
          </p:cNvSpPr>
          <p:nvPr>
            <p:ph type="title"/>
          </p:nvPr>
        </p:nvSpPr>
        <p:spPr/>
        <p:txBody>
          <a:bodyPr/>
          <a:lstStyle/>
          <a:p>
            <a:r>
              <a:rPr lang="en-US" dirty="0"/>
              <a:t>A First Economic Model: The Budget </a:t>
            </a:r>
            <a:endParaRPr lang="en-CA" dirty="0"/>
          </a:p>
        </p:txBody>
      </p:sp>
      <p:sp>
        <p:nvSpPr>
          <p:cNvPr id="3" name="Content Placeholder 2">
            <a:extLst>
              <a:ext uri="{FF2B5EF4-FFF2-40B4-BE49-F238E27FC236}">
                <a16:creationId xmlns:a16="http://schemas.microsoft.com/office/drawing/2014/main" id="{BF30A840-F55A-4987-5C68-1CCE52EA937D}"/>
              </a:ext>
            </a:extLst>
          </p:cNvPr>
          <p:cNvSpPr>
            <a:spLocks noGrp="1"/>
          </p:cNvSpPr>
          <p:nvPr>
            <p:ph idx="1"/>
          </p:nvPr>
        </p:nvSpPr>
        <p:spPr>
          <a:xfrm>
            <a:off x="6817467" y="1896894"/>
            <a:ext cx="4634063" cy="3767328"/>
          </a:xfrm>
        </p:spPr>
        <p:txBody>
          <a:bodyPr>
            <a:normAutofit/>
          </a:bodyPr>
          <a:lstStyle/>
          <a:p>
            <a:r>
              <a:rPr lang="en-US" dirty="0"/>
              <a:t>We can model the tradeoffs faced by a hospital budget holder as follows.</a:t>
            </a:r>
          </a:p>
          <a:p>
            <a:r>
              <a:rPr lang="en-US" dirty="0"/>
              <a:t>A hospital has 10 million dollars to invest in two different machines MRIs and X-Rays.</a:t>
            </a:r>
          </a:p>
          <a:p>
            <a:r>
              <a:rPr lang="en-US" dirty="0"/>
              <a:t>Suppose MRIs cost 2.5 million Dollars while X-Rays machines cost 0.5 Million Dollars.</a:t>
            </a:r>
          </a:p>
        </p:txBody>
      </p:sp>
      <p:sp>
        <p:nvSpPr>
          <p:cNvPr id="4" name="Rectangle 3">
            <a:extLst>
              <a:ext uri="{FF2B5EF4-FFF2-40B4-BE49-F238E27FC236}">
                <a16:creationId xmlns:a16="http://schemas.microsoft.com/office/drawing/2014/main" id="{E1A481A4-B2BF-27A5-484C-D41D011D0366}"/>
              </a:ext>
            </a:extLst>
          </p:cNvPr>
          <p:cNvSpPr/>
          <p:nvPr/>
        </p:nvSpPr>
        <p:spPr>
          <a:xfrm>
            <a:off x="603115" y="2120630"/>
            <a:ext cx="5492885" cy="4163438"/>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4">
            <a:extLst>
              <a:ext uri="{FF2B5EF4-FFF2-40B4-BE49-F238E27FC236}">
                <a16:creationId xmlns:a16="http://schemas.microsoft.com/office/drawing/2014/main" id="{4A58BF4D-81EE-1EFE-0DC6-7D2245D93057}"/>
              </a:ext>
            </a:extLst>
          </p:cNvPr>
          <p:cNvSpPr/>
          <p:nvPr/>
        </p:nvSpPr>
        <p:spPr>
          <a:xfrm>
            <a:off x="389106" y="1838528"/>
            <a:ext cx="6021422" cy="6029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Rectangle 6">
            <a:extLst>
              <a:ext uri="{FF2B5EF4-FFF2-40B4-BE49-F238E27FC236}">
                <a16:creationId xmlns:a16="http://schemas.microsoft.com/office/drawing/2014/main" id="{C3CFB2C2-78D1-20DD-95E0-F75FBC3E44D8}"/>
              </a:ext>
            </a:extLst>
          </p:cNvPr>
          <p:cNvSpPr/>
          <p:nvPr/>
        </p:nvSpPr>
        <p:spPr>
          <a:xfrm>
            <a:off x="5914417" y="1990927"/>
            <a:ext cx="677693" cy="448769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9" name="Straight Connector 8">
            <a:extLst>
              <a:ext uri="{FF2B5EF4-FFF2-40B4-BE49-F238E27FC236}">
                <a16:creationId xmlns:a16="http://schemas.microsoft.com/office/drawing/2014/main" id="{16EFC53F-81BA-F345-7C38-23B3FA67B866}"/>
              </a:ext>
            </a:extLst>
          </p:cNvPr>
          <p:cNvCxnSpPr>
            <a:cxnSpLocks/>
          </p:cNvCxnSpPr>
          <p:nvPr/>
        </p:nvCxnSpPr>
        <p:spPr>
          <a:xfrm>
            <a:off x="603115" y="2986391"/>
            <a:ext cx="4250987" cy="3297677"/>
          </a:xfrm>
          <a:prstGeom prst="line">
            <a:avLst/>
          </a:prstGeom>
          <a:ln w="76200">
            <a:solidFill>
              <a:schemeClr val="accent6">
                <a:lumMod val="50000"/>
              </a:schemeClr>
            </a:solidFill>
          </a:ln>
        </p:spPr>
        <p:style>
          <a:lnRef idx="3">
            <a:schemeClr val="accent6"/>
          </a:lnRef>
          <a:fillRef idx="0">
            <a:schemeClr val="accent6"/>
          </a:fillRef>
          <a:effectRef idx="2">
            <a:schemeClr val="accent6"/>
          </a:effectRef>
          <a:fontRef idx="minor">
            <a:schemeClr val="tx1"/>
          </a:fontRef>
        </p:style>
      </p:cxnSp>
      <p:sp>
        <p:nvSpPr>
          <p:cNvPr id="12" name="TextBox 11">
            <a:extLst>
              <a:ext uri="{FF2B5EF4-FFF2-40B4-BE49-F238E27FC236}">
                <a16:creationId xmlns:a16="http://schemas.microsoft.com/office/drawing/2014/main" id="{98848233-17C8-AB50-DA72-8266959D1B24}"/>
              </a:ext>
            </a:extLst>
          </p:cNvPr>
          <p:cNvSpPr txBox="1"/>
          <p:nvPr/>
        </p:nvSpPr>
        <p:spPr>
          <a:xfrm>
            <a:off x="42574" y="2072116"/>
            <a:ext cx="1786225" cy="369332"/>
          </a:xfrm>
          <a:prstGeom prst="rect">
            <a:avLst/>
          </a:prstGeom>
          <a:noFill/>
        </p:spPr>
        <p:txBody>
          <a:bodyPr wrap="square" rtlCol="0">
            <a:spAutoFit/>
          </a:bodyPr>
          <a:lstStyle/>
          <a:p>
            <a:r>
              <a:rPr lang="en-US" dirty="0"/>
              <a:t>MRI Machines</a:t>
            </a:r>
            <a:endParaRPr lang="en-CA" dirty="0"/>
          </a:p>
        </p:txBody>
      </p:sp>
      <p:sp>
        <p:nvSpPr>
          <p:cNvPr id="14" name="TextBox 13">
            <a:extLst>
              <a:ext uri="{FF2B5EF4-FFF2-40B4-BE49-F238E27FC236}">
                <a16:creationId xmlns:a16="http://schemas.microsoft.com/office/drawing/2014/main" id="{2F06265F-A6A4-202F-D507-C66636450944}"/>
              </a:ext>
            </a:extLst>
          </p:cNvPr>
          <p:cNvSpPr txBox="1"/>
          <p:nvPr/>
        </p:nvSpPr>
        <p:spPr>
          <a:xfrm>
            <a:off x="5321030" y="6277867"/>
            <a:ext cx="1089497" cy="369332"/>
          </a:xfrm>
          <a:prstGeom prst="rect">
            <a:avLst/>
          </a:prstGeom>
          <a:noFill/>
        </p:spPr>
        <p:txBody>
          <a:bodyPr wrap="square" rtlCol="0">
            <a:spAutoFit/>
          </a:bodyPr>
          <a:lstStyle/>
          <a:p>
            <a:r>
              <a:rPr lang="en-US" dirty="0"/>
              <a:t>X- Rays</a:t>
            </a:r>
            <a:endParaRPr lang="en-CA" dirty="0"/>
          </a:p>
        </p:txBody>
      </p:sp>
    </p:spTree>
    <p:extLst>
      <p:ext uri="{BB962C8B-B14F-4D97-AF65-F5344CB8AC3E}">
        <p14:creationId xmlns:p14="http://schemas.microsoft.com/office/powerpoint/2010/main" val="752448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858B5-071C-FA65-7A36-514713A823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883D4C-357D-7089-A02C-75942D516E37}"/>
              </a:ext>
            </a:extLst>
          </p:cNvPr>
          <p:cNvSpPr>
            <a:spLocks noGrp="1"/>
          </p:cNvSpPr>
          <p:nvPr>
            <p:ph type="title"/>
          </p:nvPr>
        </p:nvSpPr>
        <p:spPr/>
        <p:txBody>
          <a:bodyPr/>
          <a:lstStyle/>
          <a:p>
            <a:r>
              <a:rPr lang="en-US" dirty="0"/>
              <a:t>A First Economic Model: The Budget </a:t>
            </a:r>
            <a:endParaRPr lang="en-CA" dirty="0"/>
          </a:p>
        </p:txBody>
      </p:sp>
      <p:sp>
        <p:nvSpPr>
          <p:cNvPr id="3" name="Content Placeholder 2">
            <a:extLst>
              <a:ext uri="{FF2B5EF4-FFF2-40B4-BE49-F238E27FC236}">
                <a16:creationId xmlns:a16="http://schemas.microsoft.com/office/drawing/2014/main" id="{13B6FDAE-5D1F-E8AD-1CC9-4BA525280A91}"/>
              </a:ext>
            </a:extLst>
          </p:cNvPr>
          <p:cNvSpPr>
            <a:spLocks noGrp="1"/>
          </p:cNvSpPr>
          <p:nvPr>
            <p:ph idx="1"/>
          </p:nvPr>
        </p:nvSpPr>
        <p:spPr>
          <a:xfrm>
            <a:off x="6817467" y="1896894"/>
            <a:ext cx="4634063" cy="3767328"/>
          </a:xfrm>
        </p:spPr>
        <p:txBody>
          <a:bodyPr>
            <a:normAutofit/>
          </a:bodyPr>
          <a:lstStyle/>
          <a:p>
            <a:r>
              <a:rPr lang="en-US" dirty="0"/>
              <a:t>We can model the tradeoffs faced by a hospital budget holder as follows.</a:t>
            </a:r>
          </a:p>
          <a:p>
            <a:r>
              <a:rPr lang="en-US" dirty="0"/>
              <a:t>A hospital has 10 million dollars to invest in two different machines MRIs and X-Rays.</a:t>
            </a:r>
          </a:p>
          <a:p>
            <a:r>
              <a:rPr lang="en-US" dirty="0"/>
              <a:t>Suppose MRIs cost 2.5 million Dollars while X-Rays machines cost 0.5 Million Dollars.</a:t>
            </a:r>
          </a:p>
        </p:txBody>
      </p:sp>
      <p:sp>
        <p:nvSpPr>
          <p:cNvPr id="4" name="Rectangle 3">
            <a:extLst>
              <a:ext uri="{FF2B5EF4-FFF2-40B4-BE49-F238E27FC236}">
                <a16:creationId xmlns:a16="http://schemas.microsoft.com/office/drawing/2014/main" id="{15EC6163-57BA-1A77-40F9-AC1546A157CD}"/>
              </a:ext>
            </a:extLst>
          </p:cNvPr>
          <p:cNvSpPr/>
          <p:nvPr/>
        </p:nvSpPr>
        <p:spPr>
          <a:xfrm>
            <a:off x="603115" y="2120630"/>
            <a:ext cx="5492885" cy="4163438"/>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5" name="Rectangle 4">
            <a:extLst>
              <a:ext uri="{FF2B5EF4-FFF2-40B4-BE49-F238E27FC236}">
                <a16:creationId xmlns:a16="http://schemas.microsoft.com/office/drawing/2014/main" id="{14AF71C1-302A-B2C2-68BB-A6E8C38DAD66}"/>
              </a:ext>
            </a:extLst>
          </p:cNvPr>
          <p:cNvSpPr/>
          <p:nvPr/>
        </p:nvSpPr>
        <p:spPr>
          <a:xfrm>
            <a:off x="389106" y="1838528"/>
            <a:ext cx="6021422" cy="6029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Rectangle 6">
            <a:extLst>
              <a:ext uri="{FF2B5EF4-FFF2-40B4-BE49-F238E27FC236}">
                <a16:creationId xmlns:a16="http://schemas.microsoft.com/office/drawing/2014/main" id="{FDBBA4EF-2397-6064-D395-0F9198241D7B}"/>
              </a:ext>
            </a:extLst>
          </p:cNvPr>
          <p:cNvSpPr/>
          <p:nvPr/>
        </p:nvSpPr>
        <p:spPr>
          <a:xfrm>
            <a:off x="5914417" y="1990927"/>
            <a:ext cx="677693" cy="448769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9" name="Straight Connector 8">
            <a:extLst>
              <a:ext uri="{FF2B5EF4-FFF2-40B4-BE49-F238E27FC236}">
                <a16:creationId xmlns:a16="http://schemas.microsoft.com/office/drawing/2014/main" id="{76A9504C-1B6A-9A9B-4435-45FAF51C7416}"/>
              </a:ext>
            </a:extLst>
          </p:cNvPr>
          <p:cNvCxnSpPr>
            <a:cxnSpLocks/>
          </p:cNvCxnSpPr>
          <p:nvPr/>
        </p:nvCxnSpPr>
        <p:spPr>
          <a:xfrm>
            <a:off x="603115" y="2986391"/>
            <a:ext cx="4250987" cy="3297677"/>
          </a:xfrm>
          <a:prstGeom prst="line">
            <a:avLst/>
          </a:prstGeom>
          <a:ln w="76200">
            <a:solidFill>
              <a:schemeClr val="accent6">
                <a:lumMod val="50000"/>
              </a:schemeClr>
            </a:solidFill>
          </a:ln>
        </p:spPr>
        <p:style>
          <a:lnRef idx="3">
            <a:schemeClr val="accent6"/>
          </a:lnRef>
          <a:fillRef idx="0">
            <a:schemeClr val="accent6"/>
          </a:fillRef>
          <a:effectRef idx="2">
            <a:schemeClr val="accent6"/>
          </a:effectRef>
          <a:fontRef idx="minor">
            <a:schemeClr val="tx1"/>
          </a:fontRef>
        </p:style>
      </p:cxnSp>
      <p:sp>
        <p:nvSpPr>
          <p:cNvPr id="12" name="TextBox 11">
            <a:extLst>
              <a:ext uri="{FF2B5EF4-FFF2-40B4-BE49-F238E27FC236}">
                <a16:creationId xmlns:a16="http://schemas.microsoft.com/office/drawing/2014/main" id="{1EB38738-9671-7ECE-8AA0-A327DAD55FE1}"/>
              </a:ext>
            </a:extLst>
          </p:cNvPr>
          <p:cNvSpPr txBox="1"/>
          <p:nvPr/>
        </p:nvSpPr>
        <p:spPr>
          <a:xfrm>
            <a:off x="42574" y="2072116"/>
            <a:ext cx="1786225" cy="369332"/>
          </a:xfrm>
          <a:prstGeom prst="rect">
            <a:avLst/>
          </a:prstGeom>
          <a:noFill/>
        </p:spPr>
        <p:txBody>
          <a:bodyPr wrap="square" rtlCol="0">
            <a:spAutoFit/>
          </a:bodyPr>
          <a:lstStyle/>
          <a:p>
            <a:r>
              <a:rPr lang="en-US" dirty="0"/>
              <a:t>MRI Machines</a:t>
            </a:r>
            <a:endParaRPr lang="en-CA" dirty="0"/>
          </a:p>
        </p:txBody>
      </p:sp>
      <p:sp>
        <p:nvSpPr>
          <p:cNvPr id="14" name="TextBox 13">
            <a:extLst>
              <a:ext uri="{FF2B5EF4-FFF2-40B4-BE49-F238E27FC236}">
                <a16:creationId xmlns:a16="http://schemas.microsoft.com/office/drawing/2014/main" id="{12981048-7C41-E519-6C2A-7DB427A8A855}"/>
              </a:ext>
            </a:extLst>
          </p:cNvPr>
          <p:cNvSpPr txBox="1"/>
          <p:nvPr/>
        </p:nvSpPr>
        <p:spPr>
          <a:xfrm>
            <a:off x="5321030" y="6277867"/>
            <a:ext cx="1089497" cy="369332"/>
          </a:xfrm>
          <a:prstGeom prst="rect">
            <a:avLst/>
          </a:prstGeom>
          <a:noFill/>
        </p:spPr>
        <p:txBody>
          <a:bodyPr wrap="square" rtlCol="0">
            <a:spAutoFit/>
          </a:bodyPr>
          <a:lstStyle/>
          <a:p>
            <a:r>
              <a:rPr lang="en-US" dirty="0"/>
              <a:t>X- Rays</a:t>
            </a:r>
            <a:endParaRPr lang="en-CA"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23E7CDE-CEAD-81EF-D24C-64B3B6D3E7B3}"/>
                  </a:ext>
                </a:extLst>
              </p:cNvPr>
              <p:cNvSpPr txBox="1"/>
              <p:nvPr/>
            </p:nvSpPr>
            <p:spPr>
              <a:xfrm>
                <a:off x="3239310" y="2356147"/>
                <a:ext cx="3229583" cy="923330"/>
              </a:xfrm>
              <a:prstGeom prst="rect">
                <a:avLst/>
              </a:prstGeom>
              <a:noFill/>
              <a:ln w="76200">
                <a:solidFill>
                  <a:schemeClr val="tx1"/>
                </a:solidFill>
              </a:ln>
            </p:spPr>
            <p:txBody>
              <a:bodyPr wrap="square" rtlCol="0">
                <a:spAutoFit/>
              </a:bodyPr>
              <a:lstStyle/>
              <a:p>
                <a:pPr/>
                <a14:m>
                  <m:oMathPara xmlns:m="http://schemas.openxmlformats.org/officeDocument/2006/math">
                    <m:oMath>
                      <m:r>
                        <a:rPr lang="en-US" b="0" i="1" smtClean="0">
                          <a:latin typeface="Cambria Math" panose="02040503050406030204" pitchFamily="18" charset="0"/>
                        </a:rPr>
                        <m:t>𝐵𝑢𝑑𝑔𝑒𝑡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𝑀𝑅𝐼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𝑋𝑟𝑎𝑦</m:t>
                      </m:r>
                    </m:oMath>
                  </m:oMathPara>
                </a14:m>
                <a:br>
                  <a:rPr lang="en-US" b="0" dirty="0"/>
                </a:br>
                <a:br>
                  <a:rPr lang="en-US" b="0" dirty="0"/>
                </a:br>
                <a14:m>
                  <m:oMathPara xmlns:m="http://schemas.openxmlformats.org/officeDocument/2006/math">
                    <m:oMath>
                      <m:r>
                        <a:rPr lang="en-US" b="0" i="1" smtClean="0">
                          <a:latin typeface="Cambria Math" panose="02040503050406030204" pitchFamily="18" charset="0"/>
                        </a:rPr>
                        <m:t>10=2.5</m:t>
                      </m:r>
                      <m:r>
                        <a:rPr lang="en-US" b="0" i="1" smtClean="0">
                          <a:latin typeface="Cambria Math" panose="02040503050406030204" pitchFamily="18" charset="0"/>
                        </a:rPr>
                        <m:t>𝑀𝑅𝐼</m:t>
                      </m:r>
                      <m:r>
                        <a:rPr lang="en-US" b="0" i="1" smtClean="0">
                          <a:latin typeface="Cambria Math" panose="02040503050406030204" pitchFamily="18" charset="0"/>
                        </a:rPr>
                        <m:t>+0.5</m:t>
                      </m:r>
                      <m:r>
                        <a:rPr lang="en-US" b="0" i="1" smtClean="0">
                          <a:latin typeface="Cambria Math" panose="02040503050406030204" pitchFamily="18" charset="0"/>
                        </a:rPr>
                        <m:t>𝑋𝑟𝑎𝑦</m:t>
                      </m:r>
                    </m:oMath>
                  </m:oMathPara>
                </a14:m>
                <a:endParaRPr lang="en-CA" dirty="0"/>
              </a:p>
            </p:txBody>
          </p:sp>
        </mc:Choice>
        <mc:Fallback xmlns="">
          <p:sp>
            <p:nvSpPr>
              <p:cNvPr id="15" name="TextBox 14">
                <a:extLst>
                  <a:ext uri="{FF2B5EF4-FFF2-40B4-BE49-F238E27FC236}">
                    <a16:creationId xmlns:a16="http://schemas.microsoft.com/office/drawing/2014/main" id="{B23E7CDE-CEAD-81EF-D24C-64B3B6D3E7B3}"/>
                  </a:ext>
                </a:extLst>
              </p:cNvPr>
              <p:cNvSpPr txBox="1">
                <a:spLocks noRot="1" noChangeAspect="1" noMove="1" noResize="1" noEditPoints="1" noAdjustHandles="1" noChangeArrowheads="1" noChangeShapeType="1" noTextEdit="1"/>
              </p:cNvSpPr>
              <p:nvPr/>
            </p:nvSpPr>
            <p:spPr>
              <a:xfrm>
                <a:off x="3239310" y="2356147"/>
                <a:ext cx="3229583" cy="923330"/>
              </a:xfrm>
              <a:prstGeom prst="rect">
                <a:avLst/>
              </a:prstGeom>
              <a:blipFill>
                <a:blip r:embed="rId2"/>
                <a:stretch>
                  <a:fillRect/>
                </a:stretch>
              </a:blipFill>
              <a:ln w="76200">
                <a:solidFill>
                  <a:schemeClr val="tx1"/>
                </a:solidFill>
              </a:ln>
            </p:spPr>
            <p:txBody>
              <a:bodyPr/>
              <a:lstStyle/>
              <a:p>
                <a:r>
                  <a:rPr lang="en-CA">
                    <a:noFill/>
                  </a:rPr>
                  <a:t> </a:t>
                </a:r>
              </a:p>
            </p:txBody>
          </p:sp>
        </mc:Fallback>
      </mc:AlternateContent>
    </p:spTree>
    <p:extLst>
      <p:ext uri="{BB962C8B-B14F-4D97-AF65-F5344CB8AC3E}">
        <p14:creationId xmlns:p14="http://schemas.microsoft.com/office/powerpoint/2010/main" val="33888115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A3C21-E029-059A-25BF-19D05A4B17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FBED13-30F3-A70F-E639-077664F8536A}"/>
              </a:ext>
            </a:extLst>
          </p:cNvPr>
          <p:cNvSpPr>
            <a:spLocks noGrp="1"/>
          </p:cNvSpPr>
          <p:nvPr>
            <p:ph type="title"/>
          </p:nvPr>
        </p:nvSpPr>
        <p:spPr/>
        <p:txBody>
          <a:bodyPr/>
          <a:lstStyle/>
          <a:p>
            <a:r>
              <a:rPr lang="en-US" dirty="0"/>
              <a:t>A First Economic Model: The Budget </a:t>
            </a:r>
            <a:endParaRPr lang="en-CA" dirty="0"/>
          </a:p>
        </p:txBody>
      </p:sp>
      <p:sp>
        <p:nvSpPr>
          <p:cNvPr id="3" name="Content Placeholder 2">
            <a:extLst>
              <a:ext uri="{FF2B5EF4-FFF2-40B4-BE49-F238E27FC236}">
                <a16:creationId xmlns:a16="http://schemas.microsoft.com/office/drawing/2014/main" id="{77B55313-592E-E9B0-A1F1-C533D7004B72}"/>
              </a:ext>
            </a:extLst>
          </p:cNvPr>
          <p:cNvSpPr>
            <a:spLocks noGrp="1"/>
          </p:cNvSpPr>
          <p:nvPr>
            <p:ph idx="1"/>
          </p:nvPr>
        </p:nvSpPr>
        <p:spPr>
          <a:xfrm>
            <a:off x="6817467" y="1896894"/>
            <a:ext cx="4634063" cy="3767328"/>
          </a:xfrm>
        </p:spPr>
        <p:txBody>
          <a:bodyPr>
            <a:normAutofit/>
          </a:bodyPr>
          <a:lstStyle/>
          <a:p>
            <a:r>
              <a:rPr lang="en-US" dirty="0"/>
              <a:t>We can model the tradeoffs faced by a hospital budget holder as follows.</a:t>
            </a:r>
          </a:p>
          <a:p>
            <a:r>
              <a:rPr lang="en-US" dirty="0"/>
              <a:t>A hospital has 10 million dollars to invest in two different machines MRIs and X-Rays.</a:t>
            </a:r>
          </a:p>
          <a:p>
            <a:r>
              <a:rPr lang="en-US" dirty="0"/>
              <a:t>Suppose MRIs cost 2.5 million Dollars while X-Rays machines cost 0.5 Million Dollars.</a:t>
            </a:r>
          </a:p>
        </p:txBody>
      </p:sp>
      <p:sp>
        <p:nvSpPr>
          <p:cNvPr id="4" name="Rectangle 3">
            <a:extLst>
              <a:ext uri="{FF2B5EF4-FFF2-40B4-BE49-F238E27FC236}">
                <a16:creationId xmlns:a16="http://schemas.microsoft.com/office/drawing/2014/main" id="{037FC75A-77B7-CD5C-06D5-B51E8A82AAAE}"/>
              </a:ext>
            </a:extLst>
          </p:cNvPr>
          <p:cNvSpPr/>
          <p:nvPr/>
        </p:nvSpPr>
        <p:spPr>
          <a:xfrm>
            <a:off x="603115" y="2120630"/>
            <a:ext cx="5492885" cy="4163438"/>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1" name="Freeform: Shape 10">
            <a:extLst>
              <a:ext uri="{FF2B5EF4-FFF2-40B4-BE49-F238E27FC236}">
                <a16:creationId xmlns:a16="http://schemas.microsoft.com/office/drawing/2014/main" id="{7964A688-CAFA-6F47-0184-B6172A985ECC}"/>
              </a:ext>
            </a:extLst>
          </p:cNvPr>
          <p:cNvSpPr/>
          <p:nvPr/>
        </p:nvSpPr>
        <p:spPr>
          <a:xfrm>
            <a:off x="642026" y="2986391"/>
            <a:ext cx="4168301" cy="3240447"/>
          </a:xfrm>
          <a:custGeom>
            <a:avLst/>
            <a:gdLst>
              <a:gd name="csX0" fmla="*/ 0 w 4182893"/>
              <a:gd name="csY0" fmla="*/ 0 h 3268494"/>
              <a:gd name="csX1" fmla="*/ 38910 w 4182893"/>
              <a:gd name="csY1" fmla="*/ 3268494 h 3268494"/>
              <a:gd name="csX2" fmla="*/ 4182893 w 4182893"/>
              <a:gd name="csY2" fmla="*/ 3258766 h 3268494"/>
              <a:gd name="csX3" fmla="*/ 0 w 4182893"/>
              <a:gd name="csY3" fmla="*/ 0 h 3268494"/>
            </a:gdLst>
            <a:ahLst/>
            <a:cxnLst>
              <a:cxn ang="0">
                <a:pos x="csX0" y="csY0"/>
              </a:cxn>
              <a:cxn ang="0">
                <a:pos x="csX1" y="csY1"/>
              </a:cxn>
              <a:cxn ang="0">
                <a:pos x="csX2" y="csY2"/>
              </a:cxn>
              <a:cxn ang="0">
                <a:pos x="csX3" y="csY3"/>
              </a:cxn>
            </a:cxnLst>
            <a:rect l="l" t="t" r="r" b="b"/>
            <a:pathLst>
              <a:path w="4182893" h="3268494">
                <a:moveTo>
                  <a:pt x="0" y="0"/>
                </a:moveTo>
                <a:lnTo>
                  <a:pt x="38910" y="3268494"/>
                </a:lnTo>
                <a:lnTo>
                  <a:pt x="4182893" y="3258766"/>
                </a:lnTo>
                <a:lnTo>
                  <a:pt x="0" y="0"/>
                </a:lnTo>
                <a:close/>
              </a:path>
            </a:pathLst>
          </a:cu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4">
            <a:extLst>
              <a:ext uri="{FF2B5EF4-FFF2-40B4-BE49-F238E27FC236}">
                <a16:creationId xmlns:a16="http://schemas.microsoft.com/office/drawing/2014/main" id="{5B719B05-16A8-3C9E-ADAA-C2150BC96BEB}"/>
              </a:ext>
            </a:extLst>
          </p:cNvPr>
          <p:cNvSpPr/>
          <p:nvPr/>
        </p:nvSpPr>
        <p:spPr>
          <a:xfrm>
            <a:off x="389106" y="1838528"/>
            <a:ext cx="6021422" cy="6029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Rectangle 6">
            <a:extLst>
              <a:ext uri="{FF2B5EF4-FFF2-40B4-BE49-F238E27FC236}">
                <a16:creationId xmlns:a16="http://schemas.microsoft.com/office/drawing/2014/main" id="{D11B7CCE-FBCF-7947-B54A-C7B93F724A77}"/>
              </a:ext>
            </a:extLst>
          </p:cNvPr>
          <p:cNvSpPr/>
          <p:nvPr/>
        </p:nvSpPr>
        <p:spPr>
          <a:xfrm>
            <a:off x="5914417" y="1990927"/>
            <a:ext cx="677693" cy="448769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Freeform: Shape 12">
            <a:extLst>
              <a:ext uri="{FF2B5EF4-FFF2-40B4-BE49-F238E27FC236}">
                <a16:creationId xmlns:a16="http://schemas.microsoft.com/office/drawing/2014/main" id="{C05AF2C7-6500-29B0-2D63-D7D845E66D0C}"/>
              </a:ext>
            </a:extLst>
          </p:cNvPr>
          <p:cNvSpPr/>
          <p:nvPr/>
        </p:nvSpPr>
        <p:spPr>
          <a:xfrm>
            <a:off x="642026" y="2957209"/>
            <a:ext cx="5389123" cy="3317131"/>
          </a:xfrm>
          <a:custGeom>
            <a:avLst/>
            <a:gdLst>
              <a:gd name="csX0" fmla="*/ 0 w 5389123"/>
              <a:gd name="csY0" fmla="*/ 19455 h 3317131"/>
              <a:gd name="csX1" fmla="*/ 5252936 w 5389123"/>
              <a:gd name="csY1" fmla="*/ 0 h 3317131"/>
              <a:gd name="csX2" fmla="*/ 5389123 w 5389123"/>
              <a:gd name="csY2" fmla="*/ 3307404 h 3317131"/>
              <a:gd name="csX3" fmla="*/ 4202348 w 5389123"/>
              <a:gd name="csY3" fmla="*/ 3317131 h 3317131"/>
              <a:gd name="csX4" fmla="*/ 0 w 5389123"/>
              <a:gd name="csY4" fmla="*/ 19455 h 3317131"/>
            </a:gdLst>
            <a:ahLst/>
            <a:cxnLst>
              <a:cxn ang="0">
                <a:pos x="csX0" y="csY0"/>
              </a:cxn>
              <a:cxn ang="0">
                <a:pos x="csX1" y="csY1"/>
              </a:cxn>
              <a:cxn ang="0">
                <a:pos x="csX2" y="csY2"/>
              </a:cxn>
              <a:cxn ang="0">
                <a:pos x="csX3" y="csY3"/>
              </a:cxn>
              <a:cxn ang="0">
                <a:pos x="csX4" y="csY4"/>
              </a:cxn>
            </a:cxnLst>
            <a:rect l="l" t="t" r="r" b="b"/>
            <a:pathLst>
              <a:path w="5389123" h="3317131">
                <a:moveTo>
                  <a:pt x="0" y="19455"/>
                </a:moveTo>
                <a:lnTo>
                  <a:pt x="5252936" y="0"/>
                </a:lnTo>
                <a:lnTo>
                  <a:pt x="5389123" y="3307404"/>
                </a:lnTo>
                <a:lnTo>
                  <a:pt x="4202348" y="3317131"/>
                </a:lnTo>
                <a:lnTo>
                  <a:pt x="0" y="19455"/>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9" name="Straight Connector 8">
            <a:extLst>
              <a:ext uri="{FF2B5EF4-FFF2-40B4-BE49-F238E27FC236}">
                <a16:creationId xmlns:a16="http://schemas.microsoft.com/office/drawing/2014/main" id="{9D3F0833-4E5D-F3D7-7EAD-8CD896B10CBE}"/>
              </a:ext>
            </a:extLst>
          </p:cNvPr>
          <p:cNvCxnSpPr>
            <a:cxnSpLocks/>
          </p:cNvCxnSpPr>
          <p:nvPr/>
        </p:nvCxnSpPr>
        <p:spPr>
          <a:xfrm>
            <a:off x="603115" y="2986391"/>
            <a:ext cx="4250987" cy="3297677"/>
          </a:xfrm>
          <a:prstGeom prst="line">
            <a:avLst/>
          </a:prstGeom>
          <a:ln w="76200">
            <a:solidFill>
              <a:schemeClr val="accent6">
                <a:lumMod val="50000"/>
              </a:schemeClr>
            </a:solidFill>
          </a:ln>
        </p:spPr>
        <p:style>
          <a:lnRef idx="3">
            <a:schemeClr val="accent6"/>
          </a:lnRef>
          <a:fillRef idx="0">
            <a:schemeClr val="accent6"/>
          </a:fillRef>
          <a:effectRef idx="2">
            <a:schemeClr val="accent6"/>
          </a:effectRef>
          <a:fontRef idx="minor">
            <a:schemeClr val="tx1"/>
          </a:fontRef>
        </p:style>
      </p:cxnSp>
      <p:sp>
        <p:nvSpPr>
          <p:cNvPr id="12" name="TextBox 11">
            <a:extLst>
              <a:ext uri="{FF2B5EF4-FFF2-40B4-BE49-F238E27FC236}">
                <a16:creationId xmlns:a16="http://schemas.microsoft.com/office/drawing/2014/main" id="{ED23611D-A395-E276-49B5-9CFDD7E434DD}"/>
              </a:ext>
            </a:extLst>
          </p:cNvPr>
          <p:cNvSpPr txBox="1"/>
          <p:nvPr/>
        </p:nvSpPr>
        <p:spPr>
          <a:xfrm>
            <a:off x="42574" y="2072116"/>
            <a:ext cx="1786225" cy="369332"/>
          </a:xfrm>
          <a:prstGeom prst="rect">
            <a:avLst/>
          </a:prstGeom>
          <a:noFill/>
        </p:spPr>
        <p:txBody>
          <a:bodyPr wrap="square" rtlCol="0">
            <a:spAutoFit/>
          </a:bodyPr>
          <a:lstStyle/>
          <a:p>
            <a:r>
              <a:rPr lang="en-US" dirty="0"/>
              <a:t>MRI Machines</a:t>
            </a:r>
            <a:endParaRPr lang="en-CA" dirty="0"/>
          </a:p>
        </p:txBody>
      </p:sp>
      <p:sp>
        <p:nvSpPr>
          <p:cNvPr id="14" name="TextBox 13">
            <a:extLst>
              <a:ext uri="{FF2B5EF4-FFF2-40B4-BE49-F238E27FC236}">
                <a16:creationId xmlns:a16="http://schemas.microsoft.com/office/drawing/2014/main" id="{9D331C03-9E11-EDC8-4C5D-97ED9E521867}"/>
              </a:ext>
            </a:extLst>
          </p:cNvPr>
          <p:cNvSpPr txBox="1"/>
          <p:nvPr/>
        </p:nvSpPr>
        <p:spPr>
          <a:xfrm>
            <a:off x="5321030" y="6277867"/>
            <a:ext cx="1089497" cy="369332"/>
          </a:xfrm>
          <a:prstGeom prst="rect">
            <a:avLst/>
          </a:prstGeom>
          <a:noFill/>
        </p:spPr>
        <p:txBody>
          <a:bodyPr wrap="square" rtlCol="0">
            <a:spAutoFit/>
          </a:bodyPr>
          <a:lstStyle/>
          <a:p>
            <a:r>
              <a:rPr lang="en-US" dirty="0"/>
              <a:t>X- Rays</a:t>
            </a:r>
            <a:endParaRPr lang="en-CA"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3E5A4FA-82C6-9BAB-A4F8-716DC0739031}"/>
                  </a:ext>
                </a:extLst>
              </p:cNvPr>
              <p:cNvSpPr txBox="1"/>
              <p:nvPr/>
            </p:nvSpPr>
            <p:spPr>
              <a:xfrm>
                <a:off x="3239310" y="2356147"/>
                <a:ext cx="3229583" cy="923330"/>
              </a:xfrm>
              <a:prstGeom prst="rect">
                <a:avLst/>
              </a:prstGeom>
              <a:no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𝐵𝑢𝑑𝑔𝑒𝑡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𝑀𝑅𝐼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𝑋𝑟𝑎𝑦</m:t>
                      </m:r>
                    </m:oMath>
                  </m:oMathPara>
                </a14:m>
                <a:br>
                  <a:rPr lang="en-US" b="0" dirty="0"/>
                </a:br>
                <a:br>
                  <a:rPr lang="en-US" b="0" dirty="0"/>
                </a:br>
                <a14:m>
                  <m:oMathPara xmlns:m="http://schemas.openxmlformats.org/officeDocument/2006/math">
                    <m:oMath>
                      <m:r>
                        <a:rPr lang="en-US" b="0" i="1" smtClean="0">
                          <a:latin typeface="Cambria Math" panose="02040503050406030204" pitchFamily="18" charset="0"/>
                        </a:rPr>
                        <m:t>10=2.5</m:t>
                      </m:r>
                      <m:r>
                        <a:rPr lang="en-US" b="0" i="1" smtClean="0">
                          <a:latin typeface="Cambria Math" panose="02040503050406030204" pitchFamily="18" charset="0"/>
                        </a:rPr>
                        <m:t>𝑀𝑅𝐼</m:t>
                      </m:r>
                      <m:r>
                        <a:rPr lang="en-US" b="0" i="1" smtClean="0">
                          <a:latin typeface="Cambria Math" panose="02040503050406030204" pitchFamily="18" charset="0"/>
                        </a:rPr>
                        <m:t>+0.5</m:t>
                      </m:r>
                      <m:r>
                        <a:rPr lang="en-US" b="0" i="1" smtClean="0">
                          <a:latin typeface="Cambria Math" panose="02040503050406030204" pitchFamily="18" charset="0"/>
                        </a:rPr>
                        <m:t>𝑋𝑟𝑎𝑦</m:t>
                      </m:r>
                    </m:oMath>
                  </m:oMathPara>
                </a14:m>
                <a:endParaRPr lang="en-CA" dirty="0"/>
              </a:p>
            </p:txBody>
          </p:sp>
        </mc:Choice>
        <mc:Fallback xmlns="">
          <p:sp>
            <p:nvSpPr>
              <p:cNvPr id="15" name="TextBox 14">
                <a:extLst>
                  <a:ext uri="{FF2B5EF4-FFF2-40B4-BE49-F238E27FC236}">
                    <a16:creationId xmlns:a16="http://schemas.microsoft.com/office/drawing/2014/main" id="{83E5A4FA-82C6-9BAB-A4F8-716DC0739031}"/>
                  </a:ext>
                </a:extLst>
              </p:cNvPr>
              <p:cNvSpPr txBox="1">
                <a:spLocks noRot="1" noChangeAspect="1" noMove="1" noResize="1" noEditPoints="1" noAdjustHandles="1" noChangeArrowheads="1" noChangeShapeType="1" noTextEdit="1"/>
              </p:cNvSpPr>
              <p:nvPr/>
            </p:nvSpPr>
            <p:spPr>
              <a:xfrm>
                <a:off x="3239310" y="2356147"/>
                <a:ext cx="3229583" cy="923330"/>
              </a:xfrm>
              <a:prstGeom prst="rect">
                <a:avLst/>
              </a:prstGeom>
              <a:blipFill>
                <a:blip r:embed="rId2"/>
                <a:stretch>
                  <a:fillRect b="-4636"/>
                </a:stretch>
              </a:blipFill>
            </p:spPr>
            <p:txBody>
              <a:bodyPr/>
              <a:lstStyle/>
              <a:p>
                <a:r>
                  <a:rPr lang="en-CA">
                    <a:noFill/>
                  </a:rPr>
                  <a:t> </a:t>
                </a:r>
              </a:p>
            </p:txBody>
          </p:sp>
        </mc:Fallback>
      </mc:AlternateContent>
      <p:sp>
        <p:nvSpPr>
          <p:cNvPr id="6" name="TextBox 5">
            <a:extLst>
              <a:ext uri="{FF2B5EF4-FFF2-40B4-BE49-F238E27FC236}">
                <a16:creationId xmlns:a16="http://schemas.microsoft.com/office/drawing/2014/main" id="{E46820DA-88CD-FB9D-E099-70D50767D21E}"/>
              </a:ext>
            </a:extLst>
          </p:cNvPr>
          <p:cNvSpPr txBox="1"/>
          <p:nvPr/>
        </p:nvSpPr>
        <p:spPr>
          <a:xfrm>
            <a:off x="1699352" y="5188050"/>
            <a:ext cx="1080232" cy="369332"/>
          </a:xfrm>
          <a:prstGeom prst="rect">
            <a:avLst/>
          </a:prstGeom>
          <a:noFill/>
        </p:spPr>
        <p:txBody>
          <a:bodyPr wrap="none" rtlCol="0">
            <a:spAutoFit/>
          </a:bodyPr>
          <a:lstStyle/>
          <a:p>
            <a:r>
              <a:rPr lang="en-US" b="1" dirty="0"/>
              <a:t>Feasible</a:t>
            </a:r>
            <a:endParaRPr lang="en-CA" b="1" dirty="0"/>
          </a:p>
        </p:txBody>
      </p:sp>
      <p:sp>
        <p:nvSpPr>
          <p:cNvPr id="10" name="TextBox 9">
            <a:extLst>
              <a:ext uri="{FF2B5EF4-FFF2-40B4-BE49-F238E27FC236}">
                <a16:creationId xmlns:a16="http://schemas.microsoft.com/office/drawing/2014/main" id="{FD3B2B19-211C-5A28-CA08-875979B8610C}"/>
              </a:ext>
            </a:extLst>
          </p:cNvPr>
          <p:cNvSpPr txBox="1"/>
          <p:nvPr/>
        </p:nvSpPr>
        <p:spPr>
          <a:xfrm>
            <a:off x="3239310" y="3928539"/>
            <a:ext cx="1330301" cy="369332"/>
          </a:xfrm>
          <a:prstGeom prst="rect">
            <a:avLst/>
          </a:prstGeom>
          <a:noFill/>
        </p:spPr>
        <p:txBody>
          <a:bodyPr wrap="none" rtlCol="0">
            <a:spAutoFit/>
          </a:bodyPr>
          <a:lstStyle/>
          <a:p>
            <a:r>
              <a:rPr lang="en-US" b="1" dirty="0"/>
              <a:t>Unfeasible</a:t>
            </a:r>
            <a:endParaRPr lang="en-CA" b="1" dirty="0"/>
          </a:p>
        </p:txBody>
      </p:sp>
    </p:spTree>
    <p:extLst>
      <p:ext uri="{BB962C8B-B14F-4D97-AF65-F5344CB8AC3E}">
        <p14:creationId xmlns:p14="http://schemas.microsoft.com/office/powerpoint/2010/main" val="4290858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F5CDB-19FA-3CD5-CB0E-1474A654EF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6D15C7-CB54-63E6-F4B0-10BB08572048}"/>
              </a:ext>
            </a:extLst>
          </p:cNvPr>
          <p:cNvSpPr>
            <a:spLocks noGrp="1"/>
          </p:cNvSpPr>
          <p:nvPr>
            <p:ph type="title"/>
          </p:nvPr>
        </p:nvSpPr>
        <p:spPr/>
        <p:txBody>
          <a:bodyPr/>
          <a:lstStyle/>
          <a:p>
            <a:r>
              <a:rPr lang="en-US" dirty="0"/>
              <a:t>A First Economic Model: The Budget </a:t>
            </a:r>
            <a:endParaRPr lang="en-CA" dirty="0"/>
          </a:p>
        </p:txBody>
      </p:sp>
      <p:sp>
        <p:nvSpPr>
          <p:cNvPr id="3" name="Content Placeholder 2">
            <a:extLst>
              <a:ext uri="{FF2B5EF4-FFF2-40B4-BE49-F238E27FC236}">
                <a16:creationId xmlns:a16="http://schemas.microsoft.com/office/drawing/2014/main" id="{C003E4B0-4DB2-4BD4-2193-2CC11E7E389A}"/>
              </a:ext>
            </a:extLst>
          </p:cNvPr>
          <p:cNvSpPr>
            <a:spLocks noGrp="1"/>
          </p:cNvSpPr>
          <p:nvPr>
            <p:ph idx="1"/>
          </p:nvPr>
        </p:nvSpPr>
        <p:spPr>
          <a:xfrm>
            <a:off x="6817467" y="1896894"/>
            <a:ext cx="4634063" cy="3767328"/>
          </a:xfrm>
        </p:spPr>
        <p:txBody>
          <a:bodyPr>
            <a:normAutofit fontScale="92500" lnSpcReduction="10000"/>
          </a:bodyPr>
          <a:lstStyle/>
          <a:p>
            <a:r>
              <a:rPr lang="en-US" dirty="0"/>
              <a:t>We can model the tradeoffs faced by a hospital budget holder as follows.</a:t>
            </a:r>
          </a:p>
          <a:p>
            <a:r>
              <a:rPr lang="en-US" dirty="0"/>
              <a:t>A hospital has 10 million dollars to invest in two different machines MRIs and X-Rays.</a:t>
            </a:r>
          </a:p>
          <a:p>
            <a:r>
              <a:rPr lang="en-US" dirty="0"/>
              <a:t>Suppose MRIs cost 2.5 million Dollars while X-Rays machines cost 0.5 Million Dollars.</a:t>
            </a:r>
          </a:p>
          <a:p>
            <a:pPr marL="0" indent="0">
              <a:buNone/>
            </a:pPr>
            <a:r>
              <a:rPr lang="en-US" dirty="0"/>
              <a:t>Question 1: what is the maximum Number of </a:t>
            </a:r>
            <a:br>
              <a:rPr lang="en-US" dirty="0"/>
            </a:br>
            <a:r>
              <a:rPr lang="en-US" dirty="0"/>
              <a:t>MRIs and X-Rays  which can be purchased?</a:t>
            </a:r>
            <a:br>
              <a:rPr lang="en-US" dirty="0"/>
            </a:br>
            <a:br>
              <a:rPr lang="en-US" dirty="0"/>
            </a:br>
            <a:r>
              <a:rPr lang="en-US" dirty="0"/>
              <a:t>Question 2: What is the Opportunity cost of MRIs? (and conversely what is the opportunity cost of X-Rays?)</a:t>
            </a:r>
            <a:endParaRPr lang="en-CA" dirty="0"/>
          </a:p>
        </p:txBody>
      </p:sp>
      <p:sp>
        <p:nvSpPr>
          <p:cNvPr id="4" name="Rectangle 3">
            <a:extLst>
              <a:ext uri="{FF2B5EF4-FFF2-40B4-BE49-F238E27FC236}">
                <a16:creationId xmlns:a16="http://schemas.microsoft.com/office/drawing/2014/main" id="{9CD5454A-84B2-3E5B-F658-81DC9CD38333}"/>
              </a:ext>
            </a:extLst>
          </p:cNvPr>
          <p:cNvSpPr/>
          <p:nvPr/>
        </p:nvSpPr>
        <p:spPr>
          <a:xfrm>
            <a:off x="603115" y="2120630"/>
            <a:ext cx="5492885" cy="4163438"/>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4">
            <a:extLst>
              <a:ext uri="{FF2B5EF4-FFF2-40B4-BE49-F238E27FC236}">
                <a16:creationId xmlns:a16="http://schemas.microsoft.com/office/drawing/2014/main" id="{C53E91F0-17AE-874C-C0FF-304735FA2CF4}"/>
              </a:ext>
            </a:extLst>
          </p:cNvPr>
          <p:cNvSpPr/>
          <p:nvPr/>
        </p:nvSpPr>
        <p:spPr>
          <a:xfrm>
            <a:off x="389106" y="1838528"/>
            <a:ext cx="6021422" cy="6029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Rectangle 6">
            <a:extLst>
              <a:ext uri="{FF2B5EF4-FFF2-40B4-BE49-F238E27FC236}">
                <a16:creationId xmlns:a16="http://schemas.microsoft.com/office/drawing/2014/main" id="{C7FFB7F9-B6E8-FB94-7A73-1E77F4CE933E}"/>
              </a:ext>
            </a:extLst>
          </p:cNvPr>
          <p:cNvSpPr/>
          <p:nvPr/>
        </p:nvSpPr>
        <p:spPr>
          <a:xfrm>
            <a:off x="5914417" y="1990927"/>
            <a:ext cx="677693" cy="448769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9" name="Straight Connector 8">
            <a:extLst>
              <a:ext uri="{FF2B5EF4-FFF2-40B4-BE49-F238E27FC236}">
                <a16:creationId xmlns:a16="http://schemas.microsoft.com/office/drawing/2014/main" id="{6D46C89A-B0C0-DC99-B68E-412067358322}"/>
              </a:ext>
            </a:extLst>
          </p:cNvPr>
          <p:cNvCxnSpPr>
            <a:cxnSpLocks/>
          </p:cNvCxnSpPr>
          <p:nvPr/>
        </p:nvCxnSpPr>
        <p:spPr>
          <a:xfrm>
            <a:off x="603115" y="2986391"/>
            <a:ext cx="4250987" cy="3297677"/>
          </a:xfrm>
          <a:prstGeom prst="line">
            <a:avLst/>
          </a:prstGeom>
          <a:ln w="76200">
            <a:solidFill>
              <a:schemeClr val="accent6">
                <a:lumMod val="50000"/>
              </a:schemeClr>
            </a:solidFill>
          </a:ln>
        </p:spPr>
        <p:style>
          <a:lnRef idx="3">
            <a:schemeClr val="accent6"/>
          </a:lnRef>
          <a:fillRef idx="0">
            <a:schemeClr val="accent6"/>
          </a:fillRef>
          <a:effectRef idx="2">
            <a:schemeClr val="accent6"/>
          </a:effectRef>
          <a:fontRef idx="minor">
            <a:schemeClr val="tx1"/>
          </a:fontRef>
        </p:style>
      </p:cxnSp>
      <p:sp>
        <p:nvSpPr>
          <p:cNvPr id="12" name="TextBox 11">
            <a:extLst>
              <a:ext uri="{FF2B5EF4-FFF2-40B4-BE49-F238E27FC236}">
                <a16:creationId xmlns:a16="http://schemas.microsoft.com/office/drawing/2014/main" id="{850BB5FD-8900-9C5E-8F4E-4FFD1C445A6C}"/>
              </a:ext>
            </a:extLst>
          </p:cNvPr>
          <p:cNvSpPr txBox="1"/>
          <p:nvPr/>
        </p:nvSpPr>
        <p:spPr>
          <a:xfrm>
            <a:off x="42574" y="2072116"/>
            <a:ext cx="1786225" cy="369332"/>
          </a:xfrm>
          <a:prstGeom prst="rect">
            <a:avLst/>
          </a:prstGeom>
          <a:noFill/>
        </p:spPr>
        <p:txBody>
          <a:bodyPr wrap="square" rtlCol="0">
            <a:spAutoFit/>
          </a:bodyPr>
          <a:lstStyle/>
          <a:p>
            <a:r>
              <a:rPr lang="en-US" dirty="0"/>
              <a:t>MRI Machines</a:t>
            </a:r>
            <a:endParaRPr lang="en-CA" dirty="0"/>
          </a:p>
        </p:txBody>
      </p:sp>
      <p:sp>
        <p:nvSpPr>
          <p:cNvPr id="14" name="TextBox 13">
            <a:extLst>
              <a:ext uri="{FF2B5EF4-FFF2-40B4-BE49-F238E27FC236}">
                <a16:creationId xmlns:a16="http://schemas.microsoft.com/office/drawing/2014/main" id="{E3EB3D8F-FF24-01CF-D51C-68BD1F78F48E}"/>
              </a:ext>
            </a:extLst>
          </p:cNvPr>
          <p:cNvSpPr txBox="1"/>
          <p:nvPr/>
        </p:nvSpPr>
        <p:spPr>
          <a:xfrm>
            <a:off x="5321030" y="6277867"/>
            <a:ext cx="1089497" cy="369332"/>
          </a:xfrm>
          <a:prstGeom prst="rect">
            <a:avLst/>
          </a:prstGeom>
          <a:noFill/>
        </p:spPr>
        <p:txBody>
          <a:bodyPr wrap="square" rtlCol="0">
            <a:spAutoFit/>
          </a:bodyPr>
          <a:lstStyle/>
          <a:p>
            <a:r>
              <a:rPr lang="en-US" dirty="0"/>
              <a:t>X- Rays</a:t>
            </a:r>
            <a:endParaRPr lang="en-CA"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21D3090-5142-6FA5-844D-A53C80F5E5CA}"/>
                  </a:ext>
                </a:extLst>
              </p:cNvPr>
              <p:cNvSpPr txBox="1"/>
              <p:nvPr/>
            </p:nvSpPr>
            <p:spPr>
              <a:xfrm>
                <a:off x="3239310" y="2356147"/>
                <a:ext cx="3229583" cy="923330"/>
              </a:xfrm>
              <a:prstGeom prst="rect">
                <a:avLst/>
              </a:prstGeom>
              <a:no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𝐵𝑢𝑑𝑔𝑒𝑡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𝑀𝑅𝐼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𝑋𝑟𝑎𝑦</m:t>
                      </m:r>
                    </m:oMath>
                  </m:oMathPara>
                </a14:m>
                <a:br>
                  <a:rPr lang="en-US" b="0" dirty="0"/>
                </a:br>
                <a:br>
                  <a:rPr lang="en-US" b="0" dirty="0"/>
                </a:br>
                <a14:m>
                  <m:oMathPara xmlns:m="http://schemas.openxmlformats.org/officeDocument/2006/math">
                    <m:oMath>
                      <m:r>
                        <a:rPr lang="en-US" b="0" i="1" smtClean="0">
                          <a:latin typeface="Cambria Math" panose="02040503050406030204" pitchFamily="18" charset="0"/>
                        </a:rPr>
                        <m:t>10=2.5</m:t>
                      </m:r>
                      <m:r>
                        <a:rPr lang="en-US" b="0" i="1" smtClean="0">
                          <a:latin typeface="Cambria Math" panose="02040503050406030204" pitchFamily="18" charset="0"/>
                        </a:rPr>
                        <m:t>𝑀𝑅𝐼</m:t>
                      </m:r>
                      <m:r>
                        <a:rPr lang="en-US" b="0" i="1" smtClean="0">
                          <a:latin typeface="Cambria Math" panose="02040503050406030204" pitchFamily="18" charset="0"/>
                        </a:rPr>
                        <m:t>+0.5</m:t>
                      </m:r>
                      <m:r>
                        <a:rPr lang="en-US" b="0" i="1" smtClean="0">
                          <a:latin typeface="Cambria Math" panose="02040503050406030204" pitchFamily="18" charset="0"/>
                        </a:rPr>
                        <m:t>𝑋𝑟𝑎𝑦</m:t>
                      </m:r>
                    </m:oMath>
                  </m:oMathPara>
                </a14:m>
                <a:endParaRPr lang="en-CA" dirty="0"/>
              </a:p>
            </p:txBody>
          </p:sp>
        </mc:Choice>
        <mc:Fallback xmlns="">
          <p:sp>
            <p:nvSpPr>
              <p:cNvPr id="8" name="TextBox 7">
                <a:extLst>
                  <a:ext uri="{FF2B5EF4-FFF2-40B4-BE49-F238E27FC236}">
                    <a16:creationId xmlns:a16="http://schemas.microsoft.com/office/drawing/2014/main" id="{A21D3090-5142-6FA5-844D-A53C80F5E5CA}"/>
                  </a:ext>
                </a:extLst>
              </p:cNvPr>
              <p:cNvSpPr txBox="1">
                <a:spLocks noRot="1" noChangeAspect="1" noMove="1" noResize="1" noEditPoints="1" noAdjustHandles="1" noChangeArrowheads="1" noChangeShapeType="1" noTextEdit="1"/>
              </p:cNvSpPr>
              <p:nvPr/>
            </p:nvSpPr>
            <p:spPr>
              <a:xfrm>
                <a:off x="3239310" y="2356147"/>
                <a:ext cx="3229583" cy="923330"/>
              </a:xfrm>
              <a:prstGeom prst="rect">
                <a:avLst/>
              </a:prstGeom>
              <a:blipFill>
                <a:blip r:embed="rId2"/>
                <a:stretch>
                  <a:fillRect b="-4636"/>
                </a:stretch>
              </a:blipFill>
            </p:spPr>
            <p:txBody>
              <a:bodyPr/>
              <a:lstStyle/>
              <a:p>
                <a:r>
                  <a:rPr lang="en-CA">
                    <a:noFill/>
                  </a:rPr>
                  <a:t> </a:t>
                </a:r>
              </a:p>
            </p:txBody>
          </p:sp>
        </mc:Fallback>
      </mc:AlternateContent>
    </p:spTree>
    <p:extLst>
      <p:ext uri="{BB962C8B-B14F-4D97-AF65-F5344CB8AC3E}">
        <p14:creationId xmlns:p14="http://schemas.microsoft.com/office/powerpoint/2010/main" val="8262196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16568-79C8-AE7D-7D4A-99D995F48E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51EAE4-D2CC-4C56-0049-D94C41B44AC5}"/>
              </a:ext>
            </a:extLst>
          </p:cNvPr>
          <p:cNvSpPr>
            <a:spLocks noGrp="1"/>
          </p:cNvSpPr>
          <p:nvPr>
            <p:ph type="title"/>
          </p:nvPr>
        </p:nvSpPr>
        <p:spPr/>
        <p:txBody>
          <a:bodyPr/>
          <a:lstStyle/>
          <a:p>
            <a:r>
              <a:rPr lang="en-US" dirty="0"/>
              <a:t>A First Economic Model: The Budget </a:t>
            </a:r>
            <a:endParaRPr lang="en-CA" dirty="0"/>
          </a:p>
        </p:txBody>
      </p:sp>
      <p:sp>
        <p:nvSpPr>
          <p:cNvPr id="3" name="Content Placeholder 2">
            <a:extLst>
              <a:ext uri="{FF2B5EF4-FFF2-40B4-BE49-F238E27FC236}">
                <a16:creationId xmlns:a16="http://schemas.microsoft.com/office/drawing/2014/main" id="{E252F606-C850-C21C-6051-4D56EF70B49D}"/>
              </a:ext>
            </a:extLst>
          </p:cNvPr>
          <p:cNvSpPr>
            <a:spLocks noGrp="1"/>
          </p:cNvSpPr>
          <p:nvPr>
            <p:ph idx="1"/>
          </p:nvPr>
        </p:nvSpPr>
        <p:spPr>
          <a:xfrm>
            <a:off x="6817467" y="1896894"/>
            <a:ext cx="4634063" cy="3767328"/>
          </a:xfrm>
        </p:spPr>
        <p:txBody>
          <a:bodyPr>
            <a:normAutofit fontScale="92500" lnSpcReduction="10000"/>
          </a:bodyPr>
          <a:lstStyle/>
          <a:p>
            <a:r>
              <a:rPr lang="en-US" dirty="0"/>
              <a:t>We can model the tradeoffs faced by a hospital budget holder as follows.</a:t>
            </a:r>
          </a:p>
          <a:p>
            <a:r>
              <a:rPr lang="en-US" dirty="0"/>
              <a:t>A hospital has 10 million dollars to invest in two different machines MRIs and X-Rays.</a:t>
            </a:r>
          </a:p>
          <a:p>
            <a:r>
              <a:rPr lang="en-US" dirty="0"/>
              <a:t>Suppose MRIs cost 2.5 million Dollars while X-Rays machines cost 0.5 Million Dollars.</a:t>
            </a:r>
          </a:p>
          <a:p>
            <a:pPr marL="0" indent="0">
              <a:buNone/>
            </a:pPr>
            <a:r>
              <a:rPr lang="en-US" dirty="0"/>
              <a:t>Question 1: what is the maximum Number of </a:t>
            </a:r>
            <a:br>
              <a:rPr lang="en-US" dirty="0"/>
            </a:br>
            <a:r>
              <a:rPr lang="en-US" dirty="0"/>
              <a:t>MRIs and X-Rays  which can be purchased?</a:t>
            </a:r>
            <a:br>
              <a:rPr lang="en-US" dirty="0"/>
            </a:br>
            <a:br>
              <a:rPr lang="en-US" dirty="0"/>
            </a:br>
            <a:r>
              <a:rPr lang="en-US" dirty="0"/>
              <a:t>Question 2: What is the Opportunity cost of X-Rays? (and conversely what is the opportunity cost of MRIs?)</a:t>
            </a:r>
            <a:endParaRPr lang="en-CA" dirty="0"/>
          </a:p>
        </p:txBody>
      </p:sp>
      <p:sp>
        <p:nvSpPr>
          <p:cNvPr id="4" name="Rectangle 3">
            <a:extLst>
              <a:ext uri="{FF2B5EF4-FFF2-40B4-BE49-F238E27FC236}">
                <a16:creationId xmlns:a16="http://schemas.microsoft.com/office/drawing/2014/main" id="{9E9526E2-0408-682C-5287-8687921DD025}"/>
              </a:ext>
            </a:extLst>
          </p:cNvPr>
          <p:cNvSpPr/>
          <p:nvPr/>
        </p:nvSpPr>
        <p:spPr>
          <a:xfrm>
            <a:off x="603115" y="2120630"/>
            <a:ext cx="5492885" cy="4163438"/>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5" name="Rectangle 4">
            <a:extLst>
              <a:ext uri="{FF2B5EF4-FFF2-40B4-BE49-F238E27FC236}">
                <a16:creationId xmlns:a16="http://schemas.microsoft.com/office/drawing/2014/main" id="{2259F868-A260-B727-C4C0-1FD701464B9D}"/>
              </a:ext>
            </a:extLst>
          </p:cNvPr>
          <p:cNvSpPr/>
          <p:nvPr/>
        </p:nvSpPr>
        <p:spPr>
          <a:xfrm>
            <a:off x="389106" y="1838528"/>
            <a:ext cx="6021422" cy="6029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Rectangle 6">
            <a:extLst>
              <a:ext uri="{FF2B5EF4-FFF2-40B4-BE49-F238E27FC236}">
                <a16:creationId xmlns:a16="http://schemas.microsoft.com/office/drawing/2014/main" id="{F9AB9C08-7A29-AE93-D53D-860376B82681}"/>
              </a:ext>
            </a:extLst>
          </p:cNvPr>
          <p:cNvSpPr/>
          <p:nvPr/>
        </p:nvSpPr>
        <p:spPr>
          <a:xfrm>
            <a:off x="5914417" y="1990927"/>
            <a:ext cx="677693" cy="448769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9" name="Straight Connector 8">
            <a:extLst>
              <a:ext uri="{FF2B5EF4-FFF2-40B4-BE49-F238E27FC236}">
                <a16:creationId xmlns:a16="http://schemas.microsoft.com/office/drawing/2014/main" id="{A3141993-BBDE-1552-2A9E-B02565B16D27}"/>
              </a:ext>
            </a:extLst>
          </p:cNvPr>
          <p:cNvCxnSpPr>
            <a:cxnSpLocks/>
          </p:cNvCxnSpPr>
          <p:nvPr/>
        </p:nvCxnSpPr>
        <p:spPr>
          <a:xfrm>
            <a:off x="603115" y="2986391"/>
            <a:ext cx="4250987" cy="3297677"/>
          </a:xfrm>
          <a:prstGeom prst="line">
            <a:avLst/>
          </a:prstGeom>
          <a:ln w="76200">
            <a:solidFill>
              <a:schemeClr val="accent6">
                <a:lumMod val="50000"/>
              </a:schemeClr>
            </a:solidFill>
          </a:ln>
        </p:spPr>
        <p:style>
          <a:lnRef idx="3">
            <a:schemeClr val="accent6"/>
          </a:lnRef>
          <a:fillRef idx="0">
            <a:schemeClr val="accent6"/>
          </a:fillRef>
          <a:effectRef idx="2">
            <a:schemeClr val="accent6"/>
          </a:effectRef>
          <a:fontRef idx="minor">
            <a:schemeClr val="tx1"/>
          </a:fontRef>
        </p:style>
      </p:cxnSp>
      <p:sp>
        <p:nvSpPr>
          <p:cNvPr id="12" name="TextBox 11">
            <a:extLst>
              <a:ext uri="{FF2B5EF4-FFF2-40B4-BE49-F238E27FC236}">
                <a16:creationId xmlns:a16="http://schemas.microsoft.com/office/drawing/2014/main" id="{D93313D8-F0F1-E340-6B07-2A01D8507E3E}"/>
              </a:ext>
            </a:extLst>
          </p:cNvPr>
          <p:cNvSpPr txBox="1"/>
          <p:nvPr/>
        </p:nvSpPr>
        <p:spPr>
          <a:xfrm>
            <a:off x="42574" y="2072116"/>
            <a:ext cx="1786225" cy="369332"/>
          </a:xfrm>
          <a:prstGeom prst="rect">
            <a:avLst/>
          </a:prstGeom>
          <a:noFill/>
        </p:spPr>
        <p:txBody>
          <a:bodyPr wrap="square" rtlCol="0">
            <a:spAutoFit/>
          </a:bodyPr>
          <a:lstStyle/>
          <a:p>
            <a:r>
              <a:rPr lang="en-US" dirty="0"/>
              <a:t>MRI Machines</a:t>
            </a:r>
            <a:endParaRPr lang="en-CA" dirty="0"/>
          </a:p>
        </p:txBody>
      </p:sp>
      <p:sp>
        <p:nvSpPr>
          <p:cNvPr id="14" name="TextBox 13">
            <a:extLst>
              <a:ext uri="{FF2B5EF4-FFF2-40B4-BE49-F238E27FC236}">
                <a16:creationId xmlns:a16="http://schemas.microsoft.com/office/drawing/2014/main" id="{E6EADDF0-0300-5BD6-CA53-83373976872D}"/>
              </a:ext>
            </a:extLst>
          </p:cNvPr>
          <p:cNvSpPr txBox="1"/>
          <p:nvPr/>
        </p:nvSpPr>
        <p:spPr>
          <a:xfrm>
            <a:off x="5321030" y="6277867"/>
            <a:ext cx="1089497" cy="369332"/>
          </a:xfrm>
          <a:prstGeom prst="rect">
            <a:avLst/>
          </a:prstGeom>
          <a:noFill/>
        </p:spPr>
        <p:txBody>
          <a:bodyPr wrap="square" rtlCol="0">
            <a:spAutoFit/>
          </a:bodyPr>
          <a:lstStyle/>
          <a:p>
            <a:r>
              <a:rPr lang="en-US" dirty="0"/>
              <a:t>X- Rays</a:t>
            </a:r>
            <a:endParaRPr lang="en-CA"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6FD26E8-01E2-3A6C-5179-7F2486EECEF5}"/>
                  </a:ext>
                </a:extLst>
              </p:cNvPr>
              <p:cNvSpPr txBox="1"/>
              <p:nvPr/>
            </p:nvSpPr>
            <p:spPr>
              <a:xfrm>
                <a:off x="603115" y="2463627"/>
                <a:ext cx="1767600" cy="618311"/>
              </a:xfrm>
              <a:prstGeom prst="rect">
                <a:avLst/>
              </a:prstGeom>
              <a:noFill/>
            </p:spPr>
            <p:txBody>
              <a:bodyPr wrap="none" rtlCol="0">
                <a:spAutoFit/>
              </a:bodyPr>
              <a:lstStyle/>
              <a:p>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10 </m:t>
                          </m:r>
                          <m:r>
                            <a:rPr lang="en-US" b="0" i="1" smtClean="0">
                              <a:latin typeface="Cambria Math" panose="02040503050406030204" pitchFamily="18" charset="0"/>
                            </a:rPr>
                            <m:t>𝑚𝑖𝑙𝑙𝑖𝑜𝑛</m:t>
                          </m:r>
                        </m:num>
                        <m:den>
                          <m:r>
                            <a:rPr lang="en-US" b="0" i="1" smtClean="0">
                              <a:latin typeface="Cambria Math" panose="02040503050406030204" pitchFamily="18" charset="0"/>
                            </a:rPr>
                            <m:t>2.5 </m:t>
                          </m:r>
                          <m:r>
                            <a:rPr lang="en-US" b="0" i="1" smtClean="0">
                              <a:latin typeface="Cambria Math" panose="02040503050406030204" pitchFamily="18" charset="0"/>
                            </a:rPr>
                            <m:t>𝑚𝑖𝑙𝑙𝑖𝑜𝑛</m:t>
                          </m:r>
                        </m:den>
                      </m:f>
                      <m:r>
                        <a:rPr lang="en-US" b="0" i="1" smtClean="0">
                          <a:latin typeface="Cambria Math" panose="02040503050406030204" pitchFamily="18" charset="0"/>
                        </a:rPr>
                        <m:t>=4</m:t>
                      </m:r>
                    </m:oMath>
                  </m:oMathPara>
                </a14:m>
                <a:endParaRPr lang="en-CA" dirty="0"/>
              </a:p>
            </p:txBody>
          </p:sp>
        </mc:Choice>
        <mc:Fallback xmlns="">
          <p:sp>
            <p:nvSpPr>
              <p:cNvPr id="6" name="TextBox 5">
                <a:extLst>
                  <a:ext uri="{FF2B5EF4-FFF2-40B4-BE49-F238E27FC236}">
                    <a16:creationId xmlns:a16="http://schemas.microsoft.com/office/drawing/2014/main" id="{56FD26E8-01E2-3A6C-5179-7F2486EECEF5}"/>
                  </a:ext>
                </a:extLst>
              </p:cNvPr>
              <p:cNvSpPr txBox="1">
                <a:spLocks noRot="1" noChangeAspect="1" noMove="1" noResize="1" noEditPoints="1" noAdjustHandles="1" noChangeArrowheads="1" noChangeShapeType="1" noTextEdit="1"/>
              </p:cNvSpPr>
              <p:nvPr/>
            </p:nvSpPr>
            <p:spPr>
              <a:xfrm>
                <a:off x="603115" y="2463627"/>
                <a:ext cx="1767600" cy="618311"/>
              </a:xfrm>
              <a:prstGeom prst="rect">
                <a:avLst/>
              </a:prstGeom>
              <a:blipFill>
                <a:blip r:embed="rId2"/>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AD53B1B-08C1-20B1-B960-C993D63F8A9A}"/>
                  </a:ext>
                </a:extLst>
              </p:cNvPr>
              <p:cNvSpPr txBox="1"/>
              <p:nvPr/>
            </p:nvSpPr>
            <p:spPr>
              <a:xfrm>
                <a:off x="4735339" y="5465004"/>
                <a:ext cx="1895840" cy="618311"/>
              </a:xfrm>
              <a:prstGeom prst="rect">
                <a:avLst/>
              </a:prstGeom>
              <a:noFill/>
            </p:spPr>
            <p:txBody>
              <a:bodyPr wrap="none" rtlCol="0">
                <a:spAutoFit/>
              </a:bodyPr>
              <a:lstStyle/>
              <a:p>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10 </m:t>
                          </m:r>
                          <m:r>
                            <a:rPr lang="en-US" b="0" i="1" smtClean="0">
                              <a:latin typeface="Cambria Math" panose="02040503050406030204" pitchFamily="18" charset="0"/>
                            </a:rPr>
                            <m:t>𝑚𝑖𝑙𝑙𝑖𝑜𝑛</m:t>
                          </m:r>
                        </m:num>
                        <m:den>
                          <m:r>
                            <a:rPr lang="en-US" b="0" i="1" smtClean="0">
                              <a:latin typeface="Cambria Math" panose="02040503050406030204" pitchFamily="18" charset="0"/>
                            </a:rPr>
                            <m:t>0.5 </m:t>
                          </m:r>
                          <m:r>
                            <a:rPr lang="en-US" b="0" i="1" smtClean="0">
                              <a:latin typeface="Cambria Math" panose="02040503050406030204" pitchFamily="18" charset="0"/>
                            </a:rPr>
                            <m:t>𝑚𝑖𝑙𝑙𝑖𝑜𝑛</m:t>
                          </m:r>
                        </m:den>
                      </m:f>
                      <m:r>
                        <a:rPr lang="en-US" b="0" i="1" smtClean="0">
                          <a:latin typeface="Cambria Math" panose="02040503050406030204" pitchFamily="18" charset="0"/>
                        </a:rPr>
                        <m:t>=20</m:t>
                      </m:r>
                    </m:oMath>
                  </m:oMathPara>
                </a14:m>
                <a:endParaRPr lang="en-CA" dirty="0"/>
              </a:p>
            </p:txBody>
          </p:sp>
        </mc:Choice>
        <mc:Fallback xmlns="">
          <p:sp>
            <p:nvSpPr>
              <p:cNvPr id="10" name="TextBox 9">
                <a:extLst>
                  <a:ext uri="{FF2B5EF4-FFF2-40B4-BE49-F238E27FC236}">
                    <a16:creationId xmlns:a16="http://schemas.microsoft.com/office/drawing/2014/main" id="{EAD53B1B-08C1-20B1-B960-C993D63F8A9A}"/>
                  </a:ext>
                </a:extLst>
              </p:cNvPr>
              <p:cNvSpPr txBox="1">
                <a:spLocks noRot="1" noChangeAspect="1" noMove="1" noResize="1" noEditPoints="1" noAdjustHandles="1" noChangeArrowheads="1" noChangeShapeType="1" noTextEdit="1"/>
              </p:cNvSpPr>
              <p:nvPr/>
            </p:nvSpPr>
            <p:spPr>
              <a:xfrm>
                <a:off x="4735339" y="5465004"/>
                <a:ext cx="1895840" cy="618311"/>
              </a:xfrm>
              <a:prstGeom prst="rect">
                <a:avLst/>
              </a:prstGeom>
              <a:blipFill>
                <a:blip r:embed="rId3"/>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F196798-C593-523D-265F-00376E58F369}"/>
                  </a:ext>
                </a:extLst>
              </p:cNvPr>
              <p:cNvSpPr txBox="1"/>
              <p:nvPr/>
            </p:nvSpPr>
            <p:spPr>
              <a:xfrm>
                <a:off x="2284220" y="3081938"/>
                <a:ext cx="3679533" cy="530594"/>
              </a:xfrm>
              <a:prstGeom prst="rect">
                <a:avLst/>
              </a:prstGeom>
              <a:noFill/>
              <a:ln w="57150">
                <a:solidFill>
                  <a:schemeClr val="tx1"/>
                </a:solidFill>
              </a:ln>
            </p:spPr>
            <p:txBody>
              <a:bodyPr wrap="none" rtlCol="0">
                <a:spAutoFit/>
              </a:bodyPr>
              <a:lstStyle/>
              <a:p>
                <a:r>
                  <a:rPr lang="en-US" dirty="0"/>
                  <a:t>X-Ray OC</a:t>
                </a:r>
                <a14:m>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2.5 </m:t>
                        </m:r>
                        <m:r>
                          <a:rPr lang="en-US" b="0" i="1" smtClean="0">
                            <a:latin typeface="Cambria Math" panose="02040503050406030204" pitchFamily="18" charset="0"/>
                          </a:rPr>
                          <m:t>𝑚𝑖𝑙𝑙𝑖𝑜𝑛</m:t>
                        </m:r>
                        <m:r>
                          <a:rPr lang="en-US" b="0" i="1" smtClean="0">
                            <a:latin typeface="Cambria Math" panose="02040503050406030204" pitchFamily="18" charset="0"/>
                          </a:rPr>
                          <m:t>/</m:t>
                        </m:r>
                        <m:r>
                          <a:rPr lang="en-US" b="0" i="1" smtClean="0">
                            <a:latin typeface="Cambria Math" panose="02040503050406030204" pitchFamily="18" charset="0"/>
                          </a:rPr>
                          <m:t>𝑀𝑅𝐼</m:t>
                        </m:r>
                      </m:num>
                      <m:den>
                        <m:r>
                          <a:rPr lang="en-US" b="0" i="1" smtClean="0">
                            <a:latin typeface="Cambria Math" panose="02040503050406030204" pitchFamily="18" charset="0"/>
                          </a:rPr>
                          <m:t>0.5 </m:t>
                        </m:r>
                        <m:r>
                          <a:rPr lang="en-US" b="0" i="1" smtClean="0">
                            <a:latin typeface="Cambria Math" panose="02040503050406030204" pitchFamily="18" charset="0"/>
                          </a:rPr>
                          <m:t>𝑚𝑖𝑙𝑙𝑖𝑜𝑛</m:t>
                        </m:r>
                        <m:r>
                          <a:rPr lang="en-US" b="0" i="1" smtClean="0">
                            <a:latin typeface="Cambria Math" panose="02040503050406030204" pitchFamily="18" charset="0"/>
                          </a:rPr>
                          <m:t>/</m:t>
                        </m:r>
                        <m:r>
                          <a:rPr lang="en-US" b="0" i="1" smtClean="0">
                            <a:latin typeface="Cambria Math" panose="02040503050406030204" pitchFamily="18" charset="0"/>
                          </a:rPr>
                          <m:t>𝑥𝑟𝑎𝑦</m:t>
                        </m:r>
                      </m:den>
                    </m:f>
                    <m:r>
                      <a:rPr lang="en-US" b="0" i="1" smtClean="0">
                        <a:latin typeface="Cambria Math" panose="02040503050406030204" pitchFamily="18" charset="0"/>
                      </a:rPr>
                      <m:t>=5</m:t>
                    </m:r>
                  </m:oMath>
                </a14:m>
                <a:r>
                  <a:rPr lang="en-CA" dirty="0"/>
                  <a:t> </a:t>
                </a:r>
                <a14:m>
                  <m:oMath xmlns:m="http://schemas.openxmlformats.org/officeDocument/2006/math">
                    <m:f>
                      <m:fPr>
                        <m:ctrlPr>
                          <a:rPr lang="en-US" i="0" dirty="0">
                            <a:latin typeface="Cambria Math" panose="02040503050406030204" pitchFamily="18" charset="0"/>
                          </a:rPr>
                        </m:ctrlPr>
                      </m:fPr>
                      <m:num>
                        <m:r>
                          <m:rPr>
                            <m:sty m:val="p"/>
                          </m:rPr>
                          <a:rPr lang="en-US" i="0" dirty="0">
                            <a:latin typeface="Cambria Math" panose="02040503050406030204" pitchFamily="18" charset="0"/>
                          </a:rPr>
                          <m:t>x</m:t>
                        </m:r>
                        <m:r>
                          <m:rPr>
                            <m:sty m:val="p"/>
                          </m:rPr>
                          <a:rPr lang="en-US" b="0" i="0" dirty="0" smtClean="0">
                            <a:latin typeface="Cambria Math" panose="02040503050406030204" pitchFamily="18" charset="0"/>
                          </a:rPr>
                          <m:t>ray</m:t>
                        </m:r>
                      </m:num>
                      <m:den>
                        <m:r>
                          <m:rPr>
                            <m:sty m:val="p"/>
                          </m:rPr>
                          <a:rPr lang="en-US" b="0" i="0" dirty="0" smtClean="0">
                            <a:latin typeface="Cambria Math" panose="02040503050406030204" pitchFamily="18" charset="0"/>
                          </a:rPr>
                          <m:t>MRI</m:t>
                        </m:r>
                      </m:den>
                    </m:f>
                  </m:oMath>
                </a14:m>
                <a:endParaRPr lang="en-CA" dirty="0"/>
              </a:p>
            </p:txBody>
          </p:sp>
        </mc:Choice>
        <mc:Fallback xmlns="">
          <p:sp>
            <p:nvSpPr>
              <p:cNvPr id="13" name="TextBox 12">
                <a:extLst>
                  <a:ext uri="{FF2B5EF4-FFF2-40B4-BE49-F238E27FC236}">
                    <a16:creationId xmlns:a16="http://schemas.microsoft.com/office/drawing/2014/main" id="{DF196798-C593-523D-265F-00376E58F369}"/>
                  </a:ext>
                </a:extLst>
              </p:cNvPr>
              <p:cNvSpPr txBox="1">
                <a:spLocks noRot="1" noChangeAspect="1" noMove="1" noResize="1" noEditPoints="1" noAdjustHandles="1" noChangeArrowheads="1" noChangeShapeType="1" noTextEdit="1"/>
              </p:cNvSpPr>
              <p:nvPr/>
            </p:nvSpPr>
            <p:spPr>
              <a:xfrm>
                <a:off x="2284220" y="3081938"/>
                <a:ext cx="3679533" cy="530594"/>
              </a:xfrm>
              <a:prstGeom prst="rect">
                <a:avLst/>
              </a:prstGeom>
              <a:blipFill>
                <a:blip r:embed="rId4"/>
                <a:stretch>
                  <a:fillRect l="-817"/>
                </a:stretch>
              </a:blipFill>
              <a:ln w="57150">
                <a:solidFill>
                  <a:schemeClr val="tx1"/>
                </a:solidFill>
              </a:ln>
            </p:spPr>
            <p:txBody>
              <a:bodyPr/>
              <a:lstStyle/>
              <a:p>
                <a:r>
                  <a:rPr lang="en-CA">
                    <a:noFill/>
                  </a:rPr>
                  <a:t> </a:t>
                </a:r>
              </a:p>
            </p:txBody>
          </p:sp>
        </mc:Fallback>
      </mc:AlternateContent>
    </p:spTree>
    <p:extLst>
      <p:ext uri="{BB962C8B-B14F-4D97-AF65-F5344CB8AC3E}">
        <p14:creationId xmlns:p14="http://schemas.microsoft.com/office/powerpoint/2010/main" val="904275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2511E-6BA7-22C3-DABD-D334FD1B7998}"/>
              </a:ext>
            </a:extLst>
          </p:cNvPr>
          <p:cNvSpPr>
            <a:spLocks noGrp="1"/>
          </p:cNvSpPr>
          <p:nvPr>
            <p:ph type="title"/>
          </p:nvPr>
        </p:nvSpPr>
        <p:spPr>
          <a:xfrm>
            <a:off x="257258" y="648470"/>
            <a:ext cx="11155680" cy="1463040"/>
          </a:xfrm>
        </p:spPr>
        <p:txBody>
          <a:bodyPr/>
          <a:lstStyle/>
          <a:p>
            <a:r>
              <a:rPr lang="en-US" dirty="0"/>
              <a:t>Marginal Analysis</a:t>
            </a:r>
            <a:endParaRPr lang="en-CA" dirty="0"/>
          </a:p>
        </p:txBody>
      </p:sp>
      <p:sp>
        <p:nvSpPr>
          <p:cNvPr id="3" name="Content Placeholder 2">
            <a:extLst>
              <a:ext uri="{FF2B5EF4-FFF2-40B4-BE49-F238E27FC236}">
                <a16:creationId xmlns:a16="http://schemas.microsoft.com/office/drawing/2014/main" id="{20E73A8E-1878-9272-3FBF-4FBC2A7C4AF0}"/>
              </a:ext>
            </a:extLst>
          </p:cNvPr>
          <p:cNvSpPr>
            <a:spLocks noGrp="1"/>
          </p:cNvSpPr>
          <p:nvPr>
            <p:ph idx="1"/>
          </p:nvPr>
        </p:nvSpPr>
        <p:spPr>
          <a:xfrm>
            <a:off x="367645" y="1709928"/>
            <a:ext cx="11303147" cy="4756860"/>
          </a:xfrm>
        </p:spPr>
        <p:txBody>
          <a:bodyPr>
            <a:normAutofit/>
          </a:bodyPr>
          <a:lstStyle/>
          <a:p>
            <a:r>
              <a:rPr lang="en-US" sz="2000" dirty="0"/>
              <a:t>Concepts of  Scarcity and Opportunity cost tell us features of the environment of choice.</a:t>
            </a:r>
          </a:p>
          <a:p>
            <a:pPr lvl="1"/>
            <a:r>
              <a:rPr lang="en-US" sz="2000" dirty="0"/>
              <a:t>Resources are scarce</a:t>
            </a:r>
          </a:p>
          <a:p>
            <a:pPr lvl="1"/>
            <a:r>
              <a:rPr lang="en-US" sz="2000" dirty="0"/>
              <a:t>Decisions involve tradeoffs</a:t>
            </a:r>
          </a:p>
          <a:p>
            <a:r>
              <a:rPr lang="en-US" sz="2000" dirty="0"/>
              <a:t>But so far we have not discussed how to choose or how much to choose.</a:t>
            </a:r>
          </a:p>
          <a:p>
            <a:r>
              <a:rPr lang="en-US" sz="2000" b="1" dirty="0"/>
              <a:t>Decision Makers are interested in maximizing their benefits while minimizing their costs. </a:t>
            </a:r>
          </a:p>
        </p:txBody>
      </p:sp>
    </p:spTree>
    <p:extLst>
      <p:ext uri="{BB962C8B-B14F-4D97-AF65-F5344CB8AC3E}">
        <p14:creationId xmlns:p14="http://schemas.microsoft.com/office/powerpoint/2010/main" val="3493716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5AF20-6982-F88F-7027-48D3C4F0E96B}"/>
              </a:ext>
            </a:extLst>
          </p:cNvPr>
          <p:cNvSpPr>
            <a:spLocks noGrp="1"/>
          </p:cNvSpPr>
          <p:nvPr>
            <p:ph type="title"/>
          </p:nvPr>
        </p:nvSpPr>
        <p:spPr/>
        <p:txBody>
          <a:bodyPr/>
          <a:lstStyle/>
          <a:p>
            <a:r>
              <a:rPr lang="en-US" dirty="0"/>
              <a:t>Marginal Analysis</a:t>
            </a:r>
            <a:endParaRPr lang="en-CA" dirty="0"/>
          </a:p>
        </p:txBody>
      </p:sp>
      <p:sp>
        <p:nvSpPr>
          <p:cNvPr id="3" name="Content Placeholder 2">
            <a:extLst>
              <a:ext uri="{FF2B5EF4-FFF2-40B4-BE49-F238E27FC236}">
                <a16:creationId xmlns:a16="http://schemas.microsoft.com/office/drawing/2014/main" id="{A572881E-68EB-73F3-BB82-8229BAFDC33B}"/>
              </a:ext>
            </a:extLst>
          </p:cNvPr>
          <p:cNvSpPr>
            <a:spLocks noGrp="1"/>
          </p:cNvSpPr>
          <p:nvPr>
            <p:ph idx="1"/>
          </p:nvPr>
        </p:nvSpPr>
        <p:spPr/>
        <p:txBody>
          <a:bodyPr/>
          <a:lstStyle/>
          <a:p>
            <a:r>
              <a:rPr lang="en-US" sz="2000" dirty="0"/>
              <a:t>The way this is done is by thinking in terms of the Marginal Benefit per Unit VS the Marginal Cost per Unit of some good.</a:t>
            </a:r>
          </a:p>
          <a:p>
            <a:r>
              <a:rPr lang="en-US" sz="2000" dirty="0"/>
              <a:t>In general, benefits experience </a:t>
            </a:r>
            <a:r>
              <a:rPr lang="en-US" sz="2000" b="1" dirty="0"/>
              <a:t>diminishing returns</a:t>
            </a:r>
            <a:r>
              <a:rPr lang="en-US" sz="2000" dirty="0"/>
              <a:t> which means that while benefits do increase in the consumption of a particular good they are less so as they are increased.</a:t>
            </a:r>
          </a:p>
          <a:p>
            <a:pPr lvl="1"/>
            <a:r>
              <a:rPr lang="en-US" sz="2000" dirty="0"/>
              <a:t>Example 1: The Initial Enjoyment a hungry person receives from one slice of pizza is large, but the second slice while still good is not as enjoyable.</a:t>
            </a:r>
          </a:p>
          <a:p>
            <a:pPr lvl="1"/>
            <a:r>
              <a:rPr lang="en-US" sz="2000" dirty="0"/>
              <a:t>Example 2: Everyone made a decision about how many covid 19 vaccines booster they would take (even in 2026, they are still suggested) as we see, most people have not been continuously vaccinating.</a:t>
            </a:r>
          </a:p>
          <a:p>
            <a:endParaRPr lang="en-CA" dirty="0"/>
          </a:p>
        </p:txBody>
      </p:sp>
    </p:spTree>
    <p:extLst>
      <p:ext uri="{BB962C8B-B14F-4D97-AF65-F5344CB8AC3E}">
        <p14:creationId xmlns:p14="http://schemas.microsoft.com/office/powerpoint/2010/main" val="15999341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2DADC-80DC-B10E-DF22-B622ADAE2F7D}"/>
              </a:ext>
            </a:extLst>
          </p:cNvPr>
          <p:cNvSpPr>
            <a:spLocks noGrp="1"/>
          </p:cNvSpPr>
          <p:nvPr>
            <p:ph type="title"/>
          </p:nvPr>
        </p:nvSpPr>
        <p:spPr/>
        <p:txBody>
          <a:bodyPr/>
          <a:lstStyle/>
          <a:p>
            <a:r>
              <a:rPr lang="en-US" dirty="0"/>
              <a:t>Marginal Analysis</a:t>
            </a:r>
            <a:endParaRPr lang="en-CA"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E74B0A2-2B99-B832-3274-2853D2DEEE5A}"/>
                  </a:ext>
                </a:extLst>
              </p:cNvPr>
              <p:cNvSpPr>
                <a:spLocks noGrp="1"/>
              </p:cNvSpPr>
              <p:nvPr>
                <p:ph idx="1"/>
              </p:nvPr>
            </p:nvSpPr>
            <p:spPr/>
            <p:txBody>
              <a:bodyPr/>
              <a:lstStyle/>
              <a:p>
                <a:pPr marL="0" indent="0">
                  <a:buNone/>
                </a:pPr>
                <a:r>
                  <a:rPr lang="en-US" sz="2500" dirty="0"/>
                  <a:t>As a General Rule, Net Benefit is maximized when:</a:t>
                </a:r>
                <a:br>
                  <a:rPr lang="en-US" sz="2500" dirty="0"/>
                </a:br>
                <a:br>
                  <a:rPr lang="en-US" sz="2500" dirty="0"/>
                </a:br>
                <a14:m>
                  <m:oMathPara xmlns:m="http://schemas.openxmlformats.org/officeDocument/2006/math">
                    <m:oMath>
                      <m:r>
                        <m:rPr>
                          <m:sty m:val="p"/>
                        </m:rPr>
                        <a:rPr lang="en-US" sz="2500">
                          <a:latin typeface="Cambria Math" panose="02040503050406030204" pitchFamily="18" charset="0"/>
                        </a:rPr>
                        <m:t>Marginal</m:t>
                      </m:r>
                      <m:r>
                        <a:rPr lang="en-US" sz="2500">
                          <a:latin typeface="Cambria Math" panose="02040503050406030204" pitchFamily="18" charset="0"/>
                        </a:rPr>
                        <m:t> </m:t>
                      </m:r>
                      <m:r>
                        <m:rPr>
                          <m:sty m:val="p"/>
                        </m:rPr>
                        <a:rPr lang="en-US" sz="2500">
                          <a:latin typeface="Cambria Math" panose="02040503050406030204" pitchFamily="18" charset="0"/>
                        </a:rPr>
                        <m:t>Benefit</m:t>
                      </m:r>
                      <m:r>
                        <a:rPr lang="en-US" sz="2500">
                          <a:latin typeface="Cambria Math" panose="02040503050406030204" pitchFamily="18" charset="0"/>
                        </a:rPr>
                        <m:t>=</m:t>
                      </m:r>
                      <m:r>
                        <m:rPr>
                          <m:sty m:val="p"/>
                        </m:rPr>
                        <a:rPr lang="en-US" sz="2500">
                          <a:latin typeface="Cambria Math" panose="02040503050406030204" pitchFamily="18" charset="0"/>
                        </a:rPr>
                        <m:t>Marginal</m:t>
                      </m:r>
                      <m:r>
                        <a:rPr lang="en-US" sz="2500">
                          <a:latin typeface="Cambria Math" panose="02040503050406030204" pitchFamily="18" charset="0"/>
                        </a:rPr>
                        <m:t> </m:t>
                      </m:r>
                      <m:r>
                        <m:rPr>
                          <m:sty m:val="p"/>
                        </m:rPr>
                        <a:rPr lang="en-US" sz="2500">
                          <a:latin typeface="Cambria Math" panose="02040503050406030204" pitchFamily="18" charset="0"/>
                        </a:rPr>
                        <m:t>Cost</m:t>
                      </m:r>
                    </m:oMath>
                  </m:oMathPara>
                </a14:m>
                <a:endParaRPr lang="en-US" sz="2500" dirty="0"/>
              </a:p>
              <a:p>
                <a:pPr marL="0" indent="0">
                  <a:buNone/>
                </a:pPr>
                <a:r>
                  <a:rPr lang="en-US" sz="2500" dirty="0"/>
                  <a:t>or</a:t>
                </a:r>
                <a:br>
                  <a:rPr lang="en-US" sz="2500" dirty="0"/>
                </a:br>
                <a14:m>
                  <m:oMathPara xmlns:m="http://schemas.openxmlformats.org/officeDocument/2006/math">
                    <m:oMath>
                      <m:r>
                        <m:rPr>
                          <m:sty m:val="p"/>
                        </m:rPr>
                        <a:rPr lang="en-US" sz="2500">
                          <a:latin typeface="Cambria Math" panose="02040503050406030204" pitchFamily="18" charset="0"/>
                        </a:rPr>
                        <m:t>MB</m:t>
                      </m:r>
                      <m:r>
                        <a:rPr lang="en-US" sz="2500">
                          <a:latin typeface="Cambria Math" panose="02040503050406030204" pitchFamily="18" charset="0"/>
                        </a:rPr>
                        <m:t>=</m:t>
                      </m:r>
                      <m:r>
                        <m:rPr>
                          <m:sty m:val="p"/>
                        </m:rPr>
                        <a:rPr lang="en-US" sz="2500">
                          <a:latin typeface="Cambria Math" panose="02040503050406030204" pitchFamily="18" charset="0"/>
                        </a:rPr>
                        <m:t>MC</m:t>
                      </m:r>
                    </m:oMath>
                  </m:oMathPara>
                </a14:m>
                <a:endParaRPr lang="en-US" sz="2500" dirty="0"/>
              </a:p>
              <a:p>
                <a:endParaRPr lang="en-CA" dirty="0"/>
              </a:p>
            </p:txBody>
          </p:sp>
        </mc:Choice>
        <mc:Fallback xmlns="">
          <p:sp>
            <p:nvSpPr>
              <p:cNvPr id="3" name="Content Placeholder 2">
                <a:extLst>
                  <a:ext uri="{FF2B5EF4-FFF2-40B4-BE49-F238E27FC236}">
                    <a16:creationId xmlns:a16="http://schemas.microsoft.com/office/drawing/2014/main" id="{CE74B0A2-2B99-B832-3274-2853D2DEEE5A}"/>
                  </a:ext>
                </a:extLst>
              </p:cNvPr>
              <p:cNvSpPr>
                <a:spLocks noGrp="1" noRot="1" noChangeAspect="1" noMove="1" noResize="1" noEditPoints="1" noAdjustHandles="1" noChangeArrowheads="1" noChangeShapeType="1" noTextEdit="1"/>
              </p:cNvSpPr>
              <p:nvPr>
                <p:ph idx="1"/>
              </p:nvPr>
            </p:nvSpPr>
            <p:spPr>
              <a:blipFill>
                <a:blip r:embed="rId2"/>
                <a:stretch>
                  <a:fillRect l="-929" t="-647"/>
                </a:stretch>
              </a:blipFill>
            </p:spPr>
            <p:txBody>
              <a:bodyPr/>
              <a:lstStyle/>
              <a:p>
                <a:r>
                  <a:rPr lang="en-CA">
                    <a:noFill/>
                  </a:rPr>
                  <a:t> </a:t>
                </a:r>
              </a:p>
            </p:txBody>
          </p:sp>
        </mc:Fallback>
      </mc:AlternateContent>
    </p:spTree>
    <p:extLst>
      <p:ext uri="{BB962C8B-B14F-4D97-AF65-F5344CB8AC3E}">
        <p14:creationId xmlns:p14="http://schemas.microsoft.com/office/powerpoint/2010/main" val="1307477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97DBE-8597-FBD6-08B3-CE333F5CF1FA}"/>
              </a:ext>
            </a:extLst>
          </p:cNvPr>
          <p:cNvSpPr>
            <a:spLocks noGrp="1"/>
          </p:cNvSpPr>
          <p:nvPr>
            <p:ph type="title"/>
          </p:nvPr>
        </p:nvSpPr>
        <p:spPr/>
        <p:txBody>
          <a:bodyPr/>
          <a:lstStyle/>
          <a:p>
            <a:r>
              <a:rPr lang="en-US" dirty="0"/>
              <a:t>A Graphic Example of Marginal Analysis</a:t>
            </a:r>
            <a:endParaRPr lang="en-CA" dirty="0"/>
          </a:p>
        </p:txBody>
      </p:sp>
      <p:pic>
        <p:nvPicPr>
          <p:cNvPr id="5" name="Picture 4">
            <a:extLst>
              <a:ext uri="{FF2B5EF4-FFF2-40B4-BE49-F238E27FC236}">
                <a16:creationId xmlns:a16="http://schemas.microsoft.com/office/drawing/2014/main" id="{B0059AE1-015E-BFD4-45A7-B099A773987F}"/>
              </a:ext>
            </a:extLst>
          </p:cNvPr>
          <p:cNvPicPr>
            <a:picLocks noChangeAspect="1"/>
          </p:cNvPicPr>
          <p:nvPr/>
        </p:nvPicPr>
        <p:blipFill>
          <a:blip r:embed="rId2"/>
          <a:stretch>
            <a:fillRect/>
          </a:stretch>
        </p:blipFill>
        <p:spPr>
          <a:xfrm>
            <a:off x="401991" y="1713303"/>
            <a:ext cx="4056888" cy="5144697"/>
          </a:xfrm>
          <a:prstGeom prst="rect">
            <a:avLst/>
          </a:prstGeom>
        </p:spPr>
      </p:pic>
      <p:graphicFrame>
        <p:nvGraphicFramePr>
          <p:cNvPr id="6" name="Table 5">
            <a:extLst>
              <a:ext uri="{FF2B5EF4-FFF2-40B4-BE49-F238E27FC236}">
                <a16:creationId xmlns:a16="http://schemas.microsoft.com/office/drawing/2014/main" id="{A4DB40E5-6CC9-8C70-4D3B-BC00CD9B5DFC}"/>
              </a:ext>
            </a:extLst>
          </p:cNvPr>
          <p:cNvGraphicFramePr>
            <a:graphicFrameLocks noGrp="1"/>
          </p:cNvGraphicFramePr>
          <p:nvPr>
            <p:extLst>
              <p:ext uri="{D42A27DB-BD31-4B8C-83A1-F6EECF244321}">
                <p14:modId xmlns:p14="http://schemas.microsoft.com/office/powerpoint/2010/main" val="1132381375"/>
              </p:ext>
            </p:extLst>
          </p:nvPr>
        </p:nvGraphicFramePr>
        <p:xfrm>
          <a:off x="4844613" y="1938509"/>
          <a:ext cx="6945396" cy="3716334"/>
        </p:xfrm>
        <a:graphic>
          <a:graphicData uri="http://schemas.openxmlformats.org/drawingml/2006/table">
            <a:tbl>
              <a:tblPr firstRow="1">
                <a:tableStyleId>{8EC20E35-A176-4012-BC5E-935CFFF8708E}</a:tableStyleId>
              </a:tblPr>
              <a:tblGrid>
                <a:gridCol w="1157566">
                  <a:extLst>
                    <a:ext uri="{9D8B030D-6E8A-4147-A177-3AD203B41FA5}">
                      <a16:colId xmlns:a16="http://schemas.microsoft.com/office/drawing/2014/main" val="3185779017"/>
                    </a:ext>
                  </a:extLst>
                </a:gridCol>
                <a:gridCol w="1157566">
                  <a:extLst>
                    <a:ext uri="{9D8B030D-6E8A-4147-A177-3AD203B41FA5}">
                      <a16:colId xmlns:a16="http://schemas.microsoft.com/office/drawing/2014/main" val="3458108621"/>
                    </a:ext>
                  </a:extLst>
                </a:gridCol>
                <a:gridCol w="1157566">
                  <a:extLst>
                    <a:ext uri="{9D8B030D-6E8A-4147-A177-3AD203B41FA5}">
                      <a16:colId xmlns:a16="http://schemas.microsoft.com/office/drawing/2014/main" val="109834448"/>
                    </a:ext>
                  </a:extLst>
                </a:gridCol>
                <a:gridCol w="1157566">
                  <a:extLst>
                    <a:ext uri="{9D8B030D-6E8A-4147-A177-3AD203B41FA5}">
                      <a16:colId xmlns:a16="http://schemas.microsoft.com/office/drawing/2014/main" val="2110163390"/>
                    </a:ext>
                  </a:extLst>
                </a:gridCol>
                <a:gridCol w="1157566">
                  <a:extLst>
                    <a:ext uri="{9D8B030D-6E8A-4147-A177-3AD203B41FA5}">
                      <a16:colId xmlns:a16="http://schemas.microsoft.com/office/drawing/2014/main" val="2791684185"/>
                    </a:ext>
                  </a:extLst>
                </a:gridCol>
                <a:gridCol w="1157566">
                  <a:extLst>
                    <a:ext uri="{9D8B030D-6E8A-4147-A177-3AD203B41FA5}">
                      <a16:colId xmlns:a16="http://schemas.microsoft.com/office/drawing/2014/main" val="3222212346"/>
                    </a:ext>
                  </a:extLst>
                </a:gridCol>
              </a:tblGrid>
              <a:tr h="671930">
                <a:tc>
                  <a:txBody>
                    <a:bodyPr/>
                    <a:lstStyle/>
                    <a:p>
                      <a:pPr>
                        <a:spcAft>
                          <a:spcPts val="2400"/>
                        </a:spcAft>
                        <a:buNone/>
                      </a:pPr>
                      <a:r>
                        <a:rPr lang="en-CA" sz="1500" b="1" dirty="0">
                          <a:effectLst/>
                        </a:rPr>
                        <a:t>Quantity (Q)</a:t>
                      </a:r>
                      <a:endParaRPr lang="en-CA" sz="1500" dirty="0">
                        <a:effectLst/>
                        <a:latin typeface="Google Sans Text"/>
                      </a:endParaRPr>
                    </a:p>
                  </a:txBody>
                  <a:tcPr marL="114300" marR="114300" marT="76200" marB="76200" anchor="ctr"/>
                </a:tc>
                <a:tc>
                  <a:txBody>
                    <a:bodyPr/>
                    <a:lstStyle/>
                    <a:p>
                      <a:pPr>
                        <a:spcAft>
                          <a:spcPts val="2400"/>
                        </a:spcAft>
                        <a:buNone/>
                      </a:pPr>
                      <a:r>
                        <a:rPr lang="en-CA" sz="1500" b="1">
                          <a:effectLst/>
                        </a:rPr>
                        <a:t>Total Benefit (TB)</a:t>
                      </a:r>
                      <a:endParaRPr lang="en-CA" sz="1500">
                        <a:effectLst/>
                        <a:latin typeface="Google Sans Text"/>
                      </a:endParaRPr>
                    </a:p>
                  </a:txBody>
                  <a:tcPr marL="114300" marR="114300" marT="76200" marB="76200" anchor="ctr"/>
                </a:tc>
                <a:tc>
                  <a:txBody>
                    <a:bodyPr/>
                    <a:lstStyle/>
                    <a:p>
                      <a:pPr>
                        <a:spcAft>
                          <a:spcPts val="2400"/>
                        </a:spcAft>
                        <a:buNone/>
                      </a:pPr>
                      <a:r>
                        <a:rPr lang="en-CA" sz="1500" b="1">
                          <a:effectLst/>
                        </a:rPr>
                        <a:t>Marginal Benefit (MB)</a:t>
                      </a:r>
                      <a:endParaRPr lang="en-CA" sz="1500">
                        <a:effectLst/>
                        <a:latin typeface="Google Sans Text"/>
                      </a:endParaRPr>
                    </a:p>
                  </a:txBody>
                  <a:tcPr marL="114300" marR="114300" marT="76200" marB="76200" anchor="ctr"/>
                </a:tc>
                <a:tc>
                  <a:txBody>
                    <a:bodyPr/>
                    <a:lstStyle/>
                    <a:p>
                      <a:pPr>
                        <a:spcAft>
                          <a:spcPts val="2400"/>
                        </a:spcAft>
                        <a:buNone/>
                      </a:pPr>
                      <a:r>
                        <a:rPr lang="en-CA" sz="1500" b="1">
                          <a:effectLst/>
                        </a:rPr>
                        <a:t>Total Cost (TC)</a:t>
                      </a:r>
                      <a:endParaRPr lang="en-CA" sz="1500">
                        <a:effectLst/>
                        <a:latin typeface="Google Sans Text"/>
                      </a:endParaRPr>
                    </a:p>
                  </a:txBody>
                  <a:tcPr marL="114300" marR="114300" marT="76200" marB="76200" anchor="ctr"/>
                </a:tc>
                <a:tc>
                  <a:txBody>
                    <a:bodyPr/>
                    <a:lstStyle/>
                    <a:p>
                      <a:pPr>
                        <a:spcAft>
                          <a:spcPts val="2400"/>
                        </a:spcAft>
                        <a:buNone/>
                      </a:pPr>
                      <a:r>
                        <a:rPr lang="en-CA" sz="1500" b="1">
                          <a:effectLst/>
                        </a:rPr>
                        <a:t>Marginal Cost (MC)</a:t>
                      </a:r>
                      <a:endParaRPr lang="en-CA" sz="1500">
                        <a:effectLst/>
                        <a:latin typeface="Google Sans Text"/>
                      </a:endParaRPr>
                    </a:p>
                  </a:txBody>
                  <a:tcPr marL="114300" marR="114300" marT="76200" marB="76200" anchor="ctr"/>
                </a:tc>
                <a:tc>
                  <a:txBody>
                    <a:bodyPr/>
                    <a:lstStyle/>
                    <a:p>
                      <a:pPr>
                        <a:spcAft>
                          <a:spcPts val="2400"/>
                        </a:spcAft>
                        <a:buNone/>
                      </a:pPr>
                      <a:r>
                        <a:rPr lang="en-CA" sz="1500" b="1" dirty="0">
                          <a:effectLst/>
                        </a:rPr>
                        <a:t>Net Benefit (TB−TC)</a:t>
                      </a:r>
                      <a:endParaRPr lang="en-CA" sz="1500" dirty="0">
                        <a:effectLst/>
                        <a:latin typeface="Google Sans Text"/>
                      </a:endParaRPr>
                    </a:p>
                  </a:txBody>
                  <a:tcPr marL="114300" marR="114300" marT="76200" marB="76200" anchor="ctr"/>
                </a:tc>
                <a:extLst>
                  <a:ext uri="{0D108BD9-81ED-4DB2-BD59-A6C34878D82A}">
                    <a16:rowId xmlns:a16="http://schemas.microsoft.com/office/drawing/2014/main" val="512122685"/>
                  </a:ext>
                </a:extLst>
              </a:tr>
              <a:tr h="411162">
                <a:tc>
                  <a:txBody>
                    <a:bodyPr/>
                    <a:lstStyle/>
                    <a:p>
                      <a:pPr>
                        <a:spcAft>
                          <a:spcPts val="2400"/>
                        </a:spcAft>
                        <a:buNone/>
                      </a:pPr>
                      <a:r>
                        <a:rPr lang="en-CA" sz="1500" b="1">
                          <a:effectLst/>
                        </a:rPr>
                        <a:t>0</a:t>
                      </a:r>
                      <a:endParaRPr lang="en-CA" sz="1500">
                        <a:effectLst/>
                        <a:latin typeface="Google Sans Text"/>
                      </a:endParaRPr>
                    </a:p>
                  </a:txBody>
                  <a:tcPr marL="114300" marR="114300" marT="76200" marB="76200" anchor="ctr"/>
                </a:tc>
                <a:tc>
                  <a:txBody>
                    <a:bodyPr/>
                    <a:lstStyle/>
                    <a:p>
                      <a:pPr>
                        <a:spcAft>
                          <a:spcPts val="2400"/>
                        </a:spcAft>
                        <a:buNone/>
                      </a:pPr>
                      <a:r>
                        <a:rPr lang="en-CA" sz="1500" dirty="0">
                          <a:effectLst/>
                        </a:rPr>
                        <a:t>0</a:t>
                      </a:r>
                      <a:endParaRPr lang="en-CA" sz="1500" dirty="0">
                        <a:effectLst/>
                        <a:latin typeface="Google Sans Text"/>
                      </a:endParaRPr>
                    </a:p>
                  </a:txBody>
                  <a:tcPr marL="114300" marR="114300" marT="76200" marB="76200" anchor="ctr"/>
                </a:tc>
                <a:tc>
                  <a:txBody>
                    <a:bodyPr/>
                    <a:lstStyle/>
                    <a:p>
                      <a:pPr>
                        <a:spcAft>
                          <a:spcPts val="2400"/>
                        </a:spcAft>
                        <a:buNone/>
                      </a:pPr>
                      <a:r>
                        <a:rPr lang="en-CA" sz="1500">
                          <a:effectLst/>
                        </a:rPr>
                        <a:t>—</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5</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-5</a:t>
                      </a:r>
                      <a:endParaRPr lang="en-CA" sz="1500">
                        <a:effectLst/>
                        <a:latin typeface="Google Sans Text"/>
                      </a:endParaRPr>
                    </a:p>
                  </a:txBody>
                  <a:tcPr marL="114300" marR="114300" marT="76200" marB="76200" anchor="ctr"/>
                </a:tc>
                <a:extLst>
                  <a:ext uri="{0D108BD9-81ED-4DB2-BD59-A6C34878D82A}">
                    <a16:rowId xmlns:a16="http://schemas.microsoft.com/office/drawing/2014/main" val="3777938783"/>
                  </a:ext>
                </a:extLst>
              </a:tr>
              <a:tr h="411162">
                <a:tc>
                  <a:txBody>
                    <a:bodyPr/>
                    <a:lstStyle/>
                    <a:p>
                      <a:pPr>
                        <a:spcAft>
                          <a:spcPts val="2400"/>
                        </a:spcAft>
                        <a:buNone/>
                      </a:pPr>
                      <a:r>
                        <a:rPr lang="en-CA" sz="1500" b="1">
                          <a:effectLst/>
                        </a:rPr>
                        <a:t>1</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18</a:t>
                      </a:r>
                      <a:endParaRPr lang="en-CA" sz="1500">
                        <a:effectLst/>
                        <a:latin typeface="Google Sans Text"/>
                      </a:endParaRPr>
                    </a:p>
                  </a:txBody>
                  <a:tcPr marL="114300" marR="114300" marT="76200" marB="76200" anchor="ctr"/>
                </a:tc>
                <a:tc>
                  <a:txBody>
                    <a:bodyPr/>
                    <a:lstStyle/>
                    <a:p>
                      <a:pPr>
                        <a:spcAft>
                          <a:spcPts val="2400"/>
                        </a:spcAft>
                        <a:buNone/>
                      </a:pPr>
                      <a:r>
                        <a:rPr lang="en-CA" sz="1500" dirty="0">
                          <a:effectLst/>
                        </a:rPr>
                        <a:t>18</a:t>
                      </a:r>
                      <a:endParaRPr lang="en-CA" sz="1500" dirty="0">
                        <a:effectLst/>
                        <a:latin typeface="Google Sans Text"/>
                      </a:endParaRPr>
                    </a:p>
                  </a:txBody>
                  <a:tcPr marL="114300" marR="114300" marT="76200" marB="76200" anchor="ctr"/>
                </a:tc>
                <a:tc>
                  <a:txBody>
                    <a:bodyPr/>
                    <a:lstStyle/>
                    <a:p>
                      <a:pPr>
                        <a:spcAft>
                          <a:spcPts val="2400"/>
                        </a:spcAft>
                        <a:buNone/>
                      </a:pPr>
                      <a:r>
                        <a:rPr lang="en-CA" sz="1500">
                          <a:effectLst/>
                        </a:rPr>
                        <a:t>10</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5</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8</a:t>
                      </a:r>
                      <a:endParaRPr lang="en-CA" sz="1500">
                        <a:effectLst/>
                        <a:latin typeface="Google Sans Text"/>
                      </a:endParaRPr>
                    </a:p>
                  </a:txBody>
                  <a:tcPr marL="114300" marR="114300" marT="76200" marB="76200" anchor="ctr"/>
                </a:tc>
                <a:extLst>
                  <a:ext uri="{0D108BD9-81ED-4DB2-BD59-A6C34878D82A}">
                    <a16:rowId xmlns:a16="http://schemas.microsoft.com/office/drawing/2014/main" val="1678529937"/>
                  </a:ext>
                </a:extLst>
              </a:tr>
              <a:tr h="411162">
                <a:tc>
                  <a:txBody>
                    <a:bodyPr/>
                    <a:lstStyle/>
                    <a:p>
                      <a:pPr>
                        <a:spcAft>
                          <a:spcPts val="2400"/>
                        </a:spcAft>
                        <a:buNone/>
                      </a:pPr>
                      <a:r>
                        <a:rPr lang="en-CA" sz="1500" b="1">
                          <a:effectLst/>
                        </a:rPr>
                        <a:t>2</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32</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14</a:t>
                      </a:r>
                      <a:endParaRPr lang="en-CA" sz="1500">
                        <a:effectLst/>
                        <a:latin typeface="Google Sans Text"/>
                      </a:endParaRPr>
                    </a:p>
                  </a:txBody>
                  <a:tcPr marL="114300" marR="114300" marT="76200" marB="76200" anchor="ctr"/>
                </a:tc>
                <a:tc>
                  <a:txBody>
                    <a:bodyPr/>
                    <a:lstStyle/>
                    <a:p>
                      <a:pPr>
                        <a:spcAft>
                          <a:spcPts val="2400"/>
                        </a:spcAft>
                        <a:buNone/>
                      </a:pPr>
                      <a:r>
                        <a:rPr lang="en-CA" sz="1500" dirty="0">
                          <a:effectLst/>
                        </a:rPr>
                        <a:t>17</a:t>
                      </a:r>
                      <a:endParaRPr lang="en-CA" sz="1500" dirty="0">
                        <a:effectLst/>
                        <a:latin typeface="Google Sans Text"/>
                      </a:endParaRPr>
                    </a:p>
                  </a:txBody>
                  <a:tcPr marL="114300" marR="114300" marT="76200" marB="76200" anchor="ctr"/>
                </a:tc>
                <a:tc>
                  <a:txBody>
                    <a:bodyPr/>
                    <a:lstStyle/>
                    <a:p>
                      <a:pPr>
                        <a:spcAft>
                          <a:spcPts val="2400"/>
                        </a:spcAft>
                        <a:buNone/>
                      </a:pPr>
                      <a:r>
                        <a:rPr lang="en-CA" sz="1500">
                          <a:effectLst/>
                        </a:rPr>
                        <a:t>7</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15</a:t>
                      </a:r>
                      <a:endParaRPr lang="en-CA" sz="1500">
                        <a:effectLst/>
                        <a:latin typeface="Google Sans Text"/>
                      </a:endParaRPr>
                    </a:p>
                  </a:txBody>
                  <a:tcPr marL="114300" marR="114300" marT="76200" marB="76200" anchor="ctr"/>
                </a:tc>
                <a:extLst>
                  <a:ext uri="{0D108BD9-81ED-4DB2-BD59-A6C34878D82A}">
                    <a16:rowId xmlns:a16="http://schemas.microsoft.com/office/drawing/2014/main" val="2117517914"/>
                  </a:ext>
                </a:extLst>
              </a:tr>
              <a:tr h="411162">
                <a:tc>
                  <a:txBody>
                    <a:bodyPr/>
                    <a:lstStyle/>
                    <a:p>
                      <a:pPr>
                        <a:spcAft>
                          <a:spcPts val="2400"/>
                        </a:spcAft>
                        <a:buNone/>
                      </a:pPr>
                      <a:r>
                        <a:rPr lang="en-CA" sz="1500" b="1" dirty="0">
                          <a:effectLst/>
                        </a:rPr>
                        <a:t>3</a:t>
                      </a:r>
                      <a:endParaRPr lang="en-CA" sz="1500" b="1" dirty="0">
                        <a:effectLst/>
                        <a:latin typeface="Google Sans Text"/>
                      </a:endParaRPr>
                    </a:p>
                  </a:txBody>
                  <a:tcPr marL="114300" marR="114300" marT="76200" marB="76200" anchor="ctr"/>
                </a:tc>
                <a:tc>
                  <a:txBody>
                    <a:bodyPr/>
                    <a:lstStyle/>
                    <a:p>
                      <a:pPr>
                        <a:spcAft>
                          <a:spcPts val="2400"/>
                        </a:spcAft>
                        <a:buNone/>
                      </a:pPr>
                      <a:r>
                        <a:rPr lang="en-CA" sz="1500" b="0" dirty="0">
                          <a:effectLst/>
                        </a:rPr>
                        <a:t>42</a:t>
                      </a:r>
                      <a:endParaRPr lang="en-CA" sz="1500" b="0" dirty="0">
                        <a:effectLst/>
                        <a:latin typeface="Google Sans Text"/>
                      </a:endParaRPr>
                    </a:p>
                  </a:txBody>
                  <a:tcPr marL="114300" marR="114300" marT="76200" marB="76200" anchor="ctr"/>
                </a:tc>
                <a:tc>
                  <a:txBody>
                    <a:bodyPr/>
                    <a:lstStyle/>
                    <a:p>
                      <a:pPr>
                        <a:spcAft>
                          <a:spcPts val="2400"/>
                        </a:spcAft>
                        <a:buNone/>
                      </a:pPr>
                      <a:r>
                        <a:rPr lang="en-CA" sz="1500" b="0">
                          <a:effectLst/>
                        </a:rPr>
                        <a:t>10</a:t>
                      </a:r>
                      <a:endParaRPr lang="en-CA" sz="1500" b="0">
                        <a:effectLst/>
                        <a:latin typeface="Google Sans Text"/>
                      </a:endParaRPr>
                    </a:p>
                  </a:txBody>
                  <a:tcPr marL="114300" marR="114300" marT="76200" marB="76200" anchor="ctr"/>
                </a:tc>
                <a:tc>
                  <a:txBody>
                    <a:bodyPr/>
                    <a:lstStyle/>
                    <a:p>
                      <a:pPr>
                        <a:spcAft>
                          <a:spcPts val="2400"/>
                        </a:spcAft>
                        <a:buNone/>
                      </a:pPr>
                      <a:r>
                        <a:rPr lang="en-CA" sz="1500" b="0" dirty="0">
                          <a:effectLst/>
                        </a:rPr>
                        <a:t>26</a:t>
                      </a:r>
                      <a:endParaRPr lang="en-CA" sz="1500" b="0" dirty="0">
                        <a:effectLst/>
                        <a:latin typeface="Google Sans Text"/>
                      </a:endParaRPr>
                    </a:p>
                  </a:txBody>
                  <a:tcPr marL="114300" marR="114300" marT="76200" marB="76200" anchor="ctr"/>
                </a:tc>
                <a:tc>
                  <a:txBody>
                    <a:bodyPr/>
                    <a:lstStyle/>
                    <a:p>
                      <a:pPr>
                        <a:spcAft>
                          <a:spcPts val="2400"/>
                        </a:spcAft>
                        <a:buNone/>
                      </a:pPr>
                      <a:r>
                        <a:rPr lang="en-CA" sz="1500" b="0">
                          <a:effectLst/>
                        </a:rPr>
                        <a:t>9</a:t>
                      </a:r>
                      <a:endParaRPr lang="en-CA" sz="1500" b="0">
                        <a:effectLst/>
                        <a:latin typeface="Google Sans Text"/>
                      </a:endParaRPr>
                    </a:p>
                  </a:txBody>
                  <a:tcPr marL="114300" marR="114300" marT="76200" marB="76200" anchor="ctr"/>
                </a:tc>
                <a:tc>
                  <a:txBody>
                    <a:bodyPr/>
                    <a:lstStyle/>
                    <a:p>
                      <a:pPr>
                        <a:spcAft>
                          <a:spcPts val="2400"/>
                        </a:spcAft>
                        <a:buNone/>
                      </a:pPr>
                      <a:r>
                        <a:rPr lang="en-CA" sz="1500" b="0" dirty="0">
                          <a:effectLst/>
                        </a:rPr>
                        <a:t>16</a:t>
                      </a:r>
                      <a:endParaRPr lang="en-CA" sz="1500" b="0" dirty="0">
                        <a:effectLst/>
                        <a:latin typeface="Google Sans Text"/>
                      </a:endParaRPr>
                    </a:p>
                  </a:txBody>
                  <a:tcPr marL="114300" marR="114300" marT="76200" marB="76200" anchor="ctr"/>
                </a:tc>
                <a:extLst>
                  <a:ext uri="{0D108BD9-81ED-4DB2-BD59-A6C34878D82A}">
                    <a16:rowId xmlns:a16="http://schemas.microsoft.com/office/drawing/2014/main" val="1690189669"/>
                  </a:ext>
                </a:extLst>
              </a:tr>
              <a:tr h="411162">
                <a:tc>
                  <a:txBody>
                    <a:bodyPr/>
                    <a:lstStyle/>
                    <a:p>
                      <a:pPr>
                        <a:spcAft>
                          <a:spcPts val="2400"/>
                        </a:spcAft>
                        <a:buNone/>
                      </a:pPr>
                      <a:r>
                        <a:rPr lang="en-CA" sz="1500" b="1">
                          <a:effectLst/>
                        </a:rPr>
                        <a:t>4</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48</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6</a:t>
                      </a:r>
                      <a:endParaRPr lang="en-CA" sz="1500">
                        <a:effectLst/>
                        <a:latin typeface="Google Sans Text"/>
                      </a:endParaRPr>
                    </a:p>
                  </a:txBody>
                  <a:tcPr marL="114300" marR="114300" marT="76200" marB="76200" anchor="ctr"/>
                </a:tc>
                <a:tc>
                  <a:txBody>
                    <a:bodyPr/>
                    <a:lstStyle/>
                    <a:p>
                      <a:pPr>
                        <a:spcAft>
                          <a:spcPts val="2400"/>
                        </a:spcAft>
                        <a:buNone/>
                      </a:pPr>
                      <a:r>
                        <a:rPr lang="en-CA" sz="1500" dirty="0">
                          <a:effectLst/>
                        </a:rPr>
                        <a:t>37</a:t>
                      </a:r>
                      <a:endParaRPr lang="en-CA" sz="1500" dirty="0">
                        <a:effectLst/>
                        <a:latin typeface="Google Sans Text"/>
                      </a:endParaRPr>
                    </a:p>
                  </a:txBody>
                  <a:tcPr marL="114300" marR="114300" marT="76200" marB="76200" anchor="ctr"/>
                </a:tc>
                <a:tc>
                  <a:txBody>
                    <a:bodyPr/>
                    <a:lstStyle/>
                    <a:p>
                      <a:pPr>
                        <a:spcAft>
                          <a:spcPts val="2400"/>
                        </a:spcAft>
                        <a:buNone/>
                      </a:pPr>
                      <a:r>
                        <a:rPr lang="en-CA" sz="1500">
                          <a:effectLst/>
                        </a:rPr>
                        <a:t>11</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11</a:t>
                      </a:r>
                      <a:endParaRPr lang="en-CA" sz="1500">
                        <a:effectLst/>
                        <a:latin typeface="Google Sans Text"/>
                      </a:endParaRPr>
                    </a:p>
                  </a:txBody>
                  <a:tcPr marL="114300" marR="114300" marT="76200" marB="76200" anchor="ctr"/>
                </a:tc>
                <a:extLst>
                  <a:ext uri="{0D108BD9-81ED-4DB2-BD59-A6C34878D82A}">
                    <a16:rowId xmlns:a16="http://schemas.microsoft.com/office/drawing/2014/main" val="2199208054"/>
                  </a:ext>
                </a:extLst>
              </a:tr>
              <a:tr h="411162">
                <a:tc>
                  <a:txBody>
                    <a:bodyPr/>
                    <a:lstStyle/>
                    <a:p>
                      <a:pPr>
                        <a:spcAft>
                          <a:spcPts val="2400"/>
                        </a:spcAft>
                        <a:buNone/>
                      </a:pPr>
                      <a:r>
                        <a:rPr lang="en-CA" sz="1500" b="1">
                          <a:effectLst/>
                        </a:rPr>
                        <a:t>5</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50</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2</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50</a:t>
                      </a:r>
                      <a:endParaRPr lang="en-CA" sz="1500">
                        <a:effectLst/>
                        <a:latin typeface="Google Sans Text"/>
                      </a:endParaRPr>
                    </a:p>
                  </a:txBody>
                  <a:tcPr marL="114300" marR="114300" marT="76200" marB="76200" anchor="ctr"/>
                </a:tc>
                <a:tc>
                  <a:txBody>
                    <a:bodyPr/>
                    <a:lstStyle/>
                    <a:p>
                      <a:pPr>
                        <a:spcAft>
                          <a:spcPts val="2400"/>
                        </a:spcAft>
                        <a:buNone/>
                      </a:pPr>
                      <a:r>
                        <a:rPr lang="en-CA" sz="1500" dirty="0">
                          <a:effectLst/>
                        </a:rPr>
                        <a:t>13</a:t>
                      </a:r>
                      <a:endParaRPr lang="en-CA" sz="1500" dirty="0">
                        <a:effectLst/>
                        <a:latin typeface="Google Sans Text"/>
                      </a:endParaRPr>
                    </a:p>
                  </a:txBody>
                  <a:tcPr marL="114300" marR="114300" marT="76200" marB="76200" anchor="ctr"/>
                </a:tc>
                <a:tc>
                  <a:txBody>
                    <a:bodyPr/>
                    <a:lstStyle/>
                    <a:p>
                      <a:pPr>
                        <a:spcAft>
                          <a:spcPts val="2400"/>
                        </a:spcAft>
                        <a:buNone/>
                      </a:pPr>
                      <a:r>
                        <a:rPr lang="en-CA" sz="1500">
                          <a:effectLst/>
                        </a:rPr>
                        <a:t>0</a:t>
                      </a:r>
                      <a:endParaRPr lang="en-CA" sz="1500">
                        <a:effectLst/>
                        <a:latin typeface="Google Sans Text"/>
                      </a:endParaRPr>
                    </a:p>
                  </a:txBody>
                  <a:tcPr marL="114300" marR="114300" marT="76200" marB="76200" anchor="ctr"/>
                </a:tc>
                <a:extLst>
                  <a:ext uri="{0D108BD9-81ED-4DB2-BD59-A6C34878D82A}">
                    <a16:rowId xmlns:a16="http://schemas.microsoft.com/office/drawing/2014/main" val="2630981106"/>
                  </a:ext>
                </a:extLst>
              </a:tr>
              <a:tr h="411162">
                <a:tc>
                  <a:txBody>
                    <a:bodyPr/>
                    <a:lstStyle/>
                    <a:p>
                      <a:pPr>
                        <a:spcAft>
                          <a:spcPts val="2400"/>
                        </a:spcAft>
                        <a:buNone/>
                      </a:pPr>
                      <a:r>
                        <a:rPr lang="en-CA" sz="1500" b="1">
                          <a:effectLst/>
                        </a:rPr>
                        <a:t>6</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48</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-2</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65</a:t>
                      </a:r>
                      <a:endParaRPr lang="en-CA" sz="1500">
                        <a:effectLst/>
                        <a:latin typeface="Google Sans Text"/>
                      </a:endParaRPr>
                    </a:p>
                  </a:txBody>
                  <a:tcPr marL="114300" marR="114300" marT="76200" marB="76200" anchor="ctr"/>
                </a:tc>
                <a:tc>
                  <a:txBody>
                    <a:bodyPr/>
                    <a:lstStyle/>
                    <a:p>
                      <a:pPr>
                        <a:spcAft>
                          <a:spcPts val="2400"/>
                        </a:spcAft>
                        <a:buNone/>
                      </a:pPr>
                      <a:r>
                        <a:rPr lang="en-CA" sz="1500" dirty="0">
                          <a:effectLst/>
                        </a:rPr>
                        <a:t>15</a:t>
                      </a:r>
                      <a:endParaRPr lang="en-CA" sz="1500" dirty="0">
                        <a:effectLst/>
                        <a:latin typeface="Google Sans Text"/>
                      </a:endParaRPr>
                    </a:p>
                  </a:txBody>
                  <a:tcPr marL="114300" marR="114300" marT="76200" marB="76200" anchor="ctr"/>
                </a:tc>
                <a:tc>
                  <a:txBody>
                    <a:bodyPr/>
                    <a:lstStyle/>
                    <a:p>
                      <a:pPr>
                        <a:spcAft>
                          <a:spcPts val="2400"/>
                        </a:spcAft>
                        <a:buNone/>
                      </a:pPr>
                      <a:r>
                        <a:rPr lang="en-CA" sz="1500" dirty="0">
                          <a:effectLst/>
                        </a:rPr>
                        <a:t>-17</a:t>
                      </a:r>
                      <a:endParaRPr lang="en-CA" sz="1500" dirty="0">
                        <a:effectLst/>
                        <a:latin typeface="Google Sans Text"/>
                      </a:endParaRPr>
                    </a:p>
                  </a:txBody>
                  <a:tcPr marL="114300" marR="114300" marT="76200" marB="76200" anchor="ctr"/>
                </a:tc>
                <a:extLst>
                  <a:ext uri="{0D108BD9-81ED-4DB2-BD59-A6C34878D82A}">
                    <a16:rowId xmlns:a16="http://schemas.microsoft.com/office/drawing/2014/main" val="4293168125"/>
                  </a:ext>
                </a:extLst>
              </a:tr>
            </a:tbl>
          </a:graphicData>
        </a:graphic>
      </p:graphicFrame>
    </p:spTree>
    <p:extLst>
      <p:ext uri="{BB962C8B-B14F-4D97-AF65-F5344CB8AC3E}">
        <p14:creationId xmlns:p14="http://schemas.microsoft.com/office/powerpoint/2010/main" val="2448865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4507A-82BB-DD0C-4496-E5637FA9E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D09DE-54DE-D0A8-6923-1E0C438BFA39}"/>
              </a:ext>
            </a:extLst>
          </p:cNvPr>
          <p:cNvSpPr>
            <a:spLocks noGrp="1"/>
          </p:cNvSpPr>
          <p:nvPr>
            <p:ph type="title"/>
          </p:nvPr>
        </p:nvSpPr>
        <p:spPr/>
        <p:txBody>
          <a:bodyPr/>
          <a:lstStyle/>
          <a:p>
            <a:r>
              <a:rPr lang="en-US" dirty="0"/>
              <a:t>A Graphic Example of Marginal Analysis</a:t>
            </a:r>
            <a:endParaRPr lang="en-CA" dirty="0"/>
          </a:p>
        </p:txBody>
      </p:sp>
      <p:pic>
        <p:nvPicPr>
          <p:cNvPr id="5" name="Picture 4">
            <a:extLst>
              <a:ext uri="{FF2B5EF4-FFF2-40B4-BE49-F238E27FC236}">
                <a16:creationId xmlns:a16="http://schemas.microsoft.com/office/drawing/2014/main" id="{5DCDA720-A01B-872B-231B-A8CE623522B0}"/>
              </a:ext>
            </a:extLst>
          </p:cNvPr>
          <p:cNvPicPr>
            <a:picLocks noChangeAspect="1"/>
          </p:cNvPicPr>
          <p:nvPr/>
        </p:nvPicPr>
        <p:blipFill>
          <a:blip r:embed="rId2"/>
          <a:stretch>
            <a:fillRect/>
          </a:stretch>
        </p:blipFill>
        <p:spPr>
          <a:xfrm>
            <a:off x="401991" y="1713303"/>
            <a:ext cx="4056888" cy="5144697"/>
          </a:xfrm>
          <a:prstGeom prst="rect">
            <a:avLst/>
          </a:prstGeom>
        </p:spPr>
      </p:pic>
      <p:graphicFrame>
        <p:nvGraphicFramePr>
          <p:cNvPr id="6" name="Table 5">
            <a:extLst>
              <a:ext uri="{FF2B5EF4-FFF2-40B4-BE49-F238E27FC236}">
                <a16:creationId xmlns:a16="http://schemas.microsoft.com/office/drawing/2014/main" id="{6AB35CDD-5C83-D9F4-4F81-0BE9D8D306C4}"/>
              </a:ext>
            </a:extLst>
          </p:cNvPr>
          <p:cNvGraphicFramePr>
            <a:graphicFrameLocks noGrp="1"/>
          </p:cNvGraphicFramePr>
          <p:nvPr>
            <p:extLst>
              <p:ext uri="{D42A27DB-BD31-4B8C-83A1-F6EECF244321}">
                <p14:modId xmlns:p14="http://schemas.microsoft.com/office/powerpoint/2010/main" val="3518958333"/>
              </p:ext>
            </p:extLst>
          </p:nvPr>
        </p:nvGraphicFramePr>
        <p:xfrm>
          <a:off x="4725396" y="1787680"/>
          <a:ext cx="6945396" cy="3716334"/>
        </p:xfrm>
        <a:graphic>
          <a:graphicData uri="http://schemas.openxmlformats.org/drawingml/2006/table">
            <a:tbl>
              <a:tblPr firstRow="1">
                <a:tableStyleId>{8EC20E35-A176-4012-BC5E-935CFFF8708E}</a:tableStyleId>
              </a:tblPr>
              <a:tblGrid>
                <a:gridCol w="1157566">
                  <a:extLst>
                    <a:ext uri="{9D8B030D-6E8A-4147-A177-3AD203B41FA5}">
                      <a16:colId xmlns:a16="http://schemas.microsoft.com/office/drawing/2014/main" val="3185779017"/>
                    </a:ext>
                  </a:extLst>
                </a:gridCol>
                <a:gridCol w="1157566">
                  <a:extLst>
                    <a:ext uri="{9D8B030D-6E8A-4147-A177-3AD203B41FA5}">
                      <a16:colId xmlns:a16="http://schemas.microsoft.com/office/drawing/2014/main" val="3458108621"/>
                    </a:ext>
                  </a:extLst>
                </a:gridCol>
                <a:gridCol w="1157566">
                  <a:extLst>
                    <a:ext uri="{9D8B030D-6E8A-4147-A177-3AD203B41FA5}">
                      <a16:colId xmlns:a16="http://schemas.microsoft.com/office/drawing/2014/main" val="109834448"/>
                    </a:ext>
                  </a:extLst>
                </a:gridCol>
                <a:gridCol w="1157566">
                  <a:extLst>
                    <a:ext uri="{9D8B030D-6E8A-4147-A177-3AD203B41FA5}">
                      <a16:colId xmlns:a16="http://schemas.microsoft.com/office/drawing/2014/main" val="2110163390"/>
                    </a:ext>
                  </a:extLst>
                </a:gridCol>
                <a:gridCol w="1157566">
                  <a:extLst>
                    <a:ext uri="{9D8B030D-6E8A-4147-A177-3AD203B41FA5}">
                      <a16:colId xmlns:a16="http://schemas.microsoft.com/office/drawing/2014/main" val="2791684185"/>
                    </a:ext>
                  </a:extLst>
                </a:gridCol>
                <a:gridCol w="1157566">
                  <a:extLst>
                    <a:ext uri="{9D8B030D-6E8A-4147-A177-3AD203B41FA5}">
                      <a16:colId xmlns:a16="http://schemas.microsoft.com/office/drawing/2014/main" val="3222212346"/>
                    </a:ext>
                  </a:extLst>
                </a:gridCol>
              </a:tblGrid>
              <a:tr h="671930">
                <a:tc>
                  <a:txBody>
                    <a:bodyPr/>
                    <a:lstStyle/>
                    <a:p>
                      <a:pPr>
                        <a:spcAft>
                          <a:spcPts val="2400"/>
                        </a:spcAft>
                        <a:buNone/>
                      </a:pPr>
                      <a:r>
                        <a:rPr lang="en-CA" sz="1500" b="1" dirty="0">
                          <a:effectLst/>
                        </a:rPr>
                        <a:t>Quantity (Q)</a:t>
                      </a:r>
                      <a:endParaRPr lang="en-CA" sz="1500" dirty="0">
                        <a:effectLst/>
                        <a:latin typeface="Google Sans Text"/>
                      </a:endParaRPr>
                    </a:p>
                  </a:txBody>
                  <a:tcPr marL="114300" marR="114300" marT="76200" marB="76200" anchor="ctr"/>
                </a:tc>
                <a:tc>
                  <a:txBody>
                    <a:bodyPr/>
                    <a:lstStyle/>
                    <a:p>
                      <a:pPr>
                        <a:spcAft>
                          <a:spcPts val="2400"/>
                        </a:spcAft>
                        <a:buNone/>
                      </a:pPr>
                      <a:r>
                        <a:rPr lang="en-CA" sz="1500" b="1">
                          <a:effectLst/>
                        </a:rPr>
                        <a:t>Total Benefit (TB)</a:t>
                      </a:r>
                      <a:endParaRPr lang="en-CA" sz="1500">
                        <a:effectLst/>
                        <a:latin typeface="Google Sans Text"/>
                      </a:endParaRPr>
                    </a:p>
                  </a:txBody>
                  <a:tcPr marL="114300" marR="114300" marT="76200" marB="76200" anchor="ctr"/>
                </a:tc>
                <a:tc>
                  <a:txBody>
                    <a:bodyPr/>
                    <a:lstStyle/>
                    <a:p>
                      <a:pPr>
                        <a:spcAft>
                          <a:spcPts val="2400"/>
                        </a:spcAft>
                        <a:buNone/>
                      </a:pPr>
                      <a:r>
                        <a:rPr lang="en-CA" sz="1500" b="1">
                          <a:effectLst/>
                        </a:rPr>
                        <a:t>Marginal Benefit (MB)</a:t>
                      </a:r>
                      <a:endParaRPr lang="en-CA" sz="1500">
                        <a:effectLst/>
                        <a:latin typeface="Google Sans Text"/>
                      </a:endParaRPr>
                    </a:p>
                  </a:txBody>
                  <a:tcPr marL="114300" marR="114300" marT="76200" marB="76200" anchor="ctr"/>
                </a:tc>
                <a:tc>
                  <a:txBody>
                    <a:bodyPr/>
                    <a:lstStyle/>
                    <a:p>
                      <a:pPr>
                        <a:spcAft>
                          <a:spcPts val="2400"/>
                        </a:spcAft>
                        <a:buNone/>
                      </a:pPr>
                      <a:r>
                        <a:rPr lang="en-CA" sz="1500" b="1">
                          <a:effectLst/>
                        </a:rPr>
                        <a:t>Total Cost (TC)</a:t>
                      </a:r>
                      <a:endParaRPr lang="en-CA" sz="1500">
                        <a:effectLst/>
                        <a:latin typeface="Google Sans Text"/>
                      </a:endParaRPr>
                    </a:p>
                  </a:txBody>
                  <a:tcPr marL="114300" marR="114300" marT="76200" marB="76200" anchor="ctr"/>
                </a:tc>
                <a:tc>
                  <a:txBody>
                    <a:bodyPr/>
                    <a:lstStyle/>
                    <a:p>
                      <a:pPr>
                        <a:spcAft>
                          <a:spcPts val="2400"/>
                        </a:spcAft>
                        <a:buNone/>
                      </a:pPr>
                      <a:r>
                        <a:rPr lang="en-CA" sz="1500" b="1">
                          <a:effectLst/>
                        </a:rPr>
                        <a:t>Marginal Cost (MC)</a:t>
                      </a:r>
                      <a:endParaRPr lang="en-CA" sz="1500">
                        <a:effectLst/>
                        <a:latin typeface="Google Sans Text"/>
                      </a:endParaRPr>
                    </a:p>
                  </a:txBody>
                  <a:tcPr marL="114300" marR="114300" marT="76200" marB="76200" anchor="ctr"/>
                </a:tc>
                <a:tc>
                  <a:txBody>
                    <a:bodyPr/>
                    <a:lstStyle/>
                    <a:p>
                      <a:pPr>
                        <a:spcAft>
                          <a:spcPts val="2400"/>
                        </a:spcAft>
                        <a:buNone/>
                      </a:pPr>
                      <a:r>
                        <a:rPr lang="en-CA" sz="1500" b="1" dirty="0">
                          <a:effectLst/>
                        </a:rPr>
                        <a:t>Net Benefit (TB−TC)</a:t>
                      </a:r>
                      <a:endParaRPr lang="en-CA" sz="1500" dirty="0">
                        <a:effectLst/>
                        <a:latin typeface="Google Sans Text"/>
                      </a:endParaRPr>
                    </a:p>
                  </a:txBody>
                  <a:tcPr marL="114300" marR="114300" marT="76200" marB="76200" anchor="ctr"/>
                </a:tc>
                <a:extLst>
                  <a:ext uri="{0D108BD9-81ED-4DB2-BD59-A6C34878D82A}">
                    <a16:rowId xmlns:a16="http://schemas.microsoft.com/office/drawing/2014/main" val="512122685"/>
                  </a:ext>
                </a:extLst>
              </a:tr>
              <a:tr h="411162">
                <a:tc>
                  <a:txBody>
                    <a:bodyPr/>
                    <a:lstStyle/>
                    <a:p>
                      <a:pPr>
                        <a:spcAft>
                          <a:spcPts val="2400"/>
                        </a:spcAft>
                        <a:buNone/>
                      </a:pPr>
                      <a:r>
                        <a:rPr lang="en-CA" sz="1500" b="1">
                          <a:effectLst/>
                        </a:rPr>
                        <a:t>0</a:t>
                      </a:r>
                      <a:endParaRPr lang="en-CA" sz="1500">
                        <a:effectLst/>
                        <a:latin typeface="Google Sans Text"/>
                      </a:endParaRPr>
                    </a:p>
                  </a:txBody>
                  <a:tcPr marL="114300" marR="114300" marT="76200" marB="76200" anchor="ctr"/>
                </a:tc>
                <a:tc>
                  <a:txBody>
                    <a:bodyPr/>
                    <a:lstStyle/>
                    <a:p>
                      <a:pPr>
                        <a:spcAft>
                          <a:spcPts val="2400"/>
                        </a:spcAft>
                        <a:buNone/>
                      </a:pPr>
                      <a:r>
                        <a:rPr lang="en-CA" sz="1500" dirty="0">
                          <a:effectLst/>
                        </a:rPr>
                        <a:t>0</a:t>
                      </a:r>
                      <a:endParaRPr lang="en-CA" sz="1500" dirty="0">
                        <a:effectLst/>
                        <a:latin typeface="Google Sans Text"/>
                      </a:endParaRPr>
                    </a:p>
                  </a:txBody>
                  <a:tcPr marL="114300" marR="114300" marT="76200" marB="76200" anchor="ctr"/>
                </a:tc>
                <a:tc>
                  <a:txBody>
                    <a:bodyPr/>
                    <a:lstStyle/>
                    <a:p>
                      <a:pPr>
                        <a:spcAft>
                          <a:spcPts val="2400"/>
                        </a:spcAft>
                        <a:buNone/>
                      </a:pPr>
                      <a:r>
                        <a:rPr lang="en-CA" sz="1500">
                          <a:effectLst/>
                        </a:rPr>
                        <a:t>—</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5</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-5</a:t>
                      </a:r>
                      <a:endParaRPr lang="en-CA" sz="1500">
                        <a:effectLst/>
                        <a:latin typeface="Google Sans Text"/>
                      </a:endParaRPr>
                    </a:p>
                  </a:txBody>
                  <a:tcPr marL="114300" marR="114300" marT="76200" marB="76200" anchor="ctr"/>
                </a:tc>
                <a:extLst>
                  <a:ext uri="{0D108BD9-81ED-4DB2-BD59-A6C34878D82A}">
                    <a16:rowId xmlns:a16="http://schemas.microsoft.com/office/drawing/2014/main" val="3777938783"/>
                  </a:ext>
                </a:extLst>
              </a:tr>
              <a:tr h="411162">
                <a:tc>
                  <a:txBody>
                    <a:bodyPr/>
                    <a:lstStyle/>
                    <a:p>
                      <a:pPr>
                        <a:spcAft>
                          <a:spcPts val="2400"/>
                        </a:spcAft>
                        <a:buNone/>
                      </a:pPr>
                      <a:r>
                        <a:rPr lang="en-CA" sz="1500" b="1">
                          <a:effectLst/>
                        </a:rPr>
                        <a:t>1</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18</a:t>
                      </a:r>
                      <a:endParaRPr lang="en-CA" sz="1500">
                        <a:effectLst/>
                        <a:latin typeface="Google Sans Text"/>
                      </a:endParaRPr>
                    </a:p>
                  </a:txBody>
                  <a:tcPr marL="114300" marR="114300" marT="76200" marB="76200" anchor="ctr"/>
                </a:tc>
                <a:tc>
                  <a:txBody>
                    <a:bodyPr/>
                    <a:lstStyle/>
                    <a:p>
                      <a:pPr>
                        <a:spcAft>
                          <a:spcPts val="2400"/>
                        </a:spcAft>
                        <a:buNone/>
                      </a:pPr>
                      <a:r>
                        <a:rPr lang="en-CA" sz="1500" dirty="0">
                          <a:effectLst/>
                        </a:rPr>
                        <a:t>18</a:t>
                      </a:r>
                      <a:endParaRPr lang="en-CA" sz="1500" dirty="0">
                        <a:effectLst/>
                        <a:latin typeface="Google Sans Text"/>
                      </a:endParaRPr>
                    </a:p>
                  </a:txBody>
                  <a:tcPr marL="114300" marR="114300" marT="76200" marB="76200" anchor="ctr"/>
                </a:tc>
                <a:tc>
                  <a:txBody>
                    <a:bodyPr/>
                    <a:lstStyle/>
                    <a:p>
                      <a:pPr>
                        <a:spcAft>
                          <a:spcPts val="2400"/>
                        </a:spcAft>
                        <a:buNone/>
                      </a:pPr>
                      <a:r>
                        <a:rPr lang="en-CA" sz="1500">
                          <a:effectLst/>
                        </a:rPr>
                        <a:t>10</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5</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8</a:t>
                      </a:r>
                      <a:endParaRPr lang="en-CA" sz="1500">
                        <a:effectLst/>
                        <a:latin typeface="Google Sans Text"/>
                      </a:endParaRPr>
                    </a:p>
                  </a:txBody>
                  <a:tcPr marL="114300" marR="114300" marT="76200" marB="76200" anchor="ctr"/>
                </a:tc>
                <a:extLst>
                  <a:ext uri="{0D108BD9-81ED-4DB2-BD59-A6C34878D82A}">
                    <a16:rowId xmlns:a16="http://schemas.microsoft.com/office/drawing/2014/main" val="1678529937"/>
                  </a:ext>
                </a:extLst>
              </a:tr>
              <a:tr h="411162">
                <a:tc>
                  <a:txBody>
                    <a:bodyPr/>
                    <a:lstStyle/>
                    <a:p>
                      <a:pPr>
                        <a:spcAft>
                          <a:spcPts val="2400"/>
                        </a:spcAft>
                        <a:buNone/>
                      </a:pPr>
                      <a:r>
                        <a:rPr lang="en-CA" sz="1500" b="1">
                          <a:effectLst/>
                        </a:rPr>
                        <a:t>2</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32</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14</a:t>
                      </a:r>
                      <a:endParaRPr lang="en-CA" sz="1500">
                        <a:effectLst/>
                        <a:latin typeface="Google Sans Text"/>
                      </a:endParaRPr>
                    </a:p>
                  </a:txBody>
                  <a:tcPr marL="114300" marR="114300" marT="76200" marB="76200" anchor="ctr"/>
                </a:tc>
                <a:tc>
                  <a:txBody>
                    <a:bodyPr/>
                    <a:lstStyle/>
                    <a:p>
                      <a:pPr>
                        <a:spcAft>
                          <a:spcPts val="2400"/>
                        </a:spcAft>
                        <a:buNone/>
                      </a:pPr>
                      <a:r>
                        <a:rPr lang="en-CA" sz="1500" dirty="0">
                          <a:effectLst/>
                        </a:rPr>
                        <a:t>17</a:t>
                      </a:r>
                      <a:endParaRPr lang="en-CA" sz="1500" dirty="0">
                        <a:effectLst/>
                        <a:latin typeface="Google Sans Text"/>
                      </a:endParaRPr>
                    </a:p>
                  </a:txBody>
                  <a:tcPr marL="114300" marR="114300" marT="76200" marB="76200" anchor="ctr"/>
                </a:tc>
                <a:tc>
                  <a:txBody>
                    <a:bodyPr/>
                    <a:lstStyle/>
                    <a:p>
                      <a:pPr>
                        <a:spcAft>
                          <a:spcPts val="2400"/>
                        </a:spcAft>
                        <a:buNone/>
                      </a:pPr>
                      <a:r>
                        <a:rPr lang="en-CA" sz="1500">
                          <a:effectLst/>
                        </a:rPr>
                        <a:t>7</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15</a:t>
                      </a:r>
                      <a:endParaRPr lang="en-CA" sz="1500">
                        <a:effectLst/>
                        <a:latin typeface="Google Sans Text"/>
                      </a:endParaRPr>
                    </a:p>
                  </a:txBody>
                  <a:tcPr marL="114300" marR="114300" marT="76200" marB="76200" anchor="ctr"/>
                </a:tc>
                <a:extLst>
                  <a:ext uri="{0D108BD9-81ED-4DB2-BD59-A6C34878D82A}">
                    <a16:rowId xmlns:a16="http://schemas.microsoft.com/office/drawing/2014/main" val="2117517914"/>
                  </a:ext>
                </a:extLst>
              </a:tr>
              <a:tr h="411162">
                <a:tc>
                  <a:txBody>
                    <a:bodyPr/>
                    <a:lstStyle/>
                    <a:p>
                      <a:pPr>
                        <a:spcAft>
                          <a:spcPts val="2400"/>
                        </a:spcAft>
                        <a:buNone/>
                      </a:pPr>
                      <a:r>
                        <a:rPr lang="en-CA" sz="1500" b="1" dirty="0">
                          <a:effectLst/>
                        </a:rPr>
                        <a:t>3</a:t>
                      </a:r>
                      <a:endParaRPr lang="en-CA" sz="1500" b="1" dirty="0">
                        <a:effectLst/>
                        <a:latin typeface="Google Sans Text"/>
                      </a:endParaRPr>
                    </a:p>
                  </a:txBody>
                  <a:tcPr marL="114300" marR="114300" marT="76200" marB="76200" anchor="ctr">
                    <a:solidFill>
                      <a:srgbClr val="FFFF00"/>
                    </a:solidFill>
                  </a:tcPr>
                </a:tc>
                <a:tc>
                  <a:txBody>
                    <a:bodyPr/>
                    <a:lstStyle/>
                    <a:p>
                      <a:pPr>
                        <a:spcAft>
                          <a:spcPts val="2400"/>
                        </a:spcAft>
                        <a:buNone/>
                      </a:pPr>
                      <a:r>
                        <a:rPr lang="en-CA" sz="1500" b="0" dirty="0">
                          <a:effectLst/>
                        </a:rPr>
                        <a:t>42</a:t>
                      </a:r>
                      <a:endParaRPr lang="en-CA" sz="1500" b="0" dirty="0">
                        <a:effectLst/>
                        <a:latin typeface="Google Sans Text"/>
                      </a:endParaRPr>
                    </a:p>
                  </a:txBody>
                  <a:tcPr marL="114300" marR="114300" marT="76200" marB="76200" anchor="ctr">
                    <a:solidFill>
                      <a:srgbClr val="FFFF00"/>
                    </a:solidFill>
                  </a:tcPr>
                </a:tc>
                <a:tc>
                  <a:txBody>
                    <a:bodyPr/>
                    <a:lstStyle/>
                    <a:p>
                      <a:pPr>
                        <a:spcAft>
                          <a:spcPts val="2400"/>
                        </a:spcAft>
                        <a:buNone/>
                      </a:pPr>
                      <a:r>
                        <a:rPr lang="en-CA" sz="1500" b="0" dirty="0">
                          <a:effectLst/>
                        </a:rPr>
                        <a:t>10</a:t>
                      </a:r>
                      <a:endParaRPr lang="en-CA" sz="1500" b="0" dirty="0">
                        <a:effectLst/>
                        <a:latin typeface="Google Sans Text"/>
                      </a:endParaRPr>
                    </a:p>
                  </a:txBody>
                  <a:tcPr marL="114300" marR="114300" marT="76200" marB="76200" anchor="ctr">
                    <a:solidFill>
                      <a:srgbClr val="FFFF00"/>
                    </a:solidFill>
                  </a:tcPr>
                </a:tc>
                <a:tc>
                  <a:txBody>
                    <a:bodyPr/>
                    <a:lstStyle/>
                    <a:p>
                      <a:pPr>
                        <a:spcAft>
                          <a:spcPts val="2400"/>
                        </a:spcAft>
                        <a:buNone/>
                      </a:pPr>
                      <a:r>
                        <a:rPr lang="en-CA" sz="1500" b="0" dirty="0">
                          <a:effectLst/>
                        </a:rPr>
                        <a:t>26</a:t>
                      </a:r>
                      <a:endParaRPr lang="en-CA" sz="1500" b="0" dirty="0">
                        <a:effectLst/>
                        <a:latin typeface="Google Sans Text"/>
                      </a:endParaRPr>
                    </a:p>
                  </a:txBody>
                  <a:tcPr marL="114300" marR="114300" marT="76200" marB="76200" anchor="ctr">
                    <a:solidFill>
                      <a:srgbClr val="FFFF00"/>
                    </a:solidFill>
                  </a:tcPr>
                </a:tc>
                <a:tc>
                  <a:txBody>
                    <a:bodyPr/>
                    <a:lstStyle/>
                    <a:p>
                      <a:pPr>
                        <a:spcAft>
                          <a:spcPts val="2400"/>
                        </a:spcAft>
                        <a:buNone/>
                      </a:pPr>
                      <a:r>
                        <a:rPr lang="en-CA" sz="1500" b="0" dirty="0">
                          <a:effectLst/>
                        </a:rPr>
                        <a:t>9</a:t>
                      </a:r>
                      <a:endParaRPr lang="en-CA" sz="1500" b="0" dirty="0">
                        <a:effectLst/>
                        <a:latin typeface="Google Sans Text"/>
                      </a:endParaRPr>
                    </a:p>
                  </a:txBody>
                  <a:tcPr marL="114300" marR="114300" marT="76200" marB="76200" anchor="ctr">
                    <a:solidFill>
                      <a:srgbClr val="FFFF00"/>
                    </a:solidFill>
                  </a:tcPr>
                </a:tc>
                <a:tc>
                  <a:txBody>
                    <a:bodyPr/>
                    <a:lstStyle/>
                    <a:p>
                      <a:pPr>
                        <a:spcAft>
                          <a:spcPts val="2400"/>
                        </a:spcAft>
                        <a:buNone/>
                      </a:pPr>
                      <a:r>
                        <a:rPr lang="en-CA" sz="1500" b="0" dirty="0">
                          <a:effectLst/>
                        </a:rPr>
                        <a:t>16 (Max)</a:t>
                      </a:r>
                      <a:endParaRPr lang="en-CA" sz="1500" b="0" dirty="0">
                        <a:effectLst/>
                        <a:latin typeface="Google Sans Text"/>
                      </a:endParaRPr>
                    </a:p>
                  </a:txBody>
                  <a:tcPr marL="114300" marR="114300" marT="76200" marB="76200" anchor="ctr">
                    <a:solidFill>
                      <a:srgbClr val="FFFF00"/>
                    </a:solidFill>
                  </a:tcPr>
                </a:tc>
                <a:extLst>
                  <a:ext uri="{0D108BD9-81ED-4DB2-BD59-A6C34878D82A}">
                    <a16:rowId xmlns:a16="http://schemas.microsoft.com/office/drawing/2014/main" val="1690189669"/>
                  </a:ext>
                </a:extLst>
              </a:tr>
              <a:tr h="411162">
                <a:tc>
                  <a:txBody>
                    <a:bodyPr/>
                    <a:lstStyle/>
                    <a:p>
                      <a:pPr>
                        <a:spcAft>
                          <a:spcPts val="2400"/>
                        </a:spcAft>
                        <a:buNone/>
                      </a:pPr>
                      <a:r>
                        <a:rPr lang="en-CA" sz="1500" b="1">
                          <a:effectLst/>
                        </a:rPr>
                        <a:t>4</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48</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6</a:t>
                      </a:r>
                      <a:endParaRPr lang="en-CA" sz="1500">
                        <a:effectLst/>
                        <a:latin typeface="Google Sans Text"/>
                      </a:endParaRPr>
                    </a:p>
                  </a:txBody>
                  <a:tcPr marL="114300" marR="114300" marT="76200" marB="76200" anchor="ctr"/>
                </a:tc>
                <a:tc>
                  <a:txBody>
                    <a:bodyPr/>
                    <a:lstStyle/>
                    <a:p>
                      <a:pPr>
                        <a:spcAft>
                          <a:spcPts val="2400"/>
                        </a:spcAft>
                        <a:buNone/>
                      </a:pPr>
                      <a:r>
                        <a:rPr lang="en-CA" sz="1500" dirty="0">
                          <a:effectLst/>
                        </a:rPr>
                        <a:t>37</a:t>
                      </a:r>
                      <a:endParaRPr lang="en-CA" sz="1500" dirty="0">
                        <a:effectLst/>
                        <a:latin typeface="Google Sans Text"/>
                      </a:endParaRPr>
                    </a:p>
                  </a:txBody>
                  <a:tcPr marL="114300" marR="114300" marT="76200" marB="76200" anchor="ctr"/>
                </a:tc>
                <a:tc>
                  <a:txBody>
                    <a:bodyPr/>
                    <a:lstStyle/>
                    <a:p>
                      <a:pPr>
                        <a:spcAft>
                          <a:spcPts val="2400"/>
                        </a:spcAft>
                        <a:buNone/>
                      </a:pPr>
                      <a:r>
                        <a:rPr lang="en-CA" sz="1500">
                          <a:effectLst/>
                        </a:rPr>
                        <a:t>11</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11</a:t>
                      </a:r>
                      <a:endParaRPr lang="en-CA" sz="1500">
                        <a:effectLst/>
                        <a:latin typeface="Google Sans Text"/>
                      </a:endParaRPr>
                    </a:p>
                  </a:txBody>
                  <a:tcPr marL="114300" marR="114300" marT="76200" marB="76200" anchor="ctr"/>
                </a:tc>
                <a:extLst>
                  <a:ext uri="{0D108BD9-81ED-4DB2-BD59-A6C34878D82A}">
                    <a16:rowId xmlns:a16="http://schemas.microsoft.com/office/drawing/2014/main" val="2199208054"/>
                  </a:ext>
                </a:extLst>
              </a:tr>
              <a:tr h="411162">
                <a:tc>
                  <a:txBody>
                    <a:bodyPr/>
                    <a:lstStyle/>
                    <a:p>
                      <a:pPr>
                        <a:spcAft>
                          <a:spcPts val="2400"/>
                        </a:spcAft>
                        <a:buNone/>
                      </a:pPr>
                      <a:r>
                        <a:rPr lang="en-CA" sz="1500" b="1">
                          <a:effectLst/>
                        </a:rPr>
                        <a:t>5</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50</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2</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50</a:t>
                      </a:r>
                      <a:endParaRPr lang="en-CA" sz="1500">
                        <a:effectLst/>
                        <a:latin typeface="Google Sans Text"/>
                      </a:endParaRPr>
                    </a:p>
                  </a:txBody>
                  <a:tcPr marL="114300" marR="114300" marT="76200" marB="76200" anchor="ctr"/>
                </a:tc>
                <a:tc>
                  <a:txBody>
                    <a:bodyPr/>
                    <a:lstStyle/>
                    <a:p>
                      <a:pPr>
                        <a:spcAft>
                          <a:spcPts val="2400"/>
                        </a:spcAft>
                        <a:buNone/>
                      </a:pPr>
                      <a:r>
                        <a:rPr lang="en-CA" sz="1500" dirty="0">
                          <a:effectLst/>
                        </a:rPr>
                        <a:t>13</a:t>
                      </a:r>
                      <a:endParaRPr lang="en-CA" sz="1500" dirty="0">
                        <a:effectLst/>
                        <a:latin typeface="Google Sans Text"/>
                      </a:endParaRPr>
                    </a:p>
                  </a:txBody>
                  <a:tcPr marL="114300" marR="114300" marT="76200" marB="76200" anchor="ctr"/>
                </a:tc>
                <a:tc>
                  <a:txBody>
                    <a:bodyPr/>
                    <a:lstStyle/>
                    <a:p>
                      <a:pPr>
                        <a:spcAft>
                          <a:spcPts val="2400"/>
                        </a:spcAft>
                        <a:buNone/>
                      </a:pPr>
                      <a:r>
                        <a:rPr lang="en-CA" sz="1500">
                          <a:effectLst/>
                        </a:rPr>
                        <a:t>0</a:t>
                      </a:r>
                      <a:endParaRPr lang="en-CA" sz="1500">
                        <a:effectLst/>
                        <a:latin typeface="Google Sans Text"/>
                      </a:endParaRPr>
                    </a:p>
                  </a:txBody>
                  <a:tcPr marL="114300" marR="114300" marT="76200" marB="76200" anchor="ctr"/>
                </a:tc>
                <a:extLst>
                  <a:ext uri="{0D108BD9-81ED-4DB2-BD59-A6C34878D82A}">
                    <a16:rowId xmlns:a16="http://schemas.microsoft.com/office/drawing/2014/main" val="2630981106"/>
                  </a:ext>
                </a:extLst>
              </a:tr>
              <a:tr h="411162">
                <a:tc>
                  <a:txBody>
                    <a:bodyPr/>
                    <a:lstStyle/>
                    <a:p>
                      <a:pPr>
                        <a:spcAft>
                          <a:spcPts val="2400"/>
                        </a:spcAft>
                        <a:buNone/>
                      </a:pPr>
                      <a:r>
                        <a:rPr lang="en-CA" sz="1500" b="1">
                          <a:effectLst/>
                        </a:rPr>
                        <a:t>6</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48</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-2</a:t>
                      </a:r>
                      <a:endParaRPr lang="en-CA" sz="1500">
                        <a:effectLst/>
                        <a:latin typeface="Google Sans Text"/>
                      </a:endParaRPr>
                    </a:p>
                  </a:txBody>
                  <a:tcPr marL="114300" marR="114300" marT="76200" marB="76200" anchor="ctr"/>
                </a:tc>
                <a:tc>
                  <a:txBody>
                    <a:bodyPr/>
                    <a:lstStyle/>
                    <a:p>
                      <a:pPr>
                        <a:spcAft>
                          <a:spcPts val="2400"/>
                        </a:spcAft>
                        <a:buNone/>
                      </a:pPr>
                      <a:r>
                        <a:rPr lang="en-CA" sz="1500">
                          <a:effectLst/>
                        </a:rPr>
                        <a:t>65</a:t>
                      </a:r>
                      <a:endParaRPr lang="en-CA" sz="1500">
                        <a:effectLst/>
                        <a:latin typeface="Google Sans Text"/>
                      </a:endParaRPr>
                    </a:p>
                  </a:txBody>
                  <a:tcPr marL="114300" marR="114300" marT="76200" marB="76200" anchor="ctr"/>
                </a:tc>
                <a:tc>
                  <a:txBody>
                    <a:bodyPr/>
                    <a:lstStyle/>
                    <a:p>
                      <a:pPr>
                        <a:spcAft>
                          <a:spcPts val="2400"/>
                        </a:spcAft>
                        <a:buNone/>
                      </a:pPr>
                      <a:r>
                        <a:rPr lang="en-CA" sz="1500" dirty="0">
                          <a:effectLst/>
                        </a:rPr>
                        <a:t>15</a:t>
                      </a:r>
                      <a:endParaRPr lang="en-CA" sz="1500" dirty="0">
                        <a:effectLst/>
                        <a:latin typeface="Google Sans Text"/>
                      </a:endParaRPr>
                    </a:p>
                  </a:txBody>
                  <a:tcPr marL="114300" marR="114300" marT="76200" marB="76200" anchor="ctr"/>
                </a:tc>
                <a:tc>
                  <a:txBody>
                    <a:bodyPr/>
                    <a:lstStyle/>
                    <a:p>
                      <a:pPr>
                        <a:spcAft>
                          <a:spcPts val="2400"/>
                        </a:spcAft>
                        <a:buNone/>
                      </a:pPr>
                      <a:r>
                        <a:rPr lang="en-CA" sz="1500" dirty="0">
                          <a:effectLst/>
                        </a:rPr>
                        <a:t>-17</a:t>
                      </a:r>
                      <a:endParaRPr lang="en-CA" sz="1500" dirty="0">
                        <a:effectLst/>
                        <a:latin typeface="Google Sans Text"/>
                      </a:endParaRPr>
                    </a:p>
                  </a:txBody>
                  <a:tcPr marL="114300" marR="114300" marT="76200" marB="76200" anchor="ctr"/>
                </a:tc>
                <a:extLst>
                  <a:ext uri="{0D108BD9-81ED-4DB2-BD59-A6C34878D82A}">
                    <a16:rowId xmlns:a16="http://schemas.microsoft.com/office/drawing/2014/main" val="4293168125"/>
                  </a:ext>
                </a:extLst>
              </a:tr>
            </a:tbl>
          </a:graphicData>
        </a:graphic>
      </p:graphicFrame>
      <p:cxnSp>
        <p:nvCxnSpPr>
          <p:cNvPr id="4" name="Straight Connector 3">
            <a:extLst>
              <a:ext uri="{FF2B5EF4-FFF2-40B4-BE49-F238E27FC236}">
                <a16:creationId xmlns:a16="http://schemas.microsoft.com/office/drawing/2014/main" id="{B8AB7F6F-BDF4-C098-D5BB-B6DC821ACA33}"/>
              </a:ext>
            </a:extLst>
          </p:cNvPr>
          <p:cNvCxnSpPr/>
          <p:nvPr/>
        </p:nvCxnSpPr>
        <p:spPr>
          <a:xfrm>
            <a:off x="2564090" y="2564090"/>
            <a:ext cx="0" cy="386499"/>
          </a:xfrm>
          <a:prstGeom prst="line">
            <a:avLst/>
          </a:prstGeom>
          <a:ln w="76200">
            <a:solidFill>
              <a:schemeClr val="accent6">
                <a:lumMod val="50000"/>
              </a:schemeClr>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1BACBE4-A2A1-6BC6-1EFD-02825A31EFDD}"/>
              </a:ext>
            </a:extLst>
          </p:cNvPr>
          <p:cNvSpPr txBox="1"/>
          <p:nvPr/>
        </p:nvSpPr>
        <p:spPr>
          <a:xfrm>
            <a:off x="760210" y="2210615"/>
            <a:ext cx="1898150" cy="461665"/>
          </a:xfrm>
          <a:prstGeom prst="rect">
            <a:avLst/>
          </a:prstGeom>
          <a:noFill/>
        </p:spPr>
        <p:txBody>
          <a:bodyPr wrap="square" rtlCol="0">
            <a:spAutoFit/>
          </a:bodyPr>
          <a:lstStyle/>
          <a:p>
            <a:r>
              <a:rPr lang="en-US" sz="1200" b="1" dirty="0"/>
              <a:t>Net Benefit is Largest Here</a:t>
            </a:r>
            <a:endParaRPr lang="en-CA" sz="1200" b="1" dirty="0"/>
          </a:p>
        </p:txBody>
      </p:sp>
    </p:spTree>
    <p:extLst>
      <p:ext uri="{BB962C8B-B14F-4D97-AF65-F5344CB8AC3E}">
        <p14:creationId xmlns:p14="http://schemas.microsoft.com/office/powerpoint/2010/main" val="14625432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ED557-D4EF-7370-E1ED-29ACBC77B852}"/>
              </a:ext>
            </a:extLst>
          </p:cNvPr>
          <p:cNvSpPr>
            <a:spLocks noGrp="1"/>
          </p:cNvSpPr>
          <p:nvPr>
            <p:ph type="title"/>
          </p:nvPr>
        </p:nvSpPr>
        <p:spPr/>
        <p:txBody>
          <a:bodyPr/>
          <a:lstStyle/>
          <a:p>
            <a:r>
              <a:rPr lang="en-US" dirty="0"/>
              <a:t>The foundations of economic evaluation</a:t>
            </a:r>
            <a:endParaRPr lang="en-CA" dirty="0"/>
          </a:p>
        </p:txBody>
      </p:sp>
      <p:sp>
        <p:nvSpPr>
          <p:cNvPr id="3" name="Content Placeholder 2">
            <a:extLst>
              <a:ext uri="{FF2B5EF4-FFF2-40B4-BE49-F238E27FC236}">
                <a16:creationId xmlns:a16="http://schemas.microsoft.com/office/drawing/2014/main" id="{4B081509-B804-7887-C036-CC92A9FC2F0C}"/>
              </a:ext>
            </a:extLst>
          </p:cNvPr>
          <p:cNvSpPr>
            <a:spLocks noGrp="1"/>
          </p:cNvSpPr>
          <p:nvPr>
            <p:ph idx="1"/>
          </p:nvPr>
        </p:nvSpPr>
        <p:spPr/>
        <p:txBody>
          <a:bodyPr/>
          <a:lstStyle/>
          <a:p>
            <a:r>
              <a:rPr lang="en-US" dirty="0"/>
              <a:t>Economic evaluation is grounded in well defined concepts in economics such as scarcity, opportunity cost and Marginal Analysis.</a:t>
            </a:r>
          </a:p>
          <a:p>
            <a:r>
              <a:rPr lang="en-US" dirty="0"/>
              <a:t>The challenges in health care is that we are determining the value for money a treatment. </a:t>
            </a:r>
          </a:p>
          <a:p>
            <a:r>
              <a:rPr lang="en-US" dirty="0"/>
              <a:t>This becomes complex because while Costs are relatively well defined (i.e. dollar amounts) </a:t>
            </a:r>
            <a:r>
              <a:rPr lang="en-US" b="1" dirty="0"/>
              <a:t>Benefits</a:t>
            </a:r>
            <a:r>
              <a:rPr lang="en-US" dirty="0"/>
              <a:t> are not.</a:t>
            </a:r>
          </a:p>
          <a:p>
            <a:r>
              <a:rPr lang="en-US" dirty="0"/>
              <a:t>This thus creates three different approaches to economic evaluation</a:t>
            </a:r>
          </a:p>
          <a:p>
            <a:pPr marL="800100" lvl="1" indent="-342900">
              <a:buFont typeface="+mj-lt"/>
              <a:buAutoNum type="arabicPeriod"/>
            </a:pPr>
            <a:r>
              <a:rPr lang="en-US" dirty="0"/>
              <a:t>Cost Benefit Analysis.</a:t>
            </a:r>
          </a:p>
          <a:p>
            <a:pPr marL="800100" lvl="1" indent="-342900">
              <a:buFont typeface="+mj-lt"/>
              <a:buAutoNum type="arabicPeriod"/>
            </a:pPr>
            <a:r>
              <a:rPr lang="en-US" dirty="0"/>
              <a:t>Cost Effectiveness Analysis.</a:t>
            </a:r>
          </a:p>
          <a:p>
            <a:pPr marL="800100" lvl="1" indent="-342900">
              <a:buFont typeface="+mj-lt"/>
              <a:buAutoNum type="arabicPeriod"/>
            </a:pPr>
            <a:r>
              <a:rPr lang="en-US" dirty="0"/>
              <a:t>Cost Utility Analysis.</a:t>
            </a:r>
            <a:endParaRPr lang="en-US" b="1" dirty="0"/>
          </a:p>
          <a:p>
            <a:r>
              <a:rPr lang="en-US" dirty="0"/>
              <a:t>Each of these will be discussed in depth in the following slides.</a:t>
            </a:r>
            <a:endParaRPr lang="en-CA" dirty="0"/>
          </a:p>
        </p:txBody>
      </p:sp>
    </p:spTree>
    <p:extLst>
      <p:ext uri="{BB962C8B-B14F-4D97-AF65-F5344CB8AC3E}">
        <p14:creationId xmlns:p14="http://schemas.microsoft.com/office/powerpoint/2010/main" val="24161657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28FEB-6332-8BFD-2370-032B063C5E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ADECE5-94A9-6221-205F-D4D315DFE947}"/>
              </a:ext>
            </a:extLst>
          </p:cNvPr>
          <p:cNvSpPr>
            <a:spLocks noGrp="1"/>
          </p:cNvSpPr>
          <p:nvPr>
            <p:ph type="title"/>
          </p:nvPr>
        </p:nvSpPr>
        <p:spPr/>
        <p:txBody>
          <a:bodyPr/>
          <a:lstStyle/>
          <a:p>
            <a:r>
              <a:rPr lang="en-CA" dirty="0"/>
              <a:t>Types of Analysis: CMA, CEA, CUA and CBA.</a:t>
            </a:r>
          </a:p>
        </p:txBody>
      </p:sp>
      <p:sp>
        <p:nvSpPr>
          <p:cNvPr id="3" name="Text Placeholder 2">
            <a:extLst>
              <a:ext uri="{FF2B5EF4-FFF2-40B4-BE49-F238E27FC236}">
                <a16:creationId xmlns:a16="http://schemas.microsoft.com/office/drawing/2014/main" id="{015265C4-3D1D-63A6-654E-6A24CBF5CEB5}"/>
              </a:ext>
            </a:extLst>
          </p:cNvPr>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33429649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16CD0-29EF-4B19-14EA-F5B8FDC1E1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6E7ED0-1771-1EA9-7DED-8CAAE047D436}"/>
              </a:ext>
            </a:extLst>
          </p:cNvPr>
          <p:cNvSpPr>
            <a:spLocks noGrp="1"/>
          </p:cNvSpPr>
          <p:nvPr>
            <p:ph type="title"/>
          </p:nvPr>
        </p:nvSpPr>
        <p:spPr>
          <a:xfrm>
            <a:off x="482600" y="597408"/>
            <a:ext cx="10634472" cy="1117092"/>
          </a:xfrm>
        </p:spPr>
        <p:txBody>
          <a:bodyPr/>
          <a:lstStyle/>
          <a:p>
            <a:r>
              <a:rPr lang="en-US" sz="4800" dirty="0"/>
              <a:t>Analysis type</a:t>
            </a:r>
            <a:endParaRPr lang="en-CA" sz="4800" dirty="0"/>
          </a:p>
        </p:txBody>
      </p:sp>
      <p:sp>
        <p:nvSpPr>
          <p:cNvPr id="3" name="Content Placeholder 2">
            <a:extLst>
              <a:ext uri="{FF2B5EF4-FFF2-40B4-BE49-F238E27FC236}">
                <a16:creationId xmlns:a16="http://schemas.microsoft.com/office/drawing/2014/main" id="{2893F694-08AA-317A-0FA0-F2B0DBE1360A}"/>
              </a:ext>
            </a:extLst>
          </p:cNvPr>
          <p:cNvSpPr>
            <a:spLocks noGrp="1"/>
          </p:cNvSpPr>
          <p:nvPr>
            <p:ph idx="1"/>
          </p:nvPr>
        </p:nvSpPr>
        <p:spPr>
          <a:xfrm>
            <a:off x="482600" y="1629064"/>
            <a:ext cx="10506991" cy="4300681"/>
          </a:xfrm>
        </p:spPr>
        <p:txBody>
          <a:bodyPr>
            <a:normAutofit/>
          </a:bodyPr>
          <a:lstStyle/>
          <a:p>
            <a:pPr marL="342900" indent="-342900">
              <a:buFont typeface="Wingdings" panose="05000000000000000000" pitchFamily="2" charset="2"/>
              <a:buChar char="§"/>
            </a:pPr>
            <a:r>
              <a:rPr lang="en-US" dirty="0"/>
              <a:t>The purpose of economic evaluation and health technology assessment is to determine if the adoption of new technology (or the continued funding of older technology which is already in place) is efficient.</a:t>
            </a:r>
          </a:p>
          <a:p>
            <a:pPr marL="342900" indent="-342900">
              <a:buFont typeface="Wingdings" panose="05000000000000000000" pitchFamily="2" charset="2"/>
              <a:buChar char="§"/>
            </a:pPr>
            <a:r>
              <a:rPr lang="en-US" dirty="0"/>
              <a:t>There are several ways of doing this:</a:t>
            </a:r>
          </a:p>
          <a:p>
            <a:pPr marL="800100" lvl="1" indent="-342900">
              <a:buFontTx/>
              <a:buChar char="-"/>
            </a:pPr>
            <a:r>
              <a:rPr lang="en-US" dirty="0"/>
              <a:t>Demonstrating a cheaper alternative which produces the same patient outcomes (</a:t>
            </a:r>
            <a:r>
              <a:rPr lang="en-US" b="1" dirty="0"/>
              <a:t>Cost Minimization Analysis).</a:t>
            </a:r>
          </a:p>
          <a:p>
            <a:pPr marL="800100" lvl="1" indent="-342900">
              <a:buFontTx/>
              <a:buChar char="-"/>
            </a:pPr>
            <a:r>
              <a:rPr lang="en-US" dirty="0"/>
              <a:t>Demonstrate a new treatment is more effective and less costly in reaching some clinically relevant target-lower blood pressure, stress, heart attack risk (</a:t>
            </a:r>
            <a:r>
              <a:rPr lang="en-US" b="1" dirty="0"/>
              <a:t>Cost Effectiveness Analysis</a:t>
            </a:r>
            <a:r>
              <a:rPr lang="en-US" dirty="0"/>
              <a:t>).</a:t>
            </a:r>
          </a:p>
          <a:p>
            <a:pPr marL="800100" lvl="1" indent="-342900">
              <a:buFontTx/>
              <a:buChar char="-"/>
            </a:pPr>
            <a:r>
              <a:rPr lang="en-US" dirty="0"/>
              <a:t>Demonstrate a new treatment produces a higher quality of life at a lower cost compared to other treatments (</a:t>
            </a:r>
            <a:r>
              <a:rPr lang="en-US" b="1" dirty="0"/>
              <a:t>Cost Utility Analysis</a:t>
            </a:r>
            <a:r>
              <a:rPr lang="en-US" dirty="0"/>
              <a:t>).</a:t>
            </a:r>
          </a:p>
          <a:p>
            <a:pPr marL="800100" lvl="1" indent="-342900">
              <a:buFontTx/>
              <a:buChar char="-"/>
            </a:pPr>
            <a:r>
              <a:rPr lang="en-CA" dirty="0"/>
              <a:t>Demonstrate a new treatment produces a “dollar valued” quality of life at a lower cost compared to other treatments (</a:t>
            </a:r>
            <a:r>
              <a:rPr lang="en-CA" b="1" dirty="0"/>
              <a:t>Cost Benefit Analysis</a:t>
            </a:r>
            <a:r>
              <a:rPr lang="en-CA" dirty="0"/>
              <a:t>).</a:t>
            </a:r>
          </a:p>
        </p:txBody>
      </p:sp>
    </p:spTree>
    <p:extLst>
      <p:ext uri="{BB962C8B-B14F-4D97-AF65-F5344CB8AC3E}">
        <p14:creationId xmlns:p14="http://schemas.microsoft.com/office/powerpoint/2010/main" val="726103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01426-851E-F4BF-51F0-678C2296E6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4FA89-1D0D-97B4-F739-0F96EE9CDDA8}"/>
              </a:ext>
            </a:extLst>
          </p:cNvPr>
          <p:cNvSpPr>
            <a:spLocks noGrp="1"/>
          </p:cNvSpPr>
          <p:nvPr>
            <p:ph type="title"/>
          </p:nvPr>
        </p:nvSpPr>
        <p:spPr>
          <a:xfrm>
            <a:off x="482600" y="597408"/>
            <a:ext cx="10634472" cy="1117092"/>
          </a:xfrm>
        </p:spPr>
        <p:txBody>
          <a:bodyPr/>
          <a:lstStyle/>
          <a:p>
            <a:r>
              <a:rPr lang="en-US" sz="4800" dirty="0"/>
              <a:t>The ICER</a:t>
            </a:r>
            <a:endParaRPr lang="en-CA" sz="48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FABECD4-6523-4E5C-D25F-D99BE57A1C91}"/>
                  </a:ext>
                </a:extLst>
              </p:cNvPr>
              <p:cNvSpPr>
                <a:spLocks noGrp="1"/>
              </p:cNvSpPr>
              <p:nvPr>
                <p:ph idx="1"/>
              </p:nvPr>
            </p:nvSpPr>
            <p:spPr>
              <a:xfrm>
                <a:off x="482600" y="1943100"/>
                <a:ext cx="10506991" cy="3936491"/>
              </a:xfrm>
            </p:spPr>
            <p:txBody>
              <a:bodyPr>
                <a:normAutofit/>
              </a:bodyPr>
              <a:lstStyle/>
              <a:p>
                <a:pPr marL="342900" indent="-342900">
                  <a:buFont typeface="Wingdings" panose="05000000000000000000" pitchFamily="2" charset="2"/>
                  <a:buChar char="§"/>
                </a:pPr>
                <a:r>
                  <a:rPr lang="en-US" dirty="0"/>
                  <a:t>Regardless of Analysis Type (with the exception of CMA), there is a common statistic which is computed: </a:t>
                </a:r>
                <a:r>
                  <a:rPr lang="en-US" b="1" dirty="0"/>
                  <a:t>the Incremental Cost Effectiveness Ratio </a:t>
                </a:r>
                <a14:m>
                  <m:oMath xmlns:m="http://schemas.openxmlformats.org/officeDocument/2006/math">
                    <m:r>
                      <a:rPr lang="en-US" b="1" i="1" smtClean="0">
                        <a:latin typeface="Cambria Math" panose="02040503050406030204" pitchFamily="18" charset="0"/>
                      </a:rPr>
                      <m:t>𝝀</m:t>
                    </m:r>
                  </m:oMath>
                </a14:m>
                <a:r>
                  <a:rPr lang="en-US" b="1" dirty="0"/>
                  <a:t> </a:t>
                </a:r>
                <a:r>
                  <a:rPr lang="en-US" dirty="0"/>
                  <a:t> defined as:</a:t>
                </a:r>
                <a:br>
                  <a:rPr lang="en-US" b="1" dirty="0"/>
                </a:br>
                <a14:m>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0" smtClean="0">
                            <a:latin typeface="Cambria Math" panose="02040503050406030204" pitchFamily="18" charset="0"/>
                          </a:rPr>
                        </m:ctrlPr>
                      </m:fPr>
                      <m:num>
                        <m:r>
                          <m:rPr>
                            <m:sty m:val="p"/>
                          </m:rPr>
                          <a:rPr lang="en-US" b="0" i="0" smtClean="0">
                            <a:latin typeface="Cambria Math" panose="02040503050406030204" pitchFamily="18" charset="0"/>
                          </a:rPr>
                          <m:t>Δ</m:t>
                        </m:r>
                        <m:r>
                          <a:rPr lang="en-US" b="0" i="1" smtClean="0">
                            <a:latin typeface="Cambria Math" panose="02040503050406030204" pitchFamily="18" charset="0"/>
                          </a:rPr>
                          <m:t>𝐶</m:t>
                        </m:r>
                      </m:num>
                      <m:den>
                        <m:r>
                          <m:rPr>
                            <m:sty m:val="p"/>
                          </m:rPr>
                          <a:rPr lang="en-US" b="0" i="0" smtClean="0">
                            <a:latin typeface="Cambria Math" panose="02040503050406030204" pitchFamily="18" charset="0"/>
                          </a:rPr>
                          <m:t>Δ</m:t>
                        </m:r>
                        <m:r>
                          <a:rPr lang="en-US" b="0" i="1" smtClean="0">
                            <a:latin typeface="Cambria Math" panose="02040503050406030204" pitchFamily="18" charset="0"/>
                          </a:rPr>
                          <m:t>𝐸</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0</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0</m:t>
                            </m:r>
                          </m:sub>
                        </m:sSub>
                      </m:den>
                    </m:f>
                  </m:oMath>
                </a14:m>
                <a:endParaRPr lang="en-US" b="0" dirty="0"/>
              </a:p>
              <a:p>
                <a:pPr marL="342900" indent="-342900">
                  <a:buFont typeface="Wingdings" panose="05000000000000000000" pitchFamily="2" charset="2"/>
                  <a:buChar char="§"/>
                </a:pPr>
                <a:r>
                  <a:rPr lang="en-US" dirty="0"/>
                  <a:t>Where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0</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0</m:t>
                        </m:r>
                      </m:sub>
                    </m:sSub>
                  </m:oMath>
                </a14:m>
                <a:r>
                  <a:rPr lang="en-US" dirty="0"/>
                  <a:t> are the costs and effects of the costs and effects of a baseline treatment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1</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1</m:t>
                        </m:r>
                      </m:sub>
                    </m:sSub>
                  </m:oMath>
                </a14:m>
                <a:r>
                  <a:rPr lang="en-US" dirty="0"/>
                  <a:t> are the Costs and effects of a proposed alternative.</a:t>
                </a:r>
              </a:p>
              <a:p>
                <a:pPr marL="342900" indent="-342900">
                  <a:buFont typeface="Wingdings" panose="05000000000000000000" pitchFamily="2" charset="2"/>
                  <a:buChar char="§"/>
                </a:pPr>
                <a:r>
                  <a:rPr lang="en-US" dirty="0"/>
                  <a:t>Effects in this context can be substituted for any other benefit metric.</a:t>
                </a:r>
              </a:p>
            </p:txBody>
          </p:sp>
        </mc:Choice>
        <mc:Fallback xmlns="">
          <p:sp>
            <p:nvSpPr>
              <p:cNvPr id="3" name="Content Placeholder 2">
                <a:extLst>
                  <a:ext uri="{FF2B5EF4-FFF2-40B4-BE49-F238E27FC236}">
                    <a16:creationId xmlns:a16="http://schemas.microsoft.com/office/drawing/2014/main" id="{0FABECD4-6523-4E5C-D25F-D99BE57A1C91}"/>
                  </a:ext>
                </a:extLst>
              </p:cNvPr>
              <p:cNvSpPr>
                <a:spLocks noGrp="1" noRot="1" noChangeAspect="1" noMove="1" noResize="1" noEditPoints="1" noAdjustHandles="1" noChangeArrowheads="1" noChangeShapeType="1" noTextEdit="1"/>
              </p:cNvSpPr>
              <p:nvPr>
                <p:ph idx="1"/>
              </p:nvPr>
            </p:nvSpPr>
            <p:spPr>
              <a:xfrm>
                <a:off x="482600" y="1943100"/>
                <a:ext cx="10506991" cy="3936491"/>
              </a:xfrm>
              <a:blipFill>
                <a:blip r:embed="rId2"/>
                <a:stretch>
                  <a:fillRect l="-754" t="-1240" r="-58"/>
                </a:stretch>
              </a:blipFill>
            </p:spPr>
            <p:txBody>
              <a:bodyPr/>
              <a:lstStyle/>
              <a:p>
                <a:r>
                  <a:rPr lang="en-CA">
                    <a:noFill/>
                  </a:rPr>
                  <a:t> </a:t>
                </a:r>
              </a:p>
            </p:txBody>
          </p:sp>
        </mc:Fallback>
      </mc:AlternateContent>
    </p:spTree>
    <p:extLst>
      <p:ext uri="{BB962C8B-B14F-4D97-AF65-F5344CB8AC3E}">
        <p14:creationId xmlns:p14="http://schemas.microsoft.com/office/powerpoint/2010/main" val="28731926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BF611-895C-7775-97D0-E452A9FA215E}"/>
              </a:ext>
            </a:extLst>
          </p:cNvPr>
          <p:cNvSpPr>
            <a:spLocks noGrp="1"/>
          </p:cNvSpPr>
          <p:nvPr>
            <p:ph type="title"/>
          </p:nvPr>
        </p:nvSpPr>
        <p:spPr/>
        <p:txBody>
          <a:bodyPr/>
          <a:lstStyle/>
          <a:p>
            <a:r>
              <a:rPr lang="en-US" dirty="0"/>
              <a:t>A “Model Free” Approach to Cost Effectiveness Analysis</a:t>
            </a:r>
            <a:endParaRPr lang="en-CA" dirty="0"/>
          </a:p>
        </p:txBody>
      </p:sp>
      <p:sp>
        <p:nvSpPr>
          <p:cNvPr id="4" name="Rectangle 3">
            <a:extLst>
              <a:ext uri="{FF2B5EF4-FFF2-40B4-BE49-F238E27FC236}">
                <a16:creationId xmlns:a16="http://schemas.microsoft.com/office/drawing/2014/main" id="{8F92288D-1C3C-1057-22FC-9D6EF46EBD0E}"/>
              </a:ext>
            </a:extLst>
          </p:cNvPr>
          <p:cNvSpPr/>
          <p:nvPr/>
        </p:nvSpPr>
        <p:spPr>
          <a:xfrm>
            <a:off x="1941922" y="4213781"/>
            <a:ext cx="641023" cy="589271"/>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6" name="Straight Connector 5">
            <a:extLst>
              <a:ext uri="{FF2B5EF4-FFF2-40B4-BE49-F238E27FC236}">
                <a16:creationId xmlns:a16="http://schemas.microsoft.com/office/drawing/2014/main" id="{21CA17AB-7EC9-CAF8-42C0-A53CC13E7569}"/>
              </a:ext>
            </a:extLst>
          </p:cNvPr>
          <p:cNvCxnSpPr>
            <a:cxnSpLocks/>
            <a:stCxn id="4" idx="3"/>
            <a:endCxn id="10" idx="1"/>
          </p:cNvCxnSpPr>
          <p:nvPr/>
        </p:nvCxnSpPr>
        <p:spPr>
          <a:xfrm flipV="1">
            <a:off x="2582945" y="3271007"/>
            <a:ext cx="1495719" cy="123741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F3325BF9-8306-2589-35A9-BEA1313B5AC9}"/>
              </a:ext>
            </a:extLst>
          </p:cNvPr>
          <p:cNvCxnSpPr>
            <a:cxnSpLocks/>
            <a:stCxn id="4" idx="3"/>
            <a:endCxn id="12" idx="1"/>
          </p:cNvCxnSpPr>
          <p:nvPr/>
        </p:nvCxnSpPr>
        <p:spPr>
          <a:xfrm>
            <a:off x="2582945" y="4508417"/>
            <a:ext cx="1495719" cy="1138239"/>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9AF25B46-ACBC-F56D-5B45-572E690535EC}"/>
              </a:ext>
            </a:extLst>
          </p:cNvPr>
          <p:cNvSpPr/>
          <p:nvPr/>
        </p:nvSpPr>
        <p:spPr>
          <a:xfrm>
            <a:off x="4078664" y="2931642"/>
            <a:ext cx="1875934" cy="678729"/>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Costs of A</a:t>
            </a:r>
            <a:br>
              <a:rPr lang="en-US" dirty="0">
                <a:solidFill>
                  <a:schemeClr val="tx1"/>
                </a:solidFill>
              </a:rPr>
            </a:br>
            <a:r>
              <a:rPr lang="en-US" dirty="0">
                <a:solidFill>
                  <a:schemeClr val="tx1"/>
                </a:solidFill>
              </a:rPr>
              <a:t>Effects of A</a:t>
            </a:r>
            <a:endParaRPr lang="en-CA" dirty="0">
              <a:solidFill>
                <a:schemeClr val="tx1"/>
              </a:solidFill>
            </a:endParaRPr>
          </a:p>
        </p:txBody>
      </p:sp>
      <p:sp>
        <p:nvSpPr>
          <p:cNvPr id="12" name="Rectangle 11">
            <a:extLst>
              <a:ext uri="{FF2B5EF4-FFF2-40B4-BE49-F238E27FC236}">
                <a16:creationId xmlns:a16="http://schemas.microsoft.com/office/drawing/2014/main" id="{6645491A-4E5B-CA7E-597D-9861C726D04A}"/>
              </a:ext>
            </a:extLst>
          </p:cNvPr>
          <p:cNvSpPr/>
          <p:nvPr/>
        </p:nvSpPr>
        <p:spPr>
          <a:xfrm>
            <a:off x="4078664" y="5307291"/>
            <a:ext cx="1875934" cy="678729"/>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Costs of B</a:t>
            </a:r>
            <a:br>
              <a:rPr lang="en-US" dirty="0">
                <a:solidFill>
                  <a:schemeClr val="tx1"/>
                </a:solidFill>
              </a:rPr>
            </a:br>
            <a:r>
              <a:rPr lang="en-US" dirty="0">
                <a:solidFill>
                  <a:schemeClr val="tx1"/>
                </a:solidFill>
              </a:rPr>
              <a:t>Effects of B</a:t>
            </a:r>
            <a:endParaRPr lang="en-CA" dirty="0">
              <a:solidFill>
                <a:schemeClr val="tx1"/>
              </a:solidFill>
            </a:endParaRPr>
          </a:p>
        </p:txBody>
      </p:sp>
      <p:sp>
        <p:nvSpPr>
          <p:cNvPr id="17" name="TextBox 16">
            <a:extLst>
              <a:ext uri="{FF2B5EF4-FFF2-40B4-BE49-F238E27FC236}">
                <a16:creationId xmlns:a16="http://schemas.microsoft.com/office/drawing/2014/main" id="{90EE609A-1A71-50A0-E9D6-8AC0D934AD50}"/>
              </a:ext>
            </a:extLst>
          </p:cNvPr>
          <p:cNvSpPr txBox="1"/>
          <p:nvPr/>
        </p:nvSpPr>
        <p:spPr>
          <a:xfrm>
            <a:off x="1679781" y="3118427"/>
            <a:ext cx="1806328" cy="646331"/>
          </a:xfrm>
          <a:prstGeom prst="rect">
            <a:avLst/>
          </a:prstGeom>
          <a:noFill/>
        </p:spPr>
        <p:txBody>
          <a:bodyPr wrap="none" rtlCol="0">
            <a:spAutoFit/>
          </a:bodyPr>
          <a:lstStyle/>
          <a:p>
            <a:r>
              <a:rPr lang="en-US" dirty="0"/>
              <a:t>Treatment A</a:t>
            </a:r>
            <a:br>
              <a:rPr lang="en-US" dirty="0"/>
            </a:br>
            <a:r>
              <a:rPr lang="en-US" dirty="0"/>
              <a:t>(The Alternative)</a:t>
            </a:r>
            <a:endParaRPr lang="en-CA" dirty="0"/>
          </a:p>
        </p:txBody>
      </p:sp>
      <p:sp>
        <p:nvSpPr>
          <p:cNvPr id="19" name="TextBox 18">
            <a:extLst>
              <a:ext uri="{FF2B5EF4-FFF2-40B4-BE49-F238E27FC236}">
                <a16:creationId xmlns:a16="http://schemas.microsoft.com/office/drawing/2014/main" id="{4D152C37-E65B-3F43-CB48-9AA89E6D16D7}"/>
              </a:ext>
            </a:extLst>
          </p:cNvPr>
          <p:cNvSpPr txBox="1"/>
          <p:nvPr/>
        </p:nvSpPr>
        <p:spPr>
          <a:xfrm>
            <a:off x="1941922" y="5294961"/>
            <a:ext cx="1389163" cy="923330"/>
          </a:xfrm>
          <a:prstGeom prst="rect">
            <a:avLst/>
          </a:prstGeom>
          <a:noFill/>
        </p:spPr>
        <p:txBody>
          <a:bodyPr wrap="none" rtlCol="0">
            <a:spAutoFit/>
          </a:bodyPr>
          <a:lstStyle/>
          <a:p>
            <a:r>
              <a:rPr lang="en-US" dirty="0"/>
              <a:t>Treatment B</a:t>
            </a:r>
            <a:br>
              <a:rPr lang="en-US" dirty="0"/>
            </a:br>
            <a:r>
              <a:rPr lang="en-US" dirty="0"/>
              <a:t>Baseline</a:t>
            </a:r>
            <a:br>
              <a:rPr lang="en-US" dirty="0"/>
            </a:br>
            <a:r>
              <a:rPr lang="en-US" dirty="0"/>
              <a:t>Treatment</a:t>
            </a:r>
            <a:endParaRPr lang="en-CA"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3461030-B931-C83A-249B-6B795866A728}"/>
                  </a:ext>
                </a:extLst>
              </p:cNvPr>
              <p:cNvSpPr txBox="1"/>
              <p:nvPr/>
            </p:nvSpPr>
            <p:spPr>
              <a:xfrm>
                <a:off x="5799842" y="4145854"/>
                <a:ext cx="6094428" cy="659796"/>
              </a:xfrm>
              <a:prstGeom prst="rect">
                <a:avLst/>
              </a:prstGeom>
              <a:noFill/>
            </p:spPr>
            <p:txBody>
              <a:bodyPr wrap="square">
                <a:spAutoFit/>
              </a:bodyPr>
              <a:lstStyle/>
              <a:p>
                <a:pPr/>
                <a14:m>
                  <m:oMathPara xmlns:m="http://schemas.openxmlformats.org/officeDocument/2006/math">
                    <m:oMath>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𝜆</m:t>
                          </m:r>
                        </m:e>
                        <m:sup>
                          <m:r>
                            <a:rPr lang="en-US" sz="1800" b="0" i="1" smtClean="0">
                              <a:latin typeface="Cambria Math" panose="02040503050406030204" pitchFamily="18" charset="0"/>
                            </a:rPr>
                            <m:t>𝐴</m:t>
                          </m:r>
                        </m:sup>
                      </m:sSup>
                      <m:r>
                        <a:rPr lang="en-US" sz="1800" b="0" i="1" smtClean="0">
                          <a:latin typeface="Cambria Math" panose="02040503050406030204" pitchFamily="18" charset="0"/>
                        </a:rPr>
                        <m:t>=</m:t>
                      </m:r>
                      <m:f>
                        <m:fPr>
                          <m:ctrlPr>
                            <a:rPr lang="en-US" sz="1800" b="0" i="0" smtClean="0">
                              <a:latin typeface="Cambria Math" panose="02040503050406030204" pitchFamily="18" charset="0"/>
                            </a:rPr>
                          </m:ctrlPr>
                        </m:fPr>
                        <m:num>
                          <m:r>
                            <m:rPr>
                              <m:sty m:val="p"/>
                            </m:rPr>
                            <a:rPr lang="en-US" sz="1800" b="0" i="0" smtClean="0">
                              <a:latin typeface="Cambria Math" panose="02040503050406030204" pitchFamily="18" charset="0"/>
                            </a:rPr>
                            <m:t>Δ</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𝐴</m:t>
                              </m:r>
                            </m:sub>
                          </m:sSub>
                        </m:num>
                        <m:den>
                          <m:r>
                            <m:rPr>
                              <m:sty m:val="p"/>
                            </m:rPr>
                            <a:rPr lang="en-US" sz="1800" b="0" i="0" smtClean="0">
                              <a:latin typeface="Cambria Math" panose="02040503050406030204" pitchFamily="18" charset="0"/>
                            </a:rPr>
                            <m:t>Δ</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𝐴</m:t>
                              </m:r>
                            </m:sub>
                          </m:sSub>
                        </m:den>
                      </m:f>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𝐴</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𝐵</m:t>
                              </m:r>
                            </m:sub>
                          </m:sSub>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𝐴</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𝐵</m:t>
                              </m:r>
                            </m:sub>
                          </m:sSub>
                        </m:den>
                      </m:f>
                    </m:oMath>
                  </m:oMathPara>
                </a14:m>
                <a:endParaRPr lang="en-CA" dirty="0"/>
              </a:p>
            </p:txBody>
          </p:sp>
        </mc:Choice>
        <mc:Fallback xmlns="">
          <p:sp>
            <p:nvSpPr>
              <p:cNvPr id="5" name="TextBox 4">
                <a:extLst>
                  <a:ext uri="{FF2B5EF4-FFF2-40B4-BE49-F238E27FC236}">
                    <a16:creationId xmlns:a16="http://schemas.microsoft.com/office/drawing/2014/main" id="{F3461030-B931-C83A-249B-6B795866A728}"/>
                  </a:ext>
                </a:extLst>
              </p:cNvPr>
              <p:cNvSpPr txBox="1">
                <a:spLocks noRot="1" noChangeAspect="1" noMove="1" noResize="1" noEditPoints="1" noAdjustHandles="1" noChangeArrowheads="1" noChangeShapeType="1" noTextEdit="1"/>
              </p:cNvSpPr>
              <p:nvPr/>
            </p:nvSpPr>
            <p:spPr>
              <a:xfrm>
                <a:off x="5799842" y="4145854"/>
                <a:ext cx="6094428" cy="659796"/>
              </a:xfrm>
              <a:prstGeom prst="rect">
                <a:avLst/>
              </a:prstGeom>
              <a:blipFill>
                <a:blip r:embed="rId2"/>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42411823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A5947-B423-3B8C-10FF-B50AC57238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3FC867-533F-38F6-B866-04D159CF012D}"/>
              </a:ext>
            </a:extLst>
          </p:cNvPr>
          <p:cNvSpPr>
            <a:spLocks noGrp="1"/>
          </p:cNvSpPr>
          <p:nvPr>
            <p:ph type="title"/>
          </p:nvPr>
        </p:nvSpPr>
        <p:spPr>
          <a:xfrm>
            <a:off x="482600" y="597408"/>
            <a:ext cx="10634472" cy="1117092"/>
          </a:xfrm>
        </p:spPr>
        <p:txBody>
          <a:bodyPr/>
          <a:lstStyle/>
          <a:p>
            <a:r>
              <a:rPr lang="en-US" sz="4800" dirty="0"/>
              <a:t>How to use the ICER</a:t>
            </a:r>
            <a:endParaRPr lang="en-CA" sz="48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55A1D9B-0C91-4F1F-84A4-119D981B405C}"/>
                  </a:ext>
                </a:extLst>
              </p:cNvPr>
              <p:cNvSpPr>
                <a:spLocks noGrp="1"/>
              </p:cNvSpPr>
              <p:nvPr>
                <p:ph idx="1"/>
              </p:nvPr>
            </p:nvSpPr>
            <p:spPr>
              <a:xfrm>
                <a:off x="482600" y="1460754"/>
                <a:ext cx="10506991" cy="3936491"/>
              </a:xfrm>
            </p:spPr>
            <p:txBody>
              <a:bodyPr>
                <a:normAutofit/>
              </a:bodyPr>
              <a:lstStyle/>
              <a:p>
                <a:pPr marL="342900" indent="-342900">
                  <a:buFont typeface="Wingdings" panose="05000000000000000000" pitchFamily="2" charset="2"/>
                  <a:buChar char="§"/>
                </a:pPr>
                <a:r>
                  <a:rPr lang="en-US" dirty="0"/>
                  <a:t>The ICER can be interpreted as the dollar value a novel drug or technology provides for a each unit of benefit.</a:t>
                </a:r>
              </a:p>
              <a:p>
                <a:pPr marL="342900" indent="-342900">
                  <a:buFont typeface="Wingdings" panose="05000000000000000000" pitchFamily="2" charset="2"/>
                  <a:buChar char="§"/>
                </a:pPr>
                <a:r>
                  <a:rPr lang="en-US" dirty="0"/>
                  <a:t>When </a:t>
                </a:r>
                <a14:m>
                  <m:oMath xmlns:m="http://schemas.openxmlformats.org/officeDocument/2006/math">
                    <m:r>
                      <m:rPr>
                        <m:sty m:val="p"/>
                      </m:rPr>
                      <a:rPr lang="en-US" b="0" i="0" smtClean="0">
                        <a:latin typeface="Cambria Math" panose="02040503050406030204" pitchFamily="18" charset="0"/>
                      </a:rPr>
                      <m:t>Δ</m:t>
                    </m:r>
                    <m:r>
                      <a:rPr lang="en-US" b="0" i="1" smtClean="0">
                        <a:latin typeface="Cambria Math" panose="02040503050406030204" pitchFamily="18" charset="0"/>
                      </a:rPr>
                      <m:t>𝐸</m:t>
                    </m:r>
                  </m:oMath>
                </a14:m>
                <a:r>
                  <a:rPr lang="en-CA" dirty="0"/>
                  <a:t> measures change in a mobility score, this is the dollar for improvement in mobility.</a:t>
                </a:r>
              </a:p>
              <a:p>
                <a:pPr marL="342900" indent="-342900">
                  <a:buFont typeface="Wingdings" panose="05000000000000000000" pitchFamily="2" charset="2"/>
                  <a:buChar char="§"/>
                </a:pPr>
                <a:r>
                  <a:rPr lang="en-CA" dirty="0"/>
                  <a:t>When </a:t>
                </a:r>
                <a14:m>
                  <m:oMath xmlns:m="http://schemas.openxmlformats.org/officeDocument/2006/math">
                    <m:r>
                      <m:rPr>
                        <m:sty m:val="p"/>
                      </m:rPr>
                      <a:rPr lang="en-US" b="0" i="0" smtClean="0">
                        <a:latin typeface="Cambria Math" panose="02040503050406030204" pitchFamily="18" charset="0"/>
                      </a:rPr>
                      <m:t>Δ</m:t>
                    </m:r>
                    <m:r>
                      <a:rPr lang="en-US" b="0" i="1" smtClean="0">
                        <a:latin typeface="Cambria Math" panose="02040503050406030204" pitchFamily="18" charset="0"/>
                      </a:rPr>
                      <m:t>𝐸</m:t>
                    </m:r>
                  </m:oMath>
                </a14:m>
                <a:r>
                  <a:rPr lang="en-CA" dirty="0"/>
                  <a:t> represents a change in quality of life, this is the dollar for change in quality of life.</a:t>
                </a:r>
              </a:p>
              <a:p>
                <a:pPr marL="342900" indent="-342900">
                  <a:buFont typeface="Wingdings" panose="05000000000000000000" pitchFamily="2" charset="2"/>
                  <a:buChar char="§"/>
                </a:pPr>
                <a:r>
                  <a:rPr lang="en-CA" dirty="0"/>
                  <a:t>In general a “fair market price” with novel drugs is hard to measure, so often a </a:t>
                </a:r>
                <a:r>
                  <a:rPr lang="en-CA" b="1" dirty="0"/>
                  <a:t>cost effectiveness threshold </a:t>
                </a:r>
                <a:r>
                  <a:rPr lang="en-CA" dirty="0"/>
                  <a:t>is set.</a:t>
                </a:r>
              </a:p>
              <a:p>
                <a:pPr marL="342900" indent="-342900">
                  <a:buFont typeface="Wingdings" panose="05000000000000000000" pitchFamily="2" charset="2"/>
                  <a:buChar char="§"/>
                </a:pPr>
                <a:r>
                  <a:rPr lang="en-CA" dirty="0"/>
                  <a:t>On paper, the cost effectiveness threshold is </a:t>
                </a:r>
                <a:r>
                  <a:rPr lang="en-CA" b="1" dirty="0"/>
                  <a:t>$50,000 per quality adjusted life year </a:t>
                </a:r>
                <a:r>
                  <a:rPr lang="en-CA" dirty="0"/>
                  <a:t>however, this is empirically debatable as there are many treatments with ICERs above this value that get funded.</a:t>
                </a:r>
              </a:p>
            </p:txBody>
          </p:sp>
        </mc:Choice>
        <mc:Fallback xmlns="">
          <p:sp>
            <p:nvSpPr>
              <p:cNvPr id="3" name="Content Placeholder 2">
                <a:extLst>
                  <a:ext uri="{FF2B5EF4-FFF2-40B4-BE49-F238E27FC236}">
                    <a16:creationId xmlns:a16="http://schemas.microsoft.com/office/drawing/2014/main" id="{B55A1D9B-0C91-4F1F-84A4-119D981B405C}"/>
                  </a:ext>
                </a:extLst>
              </p:cNvPr>
              <p:cNvSpPr>
                <a:spLocks noGrp="1" noRot="1" noChangeAspect="1" noMove="1" noResize="1" noEditPoints="1" noAdjustHandles="1" noChangeArrowheads="1" noChangeShapeType="1" noTextEdit="1"/>
              </p:cNvSpPr>
              <p:nvPr>
                <p:ph idx="1"/>
              </p:nvPr>
            </p:nvSpPr>
            <p:spPr>
              <a:xfrm>
                <a:off x="482600" y="1460754"/>
                <a:ext cx="10506991" cy="3936491"/>
              </a:xfrm>
              <a:blipFill>
                <a:blip r:embed="rId2"/>
                <a:stretch>
                  <a:fillRect l="-348" t="-620" r="-406"/>
                </a:stretch>
              </a:blipFill>
            </p:spPr>
            <p:txBody>
              <a:bodyPr/>
              <a:lstStyle/>
              <a:p>
                <a:r>
                  <a:rPr lang="en-CA">
                    <a:noFill/>
                  </a:rPr>
                  <a:t> </a:t>
                </a:r>
              </a:p>
            </p:txBody>
          </p:sp>
        </mc:Fallback>
      </mc:AlternateContent>
    </p:spTree>
    <p:extLst>
      <p:ext uri="{BB962C8B-B14F-4D97-AF65-F5344CB8AC3E}">
        <p14:creationId xmlns:p14="http://schemas.microsoft.com/office/powerpoint/2010/main" val="18694486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3E852-8DEB-E1D8-6EB5-7F5F2C0A28D3}"/>
              </a:ext>
            </a:extLst>
          </p:cNvPr>
          <p:cNvSpPr>
            <a:spLocks noGrp="1"/>
          </p:cNvSpPr>
          <p:nvPr>
            <p:ph type="title"/>
          </p:nvPr>
        </p:nvSpPr>
        <p:spPr/>
        <p:txBody>
          <a:bodyPr/>
          <a:lstStyle/>
          <a:p>
            <a:r>
              <a:rPr lang="en-US" dirty="0"/>
              <a:t>The Measurement of Benefits: Welfarism VS Extra Welfarism</a:t>
            </a:r>
            <a:endParaRPr lang="en-CA" dirty="0"/>
          </a:p>
        </p:txBody>
      </p:sp>
      <p:sp>
        <p:nvSpPr>
          <p:cNvPr id="3" name="Content Placeholder 2">
            <a:extLst>
              <a:ext uri="{FF2B5EF4-FFF2-40B4-BE49-F238E27FC236}">
                <a16:creationId xmlns:a16="http://schemas.microsoft.com/office/drawing/2014/main" id="{83EC6DD7-2949-9004-6659-7E9BFB6C5BDF}"/>
              </a:ext>
            </a:extLst>
          </p:cNvPr>
          <p:cNvSpPr>
            <a:spLocks noGrp="1"/>
          </p:cNvSpPr>
          <p:nvPr>
            <p:ph idx="1"/>
          </p:nvPr>
        </p:nvSpPr>
        <p:spPr/>
        <p:txBody>
          <a:bodyPr>
            <a:normAutofit lnSpcReduction="10000"/>
          </a:bodyPr>
          <a:lstStyle/>
          <a:p>
            <a:r>
              <a:rPr lang="en-US" dirty="0"/>
              <a:t>The most controversy in this field methodologically lies in the definition of benefits and costs.</a:t>
            </a:r>
          </a:p>
          <a:p>
            <a:r>
              <a:rPr lang="en-US" dirty="0"/>
              <a:t>There are two normative approaches  to economic evaluation.</a:t>
            </a:r>
          </a:p>
          <a:p>
            <a:pPr lvl="1"/>
            <a:r>
              <a:rPr lang="en-US" dirty="0"/>
              <a:t>Welfarism: Only those who immediately benefit from the treatment matter, measurement such as care giver wellbeing, productivity or other measures overstate the benefits.</a:t>
            </a:r>
          </a:p>
          <a:p>
            <a:pPr lvl="1"/>
            <a:r>
              <a:rPr lang="en-US" dirty="0" err="1"/>
              <a:t>Extrawelfarism</a:t>
            </a:r>
            <a:r>
              <a:rPr lang="en-US" dirty="0"/>
              <a:t>: Benefits should consider all possible parties who benefit. (including individuals who are not the patient directly)</a:t>
            </a:r>
          </a:p>
          <a:p>
            <a:r>
              <a:rPr lang="en-US" dirty="0"/>
              <a:t>Part of this ideological split has led to new cost-effectiveness paradigms such as </a:t>
            </a:r>
            <a:r>
              <a:rPr lang="en-US" b="1" dirty="0"/>
              <a:t>Distributional Cost Effectiveness Analysis (DEA)</a:t>
            </a:r>
            <a:r>
              <a:rPr lang="en-US" dirty="0"/>
              <a:t>, </a:t>
            </a:r>
            <a:r>
              <a:rPr lang="en-US" b="1" dirty="0"/>
              <a:t>Extended Cost Effectiveness Analysis (ECEA), </a:t>
            </a:r>
            <a:r>
              <a:rPr lang="en-US" dirty="0"/>
              <a:t>and </a:t>
            </a:r>
            <a:r>
              <a:rPr lang="en-US" b="1" dirty="0"/>
              <a:t>Generalized Risk Adjusted Cost Effectiveness Analysis (GRACE).</a:t>
            </a:r>
          </a:p>
          <a:p>
            <a:r>
              <a:rPr lang="en-US" b="1" dirty="0"/>
              <a:t>The concepts of Welfarism VS </a:t>
            </a:r>
            <a:r>
              <a:rPr lang="en-US" b="1" dirty="0" err="1"/>
              <a:t>Extrawelfarism</a:t>
            </a:r>
            <a:r>
              <a:rPr lang="en-US" b="1" dirty="0"/>
              <a:t> is discussed in:</a:t>
            </a:r>
            <a:br>
              <a:rPr lang="en-US" b="1" dirty="0"/>
            </a:br>
            <a:r>
              <a:rPr lang="en-CA" i="1" dirty="0"/>
              <a:t>Brouwer, Werner BF, et al. "Welfarism vs. extra-welfarism." Journal of health economics 27.2 (2008)</a:t>
            </a:r>
            <a:endParaRPr lang="en-CA" b="1" i="1" dirty="0"/>
          </a:p>
        </p:txBody>
      </p:sp>
    </p:spTree>
    <p:extLst>
      <p:ext uri="{BB962C8B-B14F-4D97-AF65-F5344CB8AC3E}">
        <p14:creationId xmlns:p14="http://schemas.microsoft.com/office/powerpoint/2010/main" val="19187445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11E8E-7C76-8CC9-48BE-479DA0803499}"/>
              </a:ext>
            </a:extLst>
          </p:cNvPr>
          <p:cNvSpPr>
            <a:spLocks noGrp="1"/>
          </p:cNvSpPr>
          <p:nvPr>
            <p:ph type="ctrTitle"/>
          </p:nvPr>
        </p:nvSpPr>
        <p:spPr/>
        <p:txBody>
          <a:bodyPr/>
          <a:lstStyle/>
          <a:p>
            <a:r>
              <a:rPr lang="en-US" dirty="0"/>
              <a:t>The Cost Effectiveness Plane</a:t>
            </a:r>
            <a:endParaRPr lang="en-CA" dirty="0"/>
          </a:p>
        </p:txBody>
      </p:sp>
      <p:sp>
        <p:nvSpPr>
          <p:cNvPr id="3" name="Subtitle 2">
            <a:extLst>
              <a:ext uri="{FF2B5EF4-FFF2-40B4-BE49-F238E27FC236}">
                <a16:creationId xmlns:a16="http://schemas.microsoft.com/office/drawing/2014/main" id="{CDD024BE-946E-79FC-4577-897191CF0E39}"/>
              </a:ext>
            </a:extLst>
          </p:cNvPr>
          <p:cNvSpPr>
            <a:spLocks noGrp="1"/>
          </p:cNvSpPr>
          <p:nvPr>
            <p:ph type="subTitle" idx="1"/>
          </p:nvPr>
        </p:nvSpPr>
        <p:spPr/>
        <p:txBody>
          <a:bodyPr/>
          <a:lstStyle/>
          <a:p>
            <a:endParaRPr lang="en-CA"/>
          </a:p>
        </p:txBody>
      </p:sp>
    </p:spTree>
    <p:extLst>
      <p:ext uri="{BB962C8B-B14F-4D97-AF65-F5344CB8AC3E}">
        <p14:creationId xmlns:p14="http://schemas.microsoft.com/office/powerpoint/2010/main" val="40113969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813AE-4829-2A80-8DED-68F16C155B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809B4F-CCA2-6852-4AF9-2D22C2FDB751}"/>
              </a:ext>
            </a:extLst>
          </p:cNvPr>
          <p:cNvSpPr>
            <a:spLocks noGrp="1"/>
          </p:cNvSpPr>
          <p:nvPr>
            <p:ph type="title"/>
          </p:nvPr>
        </p:nvSpPr>
        <p:spPr>
          <a:xfrm>
            <a:off x="482600" y="597408"/>
            <a:ext cx="10634472" cy="1117092"/>
          </a:xfrm>
        </p:spPr>
        <p:txBody>
          <a:bodyPr>
            <a:normAutofit fontScale="90000"/>
          </a:bodyPr>
          <a:lstStyle/>
          <a:p>
            <a:r>
              <a:rPr lang="en-CA" sz="4800" dirty="0"/>
              <a:t>The cost effectiveness plane and the ICER</a:t>
            </a:r>
          </a:p>
        </p:txBody>
      </p:sp>
      <p:sp>
        <p:nvSpPr>
          <p:cNvPr id="3" name="Content Placeholder 2">
            <a:extLst>
              <a:ext uri="{FF2B5EF4-FFF2-40B4-BE49-F238E27FC236}">
                <a16:creationId xmlns:a16="http://schemas.microsoft.com/office/drawing/2014/main" id="{54B3476E-D96D-B9C9-DB29-1D0D900F0147}"/>
              </a:ext>
            </a:extLst>
          </p:cNvPr>
          <p:cNvSpPr>
            <a:spLocks noGrp="1"/>
          </p:cNvSpPr>
          <p:nvPr>
            <p:ph idx="1"/>
          </p:nvPr>
        </p:nvSpPr>
        <p:spPr>
          <a:xfrm>
            <a:off x="482600" y="1943100"/>
            <a:ext cx="4634345" cy="3936491"/>
          </a:xfrm>
        </p:spPr>
        <p:txBody>
          <a:bodyPr/>
          <a:lstStyle/>
          <a:p>
            <a:pPr marL="342900" indent="-342900">
              <a:buFont typeface="Wingdings" panose="05000000000000000000" pitchFamily="2" charset="2"/>
              <a:buChar char="§"/>
            </a:pPr>
            <a:r>
              <a:rPr lang="en-CA" dirty="0"/>
              <a:t>We will often plot each of our ICERS in a Cost Effectiveness Plane.</a:t>
            </a:r>
          </a:p>
          <a:p>
            <a:pPr marL="342900" indent="-342900">
              <a:buFont typeface="Wingdings" panose="05000000000000000000" pitchFamily="2" charset="2"/>
              <a:buChar char="§"/>
            </a:pPr>
            <a:r>
              <a:rPr lang="en-CA" dirty="0"/>
              <a:t>The vertical axis is the change in costs.</a:t>
            </a:r>
          </a:p>
          <a:p>
            <a:pPr marL="342900" indent="-342900">
              <a:buFont typeface="Wingdings" panose="05000000000000000000" pitchFamily="2" charset="2"/>
              <a:buChar char="§"/>
            </a:pPr>
            <a:r>
              <a:rPr lang="en-CA" dirty="0"/>
              <a:t>The horizontal axis is the change in effects.</a:t>
            </a:r>
          </a:p>
          <a:p>
            <a:pPr marL="342900" indent="-342900">
              <a:buFont typeface="Wingdings" panose="05000000000000000000" pitchFamily="2" charset="2"/>
              <a:buChar char="§"/>
            </a:pPr>
            <a:r>
              <a:rPr lang="en-CA" dirty="0"/>
              <a:t>This is a useful tool for visualizing our results and will help with building intuition as we progress through the course.</a:t>
            </a:r>
          </a:p>
        </p:txBody>
      </p:sp>
      <p:cxnSp>
        <p:nvCxnSpPr>
          <p:cNvPr id="5" name="Straight Connector 4">
            <a:extLst>
              <a:ext uri="{FF2B5EF4-FFF2-40B4-BE49-F238E27FC236}">
                <a16:creationId xmlns:a16="http://schemas.microsoft.com/office/drawing/2014/main" id="{CDE5B548-6544-302E-9352-DFA82153FBEE}"/>
              </a:ext>
            </a:extLst>
          </p:cNvPr>
          <p:cNvCxnSpPr>
            <a:cxnSpLocks/>
          </p:cNvCxnSpPr>
          <p:nvPr/>
        </p:nvCxnSpPr>
        <p:spPr>
          <a:xfrm>
            <a:off x="8137236" y="1810327"/>
            <a:ext cx="41564" cy="422101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FA04B25-2D50-B3C7-336C-977C612EB417}"/>
              </a:ext>
            </a:extLst>
          </p:cNvPr>
          <p:cNvCxnSpPr>
            <a:cxnSpLocks/>
          </p:cNvCxnSpPr>
          <p:nvPr/>
        </p:nvCxnSpPr>
        <p:spPr>
          <a:xfrm flipH="1">
            <a:off x="5929746" y="3745346"/>
            <a:ext cx="4581236"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34FD184-8CB0-E6B5-A30C-5EC5B19EB60C}"/>
                  </a:ext>
                </a:extLst>
              </p:cNvPr>
              <p:cNvSpPr txBox="1"/>
              <p:nvPr/>
            </p:nvSpPr>
            <p:spPr>
              <a:xfrm>
                <a:off x="8158018" y="1644134"/>
                <a:ext cx="525016" cy="369332"/>
              </a:xfrm>
              <a:prstGeom prst="rect">
                <a:avLst/>
              </a:prstGeom>
              <a:noFill/>
            </p:spPr>
            <p:txBody>
              <a:bodyPr wrap="none" rtlCol="0">
                <a:spAutoFit/>
              </a:bodyPr>
              <a:lstStyle/>
              <a:p>
                <a:pPr/>
                <a14:m>
                  <m:oMathPara xmlns:m="http://schemas.openxmlformats.org/officeDocument/2006/math">
                    <m:o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oMath>
                  </m:oMathPara>
                </a14:m>
                <a:endParaRPr lang="en-CA" dirty="0"/>
              </a:p>
            </p:txBody>
          </p:sp>
        </mc:Choice>
        <mc:Fallback xmlns="">
          <p:sp>
            <p:nvSpPr>
              <p:cNvPr id="10" name="TextBox 9">
                <a:extLst>
                  <a:ext uri="{FF2B5EF4-FFF2-40B4-BE49-F238E27FC236}">
                    <a16:creationId xmlns:a16="http://schemas.microsoft.com/office/drawing/2014/main" id="{134FD184-8CB0-E6B5-A30C-5EC5B19EB60C}"/>
                  </a:ext>
                </a:extLst>
              </p:cNvPr>
              <p:cNvSpPr txBox="1">
                <a:spLocks noRot="1" noChangeAspect="1" noMove="1" noResize="1" noEditPoints="1" noAdjustHandles="1" noChangeArrowheads="1" noChangeShapeType="1" noTextEdit="1"/>
              </p:cNvSpPr>
              <p:nvPr/>
            </p:nvSpPr>
            <p:spPr>
              <a:xfrm>
                <a:off x="8158018" y="1644134"/>
                <a:ext cx="525016" cy="369332"/>
              </a:xfrm>
              <a:prstGeom prst="rect">
                <a:avLst/>
              </a:prstGeom>
              <a:blipFill>
                <a:blip r:embed="rId3"/>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D62B32B-5863-5C04-D7DD-9144F00EFA98}"/>
                  </a:ext>
                </a:extLst>
              </p:cNvPr>
              <p:cNvSpPr txBox="1"/>
              <p:nvPr/>
            </p:nvSpPr>
            <p:spPr>
              <a:xfrm>
                <a:off x="10248474" y="3745346"/>
                <a:ext cx="530338" cy="369332"/>
              </a:xfrm>
              <a:prstGeom prst="rect">
                <a:avLst/>
              </a:prstGeom>
              <a:noFill/>
            </p:spPr>
            <p:txBody>
              <a:bodyPr wrap="none" rtlCol="0">
                <a:spAutoFit/>
              </a:bodyPr>
              <a:lstStyle/>
              <a:p>
                <a:pPr/>
                <a14:m>
                  <m:oMathPara xmlns:m="http://schemas.openxmlformats.org/officeDocument/2006/math">
                    <m:oMath>
                      <m:r>
                        <m:rPr>
                          <m:sty m:val="p"/>
                        </m:rPr>
                        <a:rPr lang="en-CA" b="0" i="0" smtClean="0">
                          <a:latin typeface="Cambria Math" panose="02040503050406030204" pitchFamily="18" charset="0"/>
                        </a:rPr>
                        <m:t>Δ</m:t>
                      </m:r>
                      <m:r>
                        <a:rPr lang="en-CA" b="0" i="1" smtClean="0">
                          <a:latin typeface="Cambria Math" panose="02040503050406030204" pitchFamily="18" charset="0"/>
                        </a:rPr>
                        <m:t>𝐸</m:t>
                      </m:r>
                    </m:oMath>
                  </m:oMathPara>
                </a14:m>
                <a:endParaRPr lang="en-CA" dirty="0"/>
              </a:p>
            </p:txBody>
          </p:sp>
        </mc:Choice>
        <mc:Fallback xmlns="">
          <p:sp>
            <p:nvSpPr>
              <p:cNvPr id="11" name="TextBox 10">
                <a:extLst>
                  <a:ext uri="{FF2B5EF4-FFF2-40B4-BE49-F238E27FC236}">
                    <a16:creationId xmlns:a16="http://schemas.microsoft.com/office/drawing/2014/main" id="{1D62B32B-5863-5C04-D7DD-9144F00EFA98}"/>
                  </a:ext>
                </a:extLst>
              </p:cNvPr>
              <p:cNvSpPr txBox="1">
                <a:spLocks noRot="1" noChangeAspect="1" noMove="1" noResize="1" noEditPoints="1" noAdjustHandles="1" noChangeArrowheads="1" noChangeShapeType="1" noTextEdit="1"/>
              </p:cNvSpPr>
              <p:nvPr/>
            </p:nvSpPr>
            <p:spPr>
              <a:xfrm>
                <a:off x="10248474" y="3745346"/>
                <a:ext cx="530338" cy="369332"/>
              </a:xfrm>
              <a:prstGeom prst="rect">
                <a:avLst/>
              </a:prstGeom>
              <a:blipFill>
                <a:blip r:embed="rId4"/>
                <a:stretch>
                  <a:fillRect/>
                </a:stretch>
              </a:blipFill>
            </p:spPr>
            <p:txBody>
              <a:bodyPr/>
              <a:lstStyle/>
              <a:p>
                <a:r>
                  <a:rPr lang="en-CA">
                    <a:noFill/>
                  </a:rPr>
                  <a:t> </a:t>
                </a:r>
              </a:p>
            </p:txBody>
          </p:sp>
        </mc:Fallback>
      </mc:AlternateContent>
      <p:sp>
        <p:nvSpPr>
          <p:cNvPr id="8" name="TextBox 7">
            <a:extLst>
              <a:ext uri="{FF2B5EF4-FFF2-40B4-BE49-F238E27FC236}">
                <a16:creationId xmlns:a16="http://schemas.microsoft.com/office/drawing/2014/main" id="{9F8EF671-AF70-62EC-09C2-120F6609F2B6}"/>
              </a:ext>
            </a:extLst>
          </p:cNvPr>
          <p:cNvSpPr txBox="1"/>
          <p:nvPr/>
        </p:nvSpPr>
        <p:spPr>
          <a:xfrm>
            <a:off x="8114032" y="3726679"/>
            <a:ext cx="306494" cy="369332"/>
          </a:xfrm>
          <a:prstGeom prst="rect">
            <a:avLst/>
          </a:prstGeom>
          <a:noFill/>
        </p:spPr>
        <p:txBody>
          <a:bodyPr wrap="none" rtlCol="0">
            <a:spAutoFit/>
          </a:bodyPr>
          <a:lstStyle/>
          <a:p>
            <a:r>
              <a:rPr lang="en-CA" dirty="0"/>
              <a:t>0</a:t>
            </a:r>
          </a:p>
        </p:txBody>
      </p:sp>
      <p:sp>
        <p:nvSpPr>
          <p:cNvPr id="9" name="TextBox 8">
            <a:extLst>
              <a:ext uri="{FF2B5EF4-FFF2-40B4-BE49-F238E27FC236}">
                <a16:creationId xmlns:a16="http://schemas.microsoft.com/office/drawing/2014/main" id="{B6CF1259-618B-7A9D-7F47-079A9E03EB6D}"/>
              </a:ext>
            </a:extLst>
          </p:cNvPr>
          <p:cNvSpPr txBox="1"/>
          <p:nvPr/>
        </p:nvSpPr>
        <p:spPr>
          <a:xfrm>
            <a:off x="7878505" y="3427713"/>
            <a:ext cx="306494" cy="369332"/>
          </a:xfrm>
          <a:prstGeom prst="rect">
            <a:avLst/>
          </a:prstGeom>
          <a:noFill/>
        </p:spPr>
        <p:txBody>
          <a:bodyPr wrap="none" rtlCol="0">
            <a:spAutoFit/>
          </a:bodyPr>
          <a:lstStyle/>
          <a:p>
            <a:r>
              <a:rPr lang="en-CA" dirty="0"/>
              <a:t>0</a:t>
            </a:r>
          </a:p>
        </p:txBody>
      </p:sp>
      <p:sp>
        <p:nvSpPr>
          <p:cNvPr id="12" name="Oval 11">
            <a:extLst>
              <a:ext uri="{FF2B5EF4-FFF2-40B4-BE49-F238E27FC236}">
                <a16:creationId xmlns:a16="http://schemas.microsoft.com/office/drawing/2014/main" id="{AA031778-F3ED-E37D-05E5-D2494B7E420D}"/>
              </a:ext>
            </a:extLst>
          </p:cNvPr>
          <p:cNvSpPr/>
          <p:nvPr/>
        </p:nvSpPr>
        <p:spPr>
          <a:xfrm>
            <a:off x="8766161" y="3008842"/>
            <a:ext cx="146930" cy="103807"/>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EBE203F-1E96-735A-BD84-46F6ACF04A85}"/>
                  </a:ext>
                </a:extLst>
              </p:cNvPr>
              <p:cNvSpPr txBox="1"/>
              <p:nvPr/>
            </p:nvSpPr>
            <p:spPr>
              <a:xfrm>
                <a:off x="8951129" y="2824176"/>
                <a:ext cx="1741566" cy="370038"/>
              </a:xfrm>
              <a:prstGeom prst="rect">
                <a:avLst/>
              </a:prstGeom>
              <a:noFill/>
            </p:spPr>
            <p:txBody>
              <a:bodyPr wrap="none" rtlCol="0">
                <a:spAutoFit/>
              </a:bodyPr>
              <a:lstStyle/>
              <a:p>
                <a:pPr/>
                <a14:m>
                  <m:oMathPara xmlns:m="http://schemas.openxmlformats.org/officeDocument/2006/math">
                    <m:oMath>
                      <m:sSup>
                        <m:sSupPr>
                          <m:ctrlPr>
                            <a:rPr lang="en-CA" i="1" dirty="0" smtClean="0">
                              <a:latin typeface="Cambria Math" panose="02040503050406030204" pitchFamily="18" charset="0"/>
                            </a:rPr>
                          </m:ctrlPr>
                        </m:sSupPr>
                        <m:e>
                          <m:r>
                            <a:rPr lang="en-CA" i="1" dirty="0" smtClean="0">
                              <a:latin typeface="Cambria Math" panose="02040503050406030204" pitchFamily="18" charset="0"/>
                            </a:rPr>
                            <m:t>𝜆</m:t>
                          </m:r>
                        </m:e>
                        <m:sup>
                          <m:r>
                            <a:rPr lang="en-CA" b="0" i="1" dirty="0" smtClean="0">
                              <a:latin typeface="Cambria Math" panose="02040503050406030204" pitchFamily="18" charset="0"/>
                            </a:rPr>
                            <m:t>𝐴</m:t>
                          </m:r>
                        </m:sup>
                      </m:sSup>
                      <m:r>
                        <a:rPr lang="en-CA" b="0" i="1" dirty="0" smtClean="0">
                          <a:latin typeface="Cambria Math" panose="02040503050406030204" pitchFamily="18" charset="0"/>
                        </a:rPr>
                        <m:t>=</m:t>
                      </m:r>
                      <m:r>
                        <m:rPr>
                          <m:sty m:val="p"/>
                        </m:rPr>
                        <a:rPr lang="en-CA" b="0" i="0" dirty="0" smtClean="0">
                          <a:latin typeface="Cambria Math" panose="02040503050406030204" pitchFamily="18" charset="0"/>
                        </a:rPr>
                        <m:t>Δ</m:t>
                      </m:r>
                      <m:sSup>
                        <m:sSupPr>
                          <m:ctrlPr>
                            <a:rPr lang="en-CA" b="0" i="1" dirty="0" smtClean="0">
                              <a:latin typeface="Cambria Math" panose="02040503050406030204" pitchFamily="18" charset="0"/>
                            </a:rPr>
                          </m:ctrlPr>
                        </m:sSupPr>
                        <m:e>
                          <m:r>
                            <a:rPr lang="en-CA" b="0" i="1" dirty="0" smtClean="0">
                              <a:latin typeface="Cambria Math" panose="02040503050406030204" pitchFamily="18" charset="0"/>
                            </a:rPr>
                            <m:t>𝐶</m:t>
                          </m:r>
                        </m:e>
                        <m:sup>
                          <m:r>
                            <a:rPr lang="en-CA" b="0" i="1" dirty="0" smtClean="0">
                              <a:latin typeface="Cambria Math" panose="02040503050406030204" pitchFamily="18" charset="0"/>
                            </a:rPr>
                            <m:t>𝐴</m:t>
                          </m:r>
                        </m:sup>
                      </m:sSup>
                      <m:r>
                        <a:rPr lang="en-CA" b="0" i="1" dirty="0" smtClean="0">
                          <a:latin typeface="Cambria Math" panose="02040503050406030204" pitchFamily="18" charset="0"/>
                        </a:rPr>
                        <m:t>/</m:t>
                      </m:r>
                      <m:r>
                        <m:rPr>
                          <m:sty m:val="p"/>
                        </m:rPr>
                        <a:rPr lang="en-CA" b="0" i="0" dirty="0" smtClean="0">
                          <a:latin typeface="Cambria Math" panose="02040503050406030204" pitchFamily="18" charset="0"/>
                        </a:rPr>
                        <m:t>Δ</m:t>
                      </m:r>
                      <m:sSup>
                        <m:sSupPr>
                          <m:ctrlPr>
                            <a:rPr lang="en-CA" b="0" i="1" dirty="0" smtClean="0">
                              <a:latin typeface="Cambria Math" panose="02040503050406030204" pitchFamily="18" charset="0"/>
                            </a:rPr>
                          </m:ctrlPr>
                        </m:sSupPr>
                        <m:e>
                          <m:r>
                            <a:rPr lang="en-CA" b="0" i="1" dirty="0" smtClean="0">
                              <a:latin typeface="Cambria Math" panose="02040503050406030204" pitchFamily="18" charset="0"/>
                            </a:rPr>
                            <m:t>𝐸</m:t>
                          </m:r>
                        </m:e>
                        <m:sup>
                          <m:r>
                            <a:rPr lang="en-CA" b="0" i="1" dirty="0" smtClean="0">
                              <a:latin typeface="Cambria Math" panose="02040503050406030204" pitchFamily="18" charset="0"/>
                            </a:rPr>
                            <m:t>𝐴</m:t>
                          </m:r>
                        </m:sup>
                      </m:sSup>
                    </m:oMath>
                  </m:oMathPara>
                </a14:m>
                <a:endParaRPr lang="en-CA" dirty="0"/>
              </a:p>
            </p:txBody>
          </p:sp>
        </mc:Choice>
        <mc:Fallback xmlns="">
          <p:sp>
            <p:nvSpPr>
              <p:cNvPr id="13" name="TextBox 12">
                <a:extLst>
                  <a:ext uri="{FF2B5EF4-FFF2-40B4-BE49-F238E27FC236}">
                    <a16:creationId xmlns:a16="http://schemas.microsoft.com/office/drawing/2014/main" id="{2EBE203F-1E96-735A-BD84-46F6ACF04A85}"/>
                  </a:ext>
                </a:extLst>
              </p:cNvPr>
              <p:cNvSpPr txBox="1">
                <a:spLocks noRot="1" noChangeAspect="1" noMove="1" noResize="1" noEditPoints="1" noAdjustHandles="1" noChangeArrowheads="1" noChangeShapeType="1" noTextEdit="1"/>
              </p:cNvSpPr>
              <p:nvPr/>
            </p:nvSpPr>
            <p:spPr>
              <a:xfrm>
                <a:off x="8951129" y="2824176"/>
                <a:ext cx="1741566" cy="370038"/>
              </a:xfrm>
              <a:prstGeom prst="rect">
                <a:avLst/>
              </a:prstGeom>
              <a:blipFill>
                <a:blip r:embed="rId5"/>
                <a:stretch>
                  <a:fillRect b="-16393"/>
                </a:stretch>
              </a:blipFill>
            </p:spPr>
            <p:txBody>
              <a:bodyPr/>
              <a:lstStyle/>
              <a:p>
                <a:r>
                  <a:rPr lang="en-CA">
                    <a:noFill/>
                  </a:rPr>
                  <a:t> </a:t>
                </a:r>
              </a:p>
            </p:txBody>
          </p:sp>
        </mc:Fallback>
      </mc:AlternateContent>
      <p:cxnSp>
        <p:nvCxnSpPr>
          <p:cNvPr id="15" name="Straight Connector 14">
            <a:extLst>
              <a:ext uri="{FF2B5EF4-FFF2-40B4-BE49-F238E27FC236}">
                <a16:creationId xmlns:a16="http://schemas.microsoft.com/office/drawing/2014/main" id="{73DB07CA-96E5-811D-3BE4-1F2C5F8D0787}"/>
              </a:ext>
            </a:extLst>
          </p:cNvPr>
          <p:cNvCxnSpPr>
            <a:cxnSpLocks/>
            <a:endCxn id="12" idx="2"/>
          </p:cNvCxnSpPr>
          <p:nvPr/>
        </p:nvCxnSpPr>
        <p:spPr>
          <a:xfrm>
            <a:off x="8178800" y="3058382"/>
            <a:ext cx="587361" cy="2364"/>
          </a:xfrm>
          <a:prstGeom prst="line">
            <a:avLst/>
          </a:prstGeom>
          <a:ln w="571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7242F7D-B717-9FF2-71D4-4D951DEDD2FD}"/>
              </a:ext>
            </a:extLst>
          </p:cNvPr>
          <p:cNvCxnSpPr>
            <a:cxnSpLocks/>
            <a:endCxn id="12" idx="4"/>
          </p:cNvCxnSpPr>
          <p:nvPr/>
        </p:nvCxnSpPr>
        <p:spPr>
          <a:xfrm flipV="1">
            <a:off x="8839626" y="3112649"/>
            <a:ext cx="0" cy="614030"/>
          </a:xfrm>
          <a:prstGeom prst="line">
            <a:avLst/>
          </a:prstGeom>
          <a:ln w="57150">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8960A72-EFF0-68BF-76DB-434F8A0F7F94}"/>
                  </a:ext>
                </a:extLst>
              </p:cNvPr>
              <p:cNvSpPr txBox="1"/>
              <p:nvPr/>
            </p:nvSpPr>
            <p:spPr>
              <a:xfrm>
                <a:off x="7536557" y="2914723"/>
                <a:ext cx="658385" cy="370038"/>
              </a:xfrm>
              <a:prstGeom prst="rect">
                <a:avLst/>
              </a:prstGeom>
              <a:noFill/>
            </p:spPr>
            <p:txBody>
              <a:bodyPr wrap="none" rtlCol="0">
                <a:spAutoFit/>
              </a:bodyPr>
              <a:lstStyle/>
              <a:p>
                <a:pPr/>
                <a14:m>
                  <m:oMathPara xmlns:m="http://schemas.openxmlformats.org/officeDocument/2006/math">
                    <m:oMath>
                      <m:r>
                        <m:rPr>
                          <m:sty m:val="p"/>
                        </m:rPr>
                        <a:rPr lang="en-CA" dirty="0">
                          <a:latin typeface="Cambria Math" panose="02040503050406030204" pitchFamily="18" charset="0"/>
                        </a:rPr>
                        <m:t>Δ</m:t>
                      </m:r>
                      <m:sSup>
                        <m:sSupPr>
                          <m:ctrlPr>
                            <a:rPr lang="en-CA" i="1" dirty="0">
                              <a:latin typeface="Cambria Math" panose="02040503050406030204" pitchFamily="18" charset="0"/>
                            </a:rPr>
                          </m:ctrlPr>
                        </m:sSupPr>
                        <m:e>
                          <m:r>
                            <a:rPr lang="en-CA" i="1" dirty="0">
                              <a:latin typeface="Cambria Math" panose="02040503050406030204" pitchFamily="18" charset="0"/>
                            </a:rPr>
                            <m:t>𝐶</m:t>
                          </m:r>
                        </m:e>
                        <m:sup>
                          <m:r>
                            <a:rPr lang="en-CA" i="1" dirty="0">
                              <a:latin typeface="Cambria Math" panose="02040503050406030204" pitchFamily="18" charset="0"/>
                            </a:rPr>
                            <m:t>𝐴</m:t>
                          </m:r>
                        </m:sup>
                      </m:sSup>
                    </m:oMath>
                  </m:oMathPara>
                </a14:m>
                <a:endParaRPr lang="en-CA" dirty="0"/>
              </a:p>
            </p:txBody>
          </p:sp>
        </mc:Choice>
        <mc:Fallback xmlns="">
          <p:sp>
            <p:nvSpPr>
              <p:cNvPr id="24" name="TextBox 23">
                <a:extLst>
                  <a:ext uri="{FF2B5EF4-FFF2-40B4-BE49-F238E27FC236}">
                    <a16:creationId xmlns:a16="http://schemas.microsoft.com/office/drawing/2014/main" id="{68960A72-EFF0-68BF-76DB-434F8A0F7F94}"/>
                  </a:ext>
                </a:extLst>
              </p:cNvPr>
              <p:cNvSpPr txBox="1">
                <a:spLocks noRot="1" noChangeAspect="1" noMove="1" noResize="1" noEditPoints="1" noAdjustHandles="1" noChangeArrowheads="1" noChangeShapeType="1" noTextEdit="1"/>
              </p:cNvSpPr>
              <p:nvPr/>
            </p:nvSpPr>
            <p:spPr>
              <a:xfrm>
                <a:off x="7536557" y="2914723"/>
                <a:ext cx="658385" cy="370038"/>
              </a:xfrm>
              <a:prstGeom prst="rect">
                <a:avLst/>
              </a:prstGeom>
              <a:blipFill>
                <a:blip r:embed="rId6"/>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780C8201-04DB-2FA2-17C3-5CF3659DE8B6}"/>
                  </a:ext>
                </a:extLst>
              </p:cNvPr>
              <p:cNvSpPr txBox="1"/>
              <p:nvPr/>
            </p:nvSpPr>
            <p:spPr>
              <a:xfrm>
                <a:off x="8555251" y="3764014"/>
                <a:ext cx="660309" cy="370038"/>
              </a:xfrm>
              <a:prstGeom prst="rect">
                <a:avLst/>
              </a:prstGeom>
              <a:noFill/>
            </p:spPr>
            <p:txBody>
              <a:bodyPr wrap="none" rtlCol="0">
                <a:spAutoFit/>
              </a:bodyPr>
              <a:lstStyle/>
              <a:p>
                <a:pPr/>
                <a14:m>
                  <m:oMathPara xmlns:m="http://schemas.openxmlformats.org/officeDocument/2006/math">
                    <m:oMath>
                      <m:r>
                        <m:rPr>
                          <m:sty m:val="p"/>
                        </m:rPr>
                        <a:rPr lang="en-CA" dirty="0" smtClean="0">
                          <a:latin typeface="Cambria Math" panose="02040503050406030204" pitchFamily="18" charset="0"/>
                        </a:rPr>
                        <m:t>Δ</m:t>
                      </m:r>
                      <m:sSup>
                        <m:sSupPr>
                          <m:ctrlPr>
                            <a:rPr lang="en-CA" b="0" i="1" dirty="0" smtClean="0">
                              <a:latin typeface="Cambria Math" panose="02040503050406030204" pitchFamily="18" charset="0"/>
                            </a:rPr>
                          </m:ctrlPr>
                        </m:sSupPr>
                        <m:e>
                          <m:r>
                            <a:rPr lang="en-CA" b="0" i="1" dirty="0" smtClean="0">
                              <a:latin typeface="Cambria Math" panose="02040503050406030204" pitchFamily="18" charset="0"/>
                            </a:rPr>
                            <m:t>𝐸</m:t>
                          </m:r>
                        </m:e>
                        <m:sup>
                          <m:r>
                            <a:rPr lang="en-CA" i="1" dirty="0">
                              <a:latin typeface="Cambria Math" panose="02040503050406030204" pitchFamily="18" charset="0"/>
                            </a:rPr>
                            <m:t>𝐴</m:t>
                          </m:r>
                        </m:sup>
                      </m:sSup>
                    </m:oMath>
                  </m:oMathPara>
                </a14:m>
                <a:endParaRPr lang="en-CA" dirty="0"/>
              </a:p>
            </p:txBody>
          </p:sp>
        </mc:Choice>
        <mc:Fallback xmlns="">
          <p:sp>
            <p:nvSpPr>
              <p:cNvPr id="25" name="TextBox 24">
                <a:extLst>
                  <a:ext uri="{FF2B5EF4-FFF2-40B4-BE49-F238E27FC236}">
                    <a16:creationId xmlns:a16="http://schemas.microsoft.com/office/drawing/2014/main" id="{780C8201-04DB-2FA2-17C3-5CF3659DE8B6}"/>
                  </a:ext>
                </a:extLst>
              </p:cNvPr>
              <p:cNvSpPr txBox="1">
                <a:spLocks noRot="1" noChangeAspect="1" noMove="1" noResize="1" noEditPoints="1" noAdjustHandles="1" noChangeArrowheads="1" noChangeShapeType="1" noTextEdit="1"/>
              </p:cNvSpPr>
              <p:nvPr/>
            </p:nvSpPr>
            <p:spPr>
              <a:xfrm>
                <a:off x="8555251" y="3764014"/>
                <a:ext cx="660309" cy="370038"/>
              </a:xfrm>
              <a:prstGeom prst="rect">
                <a:avLst/>
              </a:prstGeom>
              <a:blipFill>
                <a:blip r:embed="rId7"/>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32952370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05C0A-3348-4E4C-F11A-E322F75C77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CE995-F03C-FE2B-4C50-374210876DC7}"/>
              </a:ext>
            </a:extLst>
          </p:cNvPr>
          <p:cNvSpPr>
            <a:spLocks noGrp="1"/>
          </p:cNvSpPr>
          <p:nvPr>
            <p:ph type="title"/>
          </p:nvPr>
        </p:nvSpPr>
        <p:spPr>
          <a:xfrm>
            <a:off x="482600" y="597408"/>
            <a:ext cx="10634472" cy="1117092"/>
          </a:xfrm>
        </p:spPr>
        <p:txBody>
          <a:bodyPr>
            <a:normAutofit fontScale="90000"/>
          </a:bodyPr>
          <a:lstStyle/>
          <a:p>
            <a:r>
              <a:rPr lang="en-CA" sz="4800" dirty="0"/>
              <a:t>The cost effectiveness plane and the ICER</a:t>
            </a:r>
          </a:p>
        </p:txBody>
      </p:sp>
      <p:sp>
        <p:nvSpPr>
          <p:cNvPr id="3" name="Content Placeholder 2">
            <a:extLst>
              <a:ext uri="{FF2B5EF4-FFF2-40B4-BE49-F238E27FC236}">
                <a16:creationId xmlns:a16="http://schemas.microsoft.com/office/drawing/2014/main" id="{12E57C73-7FBE-C90F-6074-556E1A0BBCF1}"/>
              </a:ext>
            </a:extLst>
          </p:cNvPr>
          <p:cNvSpPr>
            <a:spLocks noGrp="1"/>
          </p:cNvSpPr>
          <p:nvPr>
            <p:ph idx="1"/>
          </p:nvPr>
        </p:nvSpPr>
        <p:spPr>
          <a:xfrm>
            <a:off x="482600" y="1943100"/>
            <a:ext cx="4634345" cy="3936491"/>
          </a:xfrm>
        </p:spPr>
        <p:txBody>
          <a:bodyPr/>
          <a:lstStyle/>
          <a:p>
            <a:pPr marL="342900" indent="-342900">
              <a:buFont typeface="Wingdings" panose="05000000000000000000" pitchFamily="2" charset="2"/>
              <a:buChar char="§"/>
            </a:pPr>
            <a:r>
              <a:rPr lang="en-US" dirty="0"/>
              <a:t>We will speak about quadrants as first second, third or fourth.</a:t>
            </a:r>
          </a:p>
          <a:p>
            <a:pPr marL="342900" indent="-342900">
              <a:buFont typeface="Wingdings" panose="05000000000000000000" pitchFamily="2" charset="2"/>
              <a:buChar char="§"/>
            </a:pPr>
            <a:r>
              <a:rPr lang="en-US" dirty="0"/>
              <a:t>Or we will speak of them as </a:t>
            </a:r>
            <a:br>
              <a:rPr lang="en-US" dirty="0"/>
            </a:br>
            <a:r>
              <a:rPr lang="en-US" dirty="0"/>
              <a:t>North East (I), North West (II), South West (III) or South East.</a:t>
            </a:r>
            <a:endParaRPr lang="en-CA" dirty="0"/>
          </a:p>
        </p:txBody>
      </p:sp>
      <p:cxnSp>
        <p:nvCxnSpPr>
          <p:cNvPr id="5" name="Straight Connector 4">
            <a:extLst>
              <a:ext uri="{FF2B5EF4-FFF2-40B4-BE49-F238E27FC236}">
                <a16:creationId xmlns:a16="http://schemas.microsoft.com/office/drawing/2014/main" id="{703A4559-67DB-478A-BBCB-F369B064ABF4}"/>
              </a:ext>
            </a:extLst>
          </p:cNvPr>
          <p:cNvCxnSpPr>
            <a:cxnSpLocks/>
          </p:cNvCxnSpPr>
          <p:nvPr/>
        </p:nvCxnSpPr>
        <p:spPr>
          <a:xfrm>
            <a:off x="8137236" y="1810327"/>
            <a:ext cx="41564" cy="422101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CB8B71F-9743-A7FC-CF66-FE70CB69AE1B}"/>
              </a:ext>
            </a:extLst>
          </p:cNvPr>
          <p:cNvCxnSpPr>
            <a:cxnSpLocks/>
          </p:cNvCxnSpPr>
          <p:nvPr/>
        </p:nvCxnSpPr>
        <p:spPr>
          <a:xfrm flipH="1">
            <a:off x="5929746" y="3745346"/>
            <a:ext cx="4581236"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D878963-5EE0-01F0-57A1-4BD79DC55BCF}"/>
                  </a:ext>
                </a:extLst>
              </p:cNvPr>
              <p:cNvSpPr txBox="1"/>
              <p:nvPr/>
            </p:nvSpPr>
            <p:spPr>
              <a:xfrm>
                <a:off x="8158018" y="1644134"/>
                <a:ext cx="525016" cy="369332"/>
              </a:xfrm>
              <a:prstGeom prst="rect">
                <a:avLst/>
              </a:prstGeom>
              <a:noFill/>
            </p:spPr>
            <p:txBody>
              <a:bodyPr wrap="none" rtlCol="0">
                <a:spAutoFit/>
              </a:bodyPr>
              <a:lstStyle/>
              <a:p>
                <a:pPr/>
                <a14:m>
                  <m:oMathPara xmlns:m="http://schemas.openxmlformats.org/officeDocument/2006/math">
                    <m:o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oMath>
                  </m:oMathPara>
                </a14:m>
                <a:endParaRPr lang="en-CA" dirty="0"/>
              </a:p>
            </p:txBody>
          </p:sp>
        </mc:Choice>
        <mc:Fallback xmlns="">
          <p:sp>
            <p:nvSpPr>
              <p:cNvPr id="10" name="TextBox 9">
                <a:extLst>
                  <a:ext uri="{FF2B5EF4-FFF2-40B4-BE49-F238E27FC236}">
                    <a16:creationId xmlns:a16="http://schemas.microsoft.com/office/drawing/2014/main" id="{134FD184-8CB0-E6B5-A30C-5EC5B19EB60C}"/>
                  </a:ext>
                </a:extLst>
              </p:cNvPr>
              <p:cNvSpPr txBox="1">
                <a:spLocks noRot="1" noChangeAspect="1" noMove="1" noResize="1" noEditPoints="1" noAdjustHandles="1" noChangeArrowheads="1" noChangeShapeType="1" noTextEdit="1"/>
              </p:cNvSpPr>
              <p:nvPr/>
            </p:nvSpPr>
            <p:spPr>
              <a:xfrm>
                <a:off x="8158018" y="1644134"/>
                <a:ext cx="525016" cy="369332"/>
              </a:xfrm>
              <a:prstGeom prst="rect">
                <a:avLst/>
              </a:prstGeom>
              <a:blipFill>
                <a:blip r:embed="rId3"/>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0D15337-EBD6-3DE7-DA04-3B3D2327B46A}"/>
                  </a:ext>
                </a:extLst>
              </p:cNvPr>
              <p:cNvSpPr txBox="1"/>
              <p:nvPr/>
            </p:nvSpPr>
            <p:spPr>
              <a:xfrm>
                <a:off x="10248474" y="3745346"/>
                <a:ext cx="530338" cy="369332"/>
              </a:xfrm>
              <a:prstGeom prst="rect">
                <a:avLst/>
              </a:prstGeom>
              <a:noFill/>
            </p:spPr>
            <p:txBody>
              <a:bodyPr wrap="none" rtlCol="0">
                <a:spAutoFit/>
              </a:bodyPr>
              <a:lstStyle/>
              <a:p>
                <a:pPr/>
                <a14:m>
                  <m:oMathPara xmlns:m="http://schemas.openxmlformats.org/officeDocument/2006/math">
                    <m:oMath>
                      <m:r>
                        <m:rPr>
                          <m:sty m:val="p"/>
                        </m:rPr>
                        <a:rPr lang="en-CA" b="0" i="0" smtClean="0">
                          <a:latin typeface="Cambria Math" panose="02040503050406030204" pitchFamily="18" charset="0"/>
                        </a:rPr>
                        <m:t>Δ</m:t>
                      </m:r>
                      <m:r>
                        <a:rPr lang="en-CA" b="0" i="1" smtClean="0">
                          <a:latin typeface="Cambria Math" panose="02040503050406030204" pitchFamily="18" charset="0"/>
                        </a:rPr>
                        <m:t>𝐸</m:t>
                      </m:r>
                    </m:oMath>
                  </m:oMathPara>
                </a14:m>
                <a:endParaRPr lang="en-CA" dirty="0"/>
              </a:p>
            </p:txBody>
          </p:sp>
        </mc:Choice>
        <mc:Fallback xmlns="">
          <p:sp>
            <p:nvSpPr>
              <p:cNvPr id="11" name="TextBox 10">
                <a:extLst>
                  <a:ext uri="{FF2B5EF4-FFF2-40B4-BE49-F238E27FC236}">
                    <a16:creationId xmlns:a16="http://schemas.microsoft.com/office/drawing/2014/main" id="{1D62B32B-5863-5C04-D7DD-9144F00EFA98}"/>
                  </a:ext>
                </a:extLst>
              </p:cNvPr>
              <p:cNvSpPr txBox="1">
                <a:spLocks noRot="1" noChangeAspect="1" noMove="1" noResize="1" noEditPoints="1" noAdjustHandles="1" noChangeArrowheads="1" noChangeShapeType="1" noTextEdit="1"/>
              </p:cNvSpPr>
              <p:nvPr/>
            </p:nvSpPr>
            <p:spPr>
              <a:xfrm>
                <a:off x="10248474" y="3745346"/>
                <a:ext cx="530338" cy="369332"/>
              </a:xfrm>
              <a:prstGeom prst="rect">
                <a:avLst/>
              </a:prstGeom>
              <a:blipFill>
                <a:blip r:embed="rId4"/>
                <a:stretch>
                  <a:fillRect/>
                </a:stretch>
              </a:blipFill>
            </p:spPr>
            <p:txBody>
              <a:bodyPr/>
              <a:lstStyle/>
              <a:p>
                <a:r>
                  <a:rPr lang="en-CA">
                    <a:noFill/>
                  </a:rPr>
                  <a:t> </a:t>
                </a:r>
              </a:p>
            </p:txBody>
          </p:sp>
        </mc:Fallback>
      </mc:AlternateContent>
      <p:sp>
        <p:nvSpPr>
          <p:cNvPr id="8" name="TextBox 7">
            <a:extLst>
              <a:ext uri="{FF2B5EF4-FFF2-40B4-BE49-F238E27FC236}">
                <a16:creationId xmlns:a16="http://schemas.microsoft.com/office/drawing/2014/main" id="{EF778B2A-53EB-EFD8-36BD-B8D687F6E536}"/>
              </a:ext>
            </a:extLst>
          </p:cNvPr>
          <p:cNvSpPr txBox="1"/>
          <p:nvPr/>
        </p:nvSpPr>
        <p:spPr>
          <a:xfrm>
            <a:off x="8114032" y="3726679"/>
            <a:ext cx="306494" cy="369332"/>
          </a:xfrm>
          <a:prstGeom prst="rect">
            <a:avLst/>
          </a:prstGeom>
          <a:noFill/>
        </p:spPr>
        <p:txBody>
          <a:bodyPr wrap="none" rtlCol="0">
            <a:spAutoFit/>
          </a:bodyPr>
          <a:lstStyle/>
          <a:p>
            <a:r>
              <a:rPr lang="en-CA" dirty="0"/>
              <a:t>0</a:t>
            </a:r>
          </a:p>
        </p:txBody>
      </p:sp>
      <p:sp>
        <p:nvSpPr>
          <p:cNvPr id="9" name="TextBox 8">
            <a:extLst>
              <a:ext uri="{FF2B5EF4-FFF2-40B4-BE49-F238E27FC236}">
                <a16:creationId xmlns:a16="http://schemas.microsoft.com/office/drawing/2014/main" id="{09BC0CFD-11C6-2794-1E0F-5E80CAC1B892}"/>
              </a:ext>
            </a:extLst>
          </p:cNvPr>
          <p:cNvSpPr txBox="1"/>
          <p:nvPr/>
        </p:nvSpPr>
        <p:spPr>
          <a:xfrm>
            <a:off x="7878505" y="3427713"/>
            <a:ext cx="306494" cy="369332"/>
          </a:xfrm>
          <a:prstGeom prst="rect">
            <a:avLst/>
          </a:prstGeom>
          <a:noFill/>
        </p:spPr>
        <p:txBody>
          <a:bodyPr wrap="none" rtlCol="0">
            <a:spAutoFit/>
          </a:bodyPr>
          <a:lstStyle/>
          <a:p>
            <a:r>
              <a:rPr lang="en-CA" dirty="0"/>
              <a:t>0</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2FEAE51-2F2A-F4C1-A87A-830CBA1EC3F2}"/>
                  </a:ext>
                </a:extLst>
              </p:cNvPr>
              <p:cNvSpPr txBox="1"/>
              <p:nvPr/>
            </p:nvSpPr>
            <p:spPr>
              <a:xfrm>
                <a:off x="8861196" y="2375555"/>
                <a:ext cx="490839" cy="769441"/>
              </a:xfrm>
              <a:prstGeom prst="rect">
                <a:avLst/>
              </a:prstGeom>
              <a:noFill/>
            </p:spPr>
            <p:txBody>
              <a:bodyPr wrap="none" rtlCol="0">
                <a:spAutoFit/>
              </a:bodyPr>
              <a:lstStyle/>
              <a:p>
                <a:pPr/>
                <a14:m>
                  <m:oMathPara xmlns:m="http://schemas.openxmlformats.org/officeDocument/2006/math">
                    <m:oMath>
                      <m:r>
                        <m:rPr>
                          <m:sty m:val="p"/>
                        </m:rPr>
                        <a:rPr lang="en-US" sz="4400" b="0" i="0" smtClean="0">
                          <a:latin typeface="Cambria Math" panose="02040503050406030204" pitchFamily="18" charset="0"/>
                        </a:rPr>
                        <m:t>I</m:t>
                      </m:r>
                    </m:oMath>
                  </m:oMathPara>
                </a14:m>
                <a:endParaRPr lang="en-CA" sz="4400" dirty="0"/>
              </a:p>
            </p:txBody>
          </p:sp>
        </mc:Choice>
        <mc:Fallback xmlns="">
          <p:sp>
            <p:nvSpPr>
              <p:cNvPr id="4" name="TextBox 3">
                <a:extLst>
                  <a:ext uri="{FF2B5EF4-FFF2-40B4-BE49-F238E27FC236}">
                    <a16:creationId xmlns:a16="http://schemas.microsoft.com/office/drawing/2014/main" id="{12FEAE51-2F2A-F4C1-A87A-830CBA1EC3F2}"/>
                  </a:ext>
                </a:extLst>
              </p:cNvPr>
              <p:cNvSpPr txBox="1">
                <a:spLocks noRot="1" noChangeAspect="1" noMove="1" noResize="1" noEditPoints="1" noAdjustHandles="1" noChangeArrowheads="1" noChangeShapeType="1" noTextEdit="1"/>
              </p:cNvSpPr>
              <p:nvPr/>
            </p:nvSpPr>
            <p:spPr>
              <a:xfrm>
                <a:off x="8861196" y="2375555"/>
                <a:ext cx="490839" cy="769441"/>
              </a:xfrm>
              <a:prstGeom prst="rect">
                <a:avLst/>
              </a:prstGeom>
              <a:blipFill>
                <a:blip r:embed="rId5"/>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58D38C4-EB52-D026-DC9F-1FB9D34DD0D0}"/>
                  </a:ext>
                </a:extLst>
              </p:cNvPr>
              <p:cNvSpPr txBox="1"/>
              <p:nvPr/>
            </p:nvSpPr>
            <p:spPr>
              <a:xfrm>
                <a:off x="3923907" y="2375554"/>
                <a:ext cx="6094428" cy="769441"/>
              </a:xfrm>
              <a:prstGeom prst="rect">
                <a:avLst/>
              </a:prstGeom>
              <a:noFill/>
            </p:spPr>
            <p:txBody>
              <a:bodyPr wrap="square">
                <a:spAutoFit/>
              </a:bodyPr>
              <a:lstStyle/>
              <a:p>
                <a:pPr/>
                <a14:m>
                  <m:oMathPara xmlns:m="http://schemas.openxmlformats.org/officeDocument/2006/math">
                    <m:oMath>
                      <m:r>
                        <m:rPr>
                          <m:sty m:val="p"/>
                        </m:rPr>
                        <a:rPr lang="en-US" sz="4400" b="0" i="0" smtClean="0">
                          <a:latin typeface="Cambria Math" panose="02040503050406030204" pitchFamily="18" charset="0"/>
                        </a:rPr>
                        <m:t>II</m:t>
                      </m:r>
                    </m:oMath>
                  </m:oMathPara>
                </a14:m>
                <a:endParaRPr lang="en-CA" dirty="0"/>
              </a:p>
            </p:txBody>
          </p:sp>
        </mc:Choice>
        <mc:Fallback xmlns="">
          <p:sp>
            <p:nvSpPr>
              <p:cNvPr id="14" name="TextBox 13">
                <a:extLst>
                  <a:ext uri="{FF2B5EF4-FFF2-40B4-BE49-F238E27FC236}">
                    <a16:creationId xmlns:a16="http://schemas.microsoft.com/office/drawing/2014/main" id="{558D38C4-EB52-D026-DC9F-1FB9D34DD0D0}"/>
                  </a:ext>
                </a:extLst>
              </p:cNvPr>
              <p:cNvSpPr txBox="1">
                <a:spLocks noRot="1" noChangeAspect="1" noMove="1" noResize="1" noEditPoints="1" noAdjustHandles="1" noChangeArrowheads="1" noChangeShapeType="1" noTextEdit="1"/>
              </p:cNvSpPr>
              <p:nvPr/>
            </p:nvSpPr>
            <p:spPr>
              <a:xfrm>
                <a:off x="3923907" y="2375554"/>
                <a:ext cx="6094428" cy="769441"/>
              </a:xfrm>
              <a:prstGeom prst="rect">
                <a:avLst/>
              </a:prstGeom>
              <a:blipFill>
                <a:blip r:embed="rId6"/>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A1F202D-A0D9-9C48-D523-3C78CC20E50F}"/>
                  </a:ext>
                </a:extLst>
              </p:cNvPr>
              <p:cNvSpPr txBox="1"/>
              <p:nvPr/>
            </p:nvSpPr>
            <p:spPr>
              <a:xfrm>
                <a:off x="3924022" y="4324611"/>
                <a:ext cx="6094428" cy="769441"/>
              </a:xfrm>
              <a:prstGeom prst="rect">
                <a:avLst/>
              </a:prstGeom>
              <a:noFill/>
            </p:spPr>
            <p:txBody>
              <a:bodyPr wrap="square">
                <a:spAutoFit/>
              </a:bodyPr>
              <a:lstStyle/>
              <a:p>
                <a:pPr/>
                <a14:m>
                  <m:oMathPara xmlns:m="http://schemas.openxmlformats.org/officeDocument/2006/math">
                    <m:oMath>
                      <m:r>
                        <m:rPr>
                          <m:sty m:val="p"/>
                        </m:rPr>
                        <a:rPr lang="en-US" sz="4400" b="0" i="0" smtClean="0">
                          <a:latin typeface="Cambria Math" panose="02040503050406030204" pitchFamily="18" charset="0"/>
                        </a:rPr>
                        <m:t>III</m:t>
                      </m:r>
                    </m:oMath>
                  </m:oMathPara>
                </a14:m>
                <a:endParaRPr lang="en-CA" dirty="0"/>
              </a:p>
            </p:txBody>
          </p:sp>
        </mc:Choice>
        <mc:Fallback xmlns="">
          <p:sp>
            <p:nvSpPr>
              <p:cNvPr id="17" name="TextBox 16">
                <a:extLst>
                  <a:ext uri="{FF2B5EF4-FFF2-40B4-BE49-F238E27FC236}">
                    <a16:creationId xmlns:a16="http://schemas.microsoft.com/office/drawing/2014/main" id="{BA1F202D-A0D9-9C48-D523-3C78CC20E50F}"/>
                  </a:ext>
                </a:extLst>
              </p:cNvPr>
              <p:cNvSpPr txBox="1">
                <a:spLocks noRot="1" noChangeAspect="1" noMove="1" noResize="1" noEditPoints="1" noAdjustHandles="1" noChangeArrowheads="1" noChangeShapeType="1" noTextEdit="1"/>
              </p:cNvSpPr>
              <p:nvPr/>
            </p:nvSpPr>
            <p:spPr>
              <a:xfrm>
                <a:off x="3924022" y="4324611"/>
                <a:ext cx="6094428" cy="769441"/>
              </a:xfrm>
              <a:prstGeom prst="rect">
                <a:avLst/>
              </a:prstGeom>
              <a:blipFill>
                <a:blip r:embed="rId7"/>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F4436BB-0DC8-F5A8-E77E-5A991F083CFF}"/>
                  </a:ext>
                </a:extLst>
              </p:cNvPr>
              <p:cNvSpPr txBox="1"/>
              <p:nvPr/>
            </p:nvSpPr>
            <p:spPr>
              <a:xfrm>
                <a:off x="6382013" y="4257523"/>
                <a:ext cx="6094428" cy="769441"/>
              </a:xfrm>
              <a:prstGeom prst="rect">
                <a:avLst/>
              </a:prstGeom>
              <a:noFill/>
            </p:spPr>
            <p:txBody>
              <a:bodyPr wrap="square">
                <a:spAutoFit/>
              </a:bodyPr>
              <a:lstStyle/>
              <a:p>
                <a:pPr/>
                <a14:m>
                  <m:oMathPara xmlns:m="http://schemas.openxmlformats.org/officeDocument/2006/math">
                    <m:oMath>
                      <m:r>
                        <m:rPr>
                          <m:sty m:val="p"/>
                        </m:rPr>
                        <a:rPr lang="en-US" sz="4400" b="0" i="0" smtClean="0">
                          <a:latin typeface="Cambria Math" panose="02040503050406030204" pitchFamily="18" charset="0"/>
                        </a:rPr>
                        <m:t>IV</m:t>
                      </m:r>
                    </m:oMath>
                  </m:oMathPara>
                </a14:m>
                <a:endParaRPr lang="en-CA" dirty="0"/>
              </a:p>
            </p:txBody>
          </p:sp>
        </mc:Choice>
        <mc:Fallback xmlns="">
          <p:sp>
            <p:nvSpPr>
              <p:cNvPr id="20" name="TextBox 19">
                <a:extLst>
                  <a:ext uri="{FF2B5EF4-FFF2-40B4-BE49-F238E27FC236}">
                    <a16:creationId xmlns:a16="http://schemas.microsoft.com/office/drawing/2014/main" id="{BF4436BB-0DC8-F5A8-E77E-5A991F083CFF}"/>
                  </a:ext>
                </a:extLst>
              </p:cNvPr>
              <p:cNvSpPr txBox="1">
                <a:spLocks noRot="1" noChangeAspect="1" noMove="1" noResize="1" noEditPoints="1" noAdjustHandles="1" noChangeArrowheads="1" noChangeShapeType="1" noTextEdit="1"/>
              </p:cNvSpPr>
              <p:nvPr/>
            </p:nvSpPr>
            <p:spPr>
              <a:xfrm>
                <a:off x="6382013" y="4257523"/>
                <a:ext cx="6094428" cy="769441"/>
              </a:xfrm>
              <a:prstGeom prst="rect">
                <a:avLst/>
              </a:prstGeom>
              <a:blipFill>
                <a:blip r:embed="rId8"/>
                <a:stretch>
                  <a:fillRect/>
                </a:stretch>
              </a:blipFill>
            </p:spPr>
            <p:txBody>
              <a:bodyPr/>
              <a:lstStyle/>
              <a:p>
                <a:r>
                  <a:rPr lang="en-CA">
                    <a:noFill/>
                  </a:rPr>
                  <a:t> </a:t>
                </a:r>
              </a:p>
            </p:txBody>
          </p:sp>
        </mc:Fallback>
      </mc:AlternateContent>
      <p:pic>
        <p:nvPicPr>
          <p:cNvPr id="21" name="Picture 20" descr="File:Simple compass rose.svg - Wikimedia Commons">
            <a:extLst>
              <a:ext uri="{FF2B5EF4-FFF2-40B4-BE49-F238E27FC236}">
                <a16:creationId xmlns:a16="http://schemas.microsoft.com/office/drawing/2014/main" id="{E6CC0E76-52EA-784D-0175-EAB4C6FBCE8D}"/>
              </a:ext>
            </a:extLst>
          </p:cNvPr>
          <p:cNvPicPr>
            <a:picLocks noChangeAspect="1"/>
          </p:cNvPicPr>
          <p:nvPr/>
        </p:nvPicPr>
        <p:blipFill>
          <a:blip r:embed="rId9">
            <a:clrChange>
              <a:clrFrom>
                <a:srgbClr val="FFFFFF"/>
              </a:clrFrom>
              <a:clrTo>
                <a:srgbClr val="FFFFFF">
                  <a:alpha val="0"/>
                </a:srgbClr>
              </a:clrTo>
            </a:clrChange>
          </a:blip>
          <a:stretch>
            <a:fillRect/>
          </a:stretch>
        </p:blipFill>
        <p:spPr>
          <a:xfrm>
            <a:off x="9949012" y="1370053"/>
            <a:ext cx="1626188" cy="1626188"/>
          </a:xfrm>
          <a:prstGeom prst="rect">
            <a:avLst/>
          </a:prstGeom>
        </p:spPr>
      </p:pic>
    </p:spTree>
    <p:extLst>
      <p:ext uri="{BB962C8B-B14F-4D97-AF65-F5344CB8AC3E}">
        <p14:creationId xmlns:p14="http://schemas.microsoft.com/office/powerpoint/2010/main" val="9433603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814A7-486E-F9E1-9D46-437226B4B28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618C093-2EB0-08D6-650E-9ED40CA0E763}"/>
              </a:ext>
            </a:extLst>
          </p:cNvPr>
          <p:cNvSpPr/>
          <p:nvPr/>
        </p:nvSpPr>
        <p:spPr>
          <a:xfrm>
            <a:off x="8178800" y="1776979"/>
            <a:ext cx="2290618" cy="1935016"/>
          </a:xfrm>
          <a:prstGeom prst="rect">
            <a:avLst/>
          </a:prstGeom>
          <a:solidFill>
            <a:srgbClr val="FFFF00">
              <a:alpha val="52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chemeClr val="tx1"/>
                </a:solidFill>
              </a:rPr>
              <a:t>More Costly, More Effective</a:t>
            </a:r>
            <a:br>
              <a:rPr lang="en-CA" dirty="0">
                <a:solidFill>
                  <a:schemeClr val="tx1"/>
                </a:solidFill>
              </a:rPr>
            </a:br>
            <a:r>
              <a:rPr lang="en-CA" dirty="0">
                <a:solidFill>
                  <a:schemeClr val="tx1"/>
                </a:solidFill>
              </a:rPr>
              <a:t>(Can be cost effective)</a:t>
            </a:r>
          </a:p>
        </p:txBody>
      </p:sp>
      <p:sp>
        <p:nvSpPr>
          <p:cNvPr id="7" name="Rectangle 6">
            <a:extLst>
              <a:ext uri="{FF2B5EF4-FFF2-40B4-BE49-F238E27FC236}">
                <a16:creationId xmlns:a16="http://schemas.microsoft.com/office/drawing/2014/main" id="{6C157805-3B27-265F-2113-0A71F8F30C7F}"/>
              </a:ext>
            </a:extLst>
          </p:cNvPr>
          <p:cNvSpPr/>
          <p:nvPr/>
        </p:nvSpPr>
        <p:spPr>
          <a:xfrm>
            <a:off x="8189191" y="3774474"/>
            <a:ext cx="2311400" cy="2105117"/>
          </a:xfrm>
          <a:prstGeom prst="rect">
            <a:avLst/>
          </a:prstGeom>
          <a:solidFill>
            <a:srgbClr val="00B050">
              <a:alpha val="64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chemeClr val="tx1"/>
                </a:solidFill>
              </a:rPr>
              <a:t>Less Costly, More Effective</a:t>
            </a:r>
            <a:br>
              <a:rPr lang="en-CA" dirty="0">
                <a:solidFill>
                  <a:schemeClr val="tx1"/>
                </a:solidFill>
              </a:rPr>
            </a:br>
            <a:r>
              <a:rPr lang="en-CA" dirty="0">
                <a:solidFill>
                  <a:schemeClr val="tx1"/>
                </a:solidFill>
              </a:rPr>
              <a:t>(Always Cost Effective)</a:t>
            </a:r>
          </a:p>
        </p:txBody>
      </p:sp>
      <p:sp>
        <p:nvSpPr>
          <p:cNvPr id="9" name="Rectangle 8">
            <a:extLst>
              <a:ext uri="{FF2B5EF4-FFF2-40B4-BE49-F238E27FC236}">
                <a16:creationId xmlns:a16="http://schemas.microsoft.com/office/drawing/2014/main" id="{74219DB0-19DE-7049-DDCF-AEBC9B5D0C54}"/>
              </a:ext>
            </a:extLst>
          </p:cNvPr>
          <p:cNvSpPr/>
          <p:nvPr/>
        </p:nvSpPr>
        <p:spPr>
          <a:xfrm>
            <a:off x="5825836" y="1781203"/>
            <a:ext cx="2290618" cy="1935016"/>
          </a:xfrm>
          <a:prstGeom prst="rect">
            <a:avLst/>
          </a:prstGeom>
          <a:solidFill>
            <a:srgbClr val="C00000">
              <a:alpha val="64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chemeClr val="tx1"/>
                </a:solidFill>
              </a:rPr>
              <a:t>More Costly, Less Effective</a:t>
            </a:r>
            <a:br>
              <a:rPr lang="en-CA" dirty="0">
                <a:solidFill>
                  <a:schemeClr val="tx1"/>
                </a:solidFill>
              </a:rPr>
            </a:br>
            <a:r>
              <a:rPr lang="en-CA" dirty="0">
                <a:solidFill>
                  <a:schemeClr val="tx1"/>
                </a:solidFill>
              </a:rPr>
              <a:t>(Never Cost Effective)</a:t>
            </a:r>
          </a:p>
        </p:txBody>
      </p:sp>
      <p:sp>
        <p:nvSpPr>
          <p:cNvPr id="12" name="Rectangle 11">
            <a:extLst>
              <a:ext uri="{FF2B5EF4-FFF2-40B4-BE49-F238E27FC236}">
                <a16:creationId xmlns:a16="http://schemas.microsoft.com/office/drawing/2014/main" id="{E5930D22-15A6-687B-6967-AEE1DDDDCF1C}"/>
              </a:ext>
            </a:extLst>
          </p:cNvPr>
          <p:cNvSpPr/>
          <p:nvPr/>
        </p:nvSpPr>
        <p:spPr>
          <a:xfrm>
            <a:off x="5825836" y="3774474"/>
            <a:ext cx="2311400" cy="2105114"/>
          </a:xfrm>
          <a:prstGeom prst="rect">
            <a:avLst/>
          </a:prstGeom>
          <a:solidFill>
            <a:srgbClr val="FFFF00">
              <a:alpha val="52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chemeClr val="tx1"/>
                </a:solidFill>
              </a:rPr>
              <a:t>Less Costly, Less Effective (Can be cost effective)</a:t>
            </a:r>
          </a:p>
        </p:txBody>
      </p:sp>
      <p:sp>
        <p:nvSpPr>
          <p:cNvPr id="2" name="Title 1">
            <a:extLst>
              <a:ext uri="{FF2B5EF4-FFF2-40B4-BE49-F238E27FC236}">
                <a16:creationId xmlns:a16="http://schemas.microsoft.com/office/drawing/2014/main" id="{57FCE89C-6E32-DC44-F613-3D86458E6329}"/>
              </a:ext>
            </a:extLst>
          </p:cNvPr>
          <p:cNvSpPr>
            <a:spLocks noGrp="1"/>
          </p:cNvSpPr>
          <p:nvPr>
            <p:ph type="title"/>
          </p:nvPr>
        </p:nvSpPr>
        <p:spPr>
          <a:xfrm>
            <a:off x="482600" y="597408"/>
            <a:ext cx="10634472" cy="1117092"/>
          </a:xfrm>
        </p:spPr>
        <p:txBody>
          <a:bodyPr>
            <a:normAutofit fontScale="90000"/>
          </a:bodyPr>
          <a:lstStyle/>
          <a:p>
            <a:r>
              <a:rPr lang="en-CA" sz="4800" dirty="0"/>
              <a:t>The cost effectiveness plane and the ICER</a:t>
            </a:r>
          </a:p>
        </p:txBody>
      </p:sp>
      <p:sp>
        <p:nvSpPr>
          <p:cNvPr id="3" name="Content Placeholder 2">
            <a:extLst>
              <a:ext uri="{FF2B5EF4-FFF2-40B4-BE49-F238E27FC236}">
                <a16:creationId xmlns:a16="http://schemas.microsoft.com/office/drawing/2014/main" id="{88C591BC-CC46-05FD-DDFC-DEF8B8D091C4}"/>
              </a:ext>
            </a:extLst>
          </p:cNvPr>
          <p:cNvSpPr>
            <a:spLocks noGrp="1"/>
          </p:cNvSpPr>
          <p:nvPr>
            <p:ph idx="1"/>
          </p:nvPr>
        </p:nvSpPr>
        <p:spPr>
          <a:xfrm>
            <a:off x="482600" y="1943100"/>
            <a:ext cx="4634345" cy="3936491"/>
          </a:xfrm>
        </p:spPr>
        <p:txBody>
          <a:bodyPr>
            <a:normAutofit/>
          </a:bodyPr>
          <a:lstStyle/>
          <a:p>
            <a:pPr marL="342900" indent="-342900">
              <a:buFont typeface="Wingdings" panose="05000000000000000000" pitchFamily="2" charset="2"/>
              <a:buChar char="§"/>
            </a:pPr>
            <a:r>
              <a:rPr lang="en-CA" dirty="0"/>
              <a:t>We can easily interpret an ICER in each of these quadrants.</a:t>
            </a:r>
          </a:p>
          <a:p>
            <a:pPr marL="342900" indent="-342900">
              <a:buFont typeface="Wingdings" panose="05000000000000000000" pitchFamily="2" charset="2"/>
              <a:buChar char="§"/>
            </a:pPr>
            <a:r>
              <a:rPr lang="en-CA" dirty="0"/>
              <a:t>Two important quadrants are the 2</a:t>
            </a:r>
            <a:r>
              <a:rPr lang="en-CA" baseline="30000" dirty="0"/>
              <a:t>nd</a:t>
            </a:r>
            <a:r>
              <a:rPr lang="en-CA" dirty="0"/>
              <a:t> and 4</a:t>
            </a:r>
            <a:r>
              <a:rPr lang="en-CA" baseline="30000" dirty="0"/>
              <a:t>th</a:t>
            </a:r>
            <a:r>
              <a:rPr lang="en-CA" dirty="0"/>
              <a:t> quadrant where regardless of threshold value a ICER will be cost effective or not.</a:t>
            </a:r>
          </a:p>
          <a:p>
            <a:pPr marL="342900" indent="-342900">
              <a:buFont typeface="Wingdings" panose="05000000000000000000" pitchFamily="2" charset="2"/>
              <a:buChar char="§"/>
            </a:pPr>
            <a:r>
              <a:rPr lang="en-CA" dirty="0"/>
              <a:t>Keep this picture  in mind, as we will see it a couple times in the future.</a:t>
            </a:r>
          </a:p>
        </p:txBody>
      </p:sp>
      <p:cxnSp>
        <p:nvCxnSpPr>
          <p:cNvPr id="5" name="Straight Connector 4">
            <a:extLst>
              <a:ext uri="{FF2B5EF4-FFF2-40B4-BE49-F238E27FC236}">
                <a16:creationId xmlns:a16="http://schemas.microsoft.com/office/drawing/2014/main" id="{DA692200-774F-F5EC-3CF4-12E19C5A871A}"/>
              </a:ext>
            </a:extLst>
          </p:cNvPr>
          <p:cNvCxnSpPr>
            <a:cxnSpLocks/>
          </p:cNvCxnSpPr>
          <p:nvPr/>
        </p:nvCxnSpPr>
        <p:spPr>
          <a:xfrm>
            <a:off x="8137236" y="1810327"/>
            <a:ext cx="41564" cy="422101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6E2859C-3D49-607F-94F1-E50100891B7D}"/>
              </a:ext>
            </a:extLst>
          </p:cNvPr>
          <p:cNvCxnSpPr>
            <a:cxnSpLocks/>
          </p:cNvCxnSpPr>
          <p:nvPr/>
        </p:nvCxnSpPr>
        <p:spPr>
          <a:xfrm flipH="1">
            <a:off x="5929746" y="3745346"/>
            <a:ext cx="4581236"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2427CA9-D9F0-CC82-75E3-FA686F1BF712}"/>
                  </a:ext>
                </a:extLst>
              </p:cNvPr>
              <p:cNvSpPr txBox="1"/>
              <p:nvPr/>
            </p:nvSpPr>
            <p:spPr>
              <a:xfrm>
                <a:off x="8220364" y="1675307"/>
                <a:ext cx="525016" cy="369332"/>
              </a:xfrm>
              <a:prstGeom prst="rect">
                <a:avLst/>
              </a:prstGeom>
              <a:noFill/>
            </p:spPr>
            <p:txBody>
              <a:bodyPr wrap="none" rtlCol="0">
                <a:spAutoFit/>
              </a:bodyPr>
              <a:lstStyle/>
              <a:p>
                <a:pPr/>
                <a14:m>
                  <m:oMathPara xmlns:m="http://schemas.openxmlformats.org/officeDocument/2006/math">
                    <m:o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oMath>
                  </m:oMathPara>
                </a14:m>
                <a:endParaRPr lang="en-CA" dirty="0"/>
              </a:p>
            </p:txBody>
          </p:sp>
        </mc:Choice>
        <mc:Fallback xmlns="">
          <p:sp>
            <p:nvSpPr>
              <p:cNvPr id="10" name="TextBox 9">
                <a:extLst>
                  <a:ext uri="{FF2B5EF4-FFF2-40B4-BE49-F238E27FC236}">
                    <a16:creationId xmlns:a16="http://schemas.microsoft.com/office/drawing/2014/main" id="{82427CA9-D9F0-CC82-75E3-FA686F1BF712}"/>
                  </a:ext>
                </a:extLst>
              </p:cNvPr>
              <p:cNvSpPr txBox="1">
                <a:spLocks noRot="1" noChangeAspect="1" noMove="1" noResize="1" noEditPoints="1" noAdjustHandles="1" noChangeArrowheads="1" noChangeShapeType="1" noTextEdit="1"/>
              </p:cNvSpPr>
              <p:nvPr/>
            </p:nvSpPr>
            <p:spPr>
              <a:xfrm>
                <a:off x="8220364" y="1675307"/>
                <a:ext cx="525016" cy="369332"/>
              </a:xfrm>
              <a:prstGeom prst="rect">
                <a:avLst/>
              </a:prstGeom>
              <a:blipFill>
                <a:blip r:embed="rId2"/>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1903F99-ADD7-78FF-EDED-7C7B2E9C0D72}"/>
                  </a:ext>
                </a:extLst>
              </p:cNvPr>
              <p:cNvSpPr txBox="1"/>
              <p:nvPr/>
            </p:nvSpPr>
            <p:spPr>
              <a:xfrm>
                <a:off x="10204249" y="3741122"/>
                <a:ext cx="530338" cy="369332"/>
              </a:xfrm>
              <a:prstGeom prst="rect">
                <a:avLst/>
              </a:prstGeom>
              <a:noFill/>
            </p:spPr>
            <p:txBody>
              <a:bodyPr wrap="none" rtlCol="0">
                <a:spAutoFit/>
              </a:bodyPr>
              <a:lstStyle/>
              <a:p>
                <a:pPr/>
                <a14:m>
                  <m:oMathPara xmlns:m="http://schemas.openxmlformats.org/officeDocument/2006/math">
                    <m:oMath>
                      <m:r>
                        <m:rPr>
                          <m:sty m:val="p"/>
                        </m:rPr>
                        <a:rPr lang="en-CA" b="0" i="0" smtClean="0">
                          <a:latin typeface="Cambria Math" panose="02040503050406030204" pitchFamily="18" charset="0"/>
                        </a:rPr>
                        <m:t>Δ</m:t>
                      </m:r>
                      <m:r>
                        <a:rPr lang="en-CA" b="0" i="1" smtClean="0">
                          <a:latin typeface="Cambria Math" panose="02040503050406030204" pitchFamily="18" charset="0"/>
                        </a:rPr>
                        <m:t>𝐸</m:t>
                      </m:r>
                    </m:oMath>
                  </m:oMathPara>
                </a14:m>
                <a:endParaRPr lang="en-CA" dirty="0"/>
              </a:p>
            </p:txBody>
          </p:sp>
        </mc:Choice>
        <mc:Fallback xmlns="">
          <p:sp>
            <p:nvSpPr>
              <p:cNvPr id="11" name="TextBox 10">
                <a:extLst>
                  <a:ext uri="{FF2B5EF4-FFF2-40B4-BE49-F238E27FC236}">
                    <a16:creationId xmlns:a16="http://schemas.microsoft.com/office/drawing/2014/main" id="{11903F99-ADD7-78FF-EDED-7C7B2E9C0D72}"/>
                  </a:ext>
                </a:extLst>
              </p:cNvPr>
              <p:cNvSpPr txBox="1">
                <a:spLocks noRot="1" noChangeAspect="1" noMove="1" noResize="1" noEditPoints="1" noAdjustHandles="1" noChangeArrowheads="1" noChangeShapeType="1" noTextEdit="1"/>
              </p:cNvSpPr>
              <p:nvPr/>
            </p:nvSpPr>
            <p:spPr>
              <a:xfrm>
                <a:off x="10204249" y="3741122"/>
                <a:ext cx="530338" cy="369332"/>
              </a:xfrm>
              <a:prstGeom prst="rect">
                <a:avLst/>
              </a:prstGeom>
              <a:blipFill>
                <a:blip r:embed="rId3"/>
                <a:stretch>
                  <a:fillRect/>
                </a:stretch>
              </a:blipFill>
            </p:spPr>
            <p:txBody>
              <a:bodyPr/>
              <a:lstStyle/>
              <a:p>
                <a:r>
                  <a:rPr lang="en-CA">
                    <a:noFill/>
                  </a:rPr>
                  <a:t> </a:t>
                </a:r>
              </a:p>
            </p:txBody>
          </p:sp>
        </mc:Fallback>
      </mc:AlternateContent>
      <p:sp>
        <p:nvSpPr>
          <p:cNvPr id="13" name="TextBox 12">
            <a:extLst>
              <a:ext uri="{FF2B5EF4-FFF2-40B4-BE49-F238E27FC236}">
                <a16:creationId xmlns:a16="http://schemas.microsoft.com/office/drawing/2014/main" id="{E426BD66-5FC4-9AF0-9055-A92B495F74DD}"/>
              </a:ext>
            </a:extLst>
          </p:cNvPr>
          <p:cNvSpPr txBox="1"/>
          <p:nvPr/>
        </p:nvSpPr>
        <p:spPr>
          <a:xfrm>
            <a:off x="8114032" y="3726679"/>
            <a:ext cx="306494" cy="369332"/>
          </a:xfrm>
          <a:prstGeom prst="rect">
            <a:avLst/>
          </a:prstGeom>
          <a:noFill/>
        </p:spPr>
        <p:txBody>
          <a:bodyPr wrap="none" rtlCol="0">
            <a:spAutoFit/>
          </a:bodyPr>
          <a:lstStyle/>
          <a:p>
            <a:r>
              <a:rPr lang="en-CA" dirty="0"/>
              <a:t>0</a:t>
            </a:r>
          </a:p>
        </p:txBody>
      </p:sp>
      <p:sp>
        <p:nvSpPr>
          <p:cNvPr id="14" name="TextBox 13">
            <a:extLst>
              <a:ext uri="{FF2B5EF4-FFF2-40B4-BE49-F238E27FC236}">
                <a16:creationId xmlns:a16="http://schemas.microsoft.com/office/drawing/2014/main" id="{6ADDD909-903E-B876-5F4A-86F9B9AF3A9B}"/>
              </a:ext>
            </a:extLst>
          </p:cNvPr>
          <p:cNvSpPr txBox="1"/>
          <p:nvPr/>
        </p:nvSpPr>
        <p:spPr>
          <a:xfrm>
            <a:off x="7878505" y="3427713"/>
            <a:ext cx="306494" cy="369332"/>
          </a:xfrm>
          <a:prstGeom prst="rect">
            <a:avLst/>
          </a:prstGeom>
          <a:noFill/>
        </p:spPr>
        <p:txBody>
          <a:bodyPr wrap="none" rtlCol="0">
            <a:spAutoFit/>
          </a:bodyPr>
          <a:lstStyle/>
          <a:p>
            <a:r>
              <a:rPr lang="en-CA" dirty="0"/>
              <a:t>0</a:t>
            </a:r>
          </a:p>
        </p:txBody>
      </p:sp>
    </p:spTree>
    <p:extLst>
      <p:ext uri="{BB962C8B-B14F-4D97-AF65-F5344CB8AC3E}">
        <p14:creationId xmlns:p14="http://schemas.microsoft.com/office/powerpoint/2010/main" val="19990315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9AFF0CD-1246-A062-C0D7-13FB8AACB8D0}"/>
              </a:ext>
            </a:extLst>
          </p:cNvPr>
          <p:cNvGraphicFramePr>
            <a:graphicFrameLocks noGrp="1"/>
          </p:cNvGraphicFramePr>
          <p:nvPr/>
        </p:nvGraphicFramePr>
        <p:xfrm>
          <a:off x="1297825" y="4422111"/>
          <a:ext cx="8842443" cy="2202731"/>
        </p:xfrm>
        <a:graphic>
          <a:graphicData uri="http://schemas.openxmlformats.org/drawingml/2006/table">
            <a:tbl>
              <a:tblPr firstRow="1">
                <a:tableStyleId>{9D7B26C5-4107-4FEC-AEDC-1716B250A1EF}</a:tableStyleId>
              </a:tblPr>
              <a:tblGrid>
                <a:gridCol w="2381263">
                  <a:extLst>
                    <a:ext uri="{9D8B030D-6E8A-4147-A177-3AD203B41FA5}">
                      <a16:colId xmlns:a16="http://schemas.microsoft.com/office/drawing/2014/main" val="1654967476"/>
                    </a:ext>
                  </a:extLst>
                </a:gridCol>
                <a:gridCol w="1292236">
                  <a:extLst>
                    <a:ext uri="{9D8B030D-6E8A-4147-A177-3AD203B41FA5}">
                      <a16:colId xmlns:a16="http://schemas.microsoft.com/office/drawing/2014/main" val="255765684"/>
                    </a:ext>
                  </a:extLst>
                </a:gridCol>
                <a:gridCol w="1292236">
                  <a:extLst>
                    <a:ext uri="{9D8B030D-6E8A-4147-A177-3AD203B41FA5}">
                      <a16:colId xmlns:a16="http://schemas.microsoft.com/office/drawing/2014/main" val="362666358"/>
                    </a:ext>
                  </a:extLst>
                </a:gridCol>
                <a:gridCol w="1292236">
                  <a:extLst>
                    <a:ext uri="{9D8B030D-6E8A-4147-A177-3AD203B41FA5}">
                      <a16:colId xmlns:a16="http://schemas.microsoft.com/office/drawing/2014/main" val="3754645023"/>
                    </a:ext>
                  </a:extLst>
                </a:gridCol>
                <a:gridCol w="1292236">
                  <a:extLst>
                    <a:ext uri="{9D8B030D-6E8A-4147-A177-3AD203B41FA5}">
                      <a16:colId xmlns:a16="http://schemas.microsoft.com/office/drawing/2014/main" val="1040204301"/>
                    </a:ext>
                  </a:extLst>
                </a:gridCol>
                <a:gridCol w="1292236">
                  <a:extLst>
                    <a:ext uri="{9D8B030D-6E8A-4147-A177-3AD203B41FA5}">
                      <a16:colId xmlns:a16="http://schemas.microsoft.com/office/drawing/2014/main" val="421074772"/>
                    </a:ext>
                  </a:extLst>
                </a:gridCol>
              </a:tblGrid>
              <a:tr h="397657">
                <a:tc>
                  <a:txBody>
                    <a:bodyPr/>
                    <a:lstStyle/>
                    <a:p>
                      <a:pPr marL="0" marR="0" rtl="0">
                        <a:spcAft>
                          <a:spcPts val="2400"/>
                        </a:spcAft>
                        <a:buNone/>
                      </a:pPr>
                      <a:r>
                        <a:rPr lang="en-CA" sz="1600" b="1" dirty="0">
                          <a:solidFill>
                            <a:srgbClr val="1F1F1F"/>
                          </a:solidFill>
                          <a:effectLst/>
                        </a:rPr>
                        <a:t>Intervention</a:t>
                      </a:r>
                      <a:endParaRPr lang="en-CA" sz="1600" dirty="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b="1" dirty="0">
                          <a:solidFill>
                            <a:srgbClr val="1F1F1F"/>
                          </a:solidFill>
                          <a:effectLst/>
                        </a:rPr>
                        <a:t>Total Cost ($)</a:t>
                      </a:r>
                      <a:endParaRPr lang="en-CA" sz="1600" dirty="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b="1" dirty="0">
                          <a:solidFill>
                            <a:srgbClr val="1F1F1F"/>
                          </a:solidFill>
                          <a:effectLst/>
                        </a:rPr>
                        <a:t>Total QALYs</a:t>
                      </a:r>
                      <a:endParaRPr lang="en-CA" sz="1600" dirty="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b="1">
                          <a:solidFill>
                            <a:srgbClr val="1F1F1F"/>
                          </a:solidFill>
                          <a:effectLst/>
                        </a:rPr>
                        <a:t>Inc. Cost (ΔC)</a:t>
                      </a:r>
                      <a:endParaRPr lang="en-CA" sz="160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b="1">
                          <a:solidFill>
                            <a:srgbClr val="1F1F1F"/>
                          </a:solidFill>
                          <a:effectLst/>
                        </a:rPr>
                        <a:t>Inc. Effect (ΔE)</a:t>
                      </a:r>
                      <a:endParaRPr lang="en-CA" sz="160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b="1" dirty="0">
                          <a:solidFill>
                            <a:srgbClr val="1F1F1F"/>
                          </a:solidFill>
                          <a:effectLst/>
                        </a:rPr>
                        <a:t>ICER ($/QALY)</a:t>
                      </a:r>
                      <a:endParaRPr lang="en-CA" sz="1600" dirty="0">
                        <a:solidFill>
                          <a:srgbClr val="1F1F1F"/>
                        </a:solidFill>
                        <a:effectLst/>
                        <a:latin typeface="Google Sans Text"/>
                      </a:endParaRPr>
                    </a:p>
                  </a:txBody>
                  <a:tcPr marL="59607" marR="59607" marT="39738" marB="39738" anchor="ctr"/>
                </a:tc>
                <a:extLst>
                  <a:ext uri="{0D108BD9-81ED-4DB2-BD59-A6C34878D82A}">
                    <a16:rowId xmlns:a16="http://schemas.microsoft.com/office/drawing/2014/main" val="803020150"/>
                  </a:ext>
                </a:extLst>
              </a:tr>
              <a:tr h="278094">
                <a:tc>
                  <a:txBody>
                    <a:bodyPr/>
                    <a:lstStyle/>
                    <a:p>
                      <a:pPr marL="0" marR="0" rtl="0">
                        <a:spcAft>
                          <a:spcPts val="2400"/>
                        </a:spcAft>
                        <a:buNone/>
                      </a:pPr>
                      <a:r>
                        <a:rPr lang="en-CA" sz="1600" b="1" dirty="0">
                          <a:solidFill>
                            <a:srgbClr val="1F1F1F"/>
                          </a:solidFill>
                          <a:effectLst/>
                        </a:rPr>
                        <a:t>Standard of Care (Ref)</a:t>
                      </a:r>
                      <a:endParaRPr lang="en-CA" sz="1600" dirty="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a:solidFill>
                            <a:srgbClr val="1F1F1F"/>
                          </a:solidFill>
                          <a:effectLst/>
                        </a:rPr>
                        <a:t>$10,000</a:t>
                      </a:r>
                      <a:endParaRPr lang="en-CA" sz="160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a:solidFill>
                            <a:srgbClr val="1F1F1F"/>
                          </a:solidFill>
                          <a:effectLst/>
                        </a:rPr>
                        <a:t>5.0</a:t>
                      </a:r>
                      <a:endParaRPr lang="en-CA" sz="160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a:solidFill>
                            <a:srgbClr val="1F1F1F"/>
                          </a:solidFill>
                          <a:effectLst/>
                        </a:rPr>
                        <a:t>$0</a:t>
                      </a:r>
                      <a:endParaRPr lang="en-CA" sz="160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a:solidFill>
                            <a:srgbClr val="1F1F1F"/>
                          </a:solidFill>
                          <a:effectLst/>
                        </a:rPr>
                        <a:t>0.0</a:t>
                      </a:r>
                      <a:endParaRPr lang="en-CA" sz="160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a:solidFill>
                            <a:srgbClr val="1F1F1F"/>
                          </a:solidFill>
                          <a:effectLst/>
                        </a:rPr>
                        <a:t>—</a:t>
                      </a:r>
                      <a:endParaRPr lang="en-CA" sz="1600">
                        <a:solidFill>
                          <a:srgbClr val="1F1F1F"/>
                        </a:solidFill>
                        <a:effectLst/>
                        <a:latin typeface="Google Sans Text"/>
                      </a:endParaRPr>
                    </a:p>
                  </a:txBody>
                  <a:tcPr marL="59607" marR="59607" marT="39738" marB="39738" anchor="ctr"/>
                </a:tc>
                <a:extLst>
                  <a:ext uri="{0D108BD9-81ED-4DB2-BD59-A6C34878D82A}">
                    <a16:rowId xmlns:a16="http://schemas.microsoft.com/office/drawing/2014/main" val="459542049"/>
                  </a:ext>
                </a:extLst>
              </a:tr>
              <a:tr h="218038">
                <a:tc>
                  <a:txBody>
                    <a:bodyPr/>
                    <a:lstStyle/>
                    <a:p>
                      <a:pPr marL="0" marR="0" rtl="0">
                        <a:spcAft>
                          <a:spcPts val="2400"/>
                        </a:spcAft>
                        <a:buNone/>
                      </a:pPr>
                      <a:r>
                        <a:rPr lang="en-CA" sz="1600" b="1">
                          <a:solidFill>
                            <a:srgbClr val="1F1F1F"/>
                          </a:solidFill>
                          <a:effectLst/>
                        </a:rPr>
                        <a:t>Drug A</a:t>
                      </a:r>
                      <a:endParaRPr lang="en-CA" sz="160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dirty="0">
                          <a:solidFill>
                            <a:srgbClr val="1F1F1F"/>
                          </a:solidFill>
                          <a:effectLst/>
                        </a:rPr>
                        <a:t>$15,000</a:t>
                      </a:r>
                      <a:endParaRPr lang="en-CA" sz="1600" dirty="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a:solidFill>
                            <a:srgbClr val="1F1F1F"/>
                          </a:solidFill>
                          <a:effectLst/>
                        </a:rPr>
                        <a:t>5.8</a:t>
                      </a:r>
                      <a:endParaRPr lang="en-CA" sz="160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a:solidFill>
                            <a:srgbClr val="1F1F1F"/>
                          </a:solidFill>
                          <a:effectLst/>
                        </a:rPr>
                        <a:t>+$5,000</a:t>
                      </a:r>
                      <a:endParaRPr lang="en-CA" sz="160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a:solidFill>
                            <a:srgbClr val="1F1F1F"/>
                          </a:solidFill>
                          <a:effectLst/>
                        </a:rPr>
                        <a:t>+0.8</a:t>
                      </a:r>
                      <a:endParaRPr lang="en-CA" sz="160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a:solidFill>
                            <a:srgbClr val="1F1F1F"/>
                          </a:solidFill>
                          <a:effectLst/>
                        </a:rPr>
                        <a:t>$6,250</a:t>
                      </a:r>
                      <a:endParaRPr lang="en-CA" sz="1600">
                        <a:solidFill>
                          <a:srgbClr val="1F1F1F"/>
                        </a:solidFill>
                        <a:effectLst/>
                        <a:latin typeface="Google Sans Text"/>
                      </a:endParaRPr>
                    </a:p>
                  </a:txBody>
                  <a:tcPr marL="59607" marR="59607" marT="39738" marB="39738" anchor="ctr"/>
                </a:tc>
                <a:extLst>
                  <a:ext uri="{0D108BD9-81ED-4DB2-BD59-A6C34878D82A}">
                    <a16:rowId xmlns:a16="http://schemas.microsoft.com/office/drawing/2014/main" val="369003044"/>
                  </a:ext>
                </a:extLst>
              </a:tr>
              <a:tr h="342311">
                <a:tc>
                  <a:txBody>
                    <a:bodyPr/>
                    <a:lstStyle/>
                    <a:p>
                      <a:pPr marL="0" marR="0" rtl="0">
                        <a:spcAft>
                          <a:spcPts val="2400"/>
                        </a:spcAft>
                        <a:buNone/>
                      </a:pPr>
                      <a:r>
                        <a:rPr lang="en-CA" sz="1600" b="1">
                          <a:solidFill>
                            <a:srgbClr val="1F1F1F"/>
                          </a:solidFill>
                          <a:effectLst/>
                        </a:rPr>
                        <a:t>Device B</a:t>
                      </a:r>
                      <a:endParaRPr lang="en-CA" sz="160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a:solidFill>
                            <a:srgbClr val="1F1F1F"/>
                          </a:solidFill>
                          <a:effectLst/>
                        </a:rPr>
                        <a:t>$8,000</a:t>
                      </a:r>
                      <a:endParaRPr lang="en-CA" sz="160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dirty="0">
                          <a:solidFill>
                            <a:srgbClr val="1F1F1F"/>
                          </a:solidFill>
                          <a:effectLst/>
                        </a:rPr>
                        <a:t>4.5</a:t>
                      </a:r>
                      <a:endParaRPr lang="en-CA" sz="1600" dirty="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a:solidFill>
                            <a:srgbClr val="1F1F1F"/>
                          </a:solidFill>
                          <a:effectLst/>
                        </a:rPr>
                        <a:t>-$2,000</a:t>
                      </a:r>
                      <a:endParaRPr lang="en-CA" sz="160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dirty="0">
                          <a:solidFill>
                            <a:srgbClr val="1F1F1F"/>
                          </a:solidFill>
                          <a:effectLst/>
                        </a:rPr>
                        <a:t>-0.5</a:t>
                      </a:r>
                      <a:endParaRPr lang="en-CA" sz="1600" dirty="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a:solidFill>
                            <a:srgbClr val="1F1F1F"/>
                          </a:solidFill>
                          <a:effectLst/>
                        </a:rPr>
                        <a:t>$4,000</a:t>
                      </a:r>
                      <a:endParaRPr lang="en-CA" sz="1600">
                        <a:solidFill>
                          <a:srgbClr val="1F1F1F"/>
                        </a:solidFill>
                        <a:effectLst/>
                        <a:latin typeface="Google Sans Text"/>
                      </a:endParaRPr>
                    </a:p>
                  </a:txBody>
                  <a:tcPr marL="59607" marR="59607" marT="39738" marB="39738" anchor="ctr"/>
                </a:tc>
                <a:extLst>
                  <a:ext uri="{0D108BD9-81ED-4DB2-BD59-A6C34878D82A}">
                    <a16:rowId xmlns:a16="http://schemas.microsoft.com/office/drawing/2014/main" val="1443140563"/>
                  </a:ext>
                </a:extLst>
              </a:tr>
              <a:tr h="218038">
                <a:tc>
                  <a:txBody>
                    <a:bodyPr/>
                    <a:lstStyle/>
                    <a:p>
                      <a:pPr marL="0" marR="0" rtl="0">
                        <a:spcAft>
                          <a:spcPts val="2400"/>
                        </a:spcAft>
                        <a:buNone/>
                      </a:pPr>
                      <a:r>
                        <a:rPr lang="en-CA" sz="1600" b="1">
                          <a:solidFill>
                            <a:srgbClr val="1F1F1F"/>
                          </a:solidFill>
                          <a:effectLst/>
                        </a:rPr>
                        <a:t>Program C</a:t>
                      </a:r>
                      <a:endParaRPr lang="en-CA" sz="160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a:solidFill>
                            <a:srgbClr val="1F1F1F"/>
                          </a:solidFill>
                          <a:effectLst/>
                        </a:rPr>
                        <a:t>$22,000</a:t>
                      </a:r>
                      <a:endParaRPr lang="en-CA" sz="160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a:solidFill>
                            <a:srgbClr val="1F1F1F"/>
                          </a:solidFill>
                          <a:effectLst/>
                        </a:rPr>
                        <a:t>6.5</a:t>
                      </a:r>
                      <a:endParaRPr lang="en-CA" sz="160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dirty="0">
                          <a:solidFill>
                            <a:srgbClr val="1F1F1F"/>
                          </a:solidFill>
                          <a:effectLst/>
                        </a:rPr>
                        <a:t>+$12,000</a:t>
                      </a:r>
                      <a:endParaRPr lang="en-CA" sz="1600" dirty="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a:solidFill>
                            <a:srgbClr val="1F1F1F"/>
                          </a:solidFill>
                          <a:effectLst/>
                        </a:rPr>
                        <a:t>+1.5</a:t>
                      </a:r>
                      <a:endParaRPr lang="en-CA" sz="160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dirty="0">
                          <a:solidFill>
                            <a:srgbClr val="1F1F1F"/>
                          </a:solidFill>
                          <a:effectLst/>
                        </a:rPr>
                        <a:t>$8,000</a:t>
                      </a:r>
                      <a:endParaRPr lang="en-CA" sz="1600" dirty="0">
                        <a:solidFill>
                          <a:srgbClr val="1F1F1F"/>
                        </a:solidFill>
                        <a:effectLst/>
                        <a:latin typeface="Google Sans Text"/>
                      </a:endParaRPr>
                    </a:p>
                  </a:txBody>
                  <a:tcPr marL="59607" marR="59607" marT="39738" marB="39738" anchor="ctr"/>
                </a:tc>
                <a:extLst>
                  <a:ext uri="{0D108BD9-81ED-4DB2-BD59-A6C34878D82A}">
                    <a16:rowId xmlns:a16="http://schemas.microsoft.com/office/drawing/2014/main" val="1540282174"/>
                  </a:ext>
                </a:extLst>
              </a:tr>
              <a:tr h="218038">
                <a:tc>
                  <a:txBody>
                    <a:bodyPr/>
                    <a:lstStyle/>
                    <a:p>
                      <a:pPr marL="0" marR="0" rtl="0">
                        <a:spcAft>
                          <a:spcPts val="2400"/>
                        </a:spcAft>
                        <a:buNone/>
                      </a:pPr>
                      <a:r>
                        <a:rPr lang="en-CA" sz="1600" b="1">
                          <a:solidFill>
                            <a:srgbClr val="1F1F1F"/>
                          </a:solidFill>
                          <a:effectLst/>
                        </a:rPr>
                        <a:t>Therapy D</a:t>
                      </a:r>
                      <a:endParaRPr lang="en-CA" sz="160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a:solidFill>
                            <a:srgbClr val="1F1F1F"/>
                          </a:solidFill>
                          <a:effectLst/>
                        </a:rPr>
                        <a:t>$18,000</a:t>
                      </a:r>
                      <a:endParaRPr lang="en-CA" sz="160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dirty="0">
                          <a:solidFill>
                            <a:srgbClr val="1F1F1F"/>
                          </a:solidFill>
                          <a:effectLst/>
                        </a:rPr>
                        <a:t>5.6</a:t>
                      </a:r>
                      <a:endParaRPr lang="en-CA" sz="1600" dirty="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dirty="0">
                          <a:solidFill>
                            <a:srgbClr val="1F1F1F"/>
                          </a:solidFill>
                          <a:effectLst/>
                        </a:rPr>
                        <a:t>+$8,000</a:t>
                      </a:r>
                      <a:endParaRPr lang="en-CA" sz="1600" dirty="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dirty="0">
                          <a:solidFill>
                            <a:srgbClr val="1F1F1F"/>
                          </a:solidFill>
                          <a:effectLst/>
                        </a:rPr>
                        <a:t>+0.6</a:t>
                      </a:r>
                      <a:endParaRPr lang="en-CA" sz="1600" dirty="0">
                        <a:solidFill>
                          <a:srgbClr val="1F1F1F"/>
                        </a:solidFill>
                        <a:effectLst/>
                        <a:latin typeface="Google Sans Text"/>
                      </a:endParaRPr>
                    </a:p>
                  </a:txBody>
                  <a:tcPr marL="59607" marR="59607" marT="39738" marB="39738" anchor="ctr"/>
                </a:tc>
                <a:tc>
                  <a:txBody>
                    <a:bodyPr/>
                    <a:lstStyle/>
                    <a:p>
                      <a:pPr marL="0" marR="0" rtl="0">
                        <a:spcAft>
                          <a:spcPts val="2400"/>
                        </a:spcAft>
                        <a:buNone/>
                      </a:pPr>
                      <a:r>
                        <a:rPr lang="en-CA" sz="1600" dirty="0">
                          <a:solidFill>
                            <a:srgbClr val="1F1F1F"/>
                          </a:solidFill>
                          <a:effectLst/>
                        </a:rPr>
                        <a:t>$13,333</a:t>
                      </a:r>
                      <a:endParaRPr lang="en-CA" sz="1600" dirty="0">
                        <a:solidFill>
                          <a:srgbClr val="1F1F1F"/>
                        </a:solidFill>
                        <a:effectLst/>
                        <a:latin typeface="Google Sans Text"/>
                      </a:endParaRPr>
                    </a:p>
                  </a:txBody>
                  <a:tcPr marL="59607" marR="59607" marT="39738" marB="39738" anchor="ctr"/>
                </a:tc>
                <a:extLst>
                  <a:ext uri="{0D108BD9-81ED-4DB2-BD59-A6C34878D82A}">
                    <a16:rowId xmlns:a16="http://schemas.microsoft.com/office/drawing/2014/main" val="3129851732"/>
                  </a:ext>
                </a:extLst>
              </a:tr>
            </a:tbl>
          </a:graphicData>
        </a:graphic>
      </p:graphicFrame>
      <p:pic>
        <p:nvPicPr>
          <p:cNvPr id="4" name="Picture 3">
            <a:extLst>
              <a:ext uri="{FF2B5EF4-FFF2-40B4-BE49-F238E27FC236}">
                <a16:creationId xmlns:a16="http://schemas.microsoft.com/office/drawing/2014/main" id="{348FC856-2C5E-81D7-2847-A0807D9BBBB8}"/>
              </a:ext>
            </a:extLst>
          </p:cNvPr>
          <p:cNvPicPr>
            <a:picLocks noChangeAspect="1"/>
          </p:cNvPicPr>
          <p:nvPr/>
        </p:nvPicPr>
        <p:blipFill>
          <a:blip r:embed="rId2"/>
          <a:stretch>
            <a:fillRect/>
          </a:stretch>
        </p:blipFill>
        <p:spPr>
          <a:xfrm>
            <a:off x="2565149" y="233158"/>
            <a:ext cx="5292246" cy="3892854"/>
          </a:xfrm>
          <a:prstGeom prst="rect">
            <a:avLst/>
          </a:prstGeom>
        </p:spPr>
      </p:pic>
    </p:spTree>
    <p:extLst>
      <p:ext uri="{BB962C8B-B14F-4D97-AF65-F5344CB8AC3E}">
        <p14:creationId xmlns:p14="http://schemas.microsoft.com/office/powerpoint/2010/main" val="23823174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A09E1-DED3-93F8-D43B-DC82E633C721}"/>
              </a:ext>
            </a:extLst>
          </p:cNvPr>
          <p:cNvSpPr>
            <a:spLocks noGrp="1"/>
          </p:cNvSpPr>
          <p:nvPr>
            <p:ph type="ctrTitle"/>
          </p:nvPr>
        </p:nvSpPr>
        <p:spPr/>
        <p:txBody>
          <a:bodyPr/>
          <a:lstStyle/>
          <a:p>
            <a:r>
              <a:rPr lang="en-US" dirty="0"/>
              <a:t>Simple and  Extended Dominance</a:t>
            </a:r>
            <a:endParaRPr lang="en-CA" dirty="0"/>
          </a:p>
        </p:txBody>
      </p:sp>
      <p:sp>
        <p:nvSpPr>
          <p:cNvPr id="3" name="Subtitle 2">
            <a:extLst>
              <a:ext uri="{FF2B5EF4-FFF2-40B4-BE49-F238E27FC236}">
                <a16:creationId xmlns:a16="http://schemas.microsoft.com/office/drawing/2014/main" id="{C09F2010-9D1D-68C4-79AE-BD9A0A0F1343}"/>
              </a:ext>
            </a:extLst>
          </p:cNvPr>
          <p:cNvSpPr>
            <a:spLocks noGrp="1"/>
          </p:cNvSpPr>
          <p:nvPr>
            <p:ph type="subTitle" idx="1"/>
          </p:nvPr>
        </p:nvSpPr>
        <p:spPr/>
        <p:txBody>
          <a:bodyPr/>
          <a:lstStyle/>
          <a:p>
            <a:endParaRPr lang="en-CA" dirty="0"/>
          </a:p>
        </p:txBody>
      </p:sp>
    </p:spTree>
    <p:extLst>
      <p:ext uri="{BB962C8B-B14F-4D97-AF65-F5344CB8AC3E}">
        <p14:creationId xmlns:p14="http://schemas.microsoft.com/office/powerpoint/2010/main" val="40723479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34111-5583-4F34-967B-195323158853}"/>
              </a:ext>
            </a:extLst>
          </p:cNvPr>
          <p:cNvSpPr>
            <a:spLocks noGrp="1"/>
          </p:cNvSpPr>
          <p:nvPr>
            <p:ph type="title"/>
          </p:nvPr>
        </p:nvSpPr>
        <p:spPr>
          <a:xfrm>
            <a:off x="449028" y="829645"/>
            <a:ext cx="10515600" cy="1325563"/>
          </a:xfrm>
        </p:spPr>
        <p:txBody>
          <a:bodyPr/>
          <a:lstStyle/>
          <a:p>
            <a:r>
              <a:rPr lang="en-CA" dirty="0"/>
              <a:t>What is Simple Dominance?</a:t>
            </a:r>
          </a:p>
        </p:txBody>
      </p:sp>
      <p:sp>
        <p:nvSpPr>
          <p:cNvPr id="3" name="Content Placeholder 2">
            <a:extLst>
              <a:ext uri="{FF2B5EF4-FFF2-40B4-BE49-F238E27FC236}">
                <a16:creationId xmlns:a16="http://schemas.microsoft.com/office/drawing/2014/main" id="{24B2A6A0-EFA0-4B78-91C6-04D61AFB85A3}"/>
              </a:ext>
            </a:extLst>
          </p:cNvPr>
          <p:cNvSpPr>
            <a:spLocks noGrp="1"/>
          </p:cNvSpPr>
          <p:nvPr>
            <p:ph idx="1"/>
          </p:nvPr>
        </p:nvSpPr>
        <p:spPr>
          <a:xfrm>
            <a:off x="449028" y="1593740"/>
            <a:ext cx="10515600" cy="4923056"/>
          </a:xfrm>
        </p:spPr>
        <p:txBody>
          <a:bodyPr>
            <a:normAutofit/>
          </a:bodyPr>
          <a:lstStyle/>
          <a:p>
            <a:r>
              <a:rPr lang="en-CA" dirty="0"/>
              <a:t>A dominant treatment is one which is more effective and less costly.</a:t>
            </a:r>
          </a:p>
          <a:p>
            <a:r>
              <a:rPr lang="en-CA" dirty="0"/>
              <a:t>In the CE plane it lies in the  4</a:t>
            </a:r>
            <a:r>
              <a:rPr lang="en-CA" baseline="30000" dirty="0"/>
              <a:t>th</a:t>
            </a:r>
            <a:r>
              <a:rPr lang="en-CA" dirty="0"/>
              <a:t> Quadrant.</a:t>
            </a:r>
          </a:p>
          <a:p>
            <a:endParaRPr lang="en-CA" dirty="0"/>
          </a:p>
          <a:p>
            <a:endParaRPr lang="en-CA" dirty="0"/>
          </a:p>
          <a:p>
            <a:endParaRPr lang="en-CA" dirty="0"/>
          </a:p>
          <a:p>
            <a:endParaRPr lang="en-CA" dirty="0"/>
          </a:p>
          <a:p>
            <a:endParaRPr lang="en-CA" dirty="0"/>
          </a:p>
          <a:p>
            <a:endParaRPr lang="en-CA" dirty="0"/>
          </a:p>
          <a:p>
            <a:r>
              <a:rPr lang="en-CA" dirty="0"/>
              <a:t>This is referred to as </a:t>
            </a:r>
            <a:r>
              <a:rPr lang="en-CA" b="1" dirty="0"/>
              <a:t>Simple Dominance</a:t>
            </a:r>
            <a:r>
              <a:rPr lang="en-CA" dirty="0"/>
              <a:t>.</a:t>
            </a:r>
          </a:p>
          <a:p>
            <a:r>
              <a:rPr lang="en-CA" dirty="0"/>
              <a:t>This is a solution concept tied to comparison of a single alternative to </a:t>
            </a:r>
            <a:br>
              <a:rPr lang="en-CA" dirty="0"/>
            </a:br>
            <a:r>
              <a:rPr lang="en-CA" dirty="0"/>
              <a:t>a base case. What if we have multiple alternatives? We need a new concept known as </a:t>
            </a:r>
            <a:r>
              <a:rPr lang="en-CA" b="1" dirty="0"/>
              <a:t>Extended Dominance.</a:t>
            </a:r>
          </a:p>
          <a:p>
            <a:endParaRPr lang="en-CA" dirty="0"/>
          </a:p>
          <a:p>
            <a:endParaRPr lang="en-CA" dirty="0"/>
          </a:p>
        </p:txBody>
      </p:sp>
      <p:sp>
        <p:nvSpPr>
          <p:cNvPr id="4" name="Rectangle 3">
            <a:extLst>
              <a:ext uri="{FF2B5EF4-FFF2-40B4-BE49-F238E27FC236}">
                <a16:creationId xmlns:a16="http://schemas.microsoft.com/office/drawing/2014/main" id="{A8D8369E-F724-42D7-8B93-33D960A2D322}"/>
              </a:ext>
            </a:extLst>
          </p:cNvPr>
          <p:cNvSpPr/>
          <p:nvPr/>
        </p:nvSpPr>
        <p:spPr>
          <a:xfrm>
            <a:off x="5782270" y="3511141"/>
            <a:ext cx="1399011" cy="1287446"/>
          </a:xfrm>
          <a:prstGeom prst="rect">
            <a:avLst/>
          </a:prstGeom>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CA" dirty="0"/>
          </a:p>
        </p:txBody>
      </p:sp>
      <p:cxnSp>
        <p:nvCxnSpPr>
          <p:cNvPr id="5" name="Straight Connector 4">
            <a:extLst>
              <a:ext uri="{FF2B5EF4-FFF2-40B4-BE49-F238E27FC236}">
                <a16:creationId xmlns:a16="http://schemas.microsoft.com/office/drawing/2014/main" id="{10FC8407-6CCB-4568-8863-5C95878C36FA}"/>
              </a:ext>
            </a:extLst>
          </p:cNvPr>
          <p:cNvCxnSpPr>
            <a:cxnSpLocks/>
          </p:cNvCxnSpPr>
          <p:nvPr/>
        </p:nvCxnSpPr>
        <p:spPr>
          <a:xfrm flipH="1">
            <a:off x="5809190" y="2347995"/>
            <a:ext cx="315" cy="245059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2303A8D-F05E-414D-B0FE-357841AB8C19}"/>
              </a:ext>
            </a:extLst>
          </p:cNvPr>
          <p:cNvCxnSpPr>
            <a:cxnSpLocks/>
          </p:cNvCxnSpPr>
          <p:nvPr/>
        </p:nvCxnSpPr>
        <p:spPr>
          <a:xfrm flipH="1" flipV="1">
            <a:off x="4403050" y="3485190"/>
            <a:ext cx="2778546" cy="25951"/>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35FA455-4EC6-4203-8258-1897EC5B17E7}"/>
              </a:ext>
            </a:extLst>
          </p:cNvPr>
          <p:cNvSpPr txBox="1"/>
          <p:nvPr/>
        </p:nvSpPr>
        <p:spPr>
          <a:xfrm>
            <a:off x="7969336" y="3753527"/>
            <a:ext cx="636906" cy="369332"/>
          </a:xfrm>
          <a:prstGeom prst="rect">
            <a:avLst/>
          </a:prstGeom>
          <a:noFill/>
        </p:spPr>
        <p:txBody>
          <a:bodyPr wrap="none" rtlCol="0">
            <a:spAutoFit/>
          </a:bodyPr>
          <a:lstStyle/>
          <a:p>
            <a:r>
              <a:rPr lang="en-CA" u="sng" dirty="0"/>
              <a:t>Here</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3430C1F-B1D6-43AA-B4C1-2BBCB5EE0C63}"/>
                  </a:ext>
                </a:extLst>
              </p:cNvPr>
              <p:cNvSpPr txBox="1"/>
              <p:nvPr/>
            </p:nvSpPr>
            <p:spPr>
              <a:xfrm>
                <a:off x="5706828" y="2247506"/>
                <a:ext cx="505267" cy="369332"/>
              </a:xfrm>
              <a:prstGeom prst="rect">
                <a:avLst/>
              </a:prstGeom>
              <a:noFill/>
            </p:spPr>
            <p:txBody>
              <a:bodyPr wrap="none" rtlCol="0">
                <a:spAutoFit/>
              </a:bodyPr>
              <a:lstStyle/>
              <a:p>
                <a:pPr/>
                <a14:m>
                  <m:oMathPara xmlns:m="http://schemas.openxmlformats.org/officeDocument/2006/math">
                    <m:oMath>
                      <m:r>
                        <m:rPr>
                          <m:sty m:val="p"/>
                        </m:rPr>
                        <a:rPr lang="en-CA" b="0" i="0" smtClean="0">
                          <a:latin typeface="Cambria Math" panose="02040503050406030204" pitchFamily="18" charset="0"/>
                        </a:rPr>
                        <m:t>ΔC</m:t>
                      </m:r>
                    </m:oMath>
                  </m:oMathPara>
                </a14:m>
                <a:endParaRPr lang="en-CA" dirty="0"/>
              </a:p>
            </p:txBody>
          </p:sp>
        </mc:Choice>
        <mc:Fallback xmlns="">
          <p:sp>
            <p:nvSpPr>
              <p:cNvPr id="8" name="TextBox 7">
                <a:extLst>
                  <a:ext uri="{FF2B5EF4-FFF2-40B4-BE49-F238E27FC236}">
                    <a16:creationId xmlns:a16="http://schemas.microsoft.com/office/drawing/2014/main" id="{E3430C1F-B1D6-43AA-B4C1-2BBCB5EE0C63}"/>
                  </a:ext>
                </a:extLst>
              </p:cNvPr>
              <p:cNvSpPr txBox="1">
                <a:spLocks noRot="1" noChangeAspect="1" noMove="1" noResize="1" noEditPoints="1" noAdjustHandles="1" noChangeArrowheads="1" noChangeShapeType="1" noTextEdit="1"/>
              </p:cNvSpPr>
              <p:nvPr/>
            </p:nvSpPr>
            <p:spPr>
              <a:xfrm>
                <a:off x="5706828" y="2247506"/>
                <a:ext cx="505267" cy="369332"/>
              </a:xfrm>
              <a:prstGeom prst="rect">
                <a:avLst/>
              </a:prstGeom>
              <a:blipFill>
                <a:blip r:embed="rId2"/>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6287C58-97FA-4DA7-966E-012B2295E26F}"/>
                  </a:ext>
                </a:extLst>
              </p:cNvPr>
              <p:cNvSpPr txBox="1"/>
              <p:nvPr/>
            </p:nvSpPr>
            <p:spPr>
              <a:xfrm>
                <a:off x="7128340" y="3376074"/>
                <a:ext cx="508473" cy="369332"/>
              </a:xfrm>
              <a:prstGeom prst="rect">
                <a:avLst/>
              </a:prstGeom>
              <a:noFill/>
            </p:spPr>
            <p:txBody>
              <a:bodyPr wrap="none" rtlCol="0">
                <a:spAutoFit/>
              </a:bodyPr>
              <a:lstStyle/>
              <a:p>
                <a:pPr/>
                <a14:m>
                  <m:oMathPara xmlns:m="http://schemas.openxmlformats.org/officeDocument/2006/math">
                    <m:oMath>
                      <m:r>
                        <m:rPr>
                          <m:sty m:val="p"/>
                        </m:rPr>
                        <a:rPr lang="en-CA" b="0" i="0" smtClean="0">
                          <a:latin typeface="Cambria Math" panose="02040503050406030204" pitchFamily="18" charset="0"/>
                        </a:rPr>
                        <m:t>ΔE</m:t>
                      </m:r>
                    </m:oMath>
                  </m:oMathPara>
                </a14:m>
                <a:endParaRPr lang="en-CA" dirty="0"/>
              </a:p>
            </p:txBody>
          </p:sp>
        </mc:Choice>
        <mc:Fallback xmlns="">
          <p:sp>
            <p:nvSpPr>
              <p:cNvPr id="9" name="TextBox 8">
                <a:extLst>
                  <a:ext uri="{FF2B5EF4-FFF2-40B4-BE49-F238E27FC236}">
                    <a16:creationId xmlns:a16="http://schemas.microsoft.com/office/drawing/2014/main" id="{36287C58-97FA-4DA7-966E-012B2295E26F}"/>
                  </a:ext>
                </a:extLst>
              </p:cNvPr>
              <p:cNvSpPr txBox="1">
                <a:spLocks noRot="1" noChangeAspect="1" noMove="1" noResize="1" noEditPoints="1" noAdjustHandles="1" noChangeArrowheads="1" noChangeShapeType="1" noTextEdit="1"/>
              </p:cNvSpPr>
              <p:nvPr/>
            </p:nvSpPr>
            <p:spPr>
              <a:xfrm>
                <a:off x="7128340" y="3376074"/>
                <a:ext cx="508473" cy="369332"/>
              </a:xfrm>
              <a:prstGeom prst="rect">
                <a:avLst/>
              </a:prstGeom>
              <a:blipFill>
                <a:blip r:embed="rId3"/>
                <a:stretch>
                  <a:fillRect/>
                </a:stretch>
              </a:blipFill>
            </p:spPr>
            <p:txBody>
              <a:bodyPr/>
              <a:lstStyle/>
              <a:p>
                <a:r>
                  <a:rPr lang="en-CA">
                    <a:noFill/>
                  </a:rPr>
                  <a:t> </a:t>
                </a:r>
              </a:p>
            </p:txBody>
          </p:sp>
        </mc:Fallback>
      </mc:AlternateContent>
      <p:cxnSp>
        <p:nvCxnSpPr>
          <p:cNvPr id="13" name="Straight Arrow Connector 12">
            <a:extLst>
              <a:ext uri="{FF2B5EF4-FFF2-40B4-BE49-F238E27FC236}">
                <a16:creationId xmlns:a16="http://schemas.microsoft.com/office/drawing/2014/main" id="{F94C76CE-B854-4A81-B404-34ACB84C3892}"/>
              </a:ext>
            </a:extLst>
          </p:cNvPr>
          <p:cNvCxnSpPr>
            <a:cxnSpLocks/>
            <a:stCxn id="7" idx="1"/>
          </p:cNvCxnSpPr>
          <p:nvPr/>
        </p:nvCxnSpPr>
        <p:spPr>
          <a:xfrm flipH="1">
            <a:off x="6871378" y="3938193"/>
            <a:ext cx="1097958" cy="15042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6CB32D7D-CD1A-4A3D-89A2-A59A04BF728D}"/>
              </a:ext>
            </a:extLst>
          </p:cNvPr>
          <p:cNvSpPr/>
          <p:nvPr/>
        </p:nvSpPr>
        <p:spPr>
          <a:xfrm>
            <a:off x="6673678" y="4055268"/>
            <a:ext cx="77174" cy="1018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980551386"/>
      </p:ext>
    </p:extLst>
  </p:cSld>
  <p:clrMapOvr>
    <a:masterClrMapping/>
  </p:clrMapOvr>
  <mc:AlternateContent xmlns:mc="http://schemas.openxmlformats.org/markup-compatibility/2006" xmlns:p14="http://schemas.microsoft.com/office/powerpoint/2010/main">
    <mc:Choice Requires="p14">
      <p:transition spd="slow" p14:dur="2000" advTm="40737"/>
    </mc:Choice>
    <mc:Fallback xmlns="">
      <p:transition spd="slow" advTm="40737"/>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35977-A5F4-4EB1-803E-29A260DA7D14}"/>
              </a:ext>
            </a:extLst>
          </p:cNvPr>
          <p:cNvSpPr>
            <a:spLocks noGrp="1"/>
          </p:cNvSpPr>
          <p:nvPr>
            <p:ph type="title"/>
          </p:nvPr>
        </p:nvSpPr>
        <p:spPr>
          <a:xfrm>
            <a:off x="446532" y="727424"/>
            <a:ext cx="11155680" cy="1463040"/>
          </a:xfrm>
        </p:spPr>
        <p:txBody>
          <a:bodyPr/>
          <a:lstStyle/>
          <a:p>
            <a:r>
              <a:rPr lang="en-CA" dirty="0"/>
              <a:t>A Definition of Extended Dominance</a:t>
            </a:r>
          </a:p>
        </p:txBody>
      </p:sp>
      <p:sp>
        <p:nvSpPr>
          <p:cNvPr id="4" name="Rectangle 3">
            <a:extLst>
              <a:ext uri="{FF2B5EF4-FFF2-40B4-BE49-F238E27FC236}">
                <a16:creationId xmlns:a16="http://schemas.microsoft.com/office/drawing/2014/main" id="{50B33B43-2085-4DA3-9C89-06924693A3B3}"/>
              </a:ext>
            </a:extLst>
          </p:cNvPr>
          <p:cNvSpPr/>
          <p:nvPr/>
        </p:nvSpPr>
        <p:spPr>
          <a:xfrm>
            <a:off x="694944" y="1536192"/>
            <a:ext cx="10658856" cy="279133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0F6FD36-CD49-471B-BDDB-3E426C817B5B}"/>
                  </a:ext>
                </a:extLst>
              </p:cNvPr>
              <p:cNvSpPr>
                <a:spLocks noGrp="1"/>
              </p:cNvSpPr>
              <p:nvPr>
                <p:ph idx="1"/>
              </p:nvPr>
            </p:nvSpPr>
            <p:spPr>
              <a:xfrm>
                <a:off x="766572" y="1690688"/>
                <a:ext cx="9754536" cy="3807905"/>
              </a:xfrm>
            </p:spPr>
            <p:txBody>
              <a:bodyPr>
                <a:normAutofit/>
              </a:bodyPr>
              <a:lstStyle/>
              <a:p>
                <a:pPr marL="0" indent="0">
                  <a:buNone/>
                </a:pPr>
                <a:r>
                  <a:rPr lang="en-CA" i="1" dirty="0"/>
                  <a:t>A proposed health technology </a:t>
                </a:r>
                <a14:m>
                  <m:oMath xmlns:m="http://schemas.openxmlformats.org/officeDocument/2006/math">
                    <m:r>
                      <a:rPr lang="en-CA" b="0" i="1" smtClean="0">
                        <a:latin typeface="Cambria Math" panose="02040503050406030204" pitchFamily="18" charset="0"/>
                      </a:rPr>
                      <m:t>𝑖</m:t>
                    </m:r>
                  </m:oMath>
                </a14:m>
                <a:r>
                  <a:rPr lang="en-CA" i="1" dirty="0"/>
                  <a:t> is said to be </a:t>
                </a:r>
                <a:r>
                  <a:rPr lang="en-CA" b="1" i="1" dirty="0"/>
                  <a:t>Extendedly Dominated</a:t>
                </a:r>
                <a:r>
                  <a:rPr lang="en-CA" i="1" dirty="0"/>
                  <a:t> if there exists some technologies </a:t>
                </a:r>
                <a14:m>
                  <m:oMath xmlns:m="http://schemas.openxmlformats.org/officeDocument/2006/math">
                    <m:r>
                      <a:rPr lang="en-CA" b="0" i="1" smtClean="0">
                        <a:latin typeface="Cambria Math" panose="02040503050406030204" pitchFamily="18" charset="0"/>
                      </a:rPr>
                      <m:t>𝑗</m:t>
                    </m:r>
                  </m:oMath>
                </a14:m>
                <a:r>
                  <a:rPr lang="en-CA" i="1" dirty="0"/>
                  <a:t> and </a:t>
                </a:r>
                <a14:m>
                  <m:oMath xmlns:m="http://schemas.openxmlformats.org/officeDocument/2006/math">
                    <m:r>
                      <a:rPr lang="en-CA" b="0" i="1" smtClean="0">
                        <a:latin typeface="Cambria Math" panose="02040503050406030204" pitchFamily="18" charset="0"/>
                      </a:rPr>
                      <m:t>𝑘</m:t>
                    </m:r>
                  </m:oMath>
                </a14:m>
                <a:r>
                  <a:rPr lang="en-CA" i="1" dirty="0"/>
                  <a:t> where such that</a:t>
                </a:r>
                <a:br>
                  <a:rPr lang="en-CA" i="1" dirty="0"/>
                </a:br>
                <a:br>
                  <a:rPr lang="en-CA" i="1" dirty="0"/>
                </a:br>
                <a14:m>
                  <m:oMathPara xmlns:m="http://schemas.openxmlformats.org/officeDocument/2006/math">
                    <m:oMath>
                      <m:r>
                        <m:rPr>
                          <m:sty m:val="p"/>
                        </m:rPr>
                        <a:rPr lang="en-CA" b="0" i="0" smtClean="0">
                          <a:latin typeface="Cambria Math" panose="02040503050406030204" pitchFamily="18" charset="0"/>
                        </a:rPr>
                        <m:t>Δ</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𝐸</m:t>
                          </m:r>
                        </m:e>
                        <m:sub>
                          <m:r>
                            <a:rPr lang="en-CA" b="0" i="1" smtClean="0">
                              <a:latin typeface="Cambria Math" panose="02040503050406030204" pitchFamily="18" charset="0"/>
                            </a:rPr>
                            <m:t>𝑖</m:t>
                          </m:r>
                        </m:sub>
                      </m:sSub>
                      <m:r>
                        <a:rPr lang="en-CA" b="0" i="1" smtClean="0">
                          <a:latin typeface="Cambria Math" panose="02040503050406030204" pitchFamily="18" charset="0"/>
                        </a:rPr>
                        <m:t>&lt;</m:t>
                      </m:r>
                      <m:r>
                        <a:rPr lang="en-CA" b="0" i="1" smtClean="0">
                          <a:latin typeface="Cambria Math" panose="02040503050406030204" pitchFamily="18" charset="0"/>
                        </a:rPr>
                        <m:t>𝛼</m:t>
                      </m:r>
                      <m:r>
                        <m:rPr>
                          <m:sty m:val="p"/>
                        </m:rPr>
                        <a:rPr lang="en-CA" b="0" i="0" smtClean="0">
                          <a:latin typeface="Cambria Math" panose="02040503050406030204" pitchFamily="18" charset="0"/>
                        </a:rPr>
                        <m:t>Δ</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𝐸</m:t>
                          </m:r>
                        </m:e>
                        <m:sub>
                          <m:r>
                            <a:rPr lang="en-CA" b="0" i="1" smtClean="0">
                              <a:latin typeface="Cambria Math" panose="02040503050406030204" pitchFamily="18" charset="0"/>
                            </a:rPr>
                            <m:t>𝑗</m:t>
                          </m:r>
                        </m:sub>
                      </m:sSub>
                      <m:r>
                        <a:rPr lang="en-CA" b="0" i="1" smtClean="0">
                          <a:latin typeface="Cambria Math" panose="02040503050406030204" pitchFamily="18" charset="0"/>
                        </a:rPr>
                        <m:t>+</m:t>
                      </m:r>
                      <m:d>
                        <m:dPr>
                          <m:ctrlPr>
                            <a:rPr lang="en-CA" b="0" i="1" smtClean="0">
                              <a:latin typeface="Cambria Math" panose="02040503050406030204" pitchFamily="18" charset="0"/>
                            </a:rPr>
                          </m:ctrlPr>
                        </m:dPr>
                        <m:e>
                          <m:r>
                            <a:rPr lang="en-CA" b="0" i="1" smtClean="0">
                              <a:latin typeface="Cambria Math" panose="02040503050406030204" pitchFamily="18" charset="0"/>
                            </a:rPr>
                            <m:t>1−</m:t>
                          </m:r>
                          <m:r>
                            <a:rPr lang="en-CA" b="0" i="1" smtClean="0">
                              <a:latin typeface="Cambria Math" panose="02040503050406030204" pitchFamily="18" charset="0"/>
                            </a:rPr>
                            <m:t>𝛼</m:t>
                          </m:r>
                        </m:e>
                      </m:d>
                      <m:r>
                        <m:rPr>
                          <m:sty m:val="p"/>
                        </m:rPr>
                        <a:rPr lang="en-CA" b="0" i="0" smtClean="0">
                          <a:latin typeface="Cambria Math" panose="02040503050406030204" pitchFamily="18" charset="0"/>
                        </a:rPr>
                        <m:t>Δ</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𝐸</m:t>
                          </m:r>
                        </m:e>
                        <m:sub>
                          <m:r>
                            <a:rPr lang="en-CA" b="0" i="1" smtClean="0">
                              <a:latin typeface="Cambria Math" panose="02040503050406030204" pitchFamily="18" charset="0"/>
                            </a:rPr>
                            <m:t>𝑘</m:t>
                          </m:r>
                        </m:sub>
                      </m:sSub>
                    </m:oMath>
                    <m:oMath>
                      <m:r>
                        <m:rPr>
                          <m:sty m:val="p"/>
                        </m:rPr>
                        <a:rPr lang="en-CA" b="0" i="0" smtClean="0">
                          <a:latin typeface="Cambria Math" panose="02040503050406030204" pitchFamily="18" charset="0"/>
                        </a:rPr>
                        <m:t>Δ</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𝐶</m:t>
                          </m:r>
                        </m:e>
                        <m:sub>
                          <m:r>
                            <a:rPr lang="en-CA" b="0" i="1" smtClean="0">
                              <a:latin typeface="Cambria Math" panose="02040503050406030204" pitchFamily="18" charset="0"/>
                            </a:rPr>
                            <m:t>𝑖</m:t>
                          </m:r>
                        </m:sub>
                      </m:sSub>
                      <m:r>
                        <a:rPr lang="en-CA" b="0" i="1" smtClean="0">
                          <a:latin typeface="Cambria Math" panose="02040503050406030204" pitchFamily="18" charset="0"/>
                        </a:rPr>
                        <m:t>&gt;</m:t>
                      </m:r>
                      <m:r>
                        <a:rPr lang="en-CA" b="0" i="1" smtClean="0">
                          <a:latin typeface="Cambria Math" panose="02040503050406030204" pitchFamily="18" charset="0"/>
                        </a:rPr>
                        <m:t>𝜃</m:t>
                      </m:r>
                      <m:r>
                        <m:rPr>
                          <m:sty m:val="p"/>
                        </m:rPr>
                        <a:rPr lang="en-CA" b="0" i="0" smtClean="0">
                          <a:latin typeface="Cambria Math" panose="02040503050406030204" pitchFamily="18" charset="0"/>
                        </a:rPr>
                        <m:t>Δ</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𝐶</m:t>
                          </m:r>
                        </m:e>
                        <m:sub>
                          <m:r>
                            <a:rPr lang="en-CA" b="0" i="1" smtClean="0">
                              <a:latin typeface="Cambria Math" panose="02040503050406030204" pitchFamily="18" charset="0"/>
                            </a:rPr>
                            <m:t>𝑗</m:t>
                          </m:r>
                        </m:sub>
                      </m:sSub>
                      <m:r>
                        <a:rPr lang="en-CA" b="0" i="1" smtClean="0">
                          <a:latin typeface="Cambria Math" panose="02040503050406030204" pitchFamily="18" charset="0"/>
                        </a:rPr>
                        <m:t>+</m:t>
                      </m:r>
                      <m:d>
                        <m:dPr>
                          <m:ctrlPr>
                            <a:rPr lang="en-CA" b="0" i="1" smtClean="0">
                              <a:latin typeface="Cambria Math" panose="02040503050406030204" pitchFamily="18" charset="0"/>
                            </a:rPr>
                          </m:ctrlPr>
                        </m:dPr>
                        <m:e>
                          <m:r>
                            <a:rPr lang="en-CA" b="0" i="1" smtClean="0">
                              <a:latin typeface="Cambria Math" panose="02040503050406030204" pitchFamily="18" charset="0"/>
                            </a:rPr>
                            <m:t>1−</m:t>
                          </m:r>
                          <m:r>
                            <a:rPr lang="en-CA" b="0" i="1" smtClean="0">
                              <a:latin typeface="Cambria Math" panose="02040503050406030204" pitchFamily="18" charset="0"/>
                            </a:rPr>
                            <m:t>𝜃</m:t>
                          </m:r>
                        </m:e>
                      </m:d>
                      <m:r>
                        <m:rPr>
                          <m:sty m:val="p"/>
                        </m:rPr>
                        <a:rPr lang="en-CA" b="0" i="0" smtClean="0">
                          <a:latin typeface="Cambria Math" panose="02040503050406030204" pitchFamily="18" charset="0"/>
                        </a:rPr>
                        <m:t>Δ</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𝐶</m:t>
                          </m:r>
                        </m:e>
                        <m:sub>
                          <m:r>
                            <a:rPr lang="en-CA" b="0" i="1" smtClean="0">
                              <a:latin typeface="Cambria Math" panose="02040503050406030204" pitchFamily="18" charset="0"/>
                            </a:rPr>
                            <m:t>𝑘</m:t>
                          </m:r>
                        </m:sub>
                      </m:sSub>
                    </m:oMath>
                  </m:oMathPara>
                </a14:m>
                <a:endParaRPr lang="en-CA" i="1" dirty="0"/>
              </a:p>
              <a:p>
                <a:pPr marL="0" indent="0">
                  <a:buNone/>
                </a:pPr>
                <a:br>
                  <a:rPr lang="en-CA" i="1" dirty="0"/>
                </a:br>
                <a:r>
                  <a:rPr lang="en-CA" i="1" dirty="0"/>
                  <a:t>Where </a:t>
                </a:r>
                <a14:m>
                  <m:oMath xmlns:m="http://schemas.openxmlformats.org/officeDocument/2006/math">
                    <m:r>
                      <a:rPr lang="en-CA" b="0" i="1" smtClean="0">
                        <a:latin typeface="Cambria Math" panose="02040503050406030204" pitchFamily="18" charset="0"/>
                      </a:rPr>
                      <m:t>0&lt;</m:t>
                    </m:r>
                    <m:r>
                      <a:rPr lang="en-CA" b="0" i="1" smtClean="0">
                        <a:latin typeface="Cambria Math" panose="02040503050406030204" pitchFamily="18" charset="0"/>
                      </a:rPr>
                      <m:t>𝛼</m:t>
                    </m:r>
                    <m:r>
                      <a:rPr lang="en-CA" b="0" i="1" smtClean="0">
                        <a:latin typeface="Cambria Math" panose="02040503050406030204" pitchFamily="18" charset="0"/>
                      </a:rPr>
                      <m:t>&lt;1</m:t>
                    </m:r>
                  </m:oMath>
                </a14:m>
                <a:r>
                  <a:rPr lang="en-CA" i="1" dirty="0"/>
                  <a:t> and </a:t>
                </a:r>
                <a14:m>
                  <m:oMath xmlns:m="http://schemas.openxmlformats.org/officeDocument/2006/math">
                    <m:r>
                      <a:rPr lang="en-CA" b="0" i="1" smtClean="0">
                        <a:latin typeface="Cambria Math" panose="02040503050406030204" pitchFamily="18" charset="0"/>
                      </a:rPr>
                      <m:t>0&lt;</m:t>
                    </m:r>
                    <m:r>
                      <a:rPr lang="en-CA" b="0" i="1" smtClean="0">
                        <a:latin typeface="Cambria Math" panose="02040503050406030204" pitchFamily="18" charset="0"/>
                      </a:rPr>
                      <m:t>𝜃</m:t>
                    </m:r>
                    <m:r>
                      <a:rPr lang="en-CA" b="0" i="1" smtClean="0">
                        <a:latin typeface="Cambria Math" panose="02040503050406030204" pitchFamily="18" charset="0"/>
                      </a:rPr>
                      <m:t>&lt;1</m:t>
                    </m:r>
                  </m:oMath>
                </a14:m>
                <a:r>
                  <a:rPr lang="en-CA" i="1" dirty="0"/>
                  <a:t>.</a:t>
                </a:r>
              </a:p>
              <a:p>
                <a:endParaRPr lang="en-CA" dirty="0"/>
              </a:p>
              <a:p>
                <a:r>
                  <a:rPr lang="en-CA" dirty="0"/>
                  <a:t>In a clinical setting this means that there exists some combination of care treatments which are cheaper and provide a higher utility.</a:t>
                </a:r>
              </a:p>
            </p:txBody>
          </p:sp>
        </mc:Choice>
        <mc:Fallback xmlns="">
          <p:sp>
            <p:nvSpPr>
              <p:cNvPr id="3" name="Content Placeholder 2">
                <a:extLst>
                  <a:ext uri="{FF2B5EF4-FFF2-40B4-BE49-F238E27FC236}">
                    <a16:creationId xmlns:a16="http://schemas.microsoft.com/office/drawing/2014/main" id="{90F6FD36-CD49-471B-BDDB-3E426C817B5B}"/>
                  </a:ext>
                </a:extLst>
              </p:cNvPr>
              <p:cNvSpPr>
                <a:spLocks noGrp="1" noRot="1" noChangeAspect="1" noMove="1" noResize="1" noEditPoints="1" noAdjustHandles="1" noChangeArrowheads="1" noChangeShapeType="1" noTextEdit="1"/>
              </p:cNvSpPr>
              <p:nvPr>
                <p:ph idx="1"/>
              </p:nvPr>
            </p:nvSpPr>
            <p:spPr>
              <a:xfrm>
                <a:off x="766572" y="1690688"/>
                <a:ext cx="9754536" cy="3807905"/>
              </a:xfrm>
              <a:blipFill>
                <a:blip r:embed="rId2"/>
                <a:stretch>
                  <a:fillRect l="-563" t="-480"/>
                </a:stretch>
              </a:blipFill>
            </p:spPr>
            <p:txBody>
              <a:bodyPr/>
              <a:lstStyle/>
              <a:p>
                <a:r>
                  <a:rPr lang="en-CA">
                    <a:noFill/>
                  </a:rPr>
                  <a:t> </a:t>
                </a:r>
              </a:p>
            </p:txBody>
          </p:sp>
        </mc:Fallback>
      </mc:AlternateContent>
    </p:spTree>
    <p:extLst>
      <p:ext uri="{BB962C8B-B14F-4D97-AF65-F5344CB8AC3E}">
        <p14:creationId xmlns:p14="http://schemas.microsoft.com/office/powerpoint/2010/main" val="3811421751"/>
      </p:ext>
    </p:extLst>
  </p:cSld>
  <p:clrMapOvr>
    <a:masterClrMapping/>
  </p:clrMapOvr>
  <mc:AlternateContent xmlns:mc="http://schemas.openxmlformats.org/markup-compatibility/2006" xmlns:p14="http://schemas.microsoft.com/office/powerpoint/2010/main">
    <mc:Choice Requires="p14">
      <p:transition spd="slow" p14:dur="2000" advTm="45670"/>
    </mc:Choice>
    <mc:Fallback xmlns="">
      <p:transition spd="slow" advTm="4567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C9EC5-79BF-42AB-966C-92F4549D7E05}"/>
              </a:ext>
            </a:extLst>
          </p:cNvPr>
          <p:cNvSpPr>
            <a:spLocks noGrp="1"/>
          </p:cNvSpPr>
          <p:nvPr>
            <p:ph type="title"/>
          </p:nvPr>
        </p:nvSpPr>
        <p:spPr>
          <a:xfrm>
            <a:off x="688983" y="-96084"/>
            <a:ext cx="10515600" cy="1325563"/>
          </a:xfrm>
        </p:spPr>
        <p:txBody>
          <a:bodyPr/>
          <a:lstStyle/>
          <a:p>
            <a:r>
              <a:rPr lang="en-CA" dirty="0"/>
              <a:t>Example </a:t>
            </a:r>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2E1CB3A8-01F7-4D25-BA6E-F69493FFD288}"/>
                  </a:ext>
                </a:extLst>
              </p:cNvPr>
              <p:cNvGraphicFramePr>
                <a:graphicFrameLocks noGrp="1"/>
              </p:cNvGraphicFramePr>
              <p:nvPr>
                <p:ph idx="1"/>
              </p:nvPr>
            </p:nvGraphicFramePr>
            <p:xfrm>
              <a:off x="838200" y="1005394"/>
              <a:ext cx="10515600" cy="3702368"/>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1125999138"/>
                        </a:ext>
                      </a:extLst>
                    </a:gridCol>
                    <a:gridCol w="1752600">
                      <a:extLst>
                        <a:ext uri="{9D8B030D-6E8A-4147-A177-3AD203B41FA5}">
                          <a16:colId xmlns:a16="http://schemas.microsoft.com/office/drawing/2014/main" val="551663409"/>
                        </a:ext>
                      </a:extLst>
                    </a:gridCol>
                    <a:gridCol w="1752600">
                      <a:extLst>
                        <a:ext uri="{9D8B030D-6E8A-4147-A177-3AD203B41FA5}">
                          <a16:colId xmlns:a16="http://schemas.microsoft.com/office/drawing/2014/main" val="2711792024"/>
                        </a:ext>
                      </a:extLst>
                    </a:gridCol>
                    <a:gridCol w="1752600">
                      <a:extLst>
                        <a:ext uri="{9D8B030D-6E8A-4147-A177-3AD203B41FA5}">
                          <a16:colId xmlns:a16="http://schemas.microsoft.com/office/drawing/2014/main" val="1993601519"/>
                        </a:ext>
                      </a:extLst>
                    </a:gridCol>
                    <a:gridCol w="1752600">
                      <a:extLst>
                        <a:ext uri="{9D8B030D-6E8A-4147-A177-3AD203B41FA5}">
                          <a16:colId xmlns:a16="http://schemas.microsoft.com/office/drawing/2014/main" val="2450393045"/>
                        </a:ext>
                      </a:extLst>
                    </a:gridCol>
                    <a:gridCol w="1752600">
                      <a:extLst>
                        <a:ext uri="{9D8B030D-6E8A-4147-A177-3AD203B41FA5}">
                          <a16:colId xmlns:a16="http://schemas.microsoft.com/office/drawing/2014/main" val="954482251"/>
                        </a:ext>
                      </a:extLst>
                    </a:gridCol>
                  </a:tblGrid>
                  <a:tr h="370840">
                    <a:tc>
                      <a:txBody>
                        <a:bodyPr/>
                        <a:lstStyle/>
                        <a:p>
                          <a:r>
                            <a:rPr lang="en-CA" b="0" dirty="0"/>
                            <a:t>Test</a:t>
                          </a:r>
                        </a:p>
                      </a:txBody>
                      <a:tcPr/>
                    </a:tc>
                    <a:tc>
                      <a:txBody>
                        <a:bodyPr/>
                        <a:lstStyle/>
                        <a:p>
                          <a:r>
                            <a:rPr lang="en-CA" b="0" dirty="0"/>
                            <a:t>Costs</a:t>
                          </a:r>
                        </a:p>
                      </a:txBody>
                      <a:tcPr/>
                    </a:tc>
                    <a:tc>
                      <a:txBody>
                        <a:bodyPr/>
                        <a:lstStyle/>
                        <a:p>
                          <a:r>
                            <a:rPr lang="en-CA" b="0" dirty="0"/>
                            <a:t>Effects</a:t>
                          </a:r>
                        </a:p>
                      </a:txBody>
                      <a:tcPr/>
                    </a:tc>
                    <a:tc>
                      <a:txBody>
                        <a:bodyPr/>
                        <a:lstStyle/>
                        <a:p>
                          <a:pPr/>
                          <a14:m>
                            <m:oMathPara xmlns:m="http://schemas.openxmlformats.org/officeDocument/2006/math">
                              <m:oMath>
                                <m:r>
                                  <m:rPr>
                                    <m:sty m:val="p"/>
                                  </m:rPr>
                                  <a:rPr lang="en-CA" b="0" i="0" smtClean="0">
                                    <a:latin typeface="Cambria Math" panose="02040503050406030204" pitchFamily="18" charset="0"/>
                                  </a:rPr>
                                  <m:t>ΔC</m:t>
                                </m:r>
                              </m:oMath>
                            </m:oMathPara>
                          </a14:m>
                          <a:endParaRPr lang="en-CA" b="0" dirty="0"/>
                        </a:p>
                      </a:txBody>
                      <a:tcPr/>
                    </a:tc>
                    <a:tc>
                      <a:txBody>
                        <a:bodyPr/>
                        <a:lstStyle/>
                        <a:p>
                          <a:pPr/>
                          <a14:m>
                            <m:oMathPara xmlns:m="http://schemas.openxmlformats.org/officeDocument/2006/math">
                              <m:oMath>
                                <m:r>
                                  <m:rPr>
                                    <m:sty m:val="p"/>
                                  </m:rPr>
                                  <a:rPr lang="en-CA" b="0" i="0" smtClean="0">
                                    <a:latin typeface="Cambria Math" panose="02040503050406030204" pitchFamily="18" charset="0"/>
                                  </a:rPr>
                                  <m:t>ΔE</m:t>
                                </m:r>
                              </m:oMath>
                            </m:oMathPara>
                          </a14:m>
                          <a:endParaRPr lang="en-CA" b="0" dirty="0"/>
                        </a:p>
                      </a:txBody>
                      <a:tcPr/>
                    </a:tc>
                    <a:tc>
                      <a:txBody>
                        <a:bodyPr/>
                        <a:lstStyle/>
                        <a:p>
                          <a:r>
                            <a:rPr lang="en-CA" b="0" dirty="0"/>
                            <a:t>ICER </a:t>
                          </a:r>
                          <a14:m>
                            <m:oMath xmlns:m="http://schemas.openxmlformats.org/officeDocument/2006/math">
                              <m:d>
                                <m:dPr>
                                  <m:ctrlPr>
                                    <a:rPr lang="en-CA" b="0" i="1" smtClean="0">
                                      <a:latin typeface="Cambria Math" panose="02040503050406030204" pitchFamily="18" charset="0"/>
                                    </a:rPr>
                                  </m:ctrlPr>
                                </m:dPr>
                                <m:e>
                                  <m:f>
                                    <m:fPr>
                                      <m:ctrlPr>
                                        <a:rPr lang="en-CA" b="0" i="0" smtClean="0">
                                          <a:latin typeface="Cambria Math" panose="02040503050406030204" pitchFamily="18" charset="0"/>
                                        </a:rPr>
                                      </m:ctrlPr>
                                    </m:fPr>
                                    <m:num>
                                      <m:r>
                                        <m:rPr>
                                          <m:sty m:val="p"/>
                                        </m:rPr>
                                        <a:rPr lang="en-CA" b="0" i="0" smtClean="0">
                                          <a:latin typeface="Cambria Math" panose="02040503050406030204" pitchFamily="18" charset="0"/>
                                        </a:rPr>
                                        <m:t>ΔC</m:t>
                                      </m:r>
                                    </m:num>
                                    <m:den>
                                      <m:r>
                                        <m:rPr>
                                          <m:sty m:val="p"/>
                                        </m:rPr>
                                        <a:rPr lang="en-CA" b="0" i="0" smtClean="0">
                                          <a:latin typeface="Cambria Math" panose="02040503050406030204" pitchFamily="18" charset="0"/>
                                        </a:rPr>
                                        <m:t>ΔE</m:t>
                                      </m:r>
                                    </m:den>
                                  </m:f>
                                </m:e>
                              </m:d>
                            </m:oMath>
                          </a14:m>
                          <a:endParaRPr lang="en-CA" b="0" dirty="0"/>
                        </a:p>
                      </a:txBody>
                      <a:tcPr/>
                    </a:tc>
                    <a:extLst>
                      <a:ext uri="{0D108BD9-81ED-4DB2-BD59-A6C34878D82A}">
                        <a16:rowId xmlns:a16="http://schemas.microsoft.com/office/drawing/2014/main" val="1639741701"/>
                      </a:ext>
                    </a:extLst>
                  </a:tr>
                  <a:tr h="370840">
                    <a:tc>
                      <a:txBody>
                        <a:bodyPr/>
                        <a:lstStyle/>
                        <a:p>
                          <a:r>
                            <a:rPr lang="en-CA" dirty="0"/>
                            <a:t>A (Standard Care)</a:t>
                          </a:r>
                        </a:p>
                      </a:txBody>
                      <a:tcPr/>
                    </a:tc>
                    <a:tc>
                      <a:txBody>
                        <a:bodyPr/>
                        <a:lstStyle/>
                        <a:p>
                          <a:r>
                            <a:rPr lang="en-CA" dirty="0"/>
                            <a:t>$50,000,000</a:t>
                          </a:r>
                        </a:p>
                      </a:txBody>
                      <a:tcPr/>
                    </a:tc>
                    <a:tc>
                      <a:txBody>
                        <a:bodyPr/>
                        <a:lstStyle/>
                        <a:p>
                          <a:r>
                            <a:rPr lang="en-CA" dirty="0"/>
                            <a:t>10,000 QALY</a:t>
                          </a:r>
                        </a:p>
                      </a:txBody>
                      <a:tcPr/>
                    </a:tc>
                    <a:tc>
                      <a:txBody>
                        <a:bodyPr/>
                        <a:lstStyle/>
                        <a:p>
                          <a:pPr algn="r" fontAlgn="b"/>
                          <a:r>
                            <a:rPr lang="en-CA" sz="1800" b="0" i="0" u="none" strike="noStrike" dirty="0">
                              <a:solidFill>
                                <a:srgbClr val="000000"/>
                              </a:solidFill>
                              <a:effectLst/>
                              <a:latin typeface="Calibri" panose="020F0502020204030204" pitchFamily="34" charset="0"/>
                            </a:rPr>
                            <a:t>$0</a:t>
                          </a:r>
                        </a:p>
                      </a:txBody>
                      <a:tcPr marL="9525" marR="9525" marT="9525" marB="0"/>
                    </a:tc>
                    <a:tc>
                      <a:txBody>
                        <a:bodyPr/>
                        <a:lstStyle/>
                        <a:p>
                          <a:pPr algn="r" fontAlgn="b"/>
                          <a:r>
                            <a:rPr lang="en-CA" sz="1800" b="0" i="0" u="none" strike="noStrike" dirty="0">
                              <a:solidFill>
                                <a:srgbClr val="000000"/>
                              </a:solidFill>
                              <a:effectLst/>
                              <a:latin typeface="Calibri" panose="020F0502020204030204" pitchFamily="34" charset="0"/>
                            </a:rPr>
                            <a:t>0 </a:t>
                          </a:r>
                          <a:r>
                            <a:rPr lang="en-CA" dirty="0"/>
                            <a:t>QALY</a:t>
                          </a:r>
                          <a:endParaRPr lang="en-CA" sz="1800" b="0" i="0" u="none" strike="noStrike" dirty="0">
                            <a:solidFill>
                              <a:srgbClr val="000000"/>
                            </a:solidFill>
                            <a:effectLst/>
                            <a:latin typeface="Calibri" panose="020F0502020204030204" pitchFamily="34" charset="0"/>
                          </a:endParaRPr>
                        </a:p>
                      </a:txBody>
                      <a:tcPr marL="9525" marR="9525" marT="9525" marB="0"/>
                    </a:tc>
                    <a:tc>
                      <a:txBody>
                        <a:bodyPr/>
                        <a:lstStyle/>
                        <a:p>
                          <a:endParaRPr lang="en-CA" dirty="0"/>
                        </a:p>
                      </a:txBody>
                      <a:tcPr/>
                    </a:tc>
                    <a:extLst>
                      <a:ext uri="{0D108BD9-81ED-4DB2-BD59-A6C34878D82A}">
                        <a16:rowId xmlns:a16="http://schemas.microsoft.com/office/drawing/2014/main" val="2219830401"/>
                      </a:ext>
                    </a:extLst>
                  </a:tr>
                  <a:tr h="370840">
                    <a:tc>
                      <a:txBody>
                        <a:bodyPr/>
                        <a:lstStyle/>
                        <a:p>
                          <a:r>
                            <a:rPr lang="en-CA" dirty="0"/>
                            <a:t>B</a:t>
                          </a:r>
                        </a:p>
                      </a:txBody>
                      <a:tcPr/>
                    </a:tc>
                    <a:tc>
                      <a:txBody>
                        <a:bodyPr/>
                        <a:lstStyle/>
                        <a:p>
                          <a:r>
                            <a:rPr lang="en-CA" dirty="0"/>
                            <a:t>$100,000,000</a:t>
                          </a:r>
                        </a:p>
                      </a:txBody>
                      <a:tcPr/>
                    </a:tc>
                    <a:tc>
                      <a:txBody>
                        <a:bodyPr/>
                        <a:lstStyle/>
                        <a:p>
                          <a:r>
                            <a:rPr lang="en-CA" dirty="0"/>
                            <a:t>14,000 QALY</a:t>
                          </a:r>
                        </a:p>
                      </a:txBody>
                      <a:tcPr/>
                    </a:tc>
                    <a:tc>
                      <a:txBody>
                        <a:bodyPr/>
                        <a:lstStyle/>
                        <a:p>
                          <a:pPr algn="r" fontAlgn="b"/>
                          <a:r>
                            <a:rPr lang="en-CA" sz="1800" b="0" i="0" u="none" strike="noStrike" dirty="0">
                              <a:solidFill>
                                <a:srgbClr val="000000"/>
                              </a:solidFill>
                              <a:effectLst/>
                              <a:latin typeface="Calibri" panose="020F0502020204030204" pitchFamily="34" charset="0"/>
                            </a:rPr>
                            <a:t>$50,000,000</a:t>
                          </a:r>
                        </a:p>
                      </a:txBody>
                      <a:tcPr marL="9525" marR="9525" marT="9525" marB="0"/>
                    </a:tc>
                    <a:tc>
                      <a:txBody>
                        <a:bodyPr/>
                        <a:lstStyle/>
                        <a:p>
                          <a:pPr algn="r" fontAlgn="b"/>
                          <a:r>
                            <a:rPr lang="en-CA" sz="1800" b="0" i="0" u="none" strike="noStrike" dirty="0">
                              <a:solidFill>
                                <a:srgbClr val="000000"/>
                              </a:solidFill>
                              <a:effectLst/>
                              <a:latin typeface="Calibri" panose="020F0502020204030204" pitchFamily="34" charset="0"/>
                            </a:rPr>
                            <a:t>4,000 </a:t>
                          </a:r>
                          <a:r>
                            <a:rPr lang="en-CA" dirty="0"/>
                            <a:t>QALY</a:t>
                          </a:r>
                          <a:endParaRPr lang="en-CA" sz="1800" b="0" i="0" u="none" strike="noStrike" dirty="0">
                            <a:solidFill>
                              <a:srgbClr val="000000"/>
                            </a:solidFill>
                            <a:effectLst/>
                            <a:latin typeface="Calibri" panose="020F0502020204030204" pitchFamily="34" charset="0"/>
                          </a:endParaRPr>
                        </a:p>
                      </a:txBody>
                      <a:tcPr marL="9525" marR="9525" marT="9525" marB="0"/>
                    </a:tc>
                    <a:tc>
                      <a:txBody>
                        <a:bodyPr/>
                        <a:lstStyle/>
                        <a:p>
                          <a:r>
                            <a:rPr lang="en-CA" dirty="0"/>
                            <a:t>$12,500 per QALY</a:t>
                          </a:r>
                        </a:p>
                      </a:txBody>
                      <a:tcPr/>
                    </a:tc>
                    <a:extLst>
                      <a:ext uri="{0D108BD9-81ED-4DB2-BD59-A6C34878D82A}">
                        <a16:rowId xmlns:a16="http://schemas.microsoft.com/office/drawing/2014/main" val="3091928606"/>
                      </a:ext>
                    </a:extLst>
                  </a:tr>
                  <a:tr h="370840">
                    <a:tc>
                      <a:txBody>
                        <a:bodyPr/>
                        <a:lstStyle/>
                        <a:p>
                          <a:r>
                            <a:rPr lang="en-CA" dirty="0"/>
                            <a:t>C</a:t>
                          </a:r>
                        </a:p>
                      </a:txBody>
                      <a:tcPr/>
                    </a:tc>
                    <a:tc>
                      <a:txBody>
                        <a:bodyPr/>
                        <a:lstStyle/>
                        <a:p>
                          <a:r>
                            <a:rPr lang="en-CA" dirty="0"/>
                            <a:t>$150,000,000</a:t>
                          </a:r>
                        </a:p>
                      </a:txBody>
                      <a:tcPr/>
                    </a:tc>
                    <a:tc>
                      <a:txBody>
                        <a:bodyPr/>
                        <a:lstStyle/>
                        <a:p>
                          <a:r>
                            <a:rPr lang="en-CA" dirty="0"/>
                            <a:t>16,000 QALY</a:t>
                          </a:r>
                        </a:p>
                      </a:txBody>
                      <a:tcPr/>
                    </a:tc>
                    <a:tc>
                      <a:txBody>
                        <a:bodyPr/>
                        <a:lstStyle/>
                        <a:p>
                          <a:pPr algn="r" fontAlgn="b"/>
                          <a:r>
                            <a:rPr lang="en-CA" sz="1800" b="0" i="0" u="none" strike="noStrike" dirty="0">
                              <a:solidFill>
                                <a:srgbClr val="000000"/>
                              </a:solidFill>
                              <a:effectLst/>
                              <a:latin typeface="Calibri" panose="020F0502020204030204" pitchFamily="34" charset="0"/>
                            </a:rPr>
                            <a:t>$100,000,000</a:t>
                          </a:r>
                        </a:p>
                      </a:txBody>
                      <a:tcPr marL="9525" marR="9525" marT="9525" marB="0"/>
                    </a:tc>
                    <a:tc>
                      <a:txBody>
                        <a:bodyPr/>
                        <a:lstStyle/>
                        <a:p>
                          <a:pPr algn="r" fontAlgn="b"/>
                          <a:r>
                            <a:rPr lang="en-CA" sz="1800" b="0" i="0" u="none" strike="noStrike" dirty="0">
                              <a:solidFill>
                                <a:srgbClr val="000000"/>
                              </a:solidFill>
                              <a:effectLst/>
                              <a:latin typeface="Calibri" panose="020F0502020204030204" pitchFamily="34" charset="0"/>
                            </a:rPr>
                            <a:t>6,000 </a:t>
                          </a:r>
                          <a:r>
                            <a:rPr lang="en-CA" dirty="0"/>
                            <a:t>QALY</a:t>
                          </a:r>
                          <a:endParaRPr lang="en-CA" sz="1800" b="0" i="0" u="none" strike="noStrike" dirty="0">
                            <a:solidFill>
                              <a:srgbClr val="000000"/>
                            </a:solidFill>
                            <a:effectLst/>
                            <a:latin typeface="Calibri" panose="020F0502020204030204" pitchFamily="34" charset="0"/>
                          </a:endParaRPr>
                        </a:p>
                      </a:txBody>
                      <a:tcPr marL="9525" marR="9525" marT="9525" marB="0"/>
                    </a:tc>
                    <a:tc>
                      <a:txBody>
                        <a:bodyPr/>
                        <a:lstStyle/>
                        <a:p>
                          <a:r>
                            <a:rPr lang="en-CA" dirty="0"/>
                            <a:t>$25,000 per QALY</a:t>
                          </a:r>
                        </a:p>
                      </a:txBody>
                      <a:tcPr/>
                    </a:tc>
                    <a:extLst>
                      <a:ext uri="{0D108BD9-81ED-4DB2-BD59-A6C34878D82A}">
                        <a16:rowId xmlns:a16="http://schemas.microsoft.com/office/drawing/2014/main" val="3898854944"/>
                      </a:ext>
                    </a:extLst>
                  </a:tr>
                  <a:tr h="370840">
                    <a:tc>
                      <a:txBody>
                        <a:bodyPr/>
                        <a:lstStyle/>
                        <a:p>
                          <a:r>
                            <a:rPr lang="en-CA" dirty="0"/>
                            <a:t>D</a:t>
                          </a:r>
                        </a:p>
                      </a:txBody>
                      <a:tcPr/>
                    </a:tc>
                    <a:tc>
                      <a:txBody>
                        <a:bodyPr/>
                        <a:lstStyle/>
                        <a:p>
                          <a:r>
                            <a:rPr lang="en-CA" dirty="0"/>
                            <a:t>$190,000,000</a:t>
                          </a:r>
                        </a:p>
                      </a:txBody>
                      <a:tcPr/>
                    </a:tc>
                    <a:tc>
                      <a:txBody>
                        <a:bodyPr/>
                        <a:lstStyle/>
                        <a:p>
                          <a:r>
                            <a:rPr lang="en-CA" dirty="0"/>
                            <a:t>19,000 QALY</a:t>
                          </a:r>
                        </a:p>
                      </a:txBody>
                      <a:tcPr/>
                    </a:tc>
                    <a:tc>
                      <a:txBody>
                        <a:bodyPr/>
                        <a:lstStyle/>
                        <a:p>
                          <a:pPr algn="r" fontAlgn="b"/>
                          <a:r>
                            <a:rPr lang="en-CA" sz="1800" b="0" i="0" u="none" strike="noStrike" dirty="0">
                              <a:solidFill>
                                <a:srgbClr val="000000"/>
                              </a:solidFill>
                              <a:effectLst/>
                              <a:latin typeface="Calibri" panose="020F0502020204030204" pitchFamily="34" charset="0"/>
                            </a:rPr>
                            <a:t>$140,000,000</a:t>
                          </a:r>
                        </a:p>
                      </a:txBody>
                      <a:tcPr marL="9525" marR="9525" marT="9525" marB="0"/>
                    </a:tc>
                    <a:tc>
                      <a:txBody>
                        <a:bodyPr/>
                        <a:lstStyle/>
                        <a:p>
                          <a:pPr algn="r" fontAlgn="b"/>
                          <a:r>
                            <a:rPr lang="en-CA" sz="1800" b="0" i="0" u="none" strike="noStrike" dirty="0">
                              <a:solidFill>
                                <a:srgbClr val="000000"/>
                              </a:solidFill>
                              <a:effectLst/>
                              <a:latin typeface="Calibri" panose="020F0502020204030204" pitchFamily="34" charset="0"/>
                            </a:rPr>
                            <a:t>9,000 </a:t>
                          </a:r>
                          <a:r>
                            <a:rPr lang="en-CA" dirty="0"/>
                            <a:t>QALY</a:t>
                          </a:r>
                          <a:endParaRPr lang="en-CA" sz="1800" b="0" i="0" u="none" strike="noStrike" dirty="0">
                            <a:solidFill>
                              <a:srgbClr val="000000"/>
                            </a:solidFill>
                            <a:effectLst/>
                            <a:latin typeface="Calibri" panose="020F0502020204030204" pitchFamily="34" charset="0"/>
                          </a:endParaRPr>
                        </a:p>
                      </a:txBody>
                      <a:tcPr marL="9525" marR="9525" marT="9525" marB="0"/>
                    </a:tc>
                    <a:tc>
                      <a:txBody>
                        <a:bodyPr/>
                        <a:lstStyle/>
                        <a:p>
                          <a:r>
                            <a:rPr lang="en-CA" dirty="0"/>
                            <a:t>$13,333 per QALY</a:t>
                          </a:r>
                        </a:p>
                      </a:txBody>
                      <a:tcPr/>
                    </a:tc>
                    <a:extLst>
                      <a:ext uri="{0D108BD9-81ED-4DB2-BD59-A6C34878D82A}">
                        <a16:rowId xmlns:a16="http://schemas.microsoft.com/office/drawing/2014/main" val="1737397306"/>
                      </a:ext>
                    </a:extLst>
                  </a:tr>
                  <a:tr h="370840">
                    <a:tc>
                      <a:txBody>
                        <a:bodyPr/>
                        <a:lstStyle/>
                        <a:p>
                          <a:r>
                            <a:rPr lang="en-CA" dirty="0"/>
                            <a:t>E</a:t>
                          </a:r>
                        </a:p>
                      </a:txBody>
                      <a:tcPr/>
                    </a:tc>
                    <a:tc>
                      <a:txBody>
                        <a:bodyPr/>
                        <a:lstStyle/>
                        <a:p>
                          <a:r>
                            <a:rPr lang="en-CA" dirty="0"/>
                            <a:t>$250,000,000</a:t>
                          </a:r>
                        </a:p>
                      </a:txBody>
                      <a:tcPr/>
                    </a:tc>
                    <a:tc>
                      <a:txBody>
                        <a:bodyPr/>
                        <a:lstStyle/>
                        <a:p>
                          <a:r>
                            <a:rPr lang="en-CA" dirty="0"/>
                            <a:t>20,000 QALY</a:t>
                          </a:r>
                        </a:p>
                      </a:txBody>
                      <a:tcPr/>
                    </a:tc>
                    <a:tc>
                      <a:txBody>
                        <a:bodyPr/>
                        <a:lstStyle/>
                        <a:p>
                          <a:pPr algn="r" fontAlgn="b"/>
                          <a:r>
                            <a:rPr lang="en-CA" sz="1800" b="0" i="0" u="none" strike="noStrike" dirty="0">
                              <a:solidFill>
                                <a:srgbClr val="000000"/>
                              </a:solidFill>
                              <a:effectLst/>
                              <a:latin typeface="Calibri" panose="020F0502020204030204" pitchFamily="34" charset="0"/>
                            </a:rPr>
                            <a:t>$200,000,000</a:t>
                          </a:r>
                        </a:p>
                      </a:txBody>
                      <a:tcPr marL="9525" marR="9525" marT="9525" marB="0"/>
                    </a:tc>
                    <a:tc>
                      <a:txBody>
                        <a:bodyPr/>
                        <a:lstStyle/>
                        <a:p>
                          <a:pPr algn="r" fontAlgn="b"/>
                          <a:r>
                            <a:rPr lang="en-CA" sz="1800" b="0" i="0" u="none" strike="noStrike" dirty="0">
                              <a:solidFill>
                                <a:srgbClr val="000000"/>
                              </a:solidFill>
                              <a:effectLst/>
                              <a:latin typeface="Calibri" panose="020F0502020204030204" pitchFamily="34" charset="0"/>
                            </a:rPr>
                            <a:t>10,000 </a:t>
                          </a:r>
                          <a:r>
                            <a:rPr lang="en-CA" dirty="0"/>
                            <a:t>QALY</a:t>
                          </a:r>
                          <a:endParaRPr lang="en-CA" sz="1800" b="0" i="0" u="none" strike="noStrike" dirty="0">
                            <a:solidFill>
                              <a:srgbClr val="000000"/>
                            </a:solidFill>
                            <a:effectLst/>
                            <a:latin typeface="Calibri" panose="020F0502020204030204" pitchFamily="34" charset="0"/>
                          </a:endParaRPr>
                        </a:p>
                      </a:txBody>
                      <a:tcPr marL="9525" marR="9525" marT="9525" marB="0"/>
                    </a:tc>
                    <a:tc>
                      <a:txBody>
                        <a:bodyPr/>
                        <a:lstStyle/>
                        <a:p>
                          <a:r>
                            <a:rPr lang="en-CA" dirty="0"/>
                            <a:t>$60,000 per QALY</a:t>
                          </a:r>
                        </a:p>
                      </a:txBody>
                      <a:tcPr/>
                    </a:tc>
                    <a:extLst>
                      <a:ext uri="{0D108BD9-81ED-4DB2-BD59-A6C34878D82A}">
                        <a16:rowId xmlns:a16="http://schemas.microsoft.com/office/drawing/2014/main" val="3118220576"/>
                      </a:ext>
                    </a:extLst>
                  </a:tr>
                </a:tbl>
              </a:graphicData>
            </a:graphic>
          </p:graphicFrame>
        </mc:Choice>
        <mc:Fallback xmlns="">
          <p:graphicFrame>
            <p:nvGraphicFramePr>
              <p:cNvPr id="4" name="Table 4">
                <a:extLst>
                  <a:ext uri="{FF2B5EF4-FFF2-40B4-BE49-F238E27FC236}">
                    <a16:creationId xmlns:a16="http://schemas.microsoft.com/office/drawing/2014/main" id="{2E1CB3A8-01F7-4D25-BA6E-F69493FFD288}"/>
                  </a:ext>
                </a:extLst>
              </p:cNvPr>
              <p:cNvGraphicFramePr>
                <a:graphicFrameLocks noGrp="1"/>
              </p:cNvGraphicFramePr>
              <p:nvPr>
                <p:ph idx="1"/>
                <p:extLst>
                  <p:ext uri="{D42A27DB-BD31-4B8C-83A1-F6EECF244321}">
                    <p14:modId xmlns:p14="http://schemas.microsoft.com/office/powerpoint/2010/main" val="3581074466"/>
                  </p:ext>
                </p:extLst>
              </p:nvPr>
            </p:nvGraphicFramePr>
            <p:xfrm>
              <a:off x="838200" y="1005394"/>
              <a:ext cx="10515600" cy="3702368"/>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1125999138"/>
                        </a:ext>
                      </a:extLst>
                    </a:gridCol>
                    <a:gridCol w="1752600">
                      <a:extLst>
                        <a:ext uri="{9D8B030D-6E8A-4147-A177-3AD203B41FA5}">
                          <a16:colId xmlns:a16="http://schemas.microsoft.com/office/drawing/2014/main" val="551663409"/>
                        </a:ext>
                      </a:extLst>
                    </a:gridCol>
                    <a:gridCol w="1752600">
                      <a:extLst>
                        <a:ext uri="{9D8B030D-6E8A-4147-A177-3AD203B41FA5}">
                          <a16:colId xmlns:a16="http://schemas.microsoft.com/office/drawing/2014/main" val="2711792024"/>
                        </a:ext>
                      </a:extLst>
                    </a:gridCol>
                    <a:gridCol w="1752600">
                      <a:extLst>
                        <a:ext uri="{9D8B030D-6E8A-4147-A177-3AD203B41FA5}">
                          <a16:colId xmlns:a16="http://schemas.microsoft.com/office/drawing/2014/main" val="1993601519"/>
                        </a:ext>
                      </a:extLst>
                    </a:gridCol>
                    <a:gridCol w="1752600">
                      <a:extLst>
                        <a:ext uri="{9D8B030D-6E8A-4147-A177-3AD203B41FA5}">
                          <a16:colId xmlns:a16="http://schemas.microsoft.com/office/drawing/2014/main" val="2450393045"/>
                        </a:ext>
                      </a:extLst>
                    </a:gridCol>
                    <a:gridCol w="1752600">
                      <a:extLst>
                        <a:ext uri="{9D8B030D-6E8A-4147-A177-3AD203B41FA5}">
                          <a16:colId xmlns:a16="http://schemas.microsoft.com/office/drawing/2014/main" val="954482251"/>
                        </a:ext>
                      </a:extLst>
                    </a:gridCol>
                  </a:tblGrid>
                  <a:tr h="501968">
                    <a:tc>
                      <a:txBody>
                        <a:bodyPr/>
                        <a:lstStyle/>
                        <a:p>
                          <a:r>
                            <a:rPr lang="en-CA" b="0" dirty="0"/>
                            <a:t>Test</a:t>
                          </a:r>
                        </a:p>
                      </a:txBody>
                      <a:tcPr/>
                    </a:tc>
                    <a:tc>
                      <a:txBody>
                        <a:bodyPr/>
                        <a:lstStyle/>
                        <a:p>
                          <a:r>
                            <a:rPr lang="en-CA" b="0" dirty="0"/>
                            <a:t>Costs</a:t>
                          </a:r>
                        </a:p>
                      </a:txBody>
                      <a:tcPr/>
                    </a:tc>
                    <a:tc>
                      <a:txBody>
                        <a:bodyPr/>
                        <a:lstStyle/>
                        <a:p>
                          <a:r>
                            <a:rPr lang="en-CA" b="0" dirty="0"/>
                            <a:t>Effects</a:t>
                          </a:r>
                        </a:p>
                      </a:txBody>
                      <a:tcPr/>
                    </a:tc>
                    <a:tc>
                      <a:txBody>
                        <a:bodyPr/>
                        <a:lstStyle/>
                        <a:p>
                          <a:endParaRPr lang="en-US"/>
                        </a:p>
                      </a:txBody>
                      <a:tcPr>
                        <a:blipFill>
                          <a:blip r:embed="rId4"/>
                          <a:stretch>
                            <a:fillRect l="-300000" t="-6024" r="-201042" b="-651807"/>
                          </a:stretch>
                        </a:blipFill>
                      </a:tcPr>
                    </a:tc>
                    <a:tc>
                      <a:txBody>
                        <a:bodyPr/>
                        <a:lstStyle/>
                        <a:p>
                          <a:endParaRPr lang="en-US"/>
                        </a:p>
                      </a:txBody>
                      <a:tcPr>
                        <a:blipFill>
                          <a:blip r:embed="rId4"/>
                          <a:stretch>
                            <a:fillRect l="-401394" t="-6024" r="-101742" b="-651807"/>
                          </a:stretch>
                        </a:blipFill>
                      </a:tcPr>
                    </a:tc>
                    <a:tc>
                      <a:txBody>
                        <a:bodyPr/>
                        <a:lstStyle/>
                        <a:p>
                          <a:endParaRPr lang="en-US"/>
                        </a:p>
                      </a:txBody>
                      <a:tcPr>
                        <a:blipFill>
                          <a:blip r:embed="rId4"/>
                          <a:stretch>
                            <a:fillRect l="-499653" t="-6024" r="-1389" b="-651807"/>
                          </a:stretch>
                        </a:blipFill>
                      </a:tcPr>
                    </a:tc>
                    <a:extLst>
                      <a:ext uri="{0D108BD9-81ED-4DB2-BD59-A6C34878D82A}">
                        <a16:rowId xmlns:a16="http://schemas.microsoft.com/office/drawing/2014/main" val="1639741701"/>
                      </a:ext>
                    </a:extLst>
                  </a:tr>
                  <a:tr h="640080">
                    <a:tc>
                      <a:txBody>
                        <a:bodyPr/>
                        <a:lstStyle/>
                        <a:p>
                          <a:r>
                            <a:rPr lang="en-CA" dirty="0"/>
                            <a:t>A (Standard Care)</a:t>
                          </a:r>
                        </a:p>
                      </a:txBody>
                      <a:tcPr/>
                    </a:tc>
                    <a:tc>
                      <a:txBody>
                        <a:bodyPr/>
                        <a:lstStyle/>
                        <a:p>
                          <a:r>
                            <a:rPr lang="en-CA" dirty="0"/>
                            <a:t>$50,000,000</a:t>
                          </a:r>
                        </a:p>
                      </a:txBody>
                      <a:tcPr/>
                    </a:tc>
                    <a:tc>
                      <a:txBody>
                        <a:bodyPr/>
                        <a:lstStyle/>
                        <a:p>
                          <a:r>
                            <a:rPr lang="en-CA" dirty="0"/>
                            <a:t>10,000 QALY</a:t>
                          </a:r>
                        </a:p>
                      </a:txBody>
                      <a:tcPr/>
                    </a:tc>
                    <a:tc>
                      <a:txBody>
                        <a:bodyPr/>
                        <a:lstStyle/>
                        <a:p>
                          <a:pPr algn="r" fontAlgn="b"/>
                          <a:r>
                            <a:rPr lang="en-CA" sz="1800" b="0" i="0" u="none" strike="noStrike" dirty="0">
                              <a:solidFill>
                                <a:srgbClr val="000000"/>
                              </a:solidFill>
                              <a:effectLst/>
                              <a:latin typeface="Calibri" panose="020F0502020204030204" pitchFamily="34" charset="0"/>
                            </a:rPr>
                            <a:t>$0</a:t>
                          </a:r>
                        </a:p>
                      </a:txBody>
                      <a:tcPr marL="9525" marR="9525" marT="9525" marB="0"/>
                    </a:tc>
                    <a:tc>
                      <a:txBody>
                        <a:bodyPr/>
                        <a:lstStyle/>
                        <a:p>
                          <a:pPr algn="r" fontAlgn="b"/>
                          <a:r>
                            <a:rPr lang="en-CA" sz="1800" b="0" i="0" u="none" strike="noStrike" dirty="0">
                              <a:solidFill>
                                <a:srgbClr val="000000"/>
                              </a:solidFill>
                              <a:effectLst/>
                              <a:latin typeface="Calibri" panose="020F0502020204030204" pitchFamily="34" charset="0"/>
                            </a:rPr>
                            <a:t>0 </a:t>
                          </a:r>
                          <a:r>
                            <a:rPr lang="en-CA" dirty="0"/>
                            <a:t>QALY</a:t>
                          </a:r>
                          <a:endParaRPr lang="en-CA" sz="1800" b="0" i="0" u="none" strike="noStrike" dirty="0">
                            <a:solidFill>
                              <a:srgbClr val="000000"/>
                            </a:solidFill>
                            <a:effectLst/>
                            <a:latin typeface="Calibri" panose="020F0502020204030204" pitchFamily="34" charset="0"/>
                          </a:endParaRPr>
                        </a:p>
                      </a:txBody>
                      <a:tcPr marL="9525" marR="9525" marT="9525" marB="0"/>
                    </a:tc>
                    <a:tc>
                      <a:txBody>
                        <a:bodyPr/>
                        <a:lstStyle/>
                        <a:p>
                          <a:endParaRPr lang="en-CA" dirty="0"/>
                        </a:p>
                      </a:txBody>
                      <a:tcPr/>
                    </a:tc>
                    <a:extLst>
                      <a:ext uri="{0D108BD9-81ED-4DB2-BD59-A6C34878D82A}">
                        <a16:rowId xmlns:a16="http://schemas.microsoft.com/office/drawing/2014/main" val="2219830401"/>
                      </a:ext>
                    </a:extLst>
                  </a:tr>
                  <a:tr h="640080">
                    <a:tc>
                      <a:txBody>
                        <a:bodyPr/>
                        <a:lstStyle/>
                        <a:p>
                          <a:r>
                            <a:rPr lang="en-CA" dirty="0"/>
                            <a:t>B</a:t>
                          </a:r>
                        </a:p>
                      </a:txBody>
                      <a:tcPr/>
                    </a:tc>
                    <a:tc>
                      <a:txBody>
                        <a:bodyPr/>
                        <a:lstStyle/>
                        <a:p>
                          <a:r>
                            <a:rPr lang="en-CA" dirty="0"/>
                            <a:t>$100,000,000</a:t>
                          </a:r>
                        </a:p>
                      </a:txBody>
                      <a:tcPr/>
                    </a:tc>
                    <a:tc>
                      <a:txBody>
                        <a:bodyPr/>
                        <a:lstStyle/>
                        <a:p>
                          <a:r>
                            <a:rPr lang="en-CA" dirty="0"/>
                            <a:t>14,000 QALY</a:t>
                          </a:r>
                        </a:p>
                      </a:txBody>
                      <a:tcPr/>
                    </a:tc>
                    <a:tc>
                      <a:txBody>
                        <a:bodyPr/>
                        <a:lstStyle/>
                        <a:p>
                          <a:pPr algn="r" fontAlgn="b"/>
                          <a:r>
                            <a:rPr lang="en-CA" sz="1800" b="0" i="0" u="none" strike="noStrike" dirty="0">
                              <a:solidFill>
                                <a:srgbClr val="000000"/>
                              </a:solidFill>
                              <a:effectLst/>
                              <a:latin typeface="Calibri" panose="020F0502020204030204" pitchFamily="34" charset="0"/>
                            </a:rPr>
                            <a:t>$50,000,000</a:t>
                          </a:r>
                        </a:p>
                      </a:txBody>
                      <a:tcPr marL="9525" marR="9525" marT="9525" marB="0"/>
                    </a:tc>
                    <a:tc>
                      <a:txBody>
                        <a:bodyPr/>
                        <a:lstStyle/>
                        <a:p>
                          <a:pPr algn="r" fontAlgn="b"/>
                          <a:r>
                            <a:rPr lang="en-CA" sz="1800" b="0" i="0" u="none" strike="noStrike" dirty="0">
                              <a:solidFill>
                                <a:srgbClr val="000000"/>
                              </a:solidFill>
                              <a:effectLst/>
                              <a:latin typeface="Calibri" panose="020F0502020204030204" pitchFamily="34" charset="0"/>
                            </a:rPr>
                            <a:t>4,000 </a:t>
                          </a:r>
                          <a:r>
                            <a:rPr lang="en-CA" dirty="0"/>
                            <a:t>QALY</a:t>
                          </a:r>
                          <a:endParaRPr lang="en-CA" sz="1800" b="0" i="0" u="none" strike="noStrike" dirty="0">
                            <a:solidFill>
                              <a:srgbClr val="000000"/>
                            </a:solidFill>
                            <a:effectLst/>
                            <a:latin typeface="Calibri" panose="020F0502020204030204" pitchFamily="34" charset="0"/>
                          </a:endParaRPr>
                        </a:p>
                      </a:txBody>
                      <a:tcPr marL="9525" marR="9525" marT="9525" marB="0"/>
                    </a:tc>
                    <a:tc>
                      <a:txBody>
                        <a:bodyPr/>
                        <a:lstStyle/>
                        <a:p>
                          <a:r>
                            <a:rPr lang="en-CA" dirty="0"/>
                            <a:t>$12,500 per QALY</a:t>
                          </a:r>
                        </a:p>
                      </a:txBody>
                      <a:tcPr/>
                    </a:tc>
                    <a:extLst>
                      <a:ext uri="{0D108BD9-81ED-4DB2-BD59-A6C34878D82A}">
                        <a16:rowId xmlns:a16="http://schemas.microsoft.com/office/drawing/2014/main" val="3091928606"/>
                      </a:ext>
                    </a:extLst>
                  </a:tr>
                  <a:tr h="640080">
                    <a:tc>
                      <a:txBody>
                        <a:bodyPr/>
                        <a:lstStyle/>
                        <a:p>
                          <a:r>
                            <a:rPr lang="en-CA" dirty="0"/>
                            <a:t>C</a:t>
                          </a:r>
                        </a:p>
                      </a:txBody>
                      <a:tcPr/>
                    </a:tc>
                    <a:tc>
                      <a:txBody>
                        <a:bodyPr/>
                        <a:lstStyle/>
                        <a:p>
                          <a:r>
                            <a:rPr lang="en-CA" dirty="0"/>
                            <a:t>$150,000,000</a:t>
                          </a:r>
                        </a:p>
                      </a:txBody>
                      <a:tcPr/>
                    </a:tc>
                    <a:tc>
                      <a:txBody>
                        <a:bodyPr/>
                        <a:lstStyle/>
                        <a:p>
                          <a:r>
                            <a:rPr lang="en-CA" dirty="0"/>
                            <a:t>16,000 QALY</a:t>
                          </a:r>
                        </a:p>
                      </a:txBody>
                      <a:tcPr/>
                    </a:tc>
                    <a:tc>
                      <a:txBody>
                        <a:bodyPr/>
                        <a:lstStyle/>
                        <a:p>
                          <a:pPr algn="r" fontAlgn="b"/>
                          <a:r>
                            <a:rPr lang="en-CA" sz="1800" b="0" i="0" u="none" strike="noStrike" dirty="0">
                              <a:solidFill>
                                <a:srgbClr val="000000"/>
                              </a:solidFill>
                              <a:effectLst/>
                              <a:latin typeface="Calibri" panose="020F0502020204030204" pitchFamily="34" charset="0"/>
                            </a:rPr>
                            <a:t>$100,000,000</a:t>
                          </a:r>
                        </a:p>
                      </a:txBody>
                      <a:tcPr marL="9525" marR="9525" marT="9525" marB="0"/>
                    </a:tc>
                    <a:tc>
                      <a:txBody>
                        <a:bodyPr/>
                        <a:lstStyle/>
                        <a:p>
                          <a:pPr algn="r" fontAlgn="b"/>
                          <a:r>
                            <a:rPr lang="en-CA" sz="1800" b="0" i="0" u="none" strike="noStrike" dirty="0">
                              <a:solidFill>
                                <a:srgbClr val="000000"/>
                              </a:solidFill>
                              <a:effectLst/>
                              <a:latin typeface="Calibri" panose="020F0502020204030204" pitchFamily="34" charset="0"/>
                            </a:rPr>
                            <a:t>6,000 </a:t>
                          </a:r>
                          <a:r>
                            <a:rPr lang="en-CA" dirty="0"/>
                            <a:t>QALY</a:t>
                          </a:r>
                          <a:endParaRPr lang="en-CA" sz="1800" b="0" i="0" u="none" strike="noStrike" dirty="0">
                            <a:solidFill>
                              <a:srgbClr val="000000"/>
                            </a:solidFill>
                            <a:effectLst/>
                            <a:latin typeface="Calibri" panose="020F0502020204030204" pitchFamily="34" charset="0"/>
                          </a:endParaRPr>
                        </a:p>
                      </a:txBody>
                      <a:tcPr marL="9525" marR="9525" marT="9525" marB="0"/>
                    </a:tc>
                    <a:tc>
                      <a:txBody>
                        <a:bodyPr/>
                        <a:lstStyle/>
                        <a:p>
                          <a:r>
                            <a:rPr lang="en-CA" dirty="0"/>
                            <a:t>$25,000 per QALY</a:t>
                          </a:r>
                        </a:p>
                      </a:txBody>
                      <a:tcPr/>
                    </a:tc>
                    <a:extLst>
                      <a:ext uri="{0D108BD9-81ED-4DB2-BD59-A6C34878D82A}">
                        <a16:rowId xmlns:a16="http://schemas.microsoft.com/office/drawing/2014/main" val="3898854944"/>
                      </a:ext>
                    </a:extLst>
                  </a:tr>
                  <a:tr h="640080">
                    <a:tc>
                      <a:txBody>
                        <a:bodyPr/>
                        <a:lstStyle/>
                        <a:p>
                          <a:r>
                            <a:rPr lang="en-CA" dirty="0"/>
                            <a:t>D</a:t>
                          </a:r>
                        </a:p>
                      </a:txBody>
                      <a:tcPr/>
                    </a:tc>
                    <a:tc>
                      <a:txBody>
                        <a:bodyPr/>
                        <a:lstStyle/>
                        <a:p>
                          <a:r>
                            <a:rPr lang="en-CA" dirty="0"/>
                            <a:t>$190,000,000</a:t>
                          </a:r>
                        </a:p>
                      </a:txBody>
                      <a:tcPr/>
                    </a:tc>
                    <a:tc>
                      <a:txBody>
                        <a:bodyPr/>
                        <a:lstStyle/>
                        <a:p>
                          <a:r>
                            <a:rPr lang="en-CA" dirty="0"/>
                            <a:t>19,000 QALY</a:t>
                          </a:r>
                        </a:p>
                      </a:txBody>
                      <a:tcPr/>
                    </a:tc>
                    <a:tc>
                      <a:txBody>
                        <a:bodyPr/>
                        <a:lstStyle/>
                        <a:p>
                          <a:pPr algn="r" fontAlgn="b"/>
                          <a:r>
                            <a:rPr lang="en-CA" sz="1800" b="0" i="0" u="none" strike="noStrike" dirty="0">
                              <a:solidFill>
                                <a:srgbClr val="000000"/>
                              </a:solidFill>
                              <a:effectLst/>
                              <a:latin typeface="Calibri" panose="020F0502020204030204" pitchFamily="34" charset="0"/>
                            </a:rPr>
                            <a:t>$140,000,000</a:t>
                          </a:r>
                        </a:p>
                      </a:txBody>
                      <a:tcPr marL="9525" marR="9525" marT="9525" marB="0"/>
                    </a:tc>
                    <a:tc>
                      <a:txBody>
                        <a:bodyPr/>
                        <a:lstStyle/>
                        <a:p>
                          <a:pPr algn="r" fontAlgn="b"/>
                          <a:r>
                            <a:rPr lang="en-CA" sz="1800" b="0" i="0" u="none" strike="noStrike" dirty="0">
                              <a:solidFill>
                                <a:srgbClr val="000000"/>
                              </a:solidFill>
                              <a:effectLst/>
                              <a:latin typeface="Calibri" panose="020F0502020204030204" pitchFamily="34" charset="0"/>
                            </a:rPr>
                            <a:t>9,000 </a:t>
                          </a:r>
                          <a:r>
                            <a:rPr lang="en-CA" dirty="0"/>
                            <a:t>QALY</a:t>
                          </a:r>
                          <a:endParaRPr lang="en-CA" sz="1800" b="0" i="0" u="none" strike="noStrike" dirty="0">
                            <a:solidFill>
                              <a:srgbClr val="000000"/>
                            </a:solidFill>
                            <a:effectLst/>
                            <a:latin typeface="Calibri" panose="020F0502020204030204" pitchFamily="34" charset="0"/>
                          </a:endParaRPr>
                        </a:p>
                      </a:txBody>
                      <a:tcPr marL="9525" marR="9525" marT="9525" marB="0"/>
                    </a:tc>
                    <a:tc>
                      <a:txBody>
                        <a:bodyPr/>
                        <a:lstStyle/>
                        <a:p>
                          <a:r>
                            <a:rPr lang="en-CA" dirty="0"/>
                            <a:t>$13,333 per QALY</a:t>
                          </a:r>
                        </a:p>
                      </a:txBody>
                      <a:tcPr/>
                    </a:tc>
                    <a:extLst>
                      <a:ext uri="{0D108BD9-81ED-4DB2-BD59-A6C34878D82A}">
                        <a16:rowId xmlns:a16="http://schemas.microsoft.com/office/drawing/2014/main" val="1737397306"/>
                      </a:ext>
                    </a:extLst>
                  </a:tr>
                  <a:tr h="640080">
                    <a:tc>
                      <a:txBody>
                        <a:bodyPr/>
                        <a:lstStyle/>
                        <a:p>
                          <a:r>
                            <a:rPr lang="en-CA" dirty="0"/>
                            <a:t>E</a:t>
                          </a:r>
                        </a:p>
                      </a:txBody>
                      <a:tcPr/>
                    </a:tc>
                    <a:tc>
                      <a:txBody>
                        <a:bodyPr/>
                        <a:lstStyle/>
                        <a:p>
                          <a:r>
                            <a:rPr lang="en-CA" dirty="0"/>
                            <a:t>$250,000,000</a:t>
                          </a:r>
                        </a:p>
                      </a:txBody>
                      <a:tcPr/>
                    </a:tc>
                    <a:tc>
                      <a:txBody>
                        <a:bodyPr/>
                        <a:lstStyle/>
                        <a:p>
                          <a:r>
                            <a:rPr lang="en-CA" dirty="0"/>
                            <a:t>20,000 QALY</a:t>
                          </a:r>
                        </a:p>
                      </a:txBody>
                      <a:tcPr/>
                    </a:tc>
                    <a:tc>
                      <a:txBody>
                        <a:bodyPr/>
                        <a:lstStyle/>
                        <a:p>
                          <a:pPr algn="r" fontAlgn="b"/>
                          <a:r>
                            <a:rPr lang="en-CA" sz="1800" b="0" i="0" u="none" strike="noStrike" dirty="0">
                              <a:solidFill>
                                <a:srgbClr val="000000"/>
                              </a:solidFill>
                              <a:effectLst/>
                              <a:latin typeface="Calibri" panose="020F0502020204030204" pitchFamily="34" charset="0"/>
                            </a:rPr>
                            <a:t>$200,000,000</a:t>
                          </a:r>
                        </a:p>
                      </a:txBody>
                      <a:tcPr marL="9525" marR="9525" marT="9525" marB="0"/>
                    </a:tc>
                    <a:tc>
                      <a:txBody>
                        <a:bodyPr/>
                        <a:lstStyle/>
                        <a:p>
                          <a:pPr algn="r" fontAlgn="b"/>
                          <a:r>
                            <a:rPr lang="en-CA" sz="1800" b="0" i="0" u="none" strike="noStrike" dirty="0">
                              <a:solidFill>
                                <a:srgbClr val="000000"/>
                              </a:solidFill>
                              <a:effectLst/>
                              <a:latin typeface="Calibri" panose="020F0502020204030204" pitchFamily="34" charset="0"/>
                            </a:rPr>
                            <a:t>10,000 </a:t>
                          </a:r>
                          <a:r>
                            <a:rPr lang="en-CA" dirty="0"/>
                            <a:t>QALY</a:t>
                          </a:r>
                          <a:endParaRPr lang="en-CA" sz="1800" b="0" i="0" u="none" strike="noStrike" dirty="0">
                            <a:solidFill>
                              <a:srgbClr val="000000"/>
                            </a:solidFill>
                            <a:effectLst/>
                            <a:latin typeface="Calibri" panose="020F0502020204030204" pitchFamily="34" charset="0"/>
                          </a:endParaRPr>
                        </a:p>
                      </a:txBody>
                      <a:tcPr marL="9525" marR="9525" marT="9525" marB="0"/>
                    </a:tc>
                    <a:tc>
                      <a:txBody>
                        <a:bodyPr/>
                        <a:lstStyle/>
                        <a:p>
                          <a:r>
                            <a:rPr lang="en-CA" dirty="0"/>
                            <a:t>$60,000 per QALY</a:t>
                          </a:r>
                        </a:p>
                      </a:txBody>
                      <a:tcPr/>
                    </a:tc>
                    <a:extLst>
                      <a:ext uri="{0D108BD9-81ED-4DB2-BD59-A6C34878D82A}">
                        <a16:rowId xmlns:a16="http://schemas.microsoft.com/office/drawing/2014/main" val="3118220576"/>
                      </a:ext>
                    </a:extLst>
                  </a:tr>
                </a:tbl>
              </a:graphicData>
            </a:graphic>
          </p:graphicFrame>
        </mc:Fallback>
      </mc:AlternateContent>
      <p:sp>
        <p:nvSpPr>
          <p:cNvPr id="5" name="TextBox 4">
            <a:extLst>
              <a:ext uri="{FF2B5EF4-FFF2-40B4-BE49-F238E27FC236}">
                <a16:creationId xmlns:a16="http://schemas.microsoft.com/office/drawing/2014/main" id="{3119D98B-DB1E-42CF-8C4A-38D49702D279}"/>
              </a:ext>
            </a:extLst>
          </p:cNvPr>
          <p:cNvSpPr txBox="1"/>
          <p:nvPr/>
        </p:nvSpPr>
        <p:spPr>
          <a:xfrm>
            <a:off x="688983" y="4707762"/>
            <a:ext cx="10360016" cy="369332"/>
          </a:xfrm>
          <a:prstGeom prst="rect">
            <a:avLst/>
          </a:prstGeom>
          <a:noFill/>
        </p:spPr>
        <p:txBody>
          <a:bodyPr wrap="none" rtlCol="0">
            <a:spAutoFit/>
          </a:bodyPr>
          <a:lstStyle/>
          <a:p>
            <a:r>
              <a:rPr lang="en-CA" u="sng" dirty="0"/>
              <a:t>Table based on </a:t>
            </a:r>
            <a:r>
              <a:rPr lang="en-CA" i="1" u="sng" dirty="0"/>
              <a:t>Cost Effectiveness Modelling for Health Technology Assessment: A Practical Course, </a:t>
            </a:r>
            <a:r>
              <a:rPr lang="en-CA" i="1" u="sng" dirty="0" err="1"/>
              <a:t>Eldin</a:t>
            </a:r>
            <a:r>
              <a:rPr lang="en-CA" i="1" u="sng" dirty="0"/>
              <a:t> et.al</a:t>
            </a:r>
          </a:p>
        </p:txBody>
      </p:sp>
    </p:spTree>
    <p:extLst>
      <p:ext uri="{BB962C8B-B14F-4D97-AF65-F5344CB8AC3E}">
        <p14:creationId xmlns:p14="http://schemas.microsoft.com/office/powerpoint/2010/main" val="2276575981"/>
      </p:ext>
    </p:extLst>
  </p:cSld>
  <p:clrMapOvr>
    <a:masterClrMapping/>
  </p:clrMapOvr>
  <mc:AlternateContent xmlns:mc="http://schemas.openxmlformats.org/markup-compatibility/2006" xmlns:p14="http://schemas.microsoft.com/office/powerpoint/2010/main">
    <mc:Choice Requires="p14">
      <p:transition spd="slow" p14:dur="2000" advTm="33330"/>
    </mc:Choice>
    <mc:Fallback xmlns="">
      <p:transition spd="slow" advTm="3333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121AA134-9EE7-406B-BDEB-E81DB50F52E1}"/>
              </a:ext>
            </a:extLst>
          </p:cNvPr>
          <p:cNvGraphicFramePr>
            <a:graphicFrameLocks noGrp="1"/>
          </p:cNvGraphicFramePr>
          <p:nvPr>
            <p:ph idx="1"/>
            <p:extLst>
              <p:ext uri="{D42A27DB-BD31-4B8C-83A1-F6EECF244321}">
                <p14:modId xmlns:p14="http://schemas.microsoft.com/office/powerpoint/2010/main" val="2692545158"/>
              </p:ext>
            </p:extLst>
          </p:nvPr>
        </p:nvGraphicFramePr>
        <p:xfrm>
          <a:off x="1667648" y="716422"/>
          <a:ext cx="8151876" cy="5772246"/>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8258E36-5D2F-4233-AE6D-D30210B917B7}"/>
                  </a:ext>
                </a:extLst>
              </p:cNvPr>
              <p:cNvSpPr txBox="1"/>
              <p:nvPr/>
            </p:nvSpPr>
            <p:spPr>
              <a:xfrm>
                <a:off x="2294012" y="5812012"/>
                <a:ext cx="385683" cy="369332"/>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𝐴</m:t>
                      </m:r>
                    </m:oMath>
                  </m:oMathPara>
                </a14:m>
                <a:endParaRPr lang="en-CA" dirty="0"/>
              </a:p>
            </p:txBody>
          </p:sp>
        </mc:Choice>
        <mc:Fallback xmlns="">
          <p:sp>
            <p:nvSpPr>
              <p:cNvPr id="6" name="TextBox 5">
                <a:extLst>
                  <a:ext uri="{FF2B5EF4-FFF2-40B4-BE49-F238E27FC236}">
                    <a16:creationId xmlns:a16="http://schemas.microsoft.com/office/drawing/2014/main" id="{48258E36-5D2F-4233-AE6D-D30210B917B7}"/>
                  </a:ext>
                </a:extLst>
              </p:cNvPr>
              <p:cNvSpPr txBox="1">
                <a:spLocks noRot="1" noChangeAspect="1" noMove="1" noResize="1" noEditPoints="1" noAdjustHandles="1" noChangeArrowheads="1" noChangeShapeType="1" noTextEdit="1"/>
              </p:cNvSpPr>
              <p:nvPr/>
            </p:nvSpPr>
            <p:spPr>
              <a:xfrm>
                <a:off x="2294012" y="5812012"/>
                <a:ext cx="385683" cy="369332"/>
              </a:xfrm>
              <a:prstGeom prst="rect">
                <a:avLst/>
              </a:prstGeom>
              <a:blipFill>
                <a:blip r:embed="rId3"/>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5DED619-ACA4-4845-9E99-C33720BD1CCE}"/>
                  </a:ext>
                </a:extLst>
              </p:cNvPr>
              <p:cNvSpPr txBox="1"/>
              <p:nvPr/>
            </p:nvSpPr>
            <p:spPr>
              <a:xfrm>
                <a:off x="4448948" y="4739116"/>
                <a:ext cx="396069" cy="369332"/>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𝐵</m:t>
                      </m:r>
                    </m:oMath>
                  </m:oMathPara>
                </a14:m>
                <a:endParaRPr lang="en-CA" dirty="0"/>
              </a:p>
            </p:txBody>
          </p:sp>
        </mc:Choice>
        <mc:Fallback xmlns="">
          <p:sp>
            <p:nvSpPr>
              <p:cNvPr id="7" name="TextBox 6">
                <a:extLst>
                  <a:ext uri="{FF2B5EF4-FFF2-40B4-BE49-F238E27FC236}">
                    <a16:creationId xmlns:a16="http://schemas.microsoft.com/office/drawing/2014/main" id="{95DED619-ACA4-4845-9E99-C33720BD1CCE}"/>
                  </a:ext>
                </a:extLst>
              </p:cNvPr>
              <p:cNvSpPr txBox="1">
                <a:spLocks noRot="1" noChangeAspect="1" noMove="1" noResize="1" noEditPoints="1" noAdjustHandles="1" noChangeArrowheads="1" noChangeShapeType="1" noTextEdit="1"/>
              </p:cNvSpPr>
              <p:nvPr/>
            </p:nvSpPr>
            <p:spPr>
              <a:xfrm>
                <a:off x="4448948" y="4739116"/>
                <a:ext cx="396069" cy="369332"/>
              </a:xfrm>
              <a:prstGeom prst="rect">
                <a:avLst/>
              </a:prstGeom>
              <a:blipFill>
                <a:blip r:embed="rId4"/>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C2A3C94-522F-4589-815C-657414645BDD}"/>
                  </a:ext>
                </a:extLst>
              </p:cNvPr>
              <p:cNvSpPr txBox="1"/>
              <p:nvPr/>
            </p:nvSpPr>
            <p:spPr>
              <a:xfrm>
                <a:off x="5613369" y="3745468"/>
                <a:ext cx="385554" cy="369332"/>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𝐶</m:t>
                      </m:r>
                    </m:oMath>
                  </m:oMathPara>
                </a14:m>
                <a:endParaRPr lang="en-CA" dirty="0"/>
              </a:p>
            </p:txBody>
          </p:sp>
        </mc:Choice>
        <mc:Fallback xmlns="">
          <p:sp>
            <p:nvSpPr>
              <p:cNvPr id="8" name="TextBox 7">
                <a:extLst>
                  <a:ext uri="{FF2B5EF4-FFF2-40B4-BE49-F238E27FC236}">
                    <a16:creationId xmlns:a16="http://schemas.microsoft.com/office/drawing/2014/main" id="{AC2A3C94-522F-4589-815C-657414645BDD}"/>
                  </a:ext>
                </a:extLst>
              </p:cNvPr>
              <p:cNvSpPr txBox="1">
                <a:spLocks noRot="1" noChangeAspect="1" noMove="1" noResize="1" noEditPoints="1" noAdjustHandles="1" noChangeArrowheads="1" noChangeShapeType="1" noTextEdit="1"/>
              </p:cNvSpPr>
              <p:nvPr/>
            </p:nvSpPr>
            <p:spPr>
              <a:xfrm>
                <a:off x="5613369" y="3745468"/>
                <a:ext cx="385554" cy="369332"/>
              </a:xfrm>
              <a:prstGeom prst="rect">
                <a:avLst/>
              </a:prstGeom>
              <a:blipFill>
                <a:blip r:embed="rId5"/>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71DBA32-868D-4E5F-8503-9934DC99DF11}"/>
                  </a:ext>
                </a:extLst>
              </p:cNvPr>
              <p:cNvSpPr txBox="1"/>
              <p:nvPr/>
            </p:nvSpPr>
            <p:spPr>
              <a:xfrm>
                <a:off x="7695153" y="3157204"/>
                <a:ext cx="404598" cy="369332"/>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𝐷</m:t>
                      </m:r>
                    </m:oMath>
                  </m:oMathPara>
                </a14:m>
                <a:endParaRPr lang="en-CA" dirty="0"/>
              </a:p>
            </p:txBody>
          </p:sp>
        </mc:Choice>
        <mc:Fallback xmlns="">
          <p:sp>
            <p:nvSpPr>
              <p:cNvPr id="9" name="TextBox 8">
                <a:extLst>
                  <a:ext uri="{FF2B5EF4-FFF2-40B4-BE49-F238E27FC236}">
                    <a16:creationId xmlns:a16="http://schemas.microsoft.com/office/drawing/2014/main" id="{371DBA32-868D-4E5F-8503-9934DC99DF11}"/>
                  </a:ext>
                </a:extLst>
              </p:cNvPr>
              <p:cNvSpPr txBox="1">
                <a:spLocks noRot="1" noChangeAspect="1" noMove="1" noResize="1" noEditPoints="1" noAdjustHandles="1" noChangeArrowheads="1" noChangeShapeType="1" noTextEdit="1"/>
              </p:cNvSpPr>
              <p:nvPr/>
            </p:nvSpPr>
            <p:spPr>
              <a:xfrm>
                <a:off x="7695153" y="3157204"/>
                <a:ext cx="404598" cy="369332"/>
              </a:xfrm>
              <a:prstGeom prst="rect">
                <a:avLst/>
              </a:prstGeom>
              <a:blipFill>
                <a:blip r:embed="rId6"/>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4698C72-8A4A-4A1D-BC05-1CA7D1495ECC}"/>
                  </a:ext>
                </a:extLst>
              </p:cNvPr>
              <p:cNvSpPr txBox="1"/>
              <p:nvPr/>
            </p:nvSpPr>
            <p:spPr>
              <a:xfrm>
                <a:off x="8277321" y="1736836"/>
                <a:ext cx="404598" cy="369332"/>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𝐸</m:t>
                      </m:r>
                    </m:oMath>
                  </m:oMathPara>
                </a14:m>
                <a:endParaRPr lang="en-CA" dirty="0"/>
              </a:p>
            </p:txBody>
          </p:sp>
        </mc:Choice>
        <mc:Fallback xmlns="">
          <p:sp>
            <p:nvSpPr>
              <p:cNvPr id="10" name="TextBox 9">
                <a:extLst>
                  <a:ext uri="{FF2B5EF4-FFF2-40B4-BE49-F238E27FC236}">
                    <a16:creationId xmlns:a16="http://schemas.microsoft.com/office/drawing/2014/main" id="{84698C72-8A4A-4A1D-BC05-1CA7D1495ECC}"/>
                  </a:ext>
                </a:extLst>
              </p:cNvPr>
              <p:cNvSpPr txBox="1">
                <a:spLocks noRot="1" noChangeAspect="1" noMove="1" noResize="1" noEditPoints="1" noAdjustHandles="1" noChangeArrowheads="1" noChangeShapeType="1" noTextEdit="1"/>
              </p:cNvSpPr>
              <p:nvPr/>
            </p:nvSpPr>
            <p:spPr>
              <a:xfrm>
                <a:off x="8277321" y="1736836"/>
                <a:ext cx="404598" cy="369332"/>
              </a:xfrm>
              <a:prstGeom prst="rect">
                <a:avLst/>
              </a:prstGeom>
              <a:blipFill>
                <a:blip r:embed="rId7"/>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1F8783D-19DB-4378-AC69-D1811EA11E68}"/>
                  </a:ext>
                </a:extLst>
              </p:cNvPr>
              <p:cNvSpPr txBox="1"/>
              <p:nvPr/>
            </p:nvSpPr>
            <p:spPr>
              <a:xfrm>
                <a:off x="1144235" y="716422"/>
                <a:ext cx="523413" cy="369332"/>
              </a:xfrm>
              <a:prstGeom prst="rect">
                <a:avLst/>
              </a:prstGeom>
              <a:noFill/>
            </p:spPr>
            <p:txBody>
              <a:bodyPr wrap="none" rtlCol="0">
                <a:spAutoFit/>
              </a:bodyPr>
              <a:lstStyle/>
              <a:p>
                <a:pPr/>
                <a14:m>
                  <m:oMathPara xmlns:m="http://schemas.openxmlformats.org/officeDocument/2006/math">
                    <m:o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oMath>
                  </m:oMathPara>
                </a14:m>
                <a:endParaRPr lang="en-CA" dirty="0"/>
              </a:p>
            </p:txBody>
          </p:sp>
        </mc:Choice>
        <mc:Fallback xmlns="">
          <p:sp>
            <p:nvSpPr>
              <p:cNvPr id="11" name="TextBox 10">
                <a:extLst>
                  <a:ext uri="{FF2B5EF4-FFF2-40B4-BE49-F238E27FC236}">
                    <a16:creationId xmlns:a16="http://schemas.microsoft.com/office/drawing/2014/main" id="{31F8783D-19DB-4378-AC69-D1811EA11E68}"/>
                  </a:ext>
                </a:extLst>
              </p:cNvPr>
              <p:cNvSpPr txBox="1">
                <a:spLocks noRot="1" noChangeAspect="1" noMove="1" noResize="1" noEditPoints="1" noAdjustHandles="1" noChangeArrowheads="1" noChangeShapeType="1" noTextEdit="1"/>
              </p:cNvSpPr>
              <p:nvPr/>
            </p:nvSpPr>
            <p:spPr>
              <a:xfrm>
                <a:off x="1144235" y="716422"/>
                <a:ext cx="523413" cy="369332"/>
              </a:xfrm>
              <a:prstGeom prst="rect">
                <a:avLst/>
              </a:prstGeom>
              <a:blipFill>
                <a:blip r:embed="rId8"/>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4A2C1C7-52C9-46F6-9B74-5DF0FA4061B2}"/>
                  </a:ext>
                </a:extLst>
              </p:cNvPr>
              <p:cNvSpPr txBox="1"/>
              <p:nvPr/>
            </p:nvSpPr>
            <p:spPr>
              <a:xfrm>
                <a:off x="9557817" y="6488668"/>
                <a:ext cx="508473" cy="369332"/>
              </a:xfrm>
              <a:prstGeom prst="rect">
                <a:avLst/>
              </a:prstGeom>
              <a:noFill/>
            </p:spPr>
            <p:txBody>
              <a:bodyPr wrap="none" rtlCol="0">
                <a:spAutoFit/>
              </a:bodyPr>
              <a:lstStyle/>
              <a:p>
                <a:pPr/>
                <a14:m>
                  <m:oMathPara xmlns:m="http://schemas.openxmlformats.org/officeDocument/2006/math">
                    <m:oMath>
                      <m:r>
                        <m:rPr>
                          <m:sty m:val="p"/>
                        </m:rPr>
                        <a:rPr lang="en-CA" b="0" i="0" smtClean="0">
                          <a:latin typeface="Cambria Math" panose="02040503050406030204" pitchFamily="18" charset="0"/>
                        </a:rPr>
                        <m:t>ΔE</m:t>
                      </m:r>
                    </m:oMath>
                  </m:oMathPara>
                </a14:m>
                <a:endParaRPr lang="en-CA" dirty="0"/>
              </a:p>
            </p:txBody>
          </p:sp>
        </mc:Choice>
        <mc:Fallback xmlns="">
          <p:sp>
            <p:nvSpPr>
              <p:cNvPr id="12" name="TextBox 11">
                <a:extLst>
                  <a:ext uri="{FF2B5EF4-FFF2-40B4-BE49-F238E27FC236}">
                    <a16:creationId xmlns:a16="http://schemas.microsoft.com/office/drawing/2014/main" id="{94A2C1C7-52C9-46F6-9B74-5DF0FA4061B2}"/>
                  </a:ext>
                </a:extLst>
              </p:cNvPr>
              <p:cNvSpPr txBox="1">
                <a:spLocks noRot="1" noChangeAspect="1" noMove="1" noResize="1" noEditPoints="1" noAdjustHandles="1" noChangeArrowheads="1" noChangeShapeType="1" noTextEdit="1"/>
              </p:cNvSpPr>
              <p:nvPr/>
            </p:nvSpPr>
            <p:spPr>
              <a:xfrm>
                <a:off x="9557817" y="6488668"/>
                <a:ext cx="508473" cy="369332"/>
              </a:xfrm>
              <a:prstGeom prst="rect">
                <a:avLst/>
              </a:prstGeom>
              <a:blipFill>
                <a:blip r:embed="rId9"/>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751802527"/>
      </p:ext>
    </p:extLst>
  </p:cSld>
  <p:clrMapOvr>
    <a:masterClrMapping/>
  </p:clrMapOvr>
  <mc:AlternateContent xmlns:mc="http://schemas.openxmlformats.org/markup-compatibility/2006" xmlns:p14="http://schemas.microsoft.com/office/powerpoint/2010/main">
    <mc:Choice Requires="p14">
      <p:transition spd="slow" p14:dur="2000" advTm="19866"/>
    </mc:Choice>
    <mc:Fallback xmlns="">
      <p:transition spd="slow" advTm="19866"/>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121AA134-9EE7-406B-BDEB-E81DB50F52E1}"/>
              </a:ext>
            </a:extLst>
          </p:cNvPr>
          <p:cNvGraphicFramePr>
            <a:graphicFrameLocks noGrp="1"/>
          </p:cNvGraphicFramePr>
          <p:nvPr>
            <p:ph idx="1"/>
            <p:extLst>
              <p:ext uri="{D42A27DB-BD31-4B8C-83A1-F6EECF244321}">
                <p14:modId xmlns:p14="http://schemas.microsoft.com/office/powerpoint/2010/main" val="2425515605"/>
              </p:ext>
            </p:extLst>
          </p:nvPr>
        </p:nvGraphicFramePr>
        <p:xfrm>
          <a:off x="1104303" y="786736"/>
          <a:ext cx="8151876" cy="5772246"/>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8258E36-5D2F-4233-AE6D-D30210B917B7}"/>
                  </a:ext>
                </a:extLst>
              </p:cNvPr>
              <p:cNvSpPr txBox="1"/>
              <p:nvPr/>
            </p:nvSpPr>
            <p:spPr>
              <a:xfrm>
                <a:off x="1730667" y="5882326"/>
                <a:ext cx="385683" cy="369332"/>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𝐴</m:t>
                      </m:r>
                    </m:oMath>
                  </m:oMathPara>
                </a14:m>
                <a:endParaRPr lang="en-CA" dirty="0"/>
              </a:p>
            </p:txBody>
          </p:sp>
        </mc:Choice>
        <mc:Fallback xmlns="">
          <p:sp>
            <p:nvSpPr>
              <p:cNvPr id="6" name="TextBox 5">
                <a:extLst>
                  <a:ext uri="{FF2B5EF4-FFF2-40B4-BE49-F238E27FC236}">
                    <a16:creationId xmlns:a16="http://schemas.microsoft.com/office/drawing/2014/main" id="{48258E36-5D2F-4233-AE6D-D30210B917B7}"/>
                  </a:ext>
                </a:extLst>
              </p:cNvPr>
              <p:cNvSpPr txBox="1">
                <a:spLocks noRot="1" noChangeAspect="1" noMove="1" noResize="1" noEditPoints="1" noAdjustHandles="1" noChangeArrowheads="1" noChangeShapeType="1" noTextEdit="1"/>
              </p:cNvSpPr>
              <p:nvPr/>
            </p:nvSpPr>
            <p:spPr>
              <a:xfrm>
                <a:off x="1730667" y="5882326"/>
                <a:ext cx="385683" cy="369332"/>
              </a:xfrm>
              <a:prstGeom prst="rect">
                <a:avLst/>
              </a:prstGeom>
              <a:blipFill>
                <a:blip r:embed="rId3"/>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5DED619-ACA4-4845-9E99-C33720BD1CCE}"/>
                  </a:ext>
                </a:extLst>
              </p:cNvPr>
              <p:cNvSpPr txBox="1"/>
              <p:nvPr/>
            </p:nvSpPr>
            <p:spPr>
              <a:xfrm>
                <a:off x="3885603" y="4809430"/>
                <a:ext cx="396069" cy="369332"/>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𝐵</m:t>
                      </m:r>
                    </m:oMath>
                  </m:oMathPara>
                </a14:m>
                <a:endParaRPr lang="en-CA" dirty="0"/>
              </a:p>
            </p:txBody>
          </p:sp>
        </mc:Choice>
        <mc:Fallback xmlns="">
          <p:sp>
            <p:nvSpPr>
              <p:cNvPr id="7" name="TextBox 6">
                <a:extLst>
                  <a:ext uri="{FF2B5EF4-FFF2-40B4-BE49-F238E27FC236}">
                    <a16:creationId xmlns:a16="http://schemas.microsoft.com/office/drawing/2014/main" id="{95DED619-ACA4-4845-9E99-C33720BD1CCE}"/>
                  </a:ext>
                </a:extLst>
              </p:cNvPr>
              <p:cNvSpPr txBox="1">
                <a:spLocks noRot="1" noChangeAspect="1" noMove="1" noResize="1" noEditPoints="1" noAdjustHandles="1" noChangeArrowheads="1" noChangeShapeType="1" noTextEdit="1"/>
              </p:cNvSpPr>
              <p:nvPr/>
            </p:nvSpPr>
            <p:spPr>
              <a:xfrm>
                <a:off x="3885603" y="4809430"/>
                <a:ext cx="396069" cy="369332"/>
              </a:xfrm>
              <a:prstGeom prst="rect">
                <a:avLst/>
              </a:prstGeom>
              <a:blipFill>
                <a:blip r:embed="rId4"/>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C2A3C94-522F-4589-815C-657414645BDD}"/>
                  </a:ext>
                </a:extLst>
              </p:cNvPr>
              <p:cNvSpPr txBox="1"/>
              <p:nvPr/>
            </p:nvSpPr>
            <p:spPr>
              <a:xfrm>
                <a:off x="5050024" y="3815782"/>
                <a:ext cx="385554" cy="369332"/>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𝐶</m:t>
                      </m:r>
                    </m:oMath>
                  </m:oMathPara>
                </a14:m>
                <a:endParaRPr lang="en-CA" dirty="0"/>
              </a:p>
            </p:txBody>
          </p:sp>
        </mc:Choice>
        <mc:Fallback xmlns="">
          <p:sp>
            <p:nvSpPr>
              <p:cNvPr id="8" name="TextBox 7">
                <a:extLst>
                  <a:ext uri="{FF2B5EF4-FFF2-40B4-BE49-F238E27FC236}">
                    <a16:creationId xmlns:a16="http://schemas.microsoft.com/office/drawing/2014/main" id="{AC2A3C94-522F-4589-815C-657414645BDD}"/>
                  </a:ext>
                </a:extLst>
              </p:cNvPr>
              <p:cNvSpPr txBox="1">
                <a:spLocks noRot="1" noChangeAspect="1" noMove="1" noResize="1" noEditPoints="1" noAdjustHandles="1" noChangeArrowheads="1" noChangeShapeType="1" noTextEdit="1"/>
              </p:cNvSpPr>
              <p:nvPr/>
            </p:nvSpPr>
            <p:spPr>
              <a:xfrm>
                <a:off x="5050024" y="3815782"/>
                <a:ext cx="385554" cy="369332"/>
              </a:xfrm>
              <a:prstGeom prst="rect">
                <a:avLst/>
              </a:prstGeom>
              <a:blipFill>
                <a:blip r:embed="rId5"/>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71DBA32-868D-4E5F-8503-9934DC99DF11}"/>
                  </a:ext>
                </a:extLst>
              </p:cNvPr>
              <p:cNvSpPr txBox="1"/>
              <p:nvPr/>
            </p:nvSpPr>
            <p:spPr>
              <a:xfrm>
                <a:off x="7131808" y="3227518"/>
                <a:ext cx="404598" cy="369332"/>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𝐷</m:t>
                      </m:r>
                    </m:oMath>
                  </m:oMathPara>
                </a14:m>
                <a:endParaRPr lang="en-CA" dirty="0"/>
              </a:p>
            </p:txBody>
          </p:sp>
        </mc:Choice>
        <mc:Fallback xmlns="">
          <p:sp>
            <p:nvSpPr>
              <p:cNvPr id="9" name="TextBox 8">
                <a:extLst>
                  <a:ext uri="{FF2B5EF4-FFF2-40B4-BE49-F238E27FC236}">
                    <a16:creationId xmlns:a16="http://schemas.microsoft.com/office/drawing/2014/main" id="{371DBA32-868D-4E5F-8503-9934DC99DF11}"/>
                  </a:ext>
                </a:extLst>
              </p:cNvPr>
              <p:cNvSpPr txBox="1">
                <a:spLocks noRot="1" noChangeAspect="1" noMove="1" noResize="1" noEditPoints="1" noAdjustHandles="1" noChangeArrowheads="1" noChangeShapeType="1" noTextEdit="1"/>
              </p:cNvSpPr>
              <p:nvPr/>
            </p:nvSpPr>
            <p:spPr>
              <a:xfrm>
                <a:off x="7131808" y="3227518"/>
                <a:ext cx="404598" cy="369332"/>
              </a:xfrm>
              <a:prstGeom prst="rect">
                <a:avLst/>
              </a:prstGeom>
              <a:blipFill>
                <a:blip r:embed="rId6"/>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4698C72-8A4A-4A1D-BC05-1CA7D1495ECC}"/>
                  </a:ext>
                </a:extLst>
              </p:cNvPr>
              <p:cNvSpPr txBox="1"/>
              <p:nvPr/>
            </p:nvSpPr>
            <p:spPr>
              <a:xfrm>
                <a:off x="7713976" y="1807150"/>
                <a:ext cx="404598" cy="369332"/>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𝐸</m:t>
                      </m:r>
                    </m:oMath>
                  </m:oMathPara>
                </a14:m>
                <a:endParaRPr lang="en-CA" dirty="0"/>
              </a:p>
            </p:txBody>
          </p:sp>
        </mc:Choice>
        <mc:Fallback xmlns="">
          <p:sp>
            <p:nvSpPr>
              <p:cNvPr id="10" name="TextBox 9">
                <a:extLst>
                  <a:ext uri="{FF2B5EF4-FFF2-40B4-BE49-F238E27FC236}">
                    <a16:creationId xmlns:a16="http://schemas.microsoft.com/office/drawing/2014/main" id="{84698C72-8A4A-4A1D-BC05-1CA7D1495ECC}"/>
                  </a:ext>
                </a:extLst>
              </p:cNvPr>
              <p:cNvSpPr txBox="1">
                <a:spLocks noRot="1" noChangeAspect="1" noMove="1" noResize="1" noEditPoints="1" noAdjustHandles="1" noChangeArrowheads="1" noChangeShapeType="1" noTextEdit="1"/>
              </p:cNvSpPr>
              <p:nvPr/>
            </p:nvSpPr>
            <p:spPr>
              <a:xfrm>
                <a:off x="7713976" y="1807150"/>
                <a:ext cx="404598" cy="369332"/>
              </a:xfrm>
              <a:prstGeom prst="rect">
                <a:avLst/>
              </a:prstGeom>
              <a:blipFill>
                <a:blip r:embed="rId7"/>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1F8783D-19DB-4378-AC69-D1811EA11E68}"/>
                  </a:ext>
                </a:extLst>
              </p:cNvPr>
              <p:cNvSpPr txBox="1"/>
              <p:nvPr/>
            </p:nvSpPr>
            <p:spPr>
              <a:xfrm>
                <a:off x="580890" y="786736"/>
                <a:ext cx="523413" cy="369332"/>
              </a:xfrm>
              <a:prstGeom prst="rect">
                <a:avLst/>
              </a:prstGeom>
              <a:noFill/>
            </p:spPr>
            <p:txBody>
              <a:bodyPr wrap="none" rtlCol="0">
                <a:spAutoFit/>
              </a:bodyPr>
              <a:lstStyle/>
              <a:p>
                <a:pPr/>
                <a14:m>
                  <m:oMathPara xmlns:m="http://schemas.openxmlformats.org/officeDocument/2006/math">
                    <m:o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oMath>
                  </m:oMathPara>
                </a14:m>
                <a:endParaRPr lang="en-CA" dirty="0"/>
              </a:p>
            </p:txBody>
          </p:sp>
        </mc:Choice>
        <mc:Fallback xmlns="">
          <p:sp>
            <p:nvSpPr>
              <p:cNvPr id="11" name="TextBox 10">
                <a:extLst>
                  <a:ext uri="{FF2B5EF4-FFF2-40B4-BE49-F238E27FC236}">
                    <a16:creationId xmlns:a16="http://schemas.microsoft.com/office/drawing/2014/main" id="{31F8783D-19DB-4378-AC69-D1811EA11E68}"/>
                  </a:ext>
                </a:extLst>
              </p:cNvPr>
              <p:cNvSpPr txBox="1">
                <a:spLocks noRot="1" noChangeAspect="1" noMove="1" noResize="1" noEditPoints="1" noAdjustHandles="1" noChangeArrowheads="1" noChangeShapeType="1" noTextEdit="1"/>
              </p:cNvSpPr>
              <p:nvPr/>
            </p:nvSpPr>
            <p:spPr>
              <a:xfrm>
                <a:off x="580890" y="786736"/>
                <a:ext cx="523413" cy="369332"/>
              </a:xfrm>
              <a:prstGeom prst="rect">
                <a:avLst/>
              </a:prstGeom>
              <a:blipFill>
                <a:blip r:embed="rId8"/>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4A2C1C7-52C9-46F6-9B74-5DF0FA4061B2}"/>
                  </a:ext>
                </a:extLst>
              </p:cNvPr>
              <p:cNvSpPr txBox="1"/>
              <p:nvPr/>
            </p:nvSpPr>
            <p:spPr>
              <a:xfrm>
                <a:off x="8994472" y="6558982"/>
                <a:ext cx="508473" cy="369332"/>
              </a:xfrm>
              <a:prstGeom prst="rect">
                <a:avLst/>
              </a:prstGeom>
              <a:noFill/>
            </p:spPr>
            <p:txBody>
              <a:bodyPr wrap="none" rtlCol="0">
                <a:spAutoFit/>
              </a:bodyPr>
              <a:lstStyle/>
              <a:p>
                <a:pPr/>
                <a14:m>
                  <m:oMathPara xmlns:m="http://schemas.openxmlformats.org/officeDocument/2006/math">
                    <m:oMath>
                      <m:r>
                        <m:rPr>
                          <m:sty m:val="p"/>
                        </m:rPr>
                        <a:rPr lang="en-CA" b="0" i="0" smtClean="0">
                          <a:latin typeface="Cambria Math" panose="02040503050406030204" pitchFamily="18" charset="0"/>
                        </a:rPr>
                        <m:t>ΔE</m:t>
                      </m:r>
                    </m:oMath>
                  </m:oMathPara>
                </a14:m>
                <a:endParaRPr lang="en-CA" dirty="0"/>
              </a:p>
            </p:txBody>
          </p:sp>
        </mc:Choice>
        <mc:Fallback xmlns="">
          <p:sp>
            <p:nvSpPr>
              <p:cNvPr id="12" name="TextBox 11">
                <a:extLst>
                  <a:ext uri="{FF2B5EF4-FFF2-40B4-BE49-F238E27FC236}">
                    <a16:creationId xmlns:a16="http://schemas.microsoft.com/office/drawing/2014/main" id="{94A2C1C7-52C9-46F6-9B74-5DF0FA4061B2}"/>
                  </a:ext>
                </a:extLst>
              </p:cNvPr>
              <p:cNvSpPr txBox="1">
                <a:spLocks noRot="1" noChangeAspect="1" noMove="1" noResize="1" noEditPoints="1" noAdjustHandles="1" noChangeArrowheads="1" noChangeShapeType="1" noTextEdit="1"/>
              </p:cNvSpPr>
              <p:nvPr/>
            </p:nvSpPr>
            <p:spPr>
              <a:xfrm>
                <a:off x="8994472" y="6558982"/>
                <a:ext cx="508473" cy="369332"/>
              </a:xfrm>
              <a:prstGeom prst="rect">
                <a:avLst/>
              </a:prstGeom>
              <a:blipFill>
                <a:blip r:embed="rId9"/>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5257294-6B91-D41D-C089-A44F6D5351A5}"/>
                  </a:ext>
                </a:extLst>
              </p:cNvPr>
              <p:cNvSpPr txBox="1"/>
              <p:nvPr/>
            </p:nvSpPr>
            <p:spPr>
              <a:xfrm>
                <a:off x="9256179" y="1991816"/>
                <a:ext cx="2599686" cy="923330"/>
              </a:xfrm>
              <a:prstGeom prst="rect">
                <a:avLst/>
              </a:prstGeom>
              <a:noFill/>
            </p:spPr>
            <p:txBody>
              <a:bodyPr wrap="none" rtlCol="0">
                <a:spAutoFit/>
              </a:bodyPr>
              <a:lstStyle/>
              <a:p>
                <a:r>
                  <a:rPr lang="en-US" dirty="0"/>
                  <a:t>Partially Implementing</a:t>
                </a:r>
                <a:br>
                  <a:rPr lang="en-US" dirty="0"/>
                </a:br>
                <a14:m>
                  <m:oMath xmlns:m="http://schemas.openxmlformats.org/officeDocument/2006/math">
                    <m:r>
                      <a:rPr lang="en-US" b="0" i="1" smtClean="0">
                        <a:latin typeface="Cambria Math" panose="02040503050406030204" pitchFamily="18" charset="0"/>
                      </a:rPr>
                      <m:t>𝐵</m:t>
                    </m:r>
                  </m:oMath>
                </a14:m>
                <a:r>
                  <a:rPr lang="en-CA" dirty="0"/>
                  <a:t> and </a:t>
                </a:r>
                <a14:m>
                  <m:oMath xmlns:m="http://schemas.openxmlformats.org/officeDocument/2006/math">
                    <m:r>
                      <a:rPr lang="en-US" b="0" i="1" smtClean="0">
                        <a:latin typeface="Cambria Math" panose="02040503050406030204" pitchFamily="18" charset="0"/>
                      </a:rPr>
                      <m:t>𝐷</m:t>
                    </m:r>
                  </m:oMath>
                </a14:m>
                <a:r>
                  <a:rPr lang="en-CA" dirty="0"/>
                  <a:t> dominate a </a:t>
                </a:r>
                <a:br>
                  <a:rPr lang="en-CA" dirty="0"/>
                </a:br>
                <a:r>
                  <a:rPr lang="en-CA" dirty="0"/>
                  <a:t>full Implementation of </a:t>
                </a:r>
                <a14:m>
                  <m:oMath xmlns:m="http://schemas.openxmlformats.org/officeDocument/2006/math">
                    <m:r>
                      <a:rPr lang="en-US" b="0" i="1" smtClean="0">
                        <a:latin typeface="Cambria Math" panose="02040503050406030204" pitchFamily="18" charset="0"/>
                      </a:rPr>
                      <m:t>𝐶</m:t>
                    </m:r>
                  </m:oMath>
                </a14:m>
                <a:endParaRPr lang="en-CA" dirty="0"/>
              </a:p>
            </p:txBody>
          </p:sp>
        </mc:Choice>
        <mc:Fallback xmlns="">
          <p:sp>
            <p:nvSpPr>
              <p:cNvPr id="2" name="TextBox 1">
                <a:extLst>
                  <a:ext uri="{FF2B5EF4-FFF2-40B4-BE49-F238E27FC236}">
                    <a16:creationId xmlns:a16="http://schemas.microsoft.com/office/drawing/2014/main" id="{15257294-6B91-D41D-C089-A44F6D5351A5}"/>
                  </a:ext>
                </a:extLst>
              </p:cNvPr>
              <p:cNvSpPr txBox="1">
                <a:spLocks noRot="1" noChangeAspect="1" noMove="1" noResize="1" noEditPoints="1" noAdjustHandles="1" noChangeArrowheads="1" noChangeShapeType="1" noTextEdit="1"/>
              </p:cNvSpPr>
              <p:nvPr/>
            </p:nvSpPr>
            <p:spPr>
              <a:xfrm>
                <a:off x="9256179" y="1991816"/>
                <a:ext cx="2599686" cy="923330"/>
              </a:xfrm>
              <a:prstGeom prst="rect">
                <a:avLst/>
              </a:prstGeom>
              <a:blipFill>
                <a:blip r:embed="rId10"/>
                <a:stretch>
                  <a:fillRect l="-1874" t="-3974" b="-9934"/>
                </a:stretch>
              </a:blipFill>
            </p:spPr>
            <p:txBody>
              <a:bodyPr/>
              <a:lstStyle/>
              <a:p>
                <a:r>
                  <a:rPr lang="en-CA">
                    <a:noFill/>
                  </a:rPr>
                  <a:t> </a:t>
                </a:r>
              </a:p>
            </p:txBody>
          </p:sp>
        </mc:Fallback>
      </mc:AlternateContent>
    </p:spTree>
    <p:extLst>
      <p:ext uri="{BB962C8B-B14F-4D97-AF65-F5344CB8AC3E}">
        <p14:creationId xmlns:p14="http://schemas.microsoft.com/office/powerpoint/2010/main" val="2582116346"/>
      </p:ext>
    </p:extLst>
  </p:cSld>
  <p:clrMapOvr>
    <a:masterClrMapping/>
  </p:clrMapOvr>
  <mc:AlternateContent xmlns:mc="http://schemas.openxmlformats.org/markup-compatibility/2006" xmlns:p14="http://schemas.microsoft.com/office/powerpoint/2010/main">
    <mc:Choice Requires="p14">
      <p:transition spd="slow" p14:dur="2000" advTm="19351"/>
    </mc:Choice>
    <mc:Fallback xmlns="">
      <p:transition spd="slow" advTm="19351"/>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Chart 14">
            <a:extLst>
              <a:ext uri="{FF2B5EF4-FFF2-40B4-BE49-F238E27FC236}">
                <a16:creationId xmlns:a16="http://schemas.microsoft.com/office/drawing/2014/main" id="{A3D61755-E114-4A93-90CA-8A28444F7802}"/>
              </a:ext>
            </a:extLst>
          </p:cNvPr>
          <p:cNvGraphicFramePr>
            <a:graphicFrameLocks/>
          </p:cNvGraphicFramePr>
          <p:nvPr>
            <p:extLst>
              <p:ext uri="{D42A27DB-BD31-4B8C-83A1-F6EECF244321}">
                <p14:modId xmlns:p14="http://schemas.microsoft.com/office/powerpoint/2010/main" val="812259769"/>
              </p:ext>
            </p:extLst>
          </p:nvPr>
        </p:nvGraphicFramePr>
        <p:xfrm>
          <a:off x="1366922" y="679632"/>
          <a:ext cx="8856615" cy="5980008"/>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A3B4E98-A26C-4795-9D6E-C762A49B14BA}"/>
                  </a:ext>
                </a:extLst>
              </p:cNvPr>
              <p:cNvSpPr txBox="1"/>
              <p:nvPr/>
            </p:nvSpPr>
            <p:spPr>
              <a:xfrm>
                <a:off x="10277080" y="6279825"/>
                <a:ext cx="508473" cy="369332"/>
              </a:xfrm>
              <a:prstGeom prst="rect">
                <a:avLst/>
              </a:prstGeom>
              <a:noFill/>
            </p:spPr>
            <p:txBody>
              <a:bodyPr wrap="none" rtlCol="0">
                <a:spAutoFit/>
              </a:bodyPr>
              <a:lstStyle/>
              <a:p>
                <a:pPr/>
                <a14:m>
                  <m:oMathPara xmlns:m="http://schemas.openxmlformats.org/officeDocument/2006/math">
                    <m:oMath>
                      <m:r>
                        <m:rPr>
                          <m:sty m:val="p"/>
                        </m:rPr>
                        <a:rPr lang="en-CA" b="0" i="0" smtClean="0">
                          <a:latin typeface="Cambria Math" panose="02040503050406030204" pitchFamily="18" charset="0"/>
                        </a:rPr>
                        <m:t>ΔE</m:t>
                      </m:r>
                    </m:oMath>
                  </m:oMathPara>
                </a14:m>
                <a:endParaRPr lang="en-CA" dirty="0"/>
              </a:p>
            </p:txBody>
          </p:sp>
        </mc:Choice>
        <mc:Fallback xmlns="">
          <p:sp>
            <p:nvSpPr>
              <p:cNvPr id="16" name="TextBox 15">
                <a:extLst>
                  <a:ext uri="{FF2B5EF4-FFF2-40B4-BE49-F238E27FC236}">
                    <a16:creationId xmlns:a16="http://schemas.microsoft.com/office/drawing/2014/main" id="{2A3B4E98-A26C-4795-9D6E-C762A49B14BA}"/>
                  </a:ext>
                </a:extLst>
              </p:cNvPr>
              <p:cNvSpPr txBox="1">
                <a:spLocks noRot="1" noChangeAspect="1" noMove="1" noResize="1" noEditPoints="1" noAdjustHandles="1" noChangeArrowheads="1" noChangeShapeType="1" noTextEdit="1"/>
              </p:cNvSpPr>
              <p:nvPr/>
            </p:nvSpPr>
            <p:spPr>
              <a:xfrm>
                <a:off x="10277080" y="6279825"/>
                <a:ext cx="508473" cy="369332"/>
              </a:xfrm>
              <a:prstGeom prst="rect">
                <a:avLst/>
              </a:prstGeom>
              <a:blipFill>
                <a:blip r:embed="rId3"/>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F3F69C9-163E-4DD6-84A8-3C231A229673}"/>
                  </a:ext>
                </a:extLst>
              </p:cNvPr>
              <p:cNvSpPr txBox="1"/>
              <p:nvPr/>
            </p:nvSpPr>
            <p:spPr>
              <a:xfrm>
                <a:off x="921390" y="679632"/>
                <a:ext cx="523413" cy="369332"/>
              </a:xfrm>
              <a:prstGeom prst="rect">
                <a:avLst/>
              </a:prstGeom>
              <a:noFill/>
            </p:spPr>
            <p:txBody>
              <a:bodyPr wrap="none" rtlCol="0">
                <a:spAutoFit/>
              </a:bodyPr>
              <a:lstStyle/>
              <a:p>
                <a:pPr/>
                <a14:m>
                  <m:oMathPara xmlns:m="http://schemas.openxmlformats.org/officeDocument/2006/math">
                    <m:o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oMath>
                  </m:oMathPara>
                </a14:m>
                <a:endParaRPr lang="en-CA" dirty="0"/>
              </a:p>
            </p:txBody>
          </p:sp>
        </mc:Choice>
        <mc:Fallback xmlns="">
          <p:sp>
            <p:nvSpPr>
              <p:cNvPr id="17" name="TextBox 16">
                <a:extLst>
                  <a:ext uri="{FF2B5EF4-FFF2-40B4-BE49-F238E27FC236}">
                    <a16:creationId xmlns:a16="http://schemas.microsoft.com/office/drawing/2014/main" id="{6F3F69C9-163E-4DD6-84A8-3C231A229673}"/>
                  </a:ext>
                </a:extLst>
              </p:cNvPr>
              <p:cNvSpPr txBox="1">
                <a:spLocks noRot="1" noChangeAspect="1" noMove="1" noResize="1" noEditPoints="1" noAdjustHandles="1" noChangeArrowheads="1" noChangeShapeType="1" noTextEdit="1"/>
              </p:cNvSpPr>
              <p:nvPr/>
            </p:nvSpPr>
            <p:spPr>
              <a:xfrm>
                <a:off x="921390" y="679632"/>
                <a:ext cx="523413" cy="369332"/>
              </a:xfrm>
              <a:prstGeom prst="rect">
                <a:avLst/>
              </a:prstGeom>
              <a:blipFill>
                <a:blip r:embed="rId4"/>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72BAC3E-B998-4092-A481-5A0D77F00550}"/>
                  </a:ext>
                </a:extLst>
              </p:cNvPr>
              <p:cNvSpPr txBox="1"/>
              <p:nvPr/>
            </p:nvSpPr>
            <p:spPr>
              <a:xfrm>
                <a:off x="2025026" y="5910493"/>
                <a:ext cx="385683" cy="369332"/>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𝐴</m:t>
                      </m:r>
                    </m:oMath>
                  </m:oMathPara>
                </a14:m>
                <a:endParaRPr lang="en-CA" dirty="0"/>
              </a:p>
            </p:txBody>
          </p:sp>
        </mc:Choice>
        <mc:Fallback xmlns="">
          <p:sp>
            <p:nvSpPr>
              <p:cNvPr id="18" name="TextBox 17">
                <a:extLst>
                  <a:ext uri="{FF2B5EF4-FFF2-40B4-BE49-F238E27FC236}">
                    <a16:creationId xmlns:a16="http://schemas.microsoft.com/office/drawing/2014/main" id="{E72BAC3E-B998-4092-A481-5A0D77F00550}"/>
                  </a:ext>
                </a:extLst>
              </p:cNvPr>
              <p:cNvSpPr txBox="1">
                <a:spLocks noRot="1" noChangeAspect="1" noMove="1" noResize="1" noEditPoints="1" noAdjustHandles="1" noChangeArrowheads="1" noChangeShapeType="1" noTextEdit="1"/>
              </p:cNvSpPr>
              <p:nvPr/>
            </p:nvSpPr>
            <p:spPr>
              <a:xfrm>
                <a:off x="2025026" y="5910493"/>
                <a:ext cx="385683" cy="369332"/>
              </a:xfrm>
              <a:prstGeom prst="rect">
                <a:avLst/>
              </a:prstGeom>
              <a:blipFill>
                <a:blip r:embed="rId5"/>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D10BB3D-F525-4556-AF27-74E7C353B759}"/>
                  </a:ext>
                </a:extLst>
              </p:cNvPr>
              <p:cNvSpPr txBox="1"/>
              <p:nvPr/>
            </p:nvSpPr>
            <p:spPr>
              <a:xfrm>
                <a:off x="4391356" y="4925732"/>
                <a:ext cx="396069" cy="369332"/>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𝐵</m:t>
                      </m:r>
                    </m:oMath>
                  </m:oMathPara>
                </a14:m>
                <a:endParaRPr lang="en-CA" dirty="0"/>
              </a:p>
            </p:txBody>
          </p:sp>
        </mc:Choice>
        <mc:Fallback xmlns="">
          <p:sp>
            <p:nvSpPr>
              <p:cNvPr id="19" name="TextBox 18">
                <a:extLst>
                  <a:ext uri="{FF2B5EF4-FFF2-40B4-BE49-F238E27FC236}">
                    <a16:creationId xmlns:a16="http://schemas.microsoft.com/office/drawing/2014/main" id="{0D10BB3D-F525-4556-AF27-74E7C353B759}"/>
                  </a:ext>
                </a:extLst>
              </p:cNvPr>
              <p:cNvSpPr txBox="1">
                <a:spLocks noRot="1" noChangeAspect="1" noMove="1" noResize="1" noEditPoints="1" noAdjustHandles="1" noChangeArrowheads="1" noChangeShapeType="1" noTextEdit="1"/>
              </p:cNvSpPr>
              <p:nvPr/>
            </p:nvSpPr>
            <p:spPr>
              <a:xfrm>
                <a:off x="4391356" y="4925732"/>
                <a:ext cx="396069" cy="369332"/>
              </a:xfrm>
              <a:prstGeom prst="rect">
                <a:avLst/>
              </a:prstGeom>
              <a:blipFill>
                <a:blip r:embed="rId6"/>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3F7B968-4BC1-4691-B42A-85340EAF5A29}"/>
                  </a:ext>
                </a:extLst>
              </p:cNvPr>
              <p:cNvSpPr txBox="1"/>
              <p:nvPr/>
            </p:nvSpPr>
            <p:spPr>
              <a:xfrm>
                <a:off x="7659595" y="2969246"/>
                <a:ext cx="404598" cy="369332"/>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𝐷</m:t>
                      </m:r>
                    </m:oMath>
                  </m:oMathPara>
                </a14:m>
                <a:endParaRPr lang="en-CA" dirty="0"/>
              </a:p>
            </p:txBody>
          </p:sp>
        </mc:Choice>
        <mc:Fallback xmlns="">
          <p:sp>
            <p:nvSpPr>
              <p:cNvPr id="20" name="TextBox 19">
                <a:extLst>
                  <a:ext uri="{FF2B5EF4-FFF2-40B4-BE49-F238E27FC236}">
                    <a16:creationId xmlns:a16="http://schemas.microsoft.com/office/drawing/2014/main" id="{23F7B968-4BC1-4691-B42A-85340EAF5A29}"/>
                  </a:ext>
                </a:extLst>
              </p:cNvPr>
              <p:cNvSpPr txBox="1">
                <a:spLocks noRot="1" noChangeAspect="1" noMove="1" noResize="1" noEditPoints="1" noAdjustHandles="1" noChangeArrowheads="1" noChangeShapeType="1" noTextEdit="1"/>
              </p:cNvSpPr>
              <p:nvPr/>
            </p:nvSpPr>
            <p:spPr>
              <a:xfrm>
                <a:off x="7659595" y="2969246"/>
                <a:ext cx="404598" cy="369332"/>
              </a:xfrm>
              <a:prstGeom prst="rect">
                <a:avLst/>
              </a:prstGeom>
              <a:blipFill>
                <a:blip r:embed="rId7"/>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5DA41E47-E0EB-42A2-9209-B7E90AA2F7D2}"/>
                  </a:ext>
                </a:extLst>
              </p:cNvPr>
              <p:cNvSpPr txBox="1"/>
              <p:nvPr/>
            </p:nvSpPr>
            <p:spPr>
              <a:xfrm>
                <a:off x="8230636" y="1766571"/>
                <a:ext cx="404598" cy="369332"/>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𝐸</m:t>
                      </m:r>
                    </m:oMath>
                  </m:oMathPara>
                </a14:m>
                <a:endParaRPr lang="en-CA" dirty="0"/>
              </a:p>
            </p:txBody>
          </p:sp>
        </mc:Choice>
        <mc:Fallback xmlns="">
          <p:sp>
            <p:nvSpPr>
              <p:cNvPr id="21" name="TextBox 20">
                <a:extLst>
                  <a:ext uri="{FF2B5EF4-FFF2-40B4-BE49-F238E27FC236}">
                    <a16:creationId xmlns:a16="http://schemas.microsoft.com/office/drawing/2014/main" id="{5DA41E47-E0EB-42A2-9209-B7E90AA2F7D2}"/>
                  </a:ext>
                </a:extLst>
              </p:cNvPr>
              <p:cNvSpPr txBox="1">
                <a:spLocks noRot="1" noChangeAspect="1" noMove="1" noResize="1" noEditPoints="1" noAdjustHandles="1" noChangeArrowheads="1" noChangeShapeType="1" noTextEdit="1"/>
              </p:cNvSpPr>
              <p:nvPr/>
            </p:nvSpPr>
            <p:spPr>
              <a:xfrm>
                <a:off x="8230636" y="1766571"/>
                <a:ext cx="404598" cy="369332"/>
              </a:xfrm>
              <a:prstGeom prst="rect">
                <a:avLst/>
              </a:prstGeom>
              <a:blipFill>
                <a:blip r:embed="rId8"/>
                <a:stretch>
                  <a:fillRect/>
                </a:stretch>
              </a:blipFill>
            </p:spPr>
            <p:txBody>
              <a:bodyPr/>
              <a:lstStyle/>
              <a:p>
                <a:r>
                  <a:rPr lang="en-CA">
                    <a:noFill/>
                  </a:rPr>
                  <a:t> </a:t>
                </a:r>
              </a:p>
            </p:txBody>
          </p:sp>
        </mc:Fallback>
      </mc:AlternateContent>
      <p:sp>
        <p:nvSpPr>
          <p:cNvPr id="22" name="TextBox 21">
            <a:extLst>
              <a:ext uri="{FF2B5EF4-FFF2-40B4-BE49-F238E27FC236}">
                <a16:creationId xmlns:a16="http://schemas.microsoft.com/office/drawing/2014/main" id="{5A7DB7E0-DC3C-4645-BB08-69B308E7FEE2}"/>
              </a:ext>
            </a:extLst>
          </p:cNvPr>
          <p:cNvSpPr txBox="1"/>
          <p:nvPr/>
        </p:nvSpPr>
        <p:spPr>
          <a:xfrm>
            <a:off x="9981168" y="1048964"/>
            <a:ext cx="2368626" cy="646331"/>
          </a:xfrm>
          <a:prstGeom prst="rect">
            <a:avLst/>
          </a:prstGeom>
          <a:noFill/>
        </p:spPr>
        <p:txBody>
          <a:bodyPr wrap="square" rtlCol="0">
            <a:spAutoFit/>
          </a:bodyPr>
          <a:lstStyle/>
          <a:p>
            <a:r>
              <a:rPr lang="en-CA" dirty="0"/>
              <a:t>No Dominated alternatives.</a:t>
            </a:r>
          </a:p>
        </p:txBody>
      </p:sp>
    </p:spTree>
    <p:extLst>
      <p:ext uri="{BB962C8B-B14F-4D97-AF65-F5344CB8AC3E}">
        <p14:creationId xmlns:p14="http://schemas.microsoft.com/office/powerpoint/2010/main" val="30127894"/>
      </p:ext>
    </p:extLst>
  </p:cSld>
  <p:clrMapOvr>
    <a:masterClrMapping/>
  </p:clrMapOvr>
  <mc:AlternateContent xmlns:mc="http://schemas.openxmlformats.org/markup-compatibility/2006" xmlns:p14="http://schemas.microsoft.com/office/powerpoint/2010/main">
    <mc:Choice Requires="p14">
      <p:transition spd="slow" p14:dur="2000" advTm="41459"/>
    </mc:Choice>
    <mc:Fallback xmlns="">
      <p:transition spd="slow" advTm="41459"/>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97670-68C5-9251-D94D-A44929433C07}"/>
              </a:ext>
            </a:extLst>
          </p:cNvPr>
          <p:cNvSpPr>
            <a:spLocks noGrp="1"/>
          </p:cNvSpPr>
          <p:nvPr>
            <p:ph type="title"/>
          </p:nvPr>
        </p:nvSpPr>
        <p:spPr/>
        <p:txBody>
          <a:bodyPr/>
          <a:lstStyle/>
          <a:p>
            <a:r>
              <a:rPr lang="en-US" dirty="0"/>
              <a:t>Summary</a:t>
            </a:r>
            <a:endParaRPr lang="en-CA" dirty="0"/>
          </a:p>
        </p:txBody>
      </p:sp>
      <p:sp>
        <p:nvSpPr>
          <p:cNvPr id="3" name="Content Placeholder 2">
            <a:extLst>
              <a:ext uri="{FF2B5EF4-FFF2-40B4-BE49-F238E27FC236}">
                <a16:creationId xmlns:a16="http://schemas.microsoft.com/office/drawing/2014/main" id="{BEAFD8FD-D85C-7E6B-DD99-A955B511E49D}"/>
              </a:ext>
            </a:extLst>
          </p:cNvPr>
          <p:cNvSpPr>
            <a:spLocks noGrp="1"/>
          </p:cNvSpPr>
          <p:nvPr>
            <p:ph idx="1"/>
          </p:nvPr>
        </p:nvSpPr>
        <p:spPr/>
        <p:txBody>
          <a:bodyPr/>
          <a:lstStyle/>
          <a:p>
            <a:r>
              <a:rPr lang="en-US" dirty="0"/>
              <a:t>In this lecture we discussed:</a:t>
            </a:r>
          </a:p>
          <a:p>
            <a:pPr marL="800100" lvl="1" indent="-342900">
              <a:buFont typeface="+mj-lt"/>
              <a:buAutoNum type="arabicPeriod"/>
            </a:pPr>
            <a:r>
              <a:rPr lang="en-CA" dirty="0"/>
              <a:t>What Economic Evaluation is and the Concepts from Economics Which we draw on.</a:t>
            </a:r>
          </a:p>
          <a:p>
            <a:pPr marL="800100" lvl="1" indent="-342900">
              <a:buFont typeface="+mj-lt"/>
              <a:buAutoNum type="arabicPeriod"/>
            </a:pPr>
            <a:r>
              <a:rPr lang="en-CA" dirty="0"/>
              <a:t>An Overview of Analysis Types.</a:t>
            </a:r>
          </a:p>
          <a:p>
            <a:pPr marL="800100" lvl="1" indent="-342900">
              <a:buFont typeface="+mj-lt"/>
              <a:buAutoNum type="arabicPeriod"/>
            </a:pPr>
            <a:r>
              <a:rPr lang="en-CA" dirty="0"/>
              <a:t>The ICER and Cost Effectiveness Plane</a:t>
            </a:r>
          </a:p>
          <a:p>
            <a:pPr marL="800100" lvl="1" indent="-342900">
              <a:buFont typeface="+mj-lt"/>
              <a:buAutoNum type="arabicPeriod"/>
            </a:pPr>
            <a:r>
              <a:rPr lang="en-CA" dirty="0"/>
              <a:t>The concept of Simple VS Extended Dominance  in Cost Effectiveness Analysis.</a:t>
            </a:r>
          </a:p>
          <a:p>
            <a:r>
              <a:rPr lang="en-CA" dirty="0"/>
              <a:t>In our next lecture wee will discuss how cost effectiveness analyses are situated in the </a:t>
            </a:r>
            <a:r>
              <a:rPr lang="en-CA" dirty="0" err="1"/>
              <a:t>broarder</a:t>
            </a:r>
            <a:r>
              <a:rPr lang="en-CA" dirty="0"/>
              <a:t> health sciences literature and discuss different approaches to measuring costs, effects and discounting them into the future.</a:t>
            </a:r>
          </a:p>
        </p:txBody>
      </p:sp>
    </p:spTree>
    <p:extLst>
      <p:ext uri="{BB962C8B-B14F-4D97-AF65-F5344CB8AC3E}">
        <p14:creationId xmlns:p14="http://schemas.microsoft.com/office/powerpoint/2010/main" val="3386765842"/>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3502</TotalTime>
  <Words>3043</Words>
  <Application>Microsoft Office PowerPoint</Application>
  <PresentationFormat>Widescreen</PresentationFormat>
  <Paragraphs>449</Paragraphs>
  <Slides>44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44</vt:i4>
      </vt:variant>
    </vt:vector>
  </HeadingPairs>
  <TitlesOfParts>
    <vt:vector size="52" baseType="lpstr">
      <vt:lpstr>Aptos</vt:lpstr>
      <vt:lpstr>Arial</vt:lpstr>
      <vt:lpstr>Bierstadt</vt:lpstr>
      <vt:lpstr>Calibri</vt:lpstr>
      <vt:lpstr>Cambria Math</vt:lpstr>
      <vt:lpstr>Google Sans Text</vt:lpstr>
      <vt:lpstr>Wingdings</vt:lpstr>
      <vt:lpstr>GestaltVTI</vt:lpstr>
      <vt:lpstr>Advanced Topics in Economic Evaluation and Healthcare</vt:lpstr>
      <vt:lpstr>About this Course</vt:lpstr>
      <vt:lpstr>An Overview of Economic Evaluation</vt:lpstr>
      <vt:lpstr>What is Economic Evaluation</vt:lpstr>
      <vt:lpstr>Economic Evaluation and The Life Cycle of a Drug</vt:lpstr>
      <vt:lpstr>Economic Evaluation and The Life Cycle of a Drug</vt:lpstr>
      <vt:lpstr>Who does Economic Evaluation?</vt:lpstr>
      <vt:lpstr>Economics and Economic Evaluation</vt:lpstr>
      <vt:lpstr>What is Economics?</vt:lpstr>
      <vt:lpstr>A Conceptual Map of the Field of Economics</vt:lpstr>
      <vt:lpstr>A Conceptual Map of the Field of Economics</vt:lpstr>
      <vt:lpstr>Key Concepts in Economics</vt:lpstr>
      <vt:lpstr>Scarcity</vt:lpstr>
      <vt:lpstr>Opportunity Cost</vt:lpstr>
      <vt:lpstr>A First Economic Model: The Budget </vt:lpstr>
      <vt:lpstr>A First Economic Model: The Budget </vt:lpstr>
      <vt:lpstr>A First Economic Model: The Budget </vt:lpstr>
      <vt:lpstr>A First Economic Model: The Budget </vt:lpstr>
      <vt:lpstr>A First Economic Model: The Budget </vt:lpstr>
      <vt:lpstr>Marginal Analysis</vt:lpstr>
      <vt:lpstr>Marginal Analysis</vt:lpstr>
      <vt:lpstr>Marginal Analysis</vt:lpstr>
      <vt:lpstr>A Graphic Example of Marginal Analysis</vt:lpstr>
      <vt:lpstr>A Graphic Example of Marginal Analysis</vt:lpstr>
      <vt:lpstr>The foundations of economic evaluation</vt:lpstr>
      <vt:lpstr>Types of Analysis: CMA, CEA, CUA and CBA.</vt:lpstr>
      <vt:lpstr>Analysis type</vt:lpstr>
      <vt:lpstr>The ICER</vt:lpstr>
      <vt:lpstr>A “Model Free” Approach to Cost Effectiveness Analysis</vt:lpstr>
      <vt:lpstr>How to use the ICER</vt:lpstr>
      <vt:lpstr>The Measurement of Benefits: Welfarism VS Extra Welfarism</vt:lpstr>
      <vt:lpstr>The Cost Effectiveness Plane</vt:lpstr>
      <vt:lpstr>The cost effectiveness plane and the ICER</vt:lpstr>
      <vt:lpstr>The cost effectiveness plane and the ICER</vt:lpstr>
      <vt:lpstr>The cost effectiveness plane and the ICER</vt:lpstr>
      <vt:lpstr>PowerPoint Presentation</vt:lpstr>
      <vt:lpstr>Simple and  Extended Dominance</vt:lpstr>
      <vt:lpstr>What is Simple Dominance?</vt:lpstr>
      <vt:lpstr>A Definition of Extended Dominance</vt:lpstr>
      <vt:lpstr>Example </vt:lpstr>
      <vt:lpstr>PowerPoint Presentation</vt:lpstr>
      <vt:lpstr>PowerPoint Presentation</vt:lpstr>
      <vt:lpstr>PowerPoint Presentation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Jacob Smith</dc:creator>
  <cp:lastModifiedBy>Jacob Smith</cp:lastModifiedBy>
  <cp:revision>16</cp:revision>
  <dcterms:created xsi:type="dcterms:W3CDTF">2026-08-17T03:21:10Z</dcterms:created>
  <dcterms:modified xsi:type="dcterms:W3CDTF">2026-08-21T19:35:45Z</dcterms:modified>
</cp:coreProperties>
</file>