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1" r:id="rId1"/>
  </p:sldMasterIdLst>
  <p:notesMasterIdLst>
    <p:notesMasterId r:id="rId29"/>
  </p:notesMasterIdLst>
  <p:sldIdLst>
    <p:sldId id="256" r:id="rId2"/>
    <p:sldId id="257" r:id="rId3"/>
    <p:sldId id="293" r:id="rId4"/>
    <p:sldId id="276" r:id="rId5"/>
    <p:sldId id="294" r:id="rId6"/>
    <p:sldId id="316" r:id="rId7"/>
    <p:sldId id="278" r:id="rId8"/>
    <p:sldId id="295" r:id="rId9"/>
    <p:sldId id="286" r:id="rId10"/>
    <p:sldId id="299" r:id="rId11"/>
    <p:sldId id="300" r:id="rId12"/>
    <p:sldId id="327" r:id="rId13"/>
    <p:sldId id="328" r:id="rId14"/>
    <p:sldId id="329" r:id="rId15"/>
    <p:sldId id="330" r:id="rId16"/>
    <p:sldId id="301" r:id="rId17"/>
    <p:sldId id="319" r:id="rId18"/>
    <p:sldId id="320" r:id="rId19"/>
    <p:sldId id="318" r:id="rId20"/>
    <p:sldId id="326" r:id="rId21"/>
    <p:sldId id="325" r:id="rId22"/>
    <p:sldId id="324" r:id="rId23"/>
    <p:sldId id="323" r:id="rId24"/>
    <p:sldId id="331" r:id="rId25"/>
    <p:sldId id="332" r:id="rId26"/>
    <p:sldId id="333" r:id="rId27"/>
    <p:sldId id="317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DFD0"/>
    <a:srgbClr val="CFCF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4" autoAdjust="0"/>
    <p:restoredTop sz="92996" autoAdjust="0"/>
  </p:normalViewPr>
  <p:slideViewPr>
    <p:cSldViewPr snapToGrid="0">
      <p:cViewPr varScale="1">
        <p:scale>
          <a:sx n="100" d="100"/>
          <a:sy n="100" d="100"/>
        </p:scale>
        <p:origin x="25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285F2B-9DB3-46C6-BD28-BD611964EFEF}" type="datetimeFigureOut">
              <a:rPr lang="en-CA" smtClean="0"/>
              <a:t>2026-10-27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E760D0-8468-434B-992C-0B7D2D9301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54136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024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97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826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187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767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92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889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749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25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280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958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053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70" r:id="rId6"/>
    <p:sldLayoutId id="2147483775" r:id="rId7"/>
    <p:sldLayoutId id="2147483771" r:id="rId8"/>
    <p:sldLayoutId id="2147483772" r:id="rId9"/>
    <p:sldLayoutId id="2147483773" r:id="rId10"/>
    <p:sldLayoutId id="2147483774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7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6.svg"/><Relationship Id="rId4" Type="http://schemas.openxmlformats.org/officeDocument/2006/relationships/image" Target="../media/image9.png"/><Relationship Id="rId9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svg"/><Relationship Id="rId7" Type="http://schemas.openxmlformats.org/officeDocument/2006/relationships/image" Target="../media/image10.png"/><Relationship Id="rId12" Type="http://schemas.openxmlformats.org/officeDocument/2006/relationships/image" Target="../media/image6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5.svg"/><Relationship Id="rId10" Type="http://schemas.openxmlformats.org/officeDocument/2006/relationships/image" Target="../media/image4.svg"/><Relationship Id="rId9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8.svg"/><Relationship Id="rId3" Type="http://schemas.openxmlformats.org/officeDocument/2006/relationships/image" Target="../media/image2.svg"/><Relationship Id="rId21" Type="http://schemas.openxmlformats.org/officeDocument/2006/relationships/image" Target="../media/image26.png"/><Relationship Id="rId7" Type="http://schemas.openxmlformats.org/officeDocument/2006/relationships/image" Target="../media/image10.png"/><Relationship Id="rId12" Type="http://schemas.openxmlformats.org/officeDocument/2006/relationships/image" Target="../media/image6.svg"/><Relationship Id="rId2" Type="http://schemas.openxmlformats.org/officeDocument/2006/relationships/image" Target="../media/image7.sv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5.svg"/><Relationship Id="rId10" Type="http://schemas.openxmlformats.org/officeDocument/2006/relationships/image" Target="../media/image4.svg"/><Relationship Id="rId19" Type="http://schemas.openxmlformats.org/officeDocument/2006/relationships/image" Target="../media/image24.png"/><Relationship Id="rId9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8.svg"/><Relationship Id="rId3" Type="http://schemas.openxmlformats.org/officeDocument/2006/relationships/image" Target="../media/image2.svg"/><Relationship Id="rId21" Type="http://schemas.openxmlformats.org/officeDocument/2006/relationships/image" Target="../media/image26.png"/><Relationship Id="rId7" Type="http://schemas.openxmlformats.org/officeDocument/2006/relationships/image" Target="../media/image10.png"/><Relationship Id="rId12" Type="http://schemas.openxmlformats.org/officeDocument/2006/relationships/image" Target="../media/image6.svg"/><Relationship Id="rId2" Type="http://schemas.openxmlformats.org/officeDocument/2006/relationships/image" Target="../media/image7.sv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5.svg"/><Relationship Id="rId10" Type="http://schemas.openxmlformats.org/officeDocument/2006/relationships/image" Target="../media/image4.svg"/><Relationship Id="rId19" Type="http://schemas.openxmlformats.org/officeDocument/2006/relationships/image" Target="../media/image24.png"/><Relationship Id="rId9" Type="http://schemas.openxmlformats.org/officeDocument/2006/relationships/image" Target="../media/image3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8.svg"/><Relationship Id="rId3" Type="http://schemas.openxmlformats.org/officeDocument/2006/relationships/image" Target="../media/image2.svg"/><Relationship Id="rId21" Type="http://schemas.openxmlformats.org/officeDocument/2006/relationships/image" Target="../media/image26.png"/><Relationship Id="rId7" Type="http://schemas.openxmlformats.org/officeDocument/2006/relationships/image" Target="../media/image10.png"/><Relationship Id="rId12" Type="http://schemas.openxmlformats.org/officeDocument/2006/relationships/image" Target="../media/image6.svg"/><Relationship Id="rId2" Type="http://schemas.openxmlformats.org/officeDocument/2006/relationships/image" Target="../media/image7.sv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5.svg"/><Relationship Id="rId23" Type="http://schemas.openxmlformats.org/officeDocument/2006/relationships/image" Target="../media/image120.png"/><Relationship Id="rId10" Type="http://schemas.openxmlformats.org/officeDocument/2006/relationships/image" Target="../media/image4.svg"/><Relationship Id="rId19" Type="http://schemas.openxmlformats.org/officeDocument/2006/relationships/image" Target="../media/image24.png"/><Relationship Id="rId9" Type="http://schemas.openxmlformats.org/officeDocument/2006/relationships/image" Target="../media/image3.svg"/><Relationship Id="rId22" Type="http://schemas.openxmlformats.org/officeDocument/2006/relationships/image" Target="../media/image14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2.svg"/><Relationship Id="rId21" Type="http://schemas.openxmlformats.org/officeDocument/2006/relationships/image" Target="../media/image26.png"/><Relationship Id="rId7" Type="http://schemas.openxmlformats.org/officeDocument/2006/relationships/image" Target="../media/image5.svg"/><Relationship Id="rId25" Type="http://schemas.openxmlformats.org/officeDocument/2006/relationships/image" Target="../media/image15.png"/><Relationship Id="rId2" Type="http://schemas.openxmlformats.org/officeDocument/2006/relationships/image" Target="../media/image7.sv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24" Type="http://schemas.openxmlformats.org/officeDocument/2006/relationships/image" Target="../media/image14.png"/><Relationship Id="rId5" Type="http://schemas.openxmlformats.org/officeDocument/2006/relationships/image" Target="../media/image3.svg"/><Relationship Id="rId23" Type="http://schemas.openxmlformats.org/officeDocument/2006/relationships/image" Target="../media/image120.png"/><Relationship Id="rId19" Type="http://schemas.openxmlformats.org/officeDocument/2006/relationships/image" Target="../media/image24.png"/><Relationship Id="rId4" Type="http://schemas.openxmlformats.org/officeDocument/2006/relationships/image" Target="../media/image130.png"/><Relationship Id="rId9" Type="http://schemas.openxmlformats.org/officeDocument/2006/relationships/image" Target="../media/image8.svg"/><Relationship Id="rId22" Type="http://schemas.openxmlformats.org/officeDocument/2006/relationships/image" Target="../media/image14.sv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8.jpg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813863-F928-09F7-33F8-93C103CEA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3397649" cy="3303764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dirty="0"/>
              <a:t>Advanced Topics in Economic Evaluation and Healthcare</a:t>
            </a:r>
            <a:endParaRPr lang="en-CA" sz="37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04B19C-1926-B464-1194-E2E07EBD9E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354633"/>
            <a:ext cx="3397649" cy="1706533"/>
          </a:xfrm>
        </p:spPr>
        <p:txBody>
          <a:bodyPr anchor="t">
            <a:normAutofit/>
          </a:bodyPr>
          <a:lstStyle/>
          <a:p>
            <a:r>
              <a:rPr lang="en-US" dirty="0"/>
              <a:t>Lecture #10: Funding Prioritization, League Tables and </a:t>
            </a:r>
            <a:r>
              <a:rPr lang="en-US"/>
              <a:t>the role of HTA organizations.</a:t>
            </a:r>
            <a:endParaRPr lang="en-CA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Logo Request Form - McMaster Brand">
            <a:extLst>
              <a:ext uri="{FF2B5EF4-FFF2-40B4-BE49-F238E27FC236}">
                <a16:creationId xmlns:a16="http://schemas.microsoft.com/office/drawing/2014/main" id="{9B664600-1FAC-3307-6550-FD235344C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5625" y="5679630"/>
            <a:ext cx="5192171" cy="100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306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EAD8C-4653-2156-1AE6-81A7043FF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Lecture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1D7D5-527F-5D91-FF68-E747009A6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In this lecture we will provide an overview on how funding decisions are made. In particular we will discuss: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The Payer’s Problem.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Making Funding Decisions with The Cost Effectiveness League Table.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Problems with League Table Decision Making.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Regulatory Issues and the Role of HTA Organizations.</a:t>
            </a:r>
          </a:p>
          <a:p>
            <a:r>
              <a:rPr lang="en-CA" dirty="0"/>
              <a:t>By the end of this lecture you will have an appreciation for some the tools used in funding decisions and the broader HTA landscape.</a:t>
            </a:r>
          </a:p>
          <a:p>
            <a:pPr marL="800100" lvl="1" indent="-342900">
              <a:buFont typeface="+mj-lt"/>
              <a:buAutoNum type="arabicPeriod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53032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1D7C8-9AE4-629A-6432-B4A14EDB7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BFB1D-B5F7-08E6-0F02-6461C8D64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The Payer’s Problem</a:t>
            </a:r>
          </a:p>
        </p:txBody>
      </p:sp>
      <p:pic>
        <p:nvPicPr>
          <p:cNvPr id="15" name="Graphic 14" descr="Teacher with solid fill">
            <a:extLst>
              <a:ext uri="{FF2B5EF4-FFF2-40B4-BE49-F238E27FC236}">
                <a16:creationId xmlns:a16="http://schemas.microsoft.com/office/drawing/2014/main" id="{8064B817-EF93-77A6-6F99-62B235289B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6575" y="2141028"/>
            <a:ext cx="1470660" cy="1470660"/>
          </a:xfrm>
          <a:prstGeom prst="rect">
            <a:avLst/>
          </a:prstGeom>
        </p:spPr>
      </p:pic>
      <p:pic>
        <p:nvPicPr>
          <p:cNvPr id="16" name="Graphic 15" descr="Teacher with solid fill">
            <a:extLst>
              <a:ext uri="{FF2B5EF4-FFF2-40B4-BE49-F238E27FC236}">
                <a16:creationId xmlns:a16="http://schemas.microsoft.com/office/drawing/2014/main" id="{6B350BCA-77C4-195E-2C7F-C9CA8B3BDB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19895" y="3465480"/>
            <a:ext cx="1470660" cy="1470660"/>
          </a:xfrm>
          <a:prstGeom prst="rect">
            <a:avLst/>
          </a:prstGeom>
        </p:spPr>
      </p:pic>
      <p:pic>
        <p:nvPicPr>
          <p:cNvPr id="17" name="Graphic 16" descr="Teacher with solid fill">
            <a:extLst>
              <a:ext uri="{FF2B5EF4-FFF2-40B4-BE49-F238E27FC236}">
                <a16:creationId xmlns:a16="http://schemas.microsoft.com/office/drawing/2014/main" id="{EC0D5103-7429-F073-00C0-D765E7BDC1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19895" y="4789932"/>
            <a:ext cx="1470660" cy="14706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12088BF-777B-26F2-5FF8-04C3DEE70173}"/>
                  </a:ext>
                </a:extLst>
              </p:cNvPr>
              <p:cNvSpPr txBox="1"/>
              <p:nvPr/>
            </p:nvSpPr>
            <p:spPr>
              <a:xfrm>
                <a:off x="3960687" y="2410525"/>
                <a:ext cx="73654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36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sz="36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12088BF-777B-26F2-5FF8-04C3DEE701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0687" y="2410525"/>
                <a:ext cx="736548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8E42E47-A5EE-9561-81D8-BCA18CF3C15C}"/>
                  </a:ext>
                </a:extLst>
              </p:cNvPr>
              <p:cNvSpPr txBox="1"/>
              <p:nvPr/>
            </p:nvSpPr>
            <p:spPr>
              <a:xfrm>
                <a:off x="3854007" y="3795016"/>
                <a:ext cx="74725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36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sz="36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8E42E47-A5EE-9561-81D8-BCA18CF3C1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4007" y="3795016"/>
                <a:ext cx="747256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ABCA5BC-71EB-545C-F790-547946366CBD}"/>
                  </a:ext>
                </a:extLst>
              </p:cNvPr>
              <p:cNvSpPr txBox="1"/>
              <p:nvPr/>
            </p:nvSpPr>
            <p:spPr>
              <a:xfrm>
                <a:off x="3843299" y="5119468"/>
                <a:ext cx="74725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36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CA" sz="36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ABCA5BC-71EB-545C-F790-547946366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3299" y="5119468"/>
                <a:ext cx="747256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Graphic 21" descr="Doctor female with solid fill">
            <a:extLst>
              <a:ext uri="{FF2B5EF4-FFF2-40B4-BE49-F238E27FC236}">
                <a16:creationId xmlns:a16="http://schemas.microsoft.com/office/drawing/2014/main" id="{C4C9A759-51A8-8954-07B8-11AA6E5359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1940" y="2489642"/>
            <a:ext cx="914400" cy="914400"/>
          </a:xfrm>
          <a:prstGeom prst="rect">
            <a:avLst/>
          </a:prstGeom>
        </p:spPr>
      </p:pic>
      <p:pic>
        <p:nvPicPr>
          <p:cNvPr id="24" name="Graphic 23" descr="Medical with solid fill">
            <a:extLst>
              <a:ext uri="{FF2B5EF4-FFF2-40B4-BE49-F238E27FC236}">
                <a16:creationId xmlns:a16="http://schemas.microsoft.com/office/drawing/2014/main" id="{347C4361-E367-0919-A170-B900059F6F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2480" y="2150553"/>
            <a:ext cx="914400" cy="914400"/>
          </a:xfrm>
          <a:prstGeom prst="rect">
            <a:avLst/>
          </a:prstGeom>
        </p:spPr>
      </p:pic>
      <p:pic>
        <p:nvPicPr>
          <p:cNvPr id="26" name="Graphic 25" descr="Medicine with solid fill">
            <a:extLst>
              <a:ext uri="{FF2B5EF4-FFF2-40B4-BE49-F238E27FC236}">
                <a16:creationId xmlns:a16="http://schemas.microsoft.com/office/drawing/2014/main" id="{573E40E6-D3FA-7EC0-59FF-D275B34D0A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1940" y="3795016"/>
            <a:ext cx="914400" cy="914400"/>
          </a:xfrm>
          <a:prstGeom prst="rect">
            <a:avLst/>
          </a:prstGeom>
        </p:spPr>
      </p:pic>
      <p:pic>
        <p:nvPicPr>
          <p:cNvPr id="28" name="Graphic 27" descr="Needle with solid fill">
            <a:extLst>
              <a:ext uri="{FF2B5EF4-FFF2-40B4-BE49-F238E27FC236}">
                <a16:creationId xmlns:a16="http://schemas.microsoft.com/office/drawing/2014/main" id="{C380118A-1C8C-6789-51A8-CC4525BD7C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8590" y="5213036"/>
            <a:ext cx="914400" cy="914400"/>
          </a:xfrm>
          <a:prstGeom prst="rect">
            <a:avLst/>
          </a:prstGeom>
        </p:spPr>
      </p:pic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A5648E6-6D91-D736-D677-5B48E66AB9CA}"/>
              </a:ext>
            </a:extLst>
          </p:cNvPr>
          <p:cNvCxnSpPr/>
          <p:nvPr/>
        </p:nvCxnSpPr>
        <p:spPr>
          <a:xfrm>
            <a:off x="1457325" y="2946842"/>
            <a:ext cx="176925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74DC8E9-08B6-01D5-A059-FA9B1DFF47AD}"/>
              </a:ext>
            </a:extLst>
          </p:cNvPr>
          <p:cNvCxnSpPr/>
          <p:nvPr/>
        </p:nvCxnSpPr>
        <p:spPr>
          <a:xfrm>
            <a:off x="1350645" y="4200810"/>
            <a:ext cx="176925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41C8D73-6280-2591-B26E-75C9A1BA65AD}"/>
              </a:ext>
            </a:extLst>
          </p:cNvPr>
          <p:cNvCxnSpPr/>
          <p:nvPr/>
        </p:nvCxnSpPr>
        <p:spPr>
          <a:xfrm>
            <a:off x="1249680" y="5680046"/>
            <a:ext cx="176925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D5FB207-BCA4-8311-1F0D-AD8C2AF2F24F}"/>
              </a:ext>
            </a:extLst>
          </p:cNvPr>
          <p:cNvSpPr txBox="1"/>
          <p:nvPr/>
        </p:nvSpPr>
        <p:spPr>
          <a:xfrm>
            <a:off x="4497568" y="1604599"/>
            <a:ext cx="5994398" cy="646331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/>
              <a:t>Analysts conduct cost effectiveness analysis of drugs that</a:t>
            </a:r>
            <a:br>
              <a:rPr lang="en-CA" dirty="0"/>
            </a:br>
            <a:r>
              <a:rPr lang="en-CA" dirty="0"/>
              <a:t>have passed clinical trials.</a:t>
            </a:r>
          </a:p>
        </p:txBody>
      </p:sp>
    </p:spTree>
    <p:extLst>
      <p:ext uri="{BB962C8B-B14F-4D97-AF65-F5344CB8AC3E}">
        <p14:creationId xmlns:p14="http://schemas.microsoft.com/office/powerpoint/2010/main" val="3773721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ADDAC-8092-3C51-8152-1220C8829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A68A2-8394-6F38-5156-B8B7C12AF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The Payer’s Problem</a:t>
            </a:r>
          </a:p>
        </p:txBody>
      </p:sp>
      <p:pic>
        <p:nvPicPr>
          <p:cNvPr id="13" name="Graphic 12" descr="Building with solid fill">
            <a:extLst>
              <a:ext uri="{FF2B5EF4-FFF2-40B4-BE49-F238E27FC236}">
                <a16:creationId xmlns:a16="http://schemas.microsoft.com/office/drawing/2014/main" id="{65BB085E-EE24-7C9E-E3C5-ED6F0E9DF5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70270" y="3213232"/>
            <a:ext cx="1470660" cy="1470660"/>
          </a:xfrm>
          <a:prstGeom prst="rect">
            <a:avLst/>
          </a:prstGeom>
        </p:spPr>
      </p:pic>
      <p:pic>
        <p:nvPicPr>
          <p:cNvPr id="15" name="Graphic 14" descr="Teacher with solid fill">
            <a:extLst>
              <a:ext uri="{FF2B5EF4-FFF2-40B4-BE49-F238E27FC236}">
                <a16:creationId xmlns:a16="http://schemas.microsoft.com/office/drawing/2014/main" id="{EB9945FD-0EF0-508E-4B71-9A72F300FE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26575" y="2141028"/>
            <a:ext cx="1470660" cy="1470660"/>
          </a:xfrm>
          <a:prstGeom prst="rect">
            <a:avLst/>
          </a:prstGeom>
        </p:spPr>
      </p:pic>
      <p:pic>
        <p:nvPicPr>
          <p:cNvPr id="16" name="Graphic 15" descr="Teacher with solid fill">
            <a:extLst>
              <a:ext uri="{FF2B5EF4-FFF2-40B4-BE49-F238E27FC236}">
                <a16:creationId xmlns:a16="http://schemas.microsoft.com/office/drawing/2014/main" id="{74E5858F-FAC8-E879-8E44-544792FB15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19895" y="3465480"/>
            <a:ext cx="1470660" cy="1470660"/>
          </a:xfrm>
          <a:prstGeom prst="rect">
            <a:avLst/>
          </a:prstGeom>
        </p:spPr>
      </p:pic>
      <p:pic>
        <p:nvPicPr>
          <p:cNvPr id="17" name="Graphic 16" descr="Teacher with solid fill">
            <a:extLst>
              <a:ext uri="{FF2B5EF4-FFF2-40B4-BE49-F238E27FC236}">
                <a16:creationId xmlns:a16="http://schemas.microsoft.com/office/drawing/2014/main" id="{5D07547F-E749-B839-B158-09DF295F28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19895" y="4789932"/>
            <a:ext cx="1470660" cy="14706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3A3DF6D-9A07-CF42-B4B8-8A306FFA6219}"/>
                  </a:ext>
                </a:extLst>
              </p:cNvPr>
              <p:cNvSpPr txBox="1"/>
              <p:nvPr/>
            </p:nvSpPr>
            <p:spPr>
              <a:xfrm>
                <a:off x="3960687" y="2410525"/>
                <a:ext cx="73654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36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sz="36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3A3DF6D-9A07-CF42-B4B8-8A306FFA62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0687" y="2410525"/>
                <a:ext cx="736548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30D624E-17C2-066D-70AD-861B1138EC40}"/>
                  </a:ext>
                </a:extLst>
              </p:cNvPr>
              <p:cNvSpPr txBox="1"/>
              <p:nvPr/>
            </p:nvSpPr>
            <p:spPr>
              <a:xfrm>
                <a:off x="3854007" y="3795016"/>
                <a:ext cx="74725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36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sz="36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30D624E-17C2-066D-70AD-861B1138EC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4007" y="3795016"/>
                <a:ext cx="747256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9B81932-FF1E-DEB6-ACA4-33DDEC7C73FA}"/>
                  </a:ext>
                </a:extLst>
              </p:cNvPr>
              <p:cNvSpPr txBox="1"/>
              <p:nvPr/>
            </p:nvSpPr>
            <p:spPr>
              <a:xfrm>
                <a:off x="3843299" y="5119468"/>
                <a:ext cx="74725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36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CA" sz="36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9B81932-FF1E-DEB6-ACA4-33DDEC7C73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3299" y="5119468"/>
                <a:ext cx="747256" cy="6463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Graphic 21" descr="Doctor female with solid fill">
            <a:extLst>
              <a:ext uri="{FF2B5EF4-FFF2-40B4-BE49-F238E27FC236}">
                <a16:creationId xmlns:a16="http://schemas.microsoft.com/office/drawing/2014/main" id="{80F073DD-39C2-146E-F247-135776915B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1940" y="2489642"/>
            <a:ext cx="914400" cy="914400"/>
          </a:xfrm>
          <a:prstGeom prst="rect">
            <a:avLst/>
          </a:prstGeom>
        </p:spPr>
      </p:pic>
      <p:pic>
        <p:nvPicPr>
          <p:cNvPr id="24" name="Graphic 23" descr="Medical with solid fill">
            <a:extLst>
              <a:ext uri="{FF2B5EF4-FFF2-40B4-BE49-F238E27FC236}">
                <a16:creationId xmlns:a16="http://schemas.microsoft.com/office/drawing/2014/main" id="{81E4BED7-1E42-B764-CFF9-32D77A0903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2480" y="2150553"/>
            <a:ext cx="914400" cy="914400"/>
          </a:xfrm>
          <a:prstGeom prst="rect">
            <a:avLst/>
          </a:prstGeom>
        </p:spPr>
      </p:pic>
      <p:pic>
        <p:nvPicPr>
          <p:cNvPr id="26" name="Graphic 25" descr="Medicine with solid fill">
            <a:extLst>
              <a:ext uri="{FF2B5EF4-FFF2-40B4-BE49-F238E27FC236}">
                <a16:creationId xmlns:a16="http://schemas.microsoft.com/office/drawing/2014/main" id="{98024E72-557B-5122-DD82-6CA3EF08F6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81940" y="3795016"/>
            <a:ext cx="914400" cy="914400"/>
          </a:xfrm>
          <a:prstGeom prst="rect">
            <a:avLst/>
          </a:prstGeom>
        </p:spPr>
      </p:pic>
      <p:pic>
        <p:nvPicPr>
          <p:cNvPr id="28" name="Graphic 27" descr="Needle with solid fill">
            <a:extLst>
              <a:ext uri="{FF2B5EF4-FFF2-40B4-BE49-F238E27FC236}">
                <a16:creationId xmlns:a16="http://schemas.microsoft.com/office/drawing/2014/main" id="{5619FD1B-1770-768D-3A9E-4198025762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8590" y="5213036"/>
            <a:ext cx="914400" cy="914400"/>
          </a:xfrm>
          <a:prstGeom prst="rect">
            <a:avLst/>
          </a:prstGeom>
        </p:spPr>
      </p:pic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4FE6633-76E7-0A90-9745-094BA161FB0A}"/>
              </a:ext>
            </a:extLst>
          </p:cNvPr>
          <p:cNvCxnSpPr/>
          <p:nvPr/>
        </p:nvCxnSpPr>
        <p:spPr>
          <a:xfrm>
            <a:off x="1457325" y="2946842"/>
            <a:ext cx="176925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830FEEB-8786-9D66-13B6-6F76DF73BBEE}"/>
              </a:ext>
            </a:extLst>
          </p:cNvPr>
          <p:cNvCxnSpPr/>
          <p:nvPr/>
        </p:nvCxnSpPr>
        <p:spPr>
          <a:xfrm>
            <a:off x="1350645" y="4200810"/>
            <a:ext cx="176925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2559978-C7D8-A8C6-E078-3213B75D741B}"/>
              </a:ext>
            </a:extLst>
          </p:cNvPr>
          <p:cNvCxnSpPr/>
          <p:nvPr/>
        </p:nvCxnSpPr>
        <p:spPr>
          <a:xfrm>
            <a:off x="1249680" y="5680046"/>
            <a:ext cx="176925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A43E1AE-F075-B80E-5D8A-85415BA0596B}"/>
              </a:ext>
            </a:extLst>
          </p:cNvPr>
          <p:cNvCxnSpPr>
            <a:cxnSpLocks/>
          </p:cNvCxnSpPr>
          <p:nvPr/>
        </p:nvCxnSpPr>
        <p:spPr>
          <a:xfrm>
            <a:off x="4783170" y="2765411"/>
            <a:ext cx="1636680" cy="118315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22E64B8-C726-9902-26C5-11B4BEA8B1F1}"/>
              </a:ext>
            </a:extLst>
          </p:cNvPr>
          <p:cNvCxnSpPr>
            <a:cxnSpLocks/>
          </p:cNvCxnSpPr>
          <p:nvPr/>
        </p:nvCxnSpPr>
        <p:spPr>
          <a:xfrm>
            <a:off x="4803915" y="4100962"/>
            <a:ext cx="1539735" cy="1721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2252A91-BEFC-9100-EC89-F1FE9EB1B12B}"/>
              </a:ext>
            </a:extLst>
          </p:cNvPr>
          <p:cNvCxnSpPr>
            <a:cxnSpLocks/>
          </p:cNvCxnSpPr>
          <p:nvPr/>
        </p:nvCxnSpPr>
        <p:spPr>
          <a:xfrm flipV="1">
            <a:off x="4697235" y="4270581"/>
            <a:ext cx="1662570" cy="117205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0EE392EF-E9E4-C4FC-297C-BAA72741843B}"/>
              </a:ext>
            </a:extLst>
          </p:cNvPr>
          <p:cNvSpPr txBox="1"/>
          <p:nvPr/>
        </p:nvSpPr>
        <p:spPr>
          <a:xfrm>
            <a:off x="5495237" y="1734587"/>
            <a:ext cx="4284482" cy="92333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dirty="0"/>
              <a:t>These ICERs are submitted in the form of funding proposals to the Ministry of Health.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964D547-959B-F013-68F1-70EDA48D563A}"/>
              </a:ext>
            </a:extLst>
          </p:cNvPr>
          <p:cNvSpPr txBox="1"/>
          <p:nvPr/>
        </p:nvSpPr>
        <p:spPr>
          <a:xfrm>
            <a:off x="6381802" y="2655927"/>
            <a:ext cx="13971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Ministry of </a:t>
            </a:r>
            <a:br>
              <a:rPr lang="en-CA" b="1" dirty="0"/>
            </a:br>
            <a:r>
              <a:rPr lang="en-CA" b="1" dirty="0"/>
              <a:t>Health</a:t>
            </a:r>
          </a:p>
        </p:txBody>
      </p:sp>
    </p:spTree>
    <p:extLst>
      <p:ext uri="{BB962C8B-B14F-4D97-AF65-F5344CB8AC3E}">
        <p14:creationId xmlns:p14="http://schemas.microsoft.com/office/powerpoint/2010/main" val="3058032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883E8-34EC-054D-14A4-0CB8F1D25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1C731-58DF-9003-25A6-15B53A951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The Payer’s Problem</a:t>
            </a:r>
          </a:p>
        </p:txBody>
      </p:sp>
      <p:pic>
        <p:nvPicPr>
          <p:cNvPr id="13" name="Graphic 12" descr="Building with solid fill">
            <a:extLst>
              <a:ext uri="{FF2B5EF4-FFF2-40B4-BE49-F238E27FC236}">
                <a16:creationId xmlns:a16="http://schemas.microsoft.com/office/drawing/2014/main" id="{58473034-4766-24C8-57D1-75E5F8F30E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70270" y="3213232"/>
            <a:ext cx="1470660" cy="1470660"/>
          </a:xfrm>
          <a:prstGeom prst="rect">
            <a:avLst/>
          </a:prstGeom>
        </p:spPr>
      </p:pic>
      <p:pic>
        <p:nvPicPr>
          <p:cNvPr id="15" name="Graphic 14" descr="Teacher with solid fill">
            <a:extLst>
              <a:ext uri="{FF2B5EF4-FFF2-40B4-BE49-F238E27FC236}">
                <a16:creationId xmlns:a16="http://schemas.microsoft.com/office/drawing/2014/main" id="{D5C4F265-D3CB-BD61-DE1D-E20AA2A4B2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26575" y="2141028"/>
            <a:ext cx="1470660" cy="1470660"/>
          </a:xfrm>
          <a:prstGeom prst="rect">
            <a:avLst/>
          </a:prstGeom>
        </p:spPr>
      </p:pic>
      <p:pic>
        <p:nvPicPr>
          <p:cNvPr id="16" name="Graphic 15" descr="Teacher with solid fill">
            <a:extLst>
              <a:ext uri="{FF2B5EF4-FFF2-40B4-BE49-F238E27FC236}">
                <a16:creationId xmlns:a16="http://schemas.microsoft.com/office/drawing/2014/main" id="{C60DE4F4-48E8-4024-5D09-FE804195B7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19895" y="3465480"/>
            <a:ext cx="1470660" cy="1470660"/>
          </a:xfrm>
          <a:prstGeom prst="rect">
            <a:avLst/>
          </a:prstGeom>
        </p:spPr>
      </p:pic>
      <p:pic>
        <p:nvPicPr>
          <p:cNvPr id="17" name="Graphic 16" descr="Teacher with solid fill">
            <a:extLst>
              <a:ext uri="{FF2B5EF4-FFF2-40B4-BE49-F238E27FC236}">
                <a16:creationId xmlns:a16="http://schemas.microsoft.com/office/drawing/2014/main" id="{3F101DA3-BF8E-504F-2FA9-DDE162F9C6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19895" y="4789932"/>
            <a:ext cx="1470660" cy="14706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9DFEE2B-20E5-D15F-ABD1-BD3C3D6CB5A1}"/>
                  </a:ext>
                </a:extLst>
              </p:cNvPr>
              <p:cNvSpPr txBox="1"/>
              <p:nvPr/>
            </p:nvSpPr>
            <p:spPr>
              <a:xfrm>
                <a:off x="3960687" y="2410525"/>
                <a:ext cx="73654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36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sz="36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9DFEE2B-20E5-D15F-ABD1-BD3C3D6CB5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0687" y="2410525"/>
                <a:ext cx="736548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8023AB8-EFAD-0EBA-82EE-3F9B4A798EA9}"/>
                  </a:ext>
                </a:extLst>
              </p:cNvPr>
              <p:cNvSpPr txBox="1"/>
              <p:nvPr/>
            </p:nvSpPr>
            <p:spPr>
              <a:xfrm>
                <a:off x="3854007" y="3795016"/>
                <a:ext cx="74725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36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sz="36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8023AB8-EFAD-0EBA-82EE-3F9B4A798E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4007" y="3795016"/>
                <a:ext cx="747256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26556B3-5F9A-30C6-A6A5-5E4F0D79308D}"/>
                  </a:ext>
                </a:extLst>
              </p:cNvPr>
              <p:cNvSpPr txBox="1"/>
              <p:nvPr/>
            </p:nvSpPr>
            <p:spPr>
              <a:xfrm>
                <a:off x="3843299" y="5119468"/>
                <a:ext cx="74725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36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CA" sz="36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26556B3-5F9A-30C6-A6A5-5E4F0D7930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3299" y="5119468"/>
                <a:ext cx="747256" cy="6463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Graphic 21" descr="Doctor female with solid fill">
            <a:extLst>
              <a:ext uri="{FF2B5EF4-FFF2-40B4-BE49-F238E27FC236}">
                <a16:creationId xmlns:a16="http://schemas.microsoft.com/office/drawing/2014/main" id="{8DE791B8-ADA7-B526-B9E4-A1D9F97DD1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1940" y="2489642"/>
            <a:ext cx="914400" cy="914400"/>
          </a:xfrm>
          <a:prstGeom prst="rect">
            <a:avLst/>
          </a:prstGeom>
        </p:spPr>
      </p:pic>
      <p:pic>
        <p:nvPicPr>
          <p:cNvPr id="24" name="Graphic 23" descr="Medical with solid fill">
            <a:extLst>
              <a:ext uri="{FF2B5EF4-FFF2-40B4-BE49-F238E27FC236}">
                <a16:creationId xmlns:a16="http://schemas.microsoft.com/office/drawing/2014/main" id="{7D0D78CF-3F0E-0468-143F-6DCDB97ACB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2480" y="2150553"/>
            <a:ext cx="914400" cy="914400"/>
          </a:xfrm>
          <a:prstGeom prst="rect">
            <a:avLst/>
          </a:prstGeom>
        </p:spPr>
      </p:pic>
      <p:pic>
        <p:nvPicPr>
          <p:cNvPr id="26" name="Graphic 25" descr="Medicine with solid fill">
            <a:extLst>
              <a:ext uri="{FF2B5EF4-FFF2-40B4-BE49-F238E27FC236}">
                <a16:creationId xmlns:a16="http://schemas.microsoft.com/office/drawing/2014/main" id="{0A592734-2CF0-2852-E142-83B131081E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81940" y="3795016"/>
            <a:ext cx="914400" cy="914400"/>
          </a:xfrm>
          <a:prstGeom prst="rect">
            <a:avLst/>
          </a:prstGeom>
        </p:spPr>
      </p:pic>
      <p:pic>
        <p:nvPicPr>
          <p:cNvPr id="28" name="Graphic 27" descr="Needle with solid fill">
            <a:extLst>
              <a:ext uri="{FF2B5EF4-FFF2-40B4-BE49-F238E27FC236}">
                <a16:creationId xmlns:a16="http://schemas.microsoft.com/office/drawing/2014/main" id="{29FE8E20-F5A8-2D0C-AB5B-8C0C48CE32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8590" y="5213036"/>
            <a:ext cx="914400" cy="914400"/>
          </a:xfrm>
          <a:prstGeom prst="rect">
            <a:avLst/>
          </a:prstGeom>
        </p:spPr>
      </p:pic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6275C82-2CF8-804E-40C0-D4DCFC3C1994}"/>
              </a:ext>
            </a:extLst>
          </p:cNvPr>
          <p:cNvCxnSpPr/>
          <p:nvPr/>
        </p:nvCxnSpPr>
        <p:spPr>
          <a:xfrm>
            <a:off x="1457325" y="2946842"/>
            <a:ext cx="176925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850C0DC-7195-B588-0954-2248B978F513}"/>
              </a:ext>
            </a:extLst>
          </p:cNvPr>
          <p:cNvCxnSpPr/>
          <p:nvPr/>
        </p:nvCxnSpPr>
        <p:spPr>
          <a:xfrm>
            <a:off x="1350645" y="4200810"/>
            <a:ext cx="176925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7A45CEC-463D-89BA-F8E6-EF2529F52808}"/>
              </a:ext>
            </a:extLst>
          </p:cNvPr>
          <p:cNvCxnSpPr/>
          <p:nvPr/>
        </p:nvCxnSpPr>
        <p:spPr>
          <a:xfrm>
            <a:off x="1249680" y="5680046"/>
            <a:ext cx="176925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1B5F068-505A-37C1-0530-71DAFBFC1CCB}"/>
              </a:ext>
            </a:extLst>
          </p:cNvPr>
          <p:cNvCxnSpPr>
            <a:cxnSpLocks/>
          </p:cNvCxnSpPr>
          <p:nvPr/>
        </p:nvCxnSpPr>
        <p:spPr>
          <a:xfrm>
            <a:off x="4783170" y="2765411"/>
            <a:ext cx="1636680" cy="118315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E52CCD5-240A-43CA-6ED6-79631ABFE539}"/>
              </a:ext>
            </a:extLst>
          </p:cNvPr>
          <p:cNvCxnSpPr>
            <a:cxnSpLocks/>
          </p:cNvCxnSpPr>
          <p:nvPr/>
        </p:nvCxnSpPr>
        <p:spPr>
          <a:xfrm>
            <a:off x="4803915" y="4100962"/>
            <a:ext cx="1539735" cy="1721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7A31267-9E0D-4A20-6F36-58A2B5E5E649}"/>
              </a:ext>
            </a:extLst>
          </p:cNvPr>
          <p:cNvCxnSpPr>
            <a:cxnSpLocks/>
          </p:cNvCxnSpPr>
          <p:nvPr/>
        </p:nvCxnSpPr>
        <p:spPr>
          <a:xfrm flipV="1">
            <a:off x="4697235" y="4270581"/>
            <a:ext cx="1662570" cy="117205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A2EE14B3-5B60-7A13-6C1C-60868C022708}"/>
              </a:ext>
            </a:extLst>
          </p:cNvPr>
          <p:cNvSpPr txBox="1"/>
          <p:nvPr/>
        </p:nvSpPr>
        <p:spPr>
          <a:xfrm>
            <a:off x="6381802" y="2655927"/>
            <a:ext cx="13971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Ministry of </a:t>
            </a:r>
            <a:br>
              <a:rPr lang="en-CA" b="1" dirty="0"/>
            </a:br>
            <a:r>
              <a:rPr lang="en-CA" b="1" dirty="0"/>
              <a:t>Health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F89820E-9B7C-8361-500A-6793FB0EE42A}"/>
              </a:ext>
            </a:extLst>
          </p:cNvPr>
          <p:cNvCxnSpPr>
            <a:cxnSpLocks/>
          </p:cNvCxnSpPr>
          <p:nvPr/>
        </p:nvCxnSpPr>
        <p:spPr>
          <a:xfrm>
            <a:off x="7560945" y="3948562"/>
            <a:ext cx="992505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1" name="Graphic 50" descr="List outline">
            <a:extLst>
              <a:ext uri="{FF2B5EF4-FFF2-40B4-BE49-F238E27FC236}">
                <a16:creationId xmlns:a16="http://schemas.microsoft.com/office/drawing/2014/main" id="{05C0F7C0-48C3-150E-E87D-12AD31AED0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379117" y="2655927"/>
            <a:ext cx="2462238" cy="24622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0BBDC0D3-632E-0034-66BC-F4D10BA49DB7}"/>
                  </a:ext>
                </a:extLst>
              </p:cNvPr>
              <p:cNvSpPr txBox="1"/>
              <p:nvPr/>
            </p:nvSpPr>
            <p:spPr>
              <a:xfrm>
                <a:off x="9552904" y="2825204"/>
                <a:ext cx="567270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5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25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sz="25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0BBDC0D3-632E-0034-66BC-F4D10BA49D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2904" y="2825204"/>
                <a:ext cx="567270" cy="4770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57EFFF2-ADDF-020D-374C-AA1789AF6B5B}"/>
                  </a:ext>
                </a:extLst>
              </p:cNvPr>
              <p:cNvSpPr txBox="1"/>
              <p:nvPr/>
            </p:nvSpPr>
            <p:spPr>
              <a:xfrm>
                <a:off x="9528677" y="3233008"/>
                <a:ext cx="643766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5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2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sz="25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57EFFF2-ADDF-020D-374C-AA1789AF6B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8677" y="3233008"/>
                <a:ext cx="643766" cy="4770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6B1506A-BAA1-7CB3-CF28-776843E2E0BE}"/>
                  </a:ext>
                </a:extLst>
              </p:cNvPr>
              <p:cNvSpPr txBox="1"/>
              <p:nvPr/>
            </p:nvSpPr>
            <p:spPr>
              <a:xfrm>
                <a:off x="9514656" y="3611688"/>
                <a:ext cx="643766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5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2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CA" sz="25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6B1506A-BAA1-7CB3-CF28-776843E2E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4656" y="3611688"/>
                <a:ext cx="643766" cy="4770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9F312A77-BF17-6344-5055-6314BA656AE7}"/>
              </a:ext>
            </a:extLst>
          </p:cNvPr>
          <p:cNvSpPr txBox="1"/>
          <p:nvPr/>
        </p:nvSpPr>
        <p:spPr>
          <a:xfrm>
            <a:off x="7795664" y="1691805"/>
            <a:ext cx="4114396" cy="92333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/>
              <a:t>The Ministry of Health Must Decide </a:t>
            </a:r>
            <a:br>
              <a:rPr lang="en-CA" dirty="0"/>
            </a:br>
            <a:r>
              <a:rPr lang="en-CA" dirty="0"/>
              <a:t>Which Treatments to Fund and Which </a:t>
            </a:r>
          </a:p>
          <a:p>
            <a:r>
              <a:rPr lang="en-CA" dirty="0"/>
              <a:t>Ones to Reject.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AF643C-7824-3923-A93A-EAE46A887AF5}"/>
              </a:ext>
            </a:extLst>
          </p:cNvPr>
          <p:cNvSpPr txBox="1"/>
          <p:nvPr/>
        </p:nvSpPr>
        <p:spPr>
          <a:xfrm>
            <a:off x="7457458" y="5158957"/>
            <a:ext cx="3729419" cy="646331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/>
              <a:t>This is done often with the use of </a:t>
            </a:r>
            <a:br>
              <a:rPr lang="en-CA" dirty="0"/>
            </a:br>
            <a:r>
              <a:rPr lang="en-CA" b="1" dirty="0"/>
              <a:t>Cost Effectiveness League Tables</a:t>
            </a:r>
            <a:r>
              <a:rPr lang="en-CA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32165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5123A-152F-1E06-0D47-5B7FDB0C23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Funding Decisions with the League Table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428C04-07D0-E476-62EA-D506029B73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91929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A2D01-4B09-D12E-8FD2-7242D1E55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276B0-B00D-ED8C-B488-6F1F77738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>
            <a:normAutofit fontScale="90000"/>
          </a:bodyPr>
          <a:lstStyle/>
          <a:p>
            <a:r>
              <a:rPr lang="en-CA" sz="4800" dirty="0"/>
              <a:t>Funding Decisions with the League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858F8-926C-10A3-1D6D-4F4427368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943100"/>
            <a:ext cx="10506991" cy="3936491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To determine which treatments obtain funding and which do not, we consider two circumstances.</a:t>
            </a:r>
          </a:p>
          <a:p>
            <a:pPr marL="1143000" lvl="1" indent="-457200">
              <a:buFont typeface="Wingdings" panose="05000000000000000000" pitchFamily="2" charset="2"/>
              <a:buChar char="Ø"/>
            </a:pPr>
            <a:r>
              <a:rPr lang="en-CA" dirty="0"/>
              <a:t>The case where the budget is defined.</a:t>
            </a:r>
          </a:p>
          <a:p>
            <a:pPr marL="1028700" lvl="1" indent="-342900">
              <a:buFont typeface="Wingdings" panose="05000000000000000000" pitchFamily="2" charset="2"/>
              <a:buChar char="Ø"/>
            </a:pPr>
            <a:r>
              <a:rPr lang="en-CA" dirty="0"/>
              <a:t>The case when the budget is not defined.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CA" dirty="0"/>
              <a:t>When we have a defined budget, the optimal list of treatments to fund is based on the following rule:</a:t>
            </a:r>
            <a:br>
              <a:rPr lang="en-CA" dirty="0"/>
            </a:br>
            <a:r>
              <a:rPr lang="en-CA" dirty="0"/>
              <a:t>1. Fund the Treatment with the Smallest ICER and subtract the estimated budget impact from the defined budget.</a:t>
            </a:r>
            <a:br>
              <a:rPr lang="en-CA" dirty="0"/>
            </a:br>
            <a:r>
              <a:rPr lang="en-CA" dirty="0"/>
              <a:t>2. At the next smallest ICER look at the budget impact and if the treatment is feasible fund it, otherwise stop. </a:t>
            </a:r>
            <a:br>
              <a:rPr lang="en-CA" dirty="0"/>
            </a:br>
            <a:r>
              <a:rPr lang="en-CA" dirty="0"/>
              <a:t>3. Repeat until the budget is exhausted.</a:t>
            </a:r>
          </a:p>
        </p:txBody>
      </p:sp>
    </p:spTree>
    <p:extLst>
      <p:ext uri="{BB962C8B-B14F-4D97-AF65-F5344CB8AC3E}">
        <p14:creationId xmlns:p14="http://schemas.microsoft.com/office/powerpoint/2010/main" val="3559450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49503-75CB-07A3-4A6A-4E741D241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C81E0-8853-11DA-A11A-A2B55AB12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The Cost Effectiveness League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C9DAF-2A12-FCE5-7A5F-47B4CABA9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1" y="1943100"/>
            <a:ext cx="5613399" cy="4010025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The </a:t>
            </a:r>
            <a:r>
              <a:rPr lang="en-CA" b="1" dirty="0"/>
              <a:t>Cost Effectiveness League Table</a:t>
            </a:r>
            <a:r>
              <a:rPr lang="en-CA" dirty="0"/>
              <a:t>, is list of treatments with their corresponding ICER and other information.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It is a simple way to organize decision making around which treatments to fund and which treatments not to fund.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While there can be lots of information included in a league table </a:t>
            </a:r>
            <a:r>
              <a:rPr lang="en-CA" b="1" dirty="0"/>
              <a:t>the core is just a list of treatments with their ICERs organizes from smallest to largest.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3B4B765-CB28-F206-A935-D1DFC9694C44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1845883"/>
          <a:ext cx="5830189" cy="3166233"/>
        </p:xfrm>
        <a:graphic>
          <a:graphicData uri="http://schemas.openxmlformats.org/drawingml/2006/table">
            <a:tbl>
              <a:tblPr firstRow="1">
                <a:tableStyleId>{08FB837D-C827-4EFA-A057-4D05807E0F7C}</a:tableStyleId>
              </a:tblPr>
              <a:tblGrid>
                <a:gridCol w="1016473">
                  <a:extLst>
                    <a:ext uri="{9D8B030D-6E8A-4147-A177-3AD203B41FA5}">
                      <a16:colId xmlns:a16="http://schemas.microsoft.com/office/drawing/2014/main" val="918992622"/>
                    </a:ext>
                  </a:extLst>
                </a:gridCol>
                <a:gridCol w="1500928">
                  <a:extLst>
                    <a:ext uri="{9D8B030D-6E8A-4147-A177-3AD203B41FA5}">
                      <a16:colId xmlns:a16="http://schemas.microsoft.com/office/drawing/2014/main" val="1814598360"/>
                    </a:ext>
                  </a:extLst>
                </a:gridCol>
                <a:gridCol w="3312788">
                  <a:extLst>
                    <a:ext uri="{9D8B030D-6E8A-4147-A177-3AD203B41FA5}">
                      <a16:colId xmlns:a16="http://schemas.microsoft.com/office/drawing/2014/main" val="700040897"/>
                    </a:ext>
                  </a:extLst>
                </a:gridCol>
              </a:tblGrid>
              <a:tr h="398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Rank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Intervention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ICER (CAD per QALY)</a:t>
                      </a:r>
                      <a:endParaRPr lang="en-C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4095619"/>
                  </a:ext>
                </a:extLst>
              </a:tr>
              <a:tr h="398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Drug A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$11,333/QALY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5133093"/>
                  </a:ext>
                </a:extLst>
              </a:tr>
              <a:tr h="398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Drug B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$22,000/QALY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7737087"/>
                  </a:ext>
                </a:extLst>
              </a:tr>
              <a:tr h="66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Surgical Procedure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$32,500/QALY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8028913"/>
                  </a:ext>
                </a:extLst>
              </a:tr>
              <a:tr h="66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Advanced Biologic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$133,333/QALY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0298279"/>
                  </a:ext>
                </a:extLst>
              </a:tr>
              <a:tr h="398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Gene Therapy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$197,059/QALY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4816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372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7C414-EC3B-C4FA-C6A1-AF8B030E8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5CB13-6C72-2282-29F4-07D06307D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000825"/>
          </a:xfrm>
        </p:spPr>
        <p:txBody>
          <a:bodyPr>
            <a:normAutofit fontScale="90000"/>
          </a:bodyPr>
          <a:lstStyle/>
          <a:p>
            <a:r>
              <a:rPr lang="en-CA" sz="4800" dirty="0"/>
              <a:t>Funding Decisions with a Fixed Budget.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1A5EFCB-D2DC-6548-99C7-A53A2C1794A6}"/>
              </a:ext>
            </a:extLst>
          </p:cNvPr>
          <p:cNvGraphicFramePr>
            <a:graphicFrameLocks noGrp="1"/>
          </p:cNvGraphicFramePr>
          <p:nvPr/>
        </p:nvGraphicFramePr>
        <p:xfrm>
          <a:off x="3295650" y="1598233"/>
          <a:ext cx="8620125" cy="4114800"/>
        </p:xfrm>
        <a:graphic>
          <a:graphicData uri="http://schemas.openxmlformats.org/drawingml/2006/table">
            <a:tbl>
              <a:tblPr firstRow="1">
                <a:tableStyleId>{08FB837D-C827-4EFA-A057-4D05807E0F7C}</a:tableStyleId>
              </a:tblPr>
              <a:tblGrid>
                <a:gridCol w="794675">
                  <a:extLst>
                    <a:ext uri="{9D8B030D-6E8A-4147-A177-3AD203B41FA5}">
                      <a16:colId xmlns:a16="http://schemas.microsoft.com/office/drawing/2014/main" val="918992622"/>
                    </a:ext>
                  </a:extLst>
                </a:gridCol>
                <a:gridCol w="1518034">
                  <a:extLst>
                    <a:ext uri="{9D8B030D-6E8A-4147-A177-3AD203B41FA5}">
                      <a16:colId xmlns:a16="http://schemas.microsoft.com/office/drawing/2014/main" val="1814598360"/>
                    </a:ext>
                  </a:extLst>
                </a:gridCol>
                <a:gridCol w="1573782">
                  <a:extLst>
                    <a:ext uri="{9D8B030D-6E8A-4147-A177-3AD203B41FA5}">
                      <a16:colId xmlns:a16="http://schemas.microsoft.com/office/drawing/2014/main" val="700040897"/>
                    </a:ext>
                  </a:extLst>
                </a:gridCol>
                <a:gridCol w="1503224">
                  <a:extLst>
                    <a:ext uri="{9D8B030D-6E8A-4147-A177-3AD203B41FA5}">
                      <a16:colId xmlns:a16="http://schemas.microsoft.com/office/drawing/2014/main" val="2041509545"/>
                    </a:ext>
                  </a:extLst>
                </a:gridCol>
                <a:gridCol w="1615205">
                  <a:extLst>
                    <a:ext uri="{9D8B030D-6E8A-4147-A177-3AD203B41FA5}">
                      <a16:colId xmlns:a16="http://schemas.microsoft.com/office/drawing/2014/main" val="1796419454"/>
                    </a:ext>
                  </a:extLst>
                </a:gridCol>
                <a:gridCol w="1615205">
                  <a:extLst>
                    <a:ext uri="{9D8B030D-6E8A-4147-A177-3AD203B41FA5}">
                      <a16:colId xmlns:a16="http://schemas.microsoft.com/office/drawing/2014/main" val="3043428659"/>
                    </a:ext>
                  </a:extLst>
                </a:gridCol>
              </a:tblGrid>
              <a:tr h="4245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Rank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Intervention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ICER (CAD per QALY)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Size of Eligible Population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Unit Cost (CAD)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Budget Impact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4095619"/>
                  </a:ext>
                </a:extLst>
              </a:tr>
              <a:tr h="2425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1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Drug 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$11,333/QALY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12,000 patients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$1,200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14.4 Million CAD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5133093"/>
                  </a:ext>
                </a:extLst>
              </a:tr>
              <a:tr h="2425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2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Drug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$22,000/QALY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7,500 patients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$4000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30 Million CAD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7737087"/>
                  </a:ext>
                </a:extLst>
              </a:tr>
              <a:tr h="519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3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Surgical Procedure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$32,500/QALY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3,200 patients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$9000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28.8 Million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8028913"/>
                  </a:ext>
                </a:extLst>
              </a:tr>
              <a:tr h="519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4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Advanced Biologic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$133,333/QALY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1,100 patients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$20,000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22 Million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0298279"/>
                  </a:ext>
                </a:extLst>
              </a:tr>
              <a:tr h="4245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5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Gene Therapy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$197,059/QALY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150 patients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$65,000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9.75 Million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4816239"/>
                  </a:ext>
                </a:extLst>
              </a:tr>
            </a:tbl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6D46B9D-F98F-FD05-AEB9-A89E003705CB}"/>
              </a:ext>
            </a:extLst>
          </p:cNvPr>
          <p:cNvSpPr txBox="1">
            <a:spLocks/>
          </p:cNvSpPr>
          <p:nvPr/>
        </p:nvSpPr>
        <p:spPr>
          <a:xfrm>
            <a:off x="0" y="1943100"/>
            <a:ext cx="3324225" cy="45529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Question: Suppose we have a Budget of 50 Million Dollars?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Which Treatments do we fund?</a:t>
            </a:r>
          </a:p>
        </p:txBody>
      </p:sp>
    </p:spTree>
    <p:extLst>
      <p:ext uri="{BB962C8B-B14F-4D97-AF65-F5344CB8AC3E}">
        <p14:creationId xmlns:p14="http://schemas.microsoft.com/office/powerpoint/2010/main" val="4129926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AADD0-1414-A326-6652-2A61AFA79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432C4-4024-9C9E-D618-C78860409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000825"/>
          </a:xfrm>
        </p:spPr>
        <p:txBody>
          <a:bodyPr>
            <a:normAutofit fontScale="90000"/>
          </a:bodyPr>
          <a:lstStyle/>
          <a:p>
            <a:r>
              <a:rPr lang="en-CA" sz="4800" dirty="0"/>
              <a:t>Funding Decisions with a Fixed Budget.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2F51A-4D0A-33B8-D986-7F9724D6B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43100"/>
            <a:ext cx="3324225" cy="4552949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Question: Suppose we have a Budget of 50 Million Dollars?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Which Treatments do we fund?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b="1" dirty="0"/>
              <a:t>Following our procedure, where we fund Drug A and Drug B.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b="1" dirty="0"/>
              <a:t>THE EMPIRICAL WILLINESS TO PAY THRESHOLD IS $22,000/QALY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50F4F48-5CEA-43F6-E622-2FF0F55DAB0C}"/>
              </a:ext>
            </a:extLst>
          </p:cNvPr>
          <p:cNvGraphicFramePr>
            <a:graphicFrameLocks noGrp="1"/>
          </p:cNvGraphicFramePr>
          <p:nvPr/>
        </p:nvGraphicFramePr>
        <p:xfrm>
          <a:off x="3295650" y="1598233"/>
          <a:ext cx="8620125" cy="4114800"/>
        </p:xfrm>
        <a:graphic>
          <a:graphicData uri="http://schemas.openxmlformats.org/drawingml/2006/table">
            <a:tbl>
              <a:tblPr firstRow="1">
                <a:tableStyleId>{08FB837D-C827-4EFA-A057-4D05807E0F7C}</a:tableStyleId>
              </a:tblPr>
              <a:tblGrid>
                <a:gridCol w="794675">
                  <a:extLst>
                    <a:ext uri="{9D8B030D-6E8A-4147-A177-3AD203B41FA5}">
                      <a16:colId xmlns:a16="http://schemas.microsoft.com/office/drawing/2014/main" val="918992622"/>
                    </a:ext>
                  </a:extLst>
                </a:gridCol>
                <a:gridCol w="1518034">
                  <a:extLst>
                    <a:ext uri="{9D8B030D-6E8A-4147-A177-3AD203B41FA5}">
                      <a16:colId xmlns:a16="http://schemas.microsoft.com/office/drawing/2014/main" val="1814598360"/>
                    </a:ext>
                  </a:extLst>
                </a:gridCol>
                <a:gridCol w="1573782">
                  <a:extLst>
                    <a:ext uri="{9D8B030D-6E8A-4147-A177-3AD203B41FA5}">
                      <a16:colId xmlns:a16="http://schemas.microsoft.com/office/drawing/2014/main" val="700040897"/>
                    </a:ext>
                  </a:extLst>
                </a:gridCol>
                <a:gridCol w="1503224">
                  <a:extLst>
                    <a:ext uri="{9D8B030D-6E8A-4147-A177-3AD203B41FA5}">
                      <a16:colId xmlns:a16="http://schemas.microsoft.com/office/drawing/2014/main" val="2041509545"/>
                    </a:ext>
                  </a:extLst>
                </a:gridCol>
                <a:gridCol w="1615205">
                  <a:extLst>
                    <a:ext uri="{9D8B030D-6E8A-4147-A177-3AD203B41FA5}">
                      <a16:colId xmlns:a16="http://schemas.microsoft.com/office/drawing/2014/main" val="1796419454"/>
                    </a:ext>
                  </a:extLst>
                </a:gridCol>
                <a:gridCol w="1615205">
                  <a:extLst>
                    <a:ext uri="{9D8B030D-6E8A-4147-A177-3AD203B41FA5}">
                      <a16:colId xmlns:a16="http://schemas.microsoft.com/office/drawing/2014/main" val="3043428659"/>
                    </a:ext>
                  </a:extLst>
                </a:gridCol>
              </a:tblGrid>
              <a:tr h="4245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Rank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Intervention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ICER (CAD per QALY)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Size of Eligible Population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Unit Cost (CAD)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Budget Impact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4095619"/>
                  </a:ext>
                </a:extLst>
              </a:tr>
              <a:tr h="2425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1</a:t>
                      </a:r>
                      <a:endParaRPr lang="en-CA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Drug A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$11,333/QALY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12,000 patients</a:t>
                      </a:r>
                      <a:endParaRPr lang="en-CA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$1,200</a:t>
                      </a:r>
                      <a:endParaRPr lang="en-CA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14.4 Million CAD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133093"/>
                  </a:ext>
                </a:extLst>
              </a:tr>
              <a:tr h="2425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2</a:t>
                      </a:r>
                      <a:endParaRPr lang="en-CA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Drug B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$22,000/QALY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7,500 patients</a:t>
                      </a:r>
                      <a:endParaRPr lang="en-CA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$4000</a:t>
                      </a:r>
                      <a:endParaRPr lang="en-CA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30 Million CAD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737087"/>
                  </a:ext>
                </a:extLst>
              </a:tr>
              <a:tr h="519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3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Surgical Procedure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$32,500/QALY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3,200 patients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$9000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28.8 Million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8028913"/>
                  </a:ext>
                </a:extLst>
              </a:tr>
              <a:tr h="519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4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Advanced Biologic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$133,333/QALY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1,100 patients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$20,000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22 Million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0298279"/>
                  </a:ext>
                </a:extLst>
              </a:tr>
              <a:tr h="4245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5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Gene Therapy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$197,059/QALY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150 patients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$65,000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9.75 Million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4816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1711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AF89C-4985-686D-93DF-8C37AB00B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CDDAB-66AA-5236-B13B-F6E5640E8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000825"/>
          </a:xfrm>
        </p:spPr>
        <p:txBody>
          <a:bodyPr>
            <a:normAutofit fontScale="90000"/>
          </a:bodyPr>
          <a:lstStyle/>
          <a:p>
            <a:r>
              <a:rPr lang="en-CA" sz="4800" dirty="0"/>
              <a:t>Funding Decisions Based on Thresholds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F522D-E481-4EA0-1D67-89D5143CD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8575" y="1933575"/>
            <a:ext cx="3324225" cy="4552949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If we use a threshold of 50,000 dollars per QALY, </a:t>
            </a:r>
            <a:r>
              <a:rPr lang="en-CA" b="1" dirty="0"/>
              <a:t>we overshoot the budget.</a:t>
            </a:r>
            <a:endParaRPr lang="en-CA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87D0E78-0FAF-01B0-10A1-3E01F653CFF2}"/>
              </a:ext>
            </a:extLst>
          </p:cNvPr>
          <p:cNvGraphicFramePr>
            <a:graphicFrameLocks noGrp="1"/>
          </p:cNvGraphicFramePr>
          <p:nvPr/>
        </p:nvGraphicFramePr>
        <p:xfrm>
          <a:off x="3295650" y="1598233"/>
          <a:ext cx="8620125" cy="4114800"/>
        </p:xfrm>
        <a:graphic>
          <a:graphicData uri="http://schemas.openxmlformats.org/drawingml/2006/table">
            <a:tbl>
              <a:tblPr firstRow="1">
                <a:tableStyleId>{08FB837D-C827-4EFA-A057-4D05807E0F7C}</a:tableStyleId>
              </a:tblPr>
              <a:tblGrid>
                <a:gridCol w="794675">
                  <a:extLst>
                    <a:ext uri="{9D8B030D-6E8A-4147-A177-3AD203B41FA5}">
                      <a16:colId xmlns:a16="http://schemas.microsoft.com/office/drawing/2014/main" val="918992622"/>
                    </a:ext>
                  </a:extLst>
                </a:gridCol>
                <a:gridCol w="1518034">
                  <a:extLst>
                    <a:ext uri="{9D8B030D-6E8A-4147-A177-3AD203B41FA5}">
                      <a16:colId xmlns:a16="http://schemas.microsoft.com/office/drawing/2014/main" val="1814598360"/>
                    </a:ext>
                  </a:extLst>
                </a:gridCol>
                <a:gridCol w="1573782">
                  <a:extLst>
                    <a:ext uri="{9D8B030D-6E8A-4147-A177-3AD203B41FA5}">
                      <a16:colId xmlns:a16="http://schemas.microsoft.com/office/drawing/2014/main" val="700040897"/>
                    </a:ext>
                  </a:extLst>
                </a:gridCol>
                <a:gridCol w="1503224">
                  <a:extLst>
                    <a:ext uri="{9D8B030D-6E8A-4147-A177-3AD203B41FA5}">
                      <a16:colId xmlns:a16="http://schemas.microsoft.com/office/drawing/2014/main" val="2041509545"/>
                    </a:ext>
                  </a:extLst>
                </a:gridCol>
                <a:gridCol w="1615205">
                  <a:extLst>
                    <a:ext uri="{9D8B030D-6E8A-4147-A177-3AD203B41FA5}">
                      <a16:colId xmlns:a16="http://schemas.microsoft.com/office/drawing/2014/main" val="1796419454"/>
                    </a:ext>
                  </a:extLst>
                </a:gridCol>
                <a:gridCol w="1615205">
                  <a:extLst>
                    <a:ext uri="{9D8B030D-6E8A-4147-A177-3AD203B41FA5}">
                      <a16:colId xmlns:a16="http://schemas.microsoft.com/office/drawing/2014/main" val="3043428659"/>
                    </a:ext>
                  </a:extLst>
                </a:gridCol>
              </a:tblGrid>
              <a:tr h="4245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Rank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Intervention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ICER (CAD per QALY)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Size of Eligible Population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Unit Cost (CAD)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Budget Impact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4095619"/>
                  </a:ext>
                </a:extLst>
              </a:tr>
              <a:tr h="2425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1</a:t>
                      </a:r>
                      <a:endParaRPr lang="en-CA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Drug A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$11,333/QALY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12,000 patients</a:t>
                      </a:r>
                      <a:endParaRPr lang="en-CA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$1,200</a:t>
                      </a:r>
                      <a:endParaRPr lang="en-CA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14.4 Million CAD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133093"/>
                  </a:ext>
                </a:extLst>
              </a:tr>
              <a:tr h="2425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2</a:t>
                      </a:r>
                      <a:endParaRPr lang="en-CA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Drug B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$22,000/QALY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7,500 patients</a:t>
                      </a:r>
                      <a:endParaRPr lang="en-CA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$4000</a:t>
                      </a:r>
                      <a:endParaRPr lang="en-CA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30 Million CAD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737087"/>
                  </a:ext>
                </a:extLst>
              </a:tr>
              <a:tr h="519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3</a:t>
                      </a:r>
                      <a:endParaRPr lang="en-CA" dirty="0"/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Surgical Procedure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$32,500/QALY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3,200 patients</a:t>
                      </a:r>
                      <a:endParaRPr lang="en-CA" dirty="0"/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$9000</a:t>
                      </a:r>
                      <a:endParaRPr lang="en-CA" dirty="0"/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28.8 Million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8028913"/>
                  </a:ext>
                </a:extLst>
              </a:tr>
              <a:tr h="4569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4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Advanced Biologic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$133,333/QALY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1,100 patients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$20,000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22 Million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0298279"/>
                  </a:ext>
                </a:extLst>
              </a:tr>
              <a:tr h="4245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5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Gene Therapy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$197,059/QALY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150 patients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$65,000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9.75 Million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4816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62573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D5C8B-A46E-01DC-E5B1-3BF7731524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Concerns about League Tables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75AEAA-E559-05F0-ED7D-A496C2E5FA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518617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ABCE5-7CEB-52BE-75F1-2C80EE8D8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Problem #1: League tables combine studies with very different perspectives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D26F4-E75D-D617-E768-CFF3BB602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5409692" cy="3767328"/>
          </a:xfrm>
        </p:spPr>
        <p:txBody>
          <a:bodyPr>
            <a:normAutofit lnSpcReduction="10000"/>
          </a:bodyPr>
          <a:lstStyle/>
          <a:p>
            <a:r>
              <a:rPr lang="en-CA" dirty="0"/>
              <a:t>The League table is focused on the ICER alone.</a:t>
            </a:r>
          </a:p>
          <a:p>
            <a:r>
              <a:rPr lang="en-CA" dirty="0"/>
              <a:t>There is little guidance on how to combine study perspectives in the decision-making process.</a:t>
            </a:r>
          </a:p>
          <a:p>
            <a:r>
              <a:rPr lang="en-CA" dirty="0"/>
              <a:t>While we are free to choose a perspective for individual cost effectiveness analysis (i.e. societal, payer, hospital or patient), it becomes increasingly difficult to say if we can combine studies with different perspectives.</a:t>
            </a:r>
          </a:p>
          <a:p>
            <a:r>
              <a:rPr lang="en-CA" dirty="0"/>
              <a:t>This is even more difficult when we are looking at evidence of cost effectiveness from different countries.</a:t>
            </a:r>
          </a:p>
        </p:txBody>
      </p:sp>
      <p:pic>
        <p:nvPicPr>
          <p:cNvPr id="4" name="Picture 3" descr="107,800+ Apples And Oranges Stock Photos and Royalty-Free Pictures - iStock">
            <a:extLst>
              <a:ext uri="{FF2B5EF4-FFF2-40B4-BE49-F238E27FC236}">
                <a16:creationId xmlns:a16="http://schemas.microsoft.com/office/drawing/2014/main" id="{27E59009-6E79-A9F4-2B7F-5B546EE96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212" y="2645157"/>
            <a:ext cx="4234744" cy="354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221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ACF0B-B1BE-F9CE-DEA6-AC3025A13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EFEDA-9B22-AD9E-0926-5FFA8D3AF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Problem #2: Time and Inflation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0151D-EEFC-CC83-E4B8-5C77B796C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98" y="2026183"/>
            <a:ext cx="4660392" cy="3767328"/>
          </a:xfrm>
        </p:spPr>
        <p:txBody>
          <a:bodyPr>
            <a:normAutofit fontScale="92500" lnSpcReduction="20000"/>
          </a:bodyPr>
          <a:lstStyle/>
          <a:p>
            <a:r>
              <a:rPr lang="en-CA" dirty="0"/>
              <a:t> Cost-effectiveness analyses are published at different points in time.</a:t>
            </a:r>
          </a:p>
          <a:p>
            <a:r>
              <a:rPr lang="en-CA" dirty="0"/>
              <a:t>Are cost effectiveness analyses from 5 years ago relevant to decision makers now?</a:t>
            </a:r>
          </a:p>
          <a:p>
            <a:pPr lvl="1"/>
            <a:r>
              <a:rPr lang="en-CA" dirty="0"/>
              <a:t>As a representation clinical pathways and realization of costs and benefits- </a:t>
            </a:r>
            <a:r>
              <a:rPr lang="en-CA" b="1" dirty="0"/>
              <a:t>YES.</a:t>
            </a:r>
          </a:p>
          <a:p>
            <a:pPr lvl="1"/>
            <a:r>
              <a:rPr lang="en-CA" dirty="0"/>
              <a:t>For Point Estimates of the ICER?- </a:t>
            </a:r>
            <a:r>
              <a:rPr lang="en-CA" b="1" dirty="0"/>
              <a:t>Questionable.</a:t>
            </a:r>
          </a:p>
          <a:p>
            <a:r>
              <a:rPr lang="en-CA" dirty="0"/>
              <a:t>ICERs are rarely (if not never) adjusted for inflation.</a:t>
            </a:r>
          </a:p>
          <a:p>
            <a:r>
              <a:rPr lang="en-CA" dirty="0"/>
              <a:t>This is because inflation adjustment will always make ICERS lower/ oversell.</a:t>
            </a:r>
          </a:p>
          <a:p>
            <a:r>
              <a:rPr lang="en-CA" dirty="0"/>
              <a:t>Reminiscent of the Keeler-Cretin Paradox.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261535-0244-E443-9590-EAADB29EF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0" y="1879016"/>
            <a:ext cx="6491587" cy="4240953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30BA480-52BA-078C-7AF1-7A3315491A62}"/>
              </a:ext>
            </a:extLst>
          </p:cNvPr>
          <p:cNvCxnSpPr>
            <a:cxnSpLocks/>
          </p:cNvCxnSpPr>
          <p:nvPr/>
        </p:nvCxnSpPr>
        <p:spPr>
          <a:xfrm flipV="1">
            <a:off x="4608945" y="6012873"/>
            <a:ext cx="4424219" cy="554182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558F9A7-60F9-5A9F-806C-D1CE09F4B7DB}"/>
              </a:ext>
            </a:extLst>
          </p:cNvPr>
          <p:cNvSpPr txBox="1"/>
          <p:nvPr/>
        </p:nvSpPr>
        <p:spPr>
          <a:xfrm>
            <a:off x="2340732" y="5920724"/>
            <a:ext cx="27454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CEA UNDER</a:t>
            </a:r>
            <a:br>
              <a:rPr lang="en-CA" b="1" dirty="0"/>
            </a:br>
            <a:r>
              <a:rPr lang="en-CA" b="1" dirty="0"/>
              <a:t>INFLATION IS UNCLEAR!</a:t>
            </a:r>
          </a:p>
        </p:txBody>
      </p:sp>
    </p:spTree>
    <p:extLst>
      <p:ext uri="{BB962C8B-B14F-4D97-AF65-F5344CB8AC3E}">
        <p14:creationId xmlns:p14="http://schemas.microsoft.com/office/powerpoint/2010/main" val="26590582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6DCF4-E66C-5FA9-76C7-AC231ED61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33D9C-3EA4-B71C-3A51-39E8901DC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Problem #3: Uncertainty is Discounted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87060-D9C8-BC8D-C2C6-1660F2224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5233047" cy="3767328"/>
          </a:xfrm>
        </p:spPr>
        <p:txBody>
          <a:bodyPr>
            <a:normAutofit lnSpcReduction="10000"/>
          </a:bodyPr>
          <a:lstStyle/>
          <a:p>
            <a:r>
              <a:rPr lang="en-CA" dirty="0"/>
              <a:t>The League table makes the assumption that decision makers are </a:t>
            </a:r>
            <a:r>
              <a:rPr lang="en-CA" b="1" dirty="0"/>
              <a:t>risk neutral</a:t>
            </a:r>
            <a:r>
              <a:rPr lang="en-CA" dirty="0"/>
              <a:t> with respect to making investments in health.</a:t>
            </a:r>
          </a:p>
          <a:p>
            <a:r>
              <a:rPr lang="en-CA" dirty="0"/>
              <a:t>This means that the probability of cost-effectiveness does not serve a role in ranking treatments against others.</a:t>
            </a:r>
          </a:p>
          <a:p>
            <a:r>
              <a:rPr lang="en-CA" dirty="0"/>
              <a:t>While this could be a way to “refine” the selection of treatments, given that there is no threshold for the CEAC, </a:t>
            </a:r>
            <a:r>
              <a:rPr lang="en-CA" dirty="0" err="1"/>
              <a:t>theres</a:t>
            </a:r>
            <a:r>
              <a:rPr lang="en-CA" dirty="0"/>
              <a:t> no way to organize this.</a:t>
            </a:r>
          </a:p>
          <a:p>
            <a:r>
              <a:rPr lang="en-CA" dirty="0"/>
              <a:t>While some can come up with a procedure to do this, this is currently not the practice.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D6087DF-F28A-AD2E-6B0A-378AC1319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2022" y="2211685"/>
            <a:ext cx="6251319" cy="3327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8389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1FBC0-4676-389B-D0D2-783D9CEDFB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Regulatory Problems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860E33-5CFF-22AE-470F-4ABEDA453B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36000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F1190-24BD-840A-0A63-1C30465B3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795AF-8FEA-BEA1-F5C0-5E9A1B0D3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The Payer’s Problem</a:t>
            </a:r>
          </a:p>
        </p:txBody>
      </p:sp>
      <p:pic>
        <p:nvPicPr>
          <p:cNvPr id="13" name="Graphic 12" descr="Building with solid fill">
            <a:extLst>
              <a:ext uri="{FF2B5EF4-FFF2-40B4-BE49-F238E27FC236}">
                <a16:creationId xmlns:a16="http://schemas.microsoft.com/office/drawing/2014/main" id="{1D74FC5B-0ACE-027D-ACAC-36B71796F8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70270" y="3213232"/>
            <a:ext cx="1470660" cy="1470660"/>
          </a:xfrm>
          <a:prstGeom prst="rect">
            <a:avLst/>
          </a:prstGeom>
        </p:spPr>
      </p:pic>
      <p:pic>
        <p:nvPicPr>
          <p:cNvPr id="15" name="Graphic 14" descr="Teacher with solid fill">
            <a:extLst>
              <a:ext uri="{FF2B5EF4-FFF2-40B4-BE49-F238E27FC236}">
                <a16:creationId xmlns:a16="http://schemas.microsoft.com/office/drawing/2014/main" id="{42F2CA8C-9EDA-F882-5DFA-E98ECC873D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26575" y="2141028"/>
            <a:ext cx="1470660" cy="1470660"/>
          </a:xfrm>
          <a:prstGeom prst="rect">
            <a:avLst/>
          </a:prstGeom>
        </p:spPr>
      </p:pic>
      <p:pic>
        <p:nvPicPr>
          <p:cNvPr id="16" name="Graphic 15" descr="Teacher with solid fill">
            <a:extLst>
              <a:ext uri="{FF2B5EF4-FFF2-40B4-BE49-F238E27FC236}">
                <a16:creationId xmlns:a16="http://schemas.microsoft.com/office/drawing/2014/main" id="{BC3D2FC5-7F02-681F-0D6B-C3634B172D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19895" y="3465480"/>
            <a:ext cx="1470660" cy="1470660"/>
          </a:xfrm>
          <a:prstGeom prst="rect">
            <a:avLst/>
          </a:prstGeom>
        </p:spPr>
      </p:pic>
      <p:pic>
        <p:nvPicPr>
          <p:cNvPr id="17" name="Graphic 16" descr="Teacher with solid fill">
            <a:extLst>
              <a:ext uri="{FF2B5EF4-FFF2-40B4-BE49-F238E27FC236}">
                <a16:creationId xmlns:a16="http://schemas.microsoft.com/office/drawing/2014/main" id="{5A667E8C-F1E7-6D68-7007-D1F01F1AE2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19895" y="4789932"/>
            <a:ext cx="1470660" cy="14706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5C6F68A-05C4-91A4-60A2-1B1764611BD2}"/>
                  </a:ext>
                </a:extLst>
              </p:cNvPr>
              <p:cNvSpPr txBox="1"/>
              <p:nvPr/>
            </p:nvSpPr>
            <p:spPr>
              <a:xfrm>
                <a:off x="3960687" y="2410525"/>
                <a:ext cx="73654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36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sz="36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9DFEE2B-20E5-D15F-ABD1-BD3C3D6CB5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0687" y="2410525"/>
                <a:ext cx="736548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3010765-78C4-5D38-264E-E6BF81C0C0A5}"/>
                  </a:ext>
                </a:extLst>
              </p:cNvPr>
              <p:cNvSpPr txBox="1"/>
              <p:nvPr/>
            </p:nvSpPr>
            <p:spPr>
              <a:xfrm>
                <a:off x="3854007" y="3795016"/>
                <a:ext cx="74725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36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sz="36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8023AB8-EFAD-0EBA-82EE-3F9B4A798E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4007" y="3795016"/>
                <a:ext cx="747256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85328DA-FB78-8B3E-5B28-8781DE3EF539}"/>
                  </a:ext>
                </a:extLst>
              </p:cNvPr>
              <p:cNvSpPr txBox="1"/>
              <p:nvPr/>
            </p:nvSpPr>
            <p:spPr>
              <a:xfrm>
                <a:off x="3843299" y="5119468"/>
                <a:ext cx="74725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36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CA" sz="36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26556B3-5F9A-30C6-A6A5-5E4F0D7930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3299" y="5119468"/>
                <a:ext cx="747256" cy="6463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Graphic 21" descr="Doctor female with solid fill">
            <a:extLst>
              <a:ext uri="{FF2B5EF4-FFF2-40B4-BE49-F238E27FC236}">
                <a16:creationId xmlns:a16="http://schemas.microsoft.com/office/drawing/2014/main" id="{3E4A85A2-3883-11B8-A7D4-9A9349F9F1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1940" y="2489642"/>
            <a:ext cx="914400" cy="914400"/>
          </a:xfrm>
          <a:prstGeom prst="rect">
            <a:avLst/>
          </a:prstGeom>
        </p:spPr>
      </p:pic>
      <p:pic>
        <p:nvPicPr>
          <p:cNvPr id="24" name="Graphic 23" descr="Medical with solid fill">
            <a:extLst>
              <a:ext uri="{FF2B5EF4-FFF2-40B4-BE49-F238E27FC236}">
                <a16:creationId xmlns:a16="http://schemas.microsoft.com/office/drawing/2014/main" id="{0611F754-0075-BC06-DB20-CEFDB1B414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2480" y="2150553"/>
            <a:ext cx="914400" cy="914400"/>
          </a:xfrm>
          <a:prstGeom prst="rect">
            <a:avLst/>
          </a:prstGeom>
        </p:spPr>
      </p:pic>
      <p:pic>
        <p:nvPicPr>
          <p:cNvPr id="26" name="Graphic 25" descr="Medicine with solid fill">
            <a:extLst>
              <a:ext uri="{FF2B5EF4-FFF2-40B4-BE49-F238E27FC236}">
                <a16:creationId xmlns:a16="http://schemas.microsoft.com/office/drawing/2014/main" id="{00BA6894-7486-6EBC-235A-29AABE5CAA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81940" y="3795016"/>
            <a:ext cx="914400" cy="914400"/>
          </a:xfrm>
          <a:prstGeom prst="rect">
            <a:avLst/>
          </a:prstGeom>
        </p:spPr>
      </p:pic>
      <p:pic>
        <p:nvPicPr>
          <p:cNvPr id="28" name="Graphic 27" descr="Needle with solid fill">
            <a:extLst>
              <a:ext uri="{FF2B5EF4-FFF2-40B4-BE49-F238E27FC236}">
                <a16:creationId xmlns:a16="http://schemas.microsoft.com/office/drawing/2014/main" id="{023BD61A-8CAE-DAD4-BF38-0E4A9FA274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8590" y="5213036"/>
            <a:ext cx="914400" cy="914400"/>
          </a:xfrm>
          <a:prstGeom prst="rect">
            <a:avLst/>
          </a:prstGeom>
        </p:spPr>
      </p:pic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4BCD9BE-9ACA-76A8-949B-108ED1571571}"/>
              </a:ext>
            </a:extLst>
          </p:cNvPr>
          <p:cNvCxnSpPr/>
          <p:nvPr/>
        </p:nvCxnSpPr>
        <p:spPr>
          <a:xfrm>
            <a:off x="1457325" y="2946842"/>
            <a:ext cx="176925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6785287-78EB-CDDB-9176-EA2B02CC334D}"/>
              </a:ext>
            </a:extLst>
          </p:cNvPr>
          <p:cNvCxnSpPr/>
          <p:nvPr/>
        </p:nvCxnSpPr>
        <p:spPr>
          <a:xfrm>
            <a:off x="1350645" y="4200810"/>
            <a:ext cx="176925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DF65512-69C5-E8BE-1334-0E335F7CE2C8}"/>
              </a:ext>
            </a:extLst>
          </p:cNvPr>
          <p:cNvCxnSpPr/>
          <p:nvPr/>
        </p:nvCxnSpPr>
        <p:spPr>
          <a:xfrm>
            <a:off x="1249680" y="5680046"/>
            <a:ext cx="176925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15582B3-2967-62F6-841D-5D08A97A98B0}"/>
              </a:ext>
            </a:extLst>
          </p:cNvPr>
          <p:cNvCxnSpPr>
            <a:cxnSpLocks/>
          </p:cNvCxnSpPr>
          <p:nvPr/>
        </p:nvCxnSpPr>
        <p:spPr>
          <a:xfrm>
            <a:off x="4783170" y="2765411"/>
            <a:ext cx="1636680" cy="118315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7B220DC-C98F-C438-F720-646223F02E05}"/>
              </a:ext>
            </a:extLst>
          </p:cNvPr>
          <p:cNvCxnSpPr>
            <a:cxnSpLocks/>
          </p:cNvCxnSpPr>
          <p:nvPr/>
        </p:nvCxnSpPr>
        <p:spPr>
          <a:xfrm>
            <a:off x="4803915" y="4100962"/>
            <a:ext cx="1539735" cy="1721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D9E4DB2-BB6E-BA34-C834-74F8449BB023}"/>
              </a:ext>
            </a:extLst>
          </p:cNvPr>
          <p:cNvCxnSpPr>
            <a:cxnSpLocks/>
          </p:cNvCxnSpPr>
          <p:nvPr/>
        </p:nvCxnSpPr>
        <p:spPr>
          <a:xfrm flipV="1">
            <a:off x="4697235" y="4270581"/>
            <a:ext cx="1662570" cy="117205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D9687208-0010-1640-1786-AA032E78095E}"/>
              </a:ext>
            </a:extLst>
          </p:cNvPr>
          <p:cNvSpPr txBox="1"/>
          <p:nvPr/>
        </p:nvSpPr>
        <p:spPr>
          <a:xfrm>
            <a:off x="6381802" y="2655927"/>
            <a:ext cx="13971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Ministry of </a:t>
            </a:r>
            <a:br>
              <a:rPr lang="en-CA" b="1" dirty="0"/>
            </a:br>
            <a:r>
              <a:rPr lang="en-CA" b="1" dirty="0"/>
              <a:t>Health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739A7A8-BB63-FC23-6461-F93CD28C1224}"/>
              </a:ext>
            </a:extLst>
          </p:cNvPr>
          <p:cNvCxnSpPr>
            <a:cxnSpLocks/>
          </p:cNvCxnSpPr>
          <p:nvPr/>
        </p:nvCxnSpPr>
        <p:spPr>
          <a:xfrm>
            <a:off x="7560945" y="3948562"/>
            <a:ext cx="992505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1" name="Graphic 50" descr="List outline">
            <a:extLst>
              <a:ext uri="{FF2B5EF4-FFF2-40B4-BE49-F238E27FC236}">
                <a16:creationId xmlns:a16="http://schemas.microsoft.com/office/drawing/2014/main" id="{0012E924-47B0-8BF9-B4DD-28D8262D28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379117" y="2655927"/>
            <a:ext cx="2462238" cy="24622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DE8DDC4-6743-51D0-E85F-A81AF8142D3F}"/>
                  </a:ext>
                </a:extLst>
              </p:cNvPr>
              <p:cNvSpPr txBox="1"/>
              <p:nvPr/>
            </p:nvSpPr>
            <p:spPr>
              <a:xfrm>
                <a:off x="9552904" y="2825204"/>
                <a:ext cx="567270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5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25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sz="25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0BBDC0D3-632E-0034-66BC-F4D10BA49D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2904" y="2825204"/>
                <a:ext cx="567270" cy="4770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F7A20CC-BBA7-9D4D-110B-B7BFE2687773}"/>
                  </a:ext>
                </a:extLst>
              </p:cNvPr>
              <p:cNvSpPr txBox="1"/>
              <p:nvPr/>
            </p:nvSpPr>
            <p:spPr>
              <a:xfrm>
                <a:off x="9528677" y="3233008"/>
                <a:ext cx="643766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5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2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sz="25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57EFFF2-ADDF-020D-374C-AA1789AF6B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8677" y="3233008"/>
                <a:ext cx="643766" cy="4770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E054F73-2E67-4D55-5BB8-3772A4F6C6BC}"/>
                  </a:ext>
                </a:extLst>
              </p:cNvPr>
              <p:cNvSpPr txBox="1"/>
              <p:nvPr/>
            </p:nvSpPr>
            <p:spPr>
              <a:xfrm>
                <a:off x="9514656" y="3611688"/>
                <a:ext cx="643766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5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2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CA" sz="25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6B1506A-BAA1-7CB3-CF28-776843E2E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4656" y="3611688"/>
                <a:ext cx="643766" cy="4770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24318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60811-1445-287A-B473-EC5363E31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8312B-3825-916B-74D7-D9D1AD542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The Payer’s Problem</a:t>
            </a:r>
          </a:p>
        </p:txBody>
      </p:sp>
      <p:pic>
        <p:nvPicPr>
          <p:cNvPr id="13" name="Graphic 12" descr="Building with solid fill">
            <a:extLst>
              <a:ext uri="{FF2B5EF4-FFF2-40B4-BE49-F238E27FC236}">
                <a16:creationId xmlns:a16="http://schemas.microsoft.com/office/drawing/2014/main" id="{5647586D-31D1-67A6-C2AA-AF0FEB547B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70270" y="3213232"/>
            <a:ext cx="1470660" cy="1470660"/>
          </a:xfrm>
          <a:prstGeom prst="rect">
            <a:avLst/>
          </a:prstGeom>
        </p:spPr>
      </p:pic>
      <p:pic>
        <p:nvPicPr>
          <p:cNvPr id="15" name="Graphic 14" descr="Teacher with solid fill">
            <a:extLst>
              <a:ext uri="{FF2B5EF4-FFF2-40B4-BE49-F238E27FC236}">
                <a16:creationId xmlns:a16="http://schemas.microsoft.com/office/drawing/2014/main" id="{E9D923EC-7A27-D030-6769-B9EA75066E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26575" y="2141028"/>
            <a:ext cx="1470660" cy="1470660"/>
          </a:xfrm>
          <a:prstGeom prst="rect">
            <a:avLst/>
          </a:prstGeom>
        </p:spPr>
      </p:pic>
      <p:pic>
        <p:nvPicPr>
          <p:cNvPr id="16" name="Graphic 15" descr="Teacher with solid fill">
            <a:extLst>
              <a:ext uri="{FF2B5EF4-FFF2-40B4-BE49-F238E27FC236}">
                <a16:creationId xmlns:a16="http://schemas.microsoft.com/office/drawing/2014/main" id="{C061F034-F694-7C40-667C-B786140827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19895" y="3465480"/>
            <a:ext cx="1470660" cy="1470660"/>
          </a:xfrm>
          <a:prstGeom prst="rect">
            <a:avLst/>
          </a:prstGeom>
        </p:spPr>
      </p:pic>
      <p:pic>
        <p:nvPicPr>
          <p:cNvPr id="17" name="Graphic 16" descr="Teacher with solid fill">
            <a:extLst>
              <a:ext uri="{FF2B5EF4-FFF2-40B4-BE49-F238E27FC236}">
                <a16:creationId xmlns:a16="http://schemas.microsoft.com/office/drawing/2014/main" id="{420C967C-134F-6791-760B-4A893D534F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19895" y="4789932"/>
            <a:ext cx="1470660" cy="14706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B2FCBFC-92D0-D2E1-CE5F-CCBD6CC6F42B}"/>
                  </a:ext>
                </a:extLst>
              </p:cNvPr>
              <p:cNvSpPr txBox="1"/>
              <p:nvPr/>
            </p:nvSpPr>
            <p:spPr>
              <a:xfrm>
                <a:off x="3960687" y="2410525"/>
                <a:ext cx="73654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36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sz="36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9DFEE2B-20E5-D15F-ABD1-BD3C3D6CB5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0687" y="2410525"/>
                <a:ext cx="736548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6C74EA5-AC4C-D166-C621-42FE433EFE6E}"/>
                  </a:ext>
                </a:extLst>
              </p:cNvPr>
              <p:cNvSpPr txBox="1"/>
              <p:nvPr/>
            </p:nvSpPr>
            <p:spPr>
              <a:xfrm>
                <a:off x="3854007" y="3795016"/>
                <a:ext cx="74725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36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sz="36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8023AB8-EFAD-0EBA-82EE-3F9B4A798E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4007" y="3795016"/>
                <a:ext cx="747256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7D5DD44-985D-6A73-7324-42D7845FCCB0}"/>
                  </a:ext>
                </a:extLst>
              </p:cNvPr>
              <p:cNvSpPr txBox="1"/>
              <p:nvPr/>
            </p:nvSpPr>
            <p:spPr>
              <a:xfrm>
                <a:off x="3843299" y="5119468"/>
                <a:ext cx="74725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36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CA" sz="36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26556B3-5F9A-30C6-A6A5-5E4F0D7930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3299" y="5119468"/>
                <a:ext cx="747256" cy="6463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Graphic 21" descr="Doctor female with solid fill">
            <a:extLst>
              <a:ext uri="{FF2B5EF4-FFF2-40B4-BE49-F238E27FC236}">
                <a16:creationId xmlns:a16="http://schemas.microsoft.com/office/drawing/2014/main" id="{4083A0AC-530B-134D-1B30-96D8669FD6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1940" y="2489642"/>
            <a:ext cx="914400" cy="914400"/>
          </a:xfrm>
          <a:prstGeom prst="rect">
            <a:avLst/>
          </a:prstGeom>
        </p:spPr>
      </p:pic>
      <p:pic>
        <p:nvPicPr>
          <p:cNvPr id="24" name="Graphic 23" descr="Medical with solid fill">
            <a:extLst>
              <a:ext uri="{FF2B5EF4-FFF2-40B4-BE49-F238E27FC236}">
                <a16:creationId xmlns:a16="http://schemas.microsoft.com/office/drawing/2014/main" id="{DFA016AF-5FC4-E3B5-C7E4-B663C8C523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2480" y="2150553"/>
            <a:ext cx="914400" cy="914400"/>
          </a:xfrm>
          <a:prstGeom prst="rect">
            <a:avLst/>
          </a:prstGeom>
        </p:spPr>
      </p:pic>
      <p:pic>
        <p:nvPicPr>
          <p:cNvPr id="26" name="Graphic 25" descr="Medicine with solid fill">
            <a:extLst>
              <a:ext uri="{FF2B5EF4-FFF2-40B4-BE49-F238E27FC236}">
                <a16:creationId xmlns:a16="http://schemas.microsoft.com/office/drawing/2014/main" id="{D87588C3-A756-47EF-6EBD-B02A2A0BB0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81940" y="3795016"/>
            <a:ext cx="914400" cy="914400"/>
          </a:xfrm>
          <a:prstGeom prst="rect">
            <a:avLst/>
          </a:prstGeom>
        </p:spPr>
      </p:pic>
      <p:pic>
        <p:nvPicPr>
          <p:cNvPr id="28" name="Graphic 27" descr="Needle with solid fill">
            <a:extLst>
              <a:ext uri="{FF2B5EF4-FFF2-40B4-BE49-F238E27FC236}">
                <a16:creationId xmlns:a16="http://schemas.microsoft.com/office/drawing/2014/main" id="{784F40CE-38F9-720B-D644-9809FAE532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8590" y="5213036"/>
            <a:ext cx="914400" cy="914400"/>
          </a:xfrm>
          <a:prstGeom prst="rect">
            <a:avLst/>
          </a:prstGeom>
        </p:spPr>
      </p:pic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7CFF512-81BA-8964-CB84-DF86DEBFC5CF}"/>
              </a:ext>
            </a:extLst>
          </p:cNvPr>
          <p:cNvCxnSpPr/>
          <p:nvPr/>
        </p:nvCxnSpPr>
        <p:spPr>
          <a:xfrm>
            <a:off x="1457325" y="2946842"/>
            <a:ext cx="176925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18C699F-8098-4E95-45C3-84F71023C6E3}"/>
              </a:ext>
            </a:extLst>
          </p:cNvPr>
          <p:cNvCxnSpPr/>
          <p:nvPr/>
        </p:nvCxnSpPr>
        <p:spPr>
          <a:xfrm>
            <a:off x="1350645" y="4200810"/>
            <a:ext cx="176925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AD3461D-6DAC-ACF8-B123-80E8C901E4E7}"/>
              </a:ext>
            </a:extLst>
          </p:cNvPr>
          <p:cNvCxnSpPr/>
          <p:nvPr/>
        </p:nvCxnSpPr>
        <p:spPr>
          <a:xfrm>
            <a:off x="1249680" y="5680046"/>
            <a:ext cx="176925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94D447D-9680-3125-F40F-F9455D54B468}"/>
              </a:ext>
            </a:extLst>
          </p:cNvPr>
          <p:cNvCxnSpPr>
            <a:cxnSpLocks/>
          </p:cNvCxnSpPr>
          <p:nvPr/>
        </p:nvCxnSpPr>
        <p:spPr>
          <a:xfrm>
            <a:off x="4783170" y="2765411"/>
            <a:ext cx="1636680" cy="118315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B224DC4-B8BE-5644-18DF-5575AE746687}"/>
              </a:ext>
            </a:extLst>
          </p:cNvPr>
          <p:cNvCxnSpPr>
            <a:cxnSpLocks/>
          </p:cNvCxnSpPr>
          <p:nvPr/>
        </p:nvCxnSpPr>
        <p:spPr>
          <a:xfrm>
            <a:off x="4803915" y="4100962"/>
            <a:ext cx="1539735" cy="1721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460CD99-1537-9F51-06BB-63E2220CB75F}"/>
              </a:ext>
            </a:extLst>
          </p:cNvPr>
          <p:cNvCxnSpPr>
            <a:cxnSpLocks/>
          </p:cNvCxnSpPr>
          <p:nvPr/>
        </p:nvCxnSpPr>
        <p:spPr>
          <a:xfrm flipV="1">
            <a:off x="4697235" y="4270581"/>
            <a:ext cx="1662570" cy="117205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9E4B7337-A89E-E306-5724-BB892AFBF9BE}"/>
              </a:ext>
            </a:extLst>
          </p:cNvPr>
          <p:cNvSpPr txBox="1"/>
          <p:nvPr/>
        </p:nvSpPr>
        <p:spPr>
          <a:xfrm>
            <a:off x="6381802" y="2655927"/>
            <a:ext cx="13971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Ministry of </a:t>
            </a:r>
            <a:br>
              <a:rPr lang="en-CA" b="1" dirty="0"/>
            </a:br>
            <a:r>
              <a:rPr lang="en-CA" b="1" dirty="0"/>
              <a:t>Health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F3C15E6-2EC4-4E96-2A5B-8029F3DE3730}"/>
              </a:ext>
            </a:extLst>
          </p:cNvPr>
          <p:cNvCxnSpPr>
            <a:cxnSpLocks/>
          </p:cNvCxnSpPr>
          <p:nvPr/>
        </p:nvCxnSpPr>
        <p:spPr>
          <a:xfrm>
            <a:off x="7560945" y="3948562"/>
            <a:ext cx="992505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1" name="Graphic 50" descr="List outline">
            <a:extLst>
              <a:ext uri="{FF2B5EF4-FFF2-40B4-BE49-F238E27FC236}">
                <a16:creationId xmlns:a16="http://schemas.microsoft.com/office/drawing/2014/main" id="{936D0EBD-7D7E-380C-2F39-FF946A7163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379117" y="2655927"/>
            <a:ext cx="2462238" cy="24622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EB9587E-5723-9F1F-754A-97C51F36148C}"/>
                  </a:ext>
                </a:extLst>
              </p:cNvPr>
              <p:cNvSpPr txBox="1"/>
              <p:nvPr/>
            </p:nvSpPr>
            <p:spPr>
              <a:xfrm>
                <a:off x="9552904" y="2825204"/>
                <a:ext cx="567270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5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25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sz="25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0BBDC0D3-632E-0034-66BC-F4D10BA49D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2904" y="2825204"/>
                <a:ext cx="567270" cy="4770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6A69C60-5994-D693-5E80-F6C5B1FC8980}"/>
                  </a:ext>
                </a:extLst>
              </p:cNvPr>
              <p:cNvSpPr txBox="1"/>
              <p:nvPr/>
            </p:nvSpPr>
            <p:spPr>
              <a:xfrm>
                <a:off x="9528677" y="3233008"/>
                <a:ext cx="643766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5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2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sz="25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57EFFF2-ADDF-020D-374C-AA1789AF6B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8677" y="3233008"/>
                <a:ext cx="643766" cy="4770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E873542-FC61-4D7A-4178-D0DEDB52C4C3}"/>
                  </a:ext>
                </a:extLst>
              </p:cNvPr>
              <p:cNvSpPr txBox="1"/>
              <p:nvPr/>
            </p:nvSpPr>
            <p:spPr>
              <a:xfrm>
                <a:off x="9514656" y="3611688"/>
                <a:ext cx="643766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5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2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CA" sz="25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6B1506A-BAA1-7CB3-CF28-776843E2E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4656" y="3611688"/>
                <a:ext cx="643766" cy="4770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Graphic 3" descr="Speech outline">
            <a:extLst>
              <a:ext uri="{FF2B5EF4-FFF2-40B4-BE49-F238E27FC236}">
                <a16:creationId xmlns:a16="http://schemas.microsoft.com/office/drawing/2014/main" id="{90AE4EF1-E204-42D4-C484-CCE80445B3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889850" y="1514021"/>
            <a:ext cx="3489267" cy="14706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E759794-F260-D51B-059C-E1B1538CEA35}"/>
                  </a:ext>
                </a:extLst>
              </p:cNvPr>
              <p:cNvSpPr txBox="1"/>
              <p:nvPr/>
            </p:nvSpPr>
            <p:spPr>
              <a:xfrm>
                <a:off x="5499983" y="1994527"/>
                <a:ext cx="135081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≤50,000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E759794-F260-D51B-059C-E1B1538CEA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9983" y="1994527"/>
                <a:ext cx="1350819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85240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C6417-E51B-EFD9-2168-86E81AD66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6404F-3CC1-AD0E-D89B-8D3F64F7B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The Payer’s Problem</a:t>
            </a:r>
          </a:p>
        </p:txBody>
      </p:sp>
      <p:pic>
        <p:nvPicPr>
          <p:cNvPr id="13" name="Graphic 12" descr="Building with solid fill">
            <a:extLst>
              <a:ext uri="{FF2B5EF4-FFF2-40B4-BE49-F238E27FC236}">
                <a16:creationId xmlns:a16="http://schemas.microsoft.com/office/drawing/2014/main" id="{0D87729A-5142-A35B-C835-826664A476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70270" y="3213232"/>
            <a:ext cx="1470660" cy="1470660"/>
          </a:xfrm>
          <a:prstGeom prst="rect">
            <a:avLst/>
          </a:prstGeom>
        </p:spPr>
      </p:pic>
      <p:pic>
        <p:nvPicPr>
          <p:cNvPr id="15" name="Graphic 14" descr="Teacher with solid fill">
            <a:extLst>
              <a:ext uri="{FF2B5EF4-FFF2-40B4-BE49-F238E27FC236}">
                <a16:creationId xmlns:a16="http://schemas.microsoft.com/office/drawing/2014/main" id="{F9B43075-EDF6-ED67-BFDD-9344B62BD5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26575" y="2141028"/>
            <a:ext cx="1470660" cy="1470660"/>
          </a:xfrm>
          <a:prstGeom prst="rect">
            <a:avLst/>
          </a:prstGeom>
        </p:spPr>
      </p:pic>
      <p:pic>
        <p:nvPicPr>
          <p:cNvPr id="16" name="Graphic 15" descr="Teacher with solid fill">
            <a:extLst>
              <a:ext uri="{FF2B5EF4-FFF2-40B4-BE49-F238E27FC236}">
                <a16:creationId xmlns:a16="http://schemas.microsoft.com/office/drawing/2014/main" id="{8CF06E67-3B5E-3422-3B3D-7DE3CD1F95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19895" y="3465480"/>
            <a:ext cx="1470660" cy="1470660"/>
          </a:xfrm>
          <a:prstGeom prst="rect">
            <a:avLst/>
          </a:prstGeom>
        </p:spPr>
      </p:pic>
      <p:pic>
        <p:nvPicPr>
          <p:cNvPr id="17" name="Graphic 16" descr="Teacher with solid fill">
            <a:extLst>
              <a:ext uri="{FF2B5EF4-FFF2-40B4-BE49-F238E27FC236}">
                <a16:creationId xmlns:a16="http://schemas.microsoft.com/office/drawing/2014/main" id="{3D815D6E-9C50-CBCD-0AAF-E23FA4AA4D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19895" y="4789932"/>
            <a:ext cx="1470660" cy="14706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E970411-0083-E5D9-3B05-9816122B436A}"/>
                  </a:ext>
                </a:extLst>
              </p:cNvPr>
              <p:cNvSpPr txBox="1"/>
              <p:nvPr/>
            </p:nvSpPr>
            <p:spPr>
              <a:xfrm>
                <a:off x="3634992" y="2590362"/>
                <a:ext cx="10248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2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≤50,000</m:t>
                      </m:r>
                    </m:oMath>
                  </m:oMathPara>
                </a14:m>
                <a:endParaRPr lang="en-CA" sz="12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E970411-0083-E5D9-3B05-9816122B43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4992" y="2590362"/>
                <a:ext cx="1024831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Graphic 21" descr="Doctor female with solid fill">
            <a:extLst>
              <a:ext uri="{FF2B5EF4-FFF2-40B4-BE49-F238E27FC236}">
                <a16:creationId xmlns:a16="http://schemas.microsoft.com/office/drawing/2014/main" id="{4905AC16-3ABB-951D-A320-D6A8FCEE0A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1940" y="2489642"/>
            <a:ext cx="914400" cy="914400"/>
          </a:xfrm>
          <a:prstGeom prst="rect">
            <a:avLst/>
          </a:prstGeom>
        </p:spPr>
      </p:pic>
      <p:pic>
        <p:nvPicPr>
          <p:cNvPr id="24" name="Graphic 23" descr="Medical with solid fill">
            <a:extLst>
              <a:ext uri="{FF2B5EF4-FFF2-40B4-BE49-F238E27FC236}">
                <a16:creationId xmlns:a16="http://schemas.microsoft.com/office/drawing/2014/main" id="{B9B66CD9-59F6-BBA2-6B5C-3E8501B813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2480" y="2150553"/>
            <a:ext cx="914400" cy="914400"/>
          </a:xfrm>
          <a:prstGeom prst="rect">
            <a:avLst/>
          </a:prstGeom>
        </p:spPr>
      </p:pic>
      <p:pic>
        <p:nvPicPr>
          <p:cNvPr id="26" name="Graphic 25" descr="Medicine with solid fill">
            <a:extLst>
              <a:ext uri="{FF2B5EF4-FFF2-40B4-BE49-F238E27FC236}">
                <a16:creationId xmlns:a16="http://schemas.microsoft.com/office/drawing/2014/main" id="{8B42497E-4BAB-7A25-E4AE-D23FB79A17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1940" y="3795016"/>
            <a:ext cx="914400" cy="914400"/>
          </a:xfrm>
          <a:prstGeom prst="rect">
            <a:avLst/>
          </a:prstGeom>
        </p:spPr>
      </p:pic>
      <p:pic>
        <p:nvPicPr>
          <p:cNvPr id="28" name="Graphic 27" descr="Needle with solid fill">
            <a:extLst>
              <a:ext uri="{FF2B5EF4-FFF2-40B4-BE49-F238E27FC236}">
                <a16:creationId xmlns:a16="http://schemas.microsoft.com/office/drawing/2014/main" id="{AAE00197-A27B-F782-97AB-6C06710C59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8590" y="5213036"/>
            <a:ext cx="914400" cy="914400"/>
          </a:xfrm>
          <a:prstGeom prst="rect">
            <a:avLst/>
          </a:prstGeom>
        </p:spPr>
      </p:pic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1FA195E-D1D6-D85F-515D-5C249623FF56}"/>
              </a:ext>
            </a:extLst>
          </p:cNvPr>
          <p:cNvCxnSpPr/>
          <p:nvPr/>
        </p:nvCxnSpPr>
        <p:spPr>
          <a:xfrm>
            <a:off x="1457325" y="2946842"/>
            <a:ext cx="176925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C1259A1-D250-E51E-DB4C-66ED459E8DEE}"/>
              </a:ext>
            </a:extLst>
          </p:cNvPr>
          <p:cNvCxnSpPr/>
          <p:nvPr/>
        </p:nvCxnSpPr>
        <p:spPr>
          <a:xfrm>
            <a:off x="1350645" y="4200810"/>
            <a:ext cx="176925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E99B3D9-9DF8-4C42-481D-705B3462294D}"/>
              </a:ext>
            </a:extLst>
          </p:cNvPr>
          <p:cNvCxnSpPr/>
          <p:nvPr/>
        </p:nvCxnSpPr>
        <p:spPr>
          <a:xfrm>
            <a:off x="1249680" y="5680046"/>
            <a:ext cx="176925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0CABB46-7153-6F7C-17A0-E7B728252254}"/>
              </a:ext>
            </a:extLst>
          </p:cNvPr>
          <p:cNvCxnSpPr>
            <a:cxnSpLocks/>
          </p:cNvCxnSpPr>
          <p:nvPr/>
        </p:nvCxnSpPr>
        <p:spPr>
          <a:xfrm>
            <a:off x="4783170" y="2765411"/>
            <a:ext cx="1636680" cy="118315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3F73643-AAB4-C615-736A-0DC02901ADEE}"/>
              </a:ext>
            </a:extLst>
          </p:cNvPr>
          <p:cNvCxnSpPr>
            <a:cxnSpLocks/>
          </p:cNvCxnSpPr>
          <p:nvPr/>
        </p:nvCxnSpPr>
        <p:spPr>
          <a:xfrm>
            <a:off x="4803915" y="4100962"/>
            <a:ext cx="1539735" cy="1721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5AB6ABE-5A52-DEED-10EE-EB992D084EE0}"/>
              </a:ext>
            </a:extLst>
          </p:cNvPr>
          <p:cNvCxnSpPr>
            <a:cxnSpLocks/>
          </p:cNvCxnSpPr>
          <p:nvPr/>
        </p:nvCxnSpPr>
        <p:spPr>
          <a:xfrm flipV="1">
            <a:off x="4697235" y="4270581"/>
            <a:ext cx="1662570" cy="117205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B569FBA-C089-5E31-953B-BB7373F0E44E}"/>
              </a:ext>
            </a:extLst>
          </p:cNvPr>
          <p:cNvSpPr txBox="1"/>
          <p:nvPr/>
        </p:nvSpPr>
        <p:spPr>
          <a:xfrm>
            <a:off x="6381802" y="2655927"/>
            <a:ext cx="13971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Ministry of </a:t>
            </a:r>
            <a:br>
              <a:rPr lang="en-CA" b="1" dirty="0"/>
            </a:br>
            <a:r>
              <a:rPr lang="en-CA" b="1" dirty="0"/>
              <a:t>Health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3483398-3D1D-7E24-5874-E795D69081A7}"/>
              </a:ext>
            </a:extLst>
          </p:cNvPr>
          <p:cNvCxnSpPr>
            <a:cxnSpLocks/>
          </p:cNvCxnSpPr>
          <p:nvPr/>
        </p:nvCxnSpPr>
        <p:spPr>
          <a:xfrm>
            <a:off x="7560945" y="3948562"/>
            <a:ext cx="992505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1" name="Graphic 50" descr="List outline">
            <a:extLst>
              <a:ext uri="{FF2B5EF4-FFF2-40B4-BE49-F238E27FC236}">
                <a16:creationId xmlns:a16="http://schemas.microsoft.com/office/drawing/2014/main" id="{55D23B51-0F08-5BE3-2BEB-2EC17BFC0F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79117" y="2655927"/>
            <a:ext cx="2462238" cy="24622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4300565-E432-A266-3680-946FD92334C3}"/>
                  </a:ext>
                </a:extLst>
              </p:cNvPr>
              <p:cNvSpPr txBox="1"/>
              <p:nvPr/>
            </p:nvSpPr>
            <p:spPr>
              <a:xfrm>
                <a:off x="9552904" y="2825204"/>
                <a:ext cx="567270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5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25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sz="25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0BBDC0D3-632E-0034-66BC-F4D10BA49D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2904" y="2825204"/>
                <a:ext cx="567270" cy="4770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A27EBB5-FBEB-10F9-8656-308CE7DB291C}"/>
                  </a:ext>
                </a:extLst>
              </p:cNvPr>
              <p:cNvSpPr txBox="1"/>
              <p:nvPr/>
            </p:nvSpPr>
            <p:spPr>
              <a:xfrm>
                <a:off x="9528677" y="3233008"/>
                <a:ext cx="643766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5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2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sz="25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57EFFF2-ADDF-020D-374C-AA1789AF6B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8677" y="3233008"/>
                <a:ext cx="643766" cy="4770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C679553-F0F1-8E77-4649-26722318D703}"/>
                  </a:ext>
                </a:extLst>
              </p:cNvPr>
              <p:cNvSpPr txBox="1"/>
              <p:nvPr/>
            </p:nvSpPr>
            <p:spPr>
              <a:xfrm>
                <a:off x="9514656" y="3611688"/>
                <a:ext cx="643766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5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2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CA" sz="25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6B1506A-BAA1-7CB3-CF28-776843E2E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4656" y="3611688"/>
                <a:ext cx="643766" cy="4770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Graphic 5" descr="Speech outline">
            <a:extLst>
              <a:ext uri="{FF2B5EF4-FFF2-40B4-BE49-F238E27FC236}">
                <a16:creationId xmlns:a16="http://schemas.microsoft.com/office/drawing/2014/main" id="{98F43BD8-099F-9C4B-2E7C-8636DC9834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889850" y="1514021"/>
            <a:ext cx="3489267" cy="14706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CE1543E-AAEA-9E86-4672-96E59AE8D95B}"/>
                  </a:ext>
                </a:extLst>
              </p:cNvPr>
              <p:cNvSpPr txBox="1"/>
              <p:nvPr/>
            </p:nvSpPr>
            <p:spPr>
              <a:xfrm>
                <a:off x="5499983" y="1994527"/>
                <a:ext cx="135081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≤50,000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CE1543E-AAEA-9E86-4672-96E59AE8D9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9983" y="1994527"/>
                <a:ext cx="1350819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B30C13C-04FC-820A-9278-361589CE74F0}"/>
                  </a:ext>
                </a:extLst>
              </p:cNvPr>
              <p:cNvSpPr txBox="1"/>
              <p:nvPr/>
            </p:nvSpPr>
            <p:spPr>
              <a:xfrm>
                <a:off x="3484237" y="3856913"/>
                <a:ext cx="106529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2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≤50,000</m:t>
                      </m:r>
                    </m:oMath>
                  </m:oMathPara>
                </a14:m>
                <a:endParaRPr lang="en-CA" sz="1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B30C13C-04FC-820A-9278-361589CE74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4237" y="3856913"/>
                <a:ext cx="1065292" cy="27699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603782F-FBB6-CD2D-192D-8AC363325B08}"/>
                  </a:ext>
                </a:extLst>
              </p:cNvPr>
              <p:cNvSpPr txBox="1"/>
              <p:nvPr/>
            </p:nvSpPr>
            <p:spPr>
              <a:xfrm>
                <a:off x="3484237" y="5213036"/>
                <a:ext cx="106529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2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≤50,000</m:t>
                      </m:r>
                    </m:oMath>
                  </m:oMathPara>
                </a14:m>
                <a:endParaRPr lang="en-CA" sz="1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603782F-FBB6-CD2D-192D-8AC363325B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4237" y="5213036"/>
                <a:ext cx="1065292" cy="276999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5966A8DA-FC6C-BF8A-4F67-0907804C1A7B}"/>
              </a:ext>
            </a:extLst>
          </p:cNvPr>
          <p:cNvSpPr txBox="1"/>
          <p:nvPr/>
        </p:nvSpPr>
        <p:spPr>
          <a:xfrm>
            <a:off x="6634483" y="5376362"/>
            <a:ext cx="4756046" cy="1200329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CA" b="1" dirty="0"/>
              <a:t>If the Ministry Makes Known its Threshold</a:t>
            </a:r>
            <a:br>
              <a:rPr lang="en-CA" b="1" dirty="0"/>
            </a:br>
            <a:r>
              <a:rPr lang="en-CA" b="1" dirty="0"/>
              <a:t>Explicitly, Every Drug Company will Design </a:t>
            </a:r>
            <a:br>
              <a:rPr lang="en-CA" b="1" dirty="0"/>
            </a:br>
            <a:r>
              <a:rPr lang="en-CA" b="1" dirty="0"/>
              <a:t>Their Analyses which “Market” Their Drugs</a:t>
            </a:r>
            <a:br>
              <a:rPr lang="en-CA" b="1" dirty="0"/>
            </a:br>
            <a:r>
              <a:rPr lang="en-CA" b="1" dirty="0"/>
              <a:t>as Meeting that Threshold</a:t>
            </a:r>
          </a:p>
        </p:txBody>
      </p:sp>
    </p:spTree>
    <p:extLst>
      <p:ext uri="{BB962C8B-B14F-4D97-AF65-F5344CB8AC3E}">
        <p14:creationId xmlns:p14="http://schemas.microsoft.com/office/powerpoint/2010/main" val="28764391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4C638-1C6D-AB1F-DB7D-0E3251B2A9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Health Technology Assessment Agencies Globally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D0E07C-21A0-82D3-9556-338F1D89F4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379798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C9F17-8D10-99BF-00B1-695B257A8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12" y="674280"/>
            <a:ext cx="11155680" cy="1463040"/>
          </a:xfrm>
        </p:spPr>
        <p:txBody>
          <a:bodyPr/>
          <a:lstStyle/>
          <a:p>
            <a:r>
              <a:rPr lang="en-CA" dirty="0"/>
              <a:t>HTA Agencies Globally</a:t>
            </a:r>
          </a:p>
        </p:txBody>
      </p:sp>
      <p:pic>
        <p:nvPicPr>
          <p:cNvPr id="7" name="Picture 6" descr="ICER report identifies significant jump in US drug launch prices | The  Pharmaletter">
            <a:extLst>
              <a:ext uri="{FF2B5EF4-FFF2-40B4-BE49-F238E27FC236}">
                <a16:creationId xmlns:a16="http://schemas.microsoft.com/office/drawing/2014/main" id="{FF90DA62-BB9A-CEA2-D8FA-C1B2336E4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1153" y="1102601"/>
            <a:ext cx="3098800" cy="2062915"/>
          </a:xfrm>
          <a:prstGeom prst="rect">
            <a:avLst/>
          </a:prstGeom>
        </p:spPr>
      </p:pic>
      <p:pic>
        <p:nvPicPr>
          <p:cNvPr id="9" name="Picture 8" descr="Canada's Drug Agency | LinkedIn">
            <a:extLst>
              <a:ext uri="{FF2B5EF4-FFF2-40B4-BE49-F238E27FC236}">
                <a16:creationId xmlns:a16="http://schemas.microsoft.com/office/drawing/2014/main" id="{3B43FF4B-97A3-54E9-E28A-04BD0A0FB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112" y="1498439"/>
            <a:ext cx="1832610" cy="1832610"/>
          </a:xfrm>
          <a:prstGeom prst="rect">
            <a:avLst/>
          </a:prstGeom>
        </p:spPr>
      </p:pic>
      <p:pic>
        <p:nvPicPr>
          <p:cNvPr id="12" name="Picture 11" descr="Institute for Quality and Efficiency in Health Care | IQWiG.de">
            <a:extLst>
              <a:ext uri="{FF2B5EF4-FFF2-40B4-BE49-F238E27FC236}">
                <a16:creationId xmlns:a16="http://schemas.microsoft.com/office/drawing/2014/main" id="{877D32D1-9C41-5A8A-5D44-138EA91414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205" y="4174035"/>
            <a:ext cx="3302000" cy="1832610"/>
          </a:xfrm>
          <a:prstGeom prst="rect">
            <a:avLst/>
          </a:prstGeom>
        </p:spPr>
      </p:pic>
      <p:pic>
        <p:nvPicPr>
          <p:cNvPr id="13" name="Picture 12" descr="NICE publishes final guidance recommending against routine NHS use of  donanemab and lecanemab | Alzheimer Europe">
            <a:extLst>
              <a:ext uri="{FF2B5EF4-FFF2-40B4-BE49-F238E27FC236}">
                <a16:creationId xmlns:a16="http://schemas.microsoft.com/office/drawing/2014/main" id="{16273FD5-F8AA-7B7C-81EB-155F298E9B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7704" y="1440109"/>
            <a:ext cx="1832610" cy="1832610"/>
          </a:xfrm>
          <a:prstGeom prst="rect">
            <a:avLst/>
          </a:prstGeom>
        </p:spPr>
      </p:pic>
      <p:pic>
        <p:nvPicPr>
          <p:cNvPr id="14" name="Graphic 13" descr="Haute Autorité de santé — Wikipédia">
            <a:extLst>
              <a:ext uri="{FF2B5EF4-FFF2-40B4-BE49-F238E27FC236}">
                <a16:creationId xmlns:a16="http://schemas.microsoft.com/office/drawing/2014/main" id="{4C93361A-ADAA-3A27-18B6-28221E9857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23023" y="4523367"/>
            <a:ext cx="3113755" cy="1173299"/>
          </a:xfrm>
          <a:prstGeom prst="rect">
            <a:avLst/>
          </a:prstGeom>
        </p:spPr>
      </p:pic>
      <p:pic>
        <p:nvPicPr>
          <p:cNvPr id="15" name="Picture 14" descr="Improving health and welfare through science-based knowledge">
            <a:extLst>
              <a:ext uri="{FF2B5EF4-FFF2-40B4-BE49-F238E27FC236}">
                <a16:creationId xmlns:a16="http://schemas.microsoft.com/office/drawing/2014/main" id="{EAC358EE-B5EA-8AB2-D840-B358FCF0FB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4433" y="4196049"/>
            <a:ext cx="1110728" cy="141645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09C82F7-3CEE-9CEC-EC8B-6237FC0ECFD2}"/>
              </a:ext>
            </a:extLst>
          </p:cNvPr>
          <p:cNvSpPr txBox="1"/>
          <p:nvPr/>
        </p:nvSpPr>
        <p:spPr>
          <a:xfrm>
            <a:off x="221023" y="3250705"/>
            <a:ext cx="27947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b="1" dirty="0"/>
              <a:t>Canadian Drug Authority</a:t>
            </a:r>
            <a:br>
              <a:rPr lang="en-CA" b="1" dirty="0"/>
            </a:br>
            <a:r>
              <a:rPr lang="en-CA" b="1" dirty="0"/>
              <a:t>(Canada)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F94EBE-DB4D-706D-53B1-397C6C801252}"/>
              </a:ext>
            </a:extLst>
          </p:cNvPr>
          <p:cNvSpPr txBox="1"/>
          <p:nvPr/>
        </p:nvSpPr>
        <p:spPr>
          <a:xfrm>
            <a:off x="3335083" y="3272719"/>
            <a:ext cx="31578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b="1" dirty="0"/>
              <a:t>National Institute for Health</a:t>
            </a:r>
            <a:br>
              <a:rPr lang="en-CA" b="1" dirty="0"/>
            </a:br>
            <a:r>
              <a:rPr lang="en-CA" b="1" dirty="0"/>
              <a:t>and Care Excellence</a:t>
            </a:r>
            <a:br>
              <a:rPr lang="en-CA" b="1" dirty="0"/>
            </a:br>
            <a:r>
              <a:rPr lang="en-CA" b="1" dirty="0"/>
              <a:t>(United Kingdom)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CF3CF4-27CC-53FD-5D75-8AEC1139191C}"/>
              </a:ext>
            </a:extLst>
          </p:cNvPr>
          <p:cNvSpPr txBox="1"/>
          <p:nvPr/>
        </p:nvSpPr>
        <p:spPr>
          <a:xfrm>
            <a:off x="7627908" y="3250705"/>
            <a:ext cx="250882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b="1" dirty="0"/>
              <a:t>Institute for Clinical</a:t>
            </a:r>
            <a:br>
              <a:rPr lang="en-CA" b="1" dirty="0"/>
            </a:br>
            <a:r>
              <a:rPr lang="en-CA" b="1" dirty="0"/>
              <a:t>and Economic Review</a:t>
            </a:r>
            <a:br>
              <a:rPr lang="en-CA" b="1" dirty="0"/>
            </a:br>
            <a:r>
              <a:rPr lang="en-CA" b="1" dirty="0"/>
              <a:t>(United States)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4CEE7C-E9DE-4982-AA8D-0FAA8B40DA8B}"/>
              </a:ext>
            </a:extLst>
          </p:cNvPr>
          <p:cNvSpPr txBox="1"/>
          <p:nvPr/>
        </p:nvSpPr>
        <p:spPr>
          <a:xfrm>
            <a:off x="19387" y="5814388"/>
            <a:ext cx="311375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b="1" dirty="0"/>
              <a:t>Institute for Quality and Efficiency in Health Care</a:t>
            </a:r>
            <a:br>
              <a:rPr lang="en-CA" b="1" dirty="0"/>
            </a:br>
            <a:r>
              <a:rPr lang="en-CA" b="1" dirty="0"/>
              <a:t>(Germany)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DE7457-E1D9-DB10-1093-0A99177CFDA5}"/>
              </a:ext>
            </a:extLst>
          </p:cNvPr>
          <p:cNvSpPr txBox="1"/>
          <p:nvPr/>
        </p:nvSpPr>
        <p:spPr>
          <a:xfrm>
            <a:off x="3682532" y="5814388"/>
            <a:ext cx="28104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b="1" dirty="0"/>
              <a:t>Haute Autorité de Santé</a:t>
            </a:r>
            <a:br>
              <a:rPr lang="en-CA" b="1" dirty="0"/>
            </a:br>
            <a:r>
              <a:rPr lang="en-CA" b="1" dirty="0"/>
              <a:t>(France)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8D36687-5EAA-3AC6-30CD-9AC56D2F8B79}"/>
              </a:ext>
            </a:extLst>
          </p:cNvPr>
          <p:cNvSpPr txBox="1"/>
          <p:nvPr/>
        </p:nvSpPr>
        <p:spPr>
          <a:xfrm>
            <a:off x="6753262" y="5583555"/>
            <a:ext cx="39766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b="1" dirty="0"/>
              <a:t>Swedish Agency for Health Technology Assessment and Assessment of Social Services</a:t>
            </a:r>
            <a:br>
              <a:rPr lang="en-CA" b="1" dirty="0"/>
            </a:br>
            <a:r>
              <a:rPr lang="en-CA" b="1" dirty="0"/>
              <a:t>(Sweeden)</a:t>
            </a:r>
          </a:p>
        </p:txBody>
      </p:sp>
    </p:spTree>
    <p:extLst>
      <p:ext uri="{BB962C8B-B14F-4D97-AF65-F5344CB8AC3E}">
        <p14:creationId xmlns:p14="http://schemas.microsoft.com/office/powerpoint/2010/main" val="13566706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4F763-5542-8B65-523A-6C0E20A32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do HTA Agencies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1E730-5F73-818B-258C-0CF7F3C33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44700"/>
            <a:ext cx="11155680" cy="4301236"/>
          </a:xfrm>
        </p:spPr>
        <p:txBody>
          <a:bodyPr>
            <a:normAutofit/>
          </a:bodyPr>
          <a:lstStyle/>
          <a:p>
            <a:r>
              <a:rPr lang="en-CA" dirty="0"/>
              <a:t>HTA Organizations are typically federally funded organizations which conduct independent clinical review and cost effectiveness analysis of new drugs and health technologies.</a:t>
            </a:r>
          </a:p>
          <a:p>
            <a:r>
              <a:rPr lang="en-CA" dirty="0"/>
              <a:t>They exist because drug companies have an incentive to market their drugs which may overplay their effectiveness. </a:t>
            </a:r>
          </a:p>
          <a:p>
            <a:r>
              <a:rPr lang="en-CA" dirty="0"/>
              <a:t>In general, HTA Organizations do the following tasks: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They evaluate clinical effectiveness and cost-effectiveness of prescription drugs, providing recommendations to public drug plans on whether they should be publicly funded.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Publish Clinical and Economic Guidelines for Public Plans to follow.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Conduct systemic reviews and summarize the literature for best practices which help hospital regulators.</a:t>
            </a:r>
          </a:p>
          <a:p>
            <a:r>
              <a:rPr lang="en-CA" b="1" dirty="0"/>
              <a:t>HTA Organizations do NOT determine if a drug is paid for. Instead they only provide advice.</a:t>
            </a:r>
          </a:p>
          <a:p>
            <a:r>
              <a:rPr lang="en-CA" dirty="0"/>
              <a:t>They exist to solve “information”  problems.</a:t>
            </a:r>
          </a:p>
          <a:p>
            <a:pPr marL="800100" lvl="1" indent="-342900">
              <a:buFont typeface="+mj-lt"/>
              <a:buAutoNum type="arabicPeriod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138909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30F65-CF2B-AED5-DAAA-E516AD925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654488"/>
            <a:ext cx="11155680" cy="1463040"/>
          </a:xfrm>
        </p:spPr>
        <p:txBody>
          <a:bodyPr/>
          <a:lstStyle/>
          <a:p>
            <a:r>
              <a:rPr lang="en-CA" dirty="0"/>
              <a:t>How the CDA Changes the Picture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63DF3E-793B-CF78-4F18-AD046D473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407" y="2774777"/>
            <a:ext cx="7148146" cy="3104815"/>
          </a:xfrm>
          <a:prstGeom prst="rect">
            <a:avLst/>
          </a:prstGeom>
        </p:spPr>
      </p:pic>
      <p:pic>
        <p:nvPicPr>
          <p:cNvPr id="5" name="Picture 4" descr="Canada's Drug Agency | LinkedIn">
            <a:extLst>
              <a:ext uri="{FF2B5EF4-FFF2-40B4-BE49-F238E27FC236}">
                <a16:creationId xmlns:a16="http://schemas.microsoft.com/office/drawing/2014/main" id="{7F3A5B7D-35D6-376B-2306-6382CABDFE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5434" y="1798833"/>
            <a:ext cx="975944" cy="975944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2A20262-4680-CB5F-355D-669A0DF13628}"/>
              </a:ext>
            </a:extLst>
          </p:cNvPr>
          <p:cNvCxnSpPr>
            <a:cxnSpLocks/>
          </p:cNvCxnSpPr>
          <p:nvPr/>
        </p:nvCxnSpPr>
        <p:spPr>
          <a:xfrm>
            <a:off x="5799756" y="2774777"/>
            <a:ext cx="0" cy="5334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DAC163D-4680-3EC5-5631-C82846707973}"/>
              </a:ext>
            </a:extLst>
          </p:cNvPr>
          <p:cNvSpPr txBox="1"/>
          <p:nvPr/>
        </p:nvSpPr>
        <p:spPr>
          <a:xfrm>
            <a:off x="5974083" y="5417927"/>
            <a:ext cx="5468617" cy="92333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b="1" dirty="0"/>
              <a:t>The CDA offers Independent advice to the Ministry </a:t>
            </a:r>
            <a:br>
              <a:rPr lang="en-CA" b="1" dirty="0"/>
            </a:br>
            <a:r>
              <a:rPr lang="en-CA" b="1" dirty="0"/>
              <a:t>of health which can save time and resources when making reimbursement decisions</a:t>
            </a:r>
          </a:p>
        </p:txBody>
      </p:sp>
    </p:spTree>
    <p:extLst>
      <p:ext uri="{BB962C8B-B14F-4D97-AF65-F5344CB8AC3E}">
        <p14:creationId xmlns:p14="http://schemas.microsoft.com/office/powerpoint/2010/main" val="4660416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C1598-5F56-59DA-5EEF-287FB4193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Types of recommendations by the CDA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3464C-42DE-2C32-093E-AED28C854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In general there are four types of recommendations which may be made by the Canadian Drug Authority. These are: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b="1" dirty="0"/>
              <a:t>Reimburse (without conditions):</a:t>
            </a:r>
            <a:r>
              <a:rPr lang="en-CA" dirty="0"/>
              <a:t> The drug is recommended for public coverage as submitted, with no special clinical or financial restrictions required.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b="1" dirty="0"/>
              <a:t>Reimburse with conditions:</a:t>
            </a:r>
            <a:r>
              <a:rPr lang="en-CA" dirty="0"/>
              <a:t> The drug is recommended for public coverage only if specific clinical criteria (such as patient population, line of therapy, or prescriber specialty) and/or financial conditions (such as a confidential price reduction) are met.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b="1" dirty="0"/>
              <a:t>Time-limited reimbursement:</a:t>
            </a:r>
            <a:r>
              <a:rPr lang="en-CA" dirty="0"/>
              <a:t> Public funding is recommended for a temporary, limited period. This is conditional on the manufacturer conducting ongoing clinical studies to resolve existing evidence uncertainties, which will lead to a future reassessment and a final recommendation.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b="1" dirty="0"/>
              <a:t>Do not reimburse:</a:t>
            </a:r>
            <a:r>
              <a:rPr lang="en-CA" dirty="0"/>
              <a:t> The drug is not recommended for public reimbursement because clinical effectiveness and/or cost-effectiveness have not been adequately demonstrated.</a:t>
            </a:r>
          </a:p>
        </p:txBody>
      </p:sp>
    </p:spTree>
    <p:extLst>
      <p:ext uri="{BB962C8B-B14F-4D97-AF65-F5344CB8AC3E}">
        <p14:creationId xmlns:p14="http://schemas.microsoft.com/office/powerpoint/2010/main" val="1277388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F563B-55A3-577A-2AAF-07B06850D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838513"/>
            <a:ext cx="11155680" cy="1463040"/>
          </a:xfrm>
        </p:spPr>
        <p:txBody>
          <a:bodyPr/>
          <a:lstStyle/>
          <a:p>
            <a:r>
              <a:rPr lang="en-CA" dirty="0"/>
              <a:t>Trends in Reimbursement Recommendations by the CDA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419DA3-E836-E9A5-712A-0380ABD94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" y="2301553"/>
            <a:ext cx="7600950" cy="40481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AD7289-8899-021E-24B0-A730BAD4841C}"/>
              </a:ext>
            </a:extLst>
          </p:cNvPr>
          <p:cNvSpPr txBox="1"/>
          <p:nvPr/>
        </p:nvSpPr>
        <p:spPr>
          <a:xfrm>
            <a:off x="228600" y="6209782"/>
            <a:ext cx="85534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0" i="0" dirty="0">
                <a:solidFill>
                  <a:schemeClr val="tx1"/>
                </a:solidFill>
                <a:effectLst/>
                <a:latin typeface="+mn-lt"/>
              </a:rPr>
              <a:t>Source: Rawson, N. S. (2026). Reimbursement recommendations for new medicines in Canada: current trends in an uncertain era. </a:t>
            </a:r>
            <a:r>
              <a:rPr lang="en-CA" sz="1200" b="0" i="1" dirty="0">
                <a:solidFill>
                  <a:schemeClr val="tx1"/>
                </a:solidFill>
                <a:effectLst/>
                <a:latin typeface="+mn-lt"/>
              </a:rPr>
              <a:t>Canadian Health Policy</a:t>
            </a:r>
            <a:r>
              <a:rPr lang="en-CA" sz="12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en-CA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BF505A-CDF5-70DD-BFE0-48B784B32C7F}"/>
              </a:ext>
            </a:extLst>
          </p:cNvPr>
          <p:cNvSpPr txBox="1"/>
          <p:nvPr/>
        </p:nvSpPr>
        <p:spPr>
          <a:xfrm>
            <a:off x="7943850" y="2534646"/>
            <a:ext cx="36940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Overwhelmingly, the CDA has</a:t>
            </a:r>
            <a:br>
              <a:rPr lang="en-CA" dirty="0"/>
            </a:br>
            <a:r>
              <a:rPr lang="en-CA" dirty="0"/>
              <a:t>been providing more conditional</a:t>
            </a:r>
            <a:br>
              <a:rPr lang="en-CA" dirty="0"/>
            </a:br>
            <a:r>
              <a:rPr lang="en-CA" dirty="0"/>
              <a:t>positive recommendations than </a:t>
            </a:r>
            <a:br>
              <a:rPr lang="en-CA" dirty="0"/>
            </a:br>
            <a:r>
              <a:rPr lang="en-CA" dirty="0"/>
              <a:t>Negative ones.</a:t>
            </a:r>
          </a:p>
        </p:txBody>
      </p:sp>
    </p:spTree>
    <p:extLst>
      <p:ext uri="{BB962C8B-B14F-4D97-AF65-F5344CB8AC3E}">
        <p14:creationId xmlns:p14="http://schemas.microsoft.com/office/powerpoint/2010/main" val="27147505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F0196-5E95-7F29-68A3-11F222C93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Trends in Reimbursement Recommendations by the CDA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FD2BE5-72CE-3AFF-7F14-89D916EBC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870" y="2564955"/>
            <a:ext cx="7095392" cy="31325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2288ED-2D8B-1347-2FB5-79689A8E8320}"/>
              </a:ext>
            </a:extLst>
          </p:cNvPr>
          <p:cNvSpPr txBox="1"/>
          <p:nvPr/>
        </p:nvSpPr>
        <p:spPr>
          <a:xfrm>
            <a:off x="428625" y="582100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0" i="0" dirty="0">
                <a:solidFill>
                  <a:schemeClr val="tx1"/>
                </a:solidFill>
                <a:effectLst/>
                <a:latin typeface="+mn-lt"/>
              </a:rPr>
              <a:t>Source: Rawson, N. S. (2026). Reimbursement recommendations for new medicines in Canada: current trends in an uncertain era. </a:t>
            </a:r>
            <a:r>
              <a:rPr lang="en-CA" sz="1200" b="0" i="1" dirty="0">
                <a:solidFill>
                  <a:schemeClr val="tx1"/>
                </a:solidFill>
                <a:effectLst/>
                <a:latin typeface="+mn-lt"/>
              </a:rPr>
              <a:t>Canadian Health Policy</a:t>
            </a:r>
            <a:r>
              <a:rPr lang="en-CA" sz="12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en-CA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C6AB61-795B-4382-172E-2C7234F0FBB7}"/>
              </a:ext>
            </a:extLst>
          </p:cNvPr>
          <p:cNvSpPr txBox="1"/>
          <p:nvPr/>
        </p:nvSpPr>
        <p:spPr>
          <a:xfrm>
            <a:off x="7492772" y="2662227"/>
            <a:ext cx="439735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This has been due to the requirement</a:t>
            </a:r>
            <a:br>
              <a:rPr lang="en-CA" dirty="0"/>
            </a:br>
            <a:r>
              <a:rPr lang="en-CA" dirty="0"/>
              <a:t>in part to a request for a reduction in</a:t>
            </a:r>
            <a:br>
              <a:rPr lang="en-CA" dirty="0"/>
            </a:br>
            <a:r>
              <a:rPr lang="en-CA" dirty="0"/>
              <a:t>price.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This kind of bargaining over the price of </a:t>
            </a:r>
            <a:br>
              <a:rPr lang="en-CA" dirty="0"/>
            </a:br>
            <a:r>
              <a:rPr lang="en-CA" dirty="0"/>
              <a:t>drugs has only been since 2019 for </a:t>
            </a:r>
            <a:br>
              <a:rPr lang="en-CA" dirty="0"/>
            </a:br>
            <a:r>
              <a:rPr lang="en-CA" dirty="0"/>
              <a:t>oncology drugs.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875359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A74DC-3CF3-9A05-AD74-342C0C614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Concluding Remarks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D2B29-1DDC-195C-6203-19EC04340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11155680" cy="3767328"/>
          </a:xfrm>
        </p:spPr>
        <p:txBody>
          <a:bodyPr/>
          <a:lstStyle/>
          <a:p>
            <a:r>
              <a:rPr lang="en-CA" dirty="0"/>
              <a:t>In this lecture we discussed how funding decisions are made.  We discussed.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The Payer’s Problem.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Making Funding Decisions with The Cost Effectiveness League Table.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Problems with League Table Decision Making.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Regulatory Issues and the Role of HTA Organizations.</a:t>
            </a:r>
          </a:p>
          <a:p>
            <a:r>
              <a:rPr lang="en-CA" dirty="0"/>
              <a:t>Understanding the pharmaceutical regulatory environment is crucial bringing drugs to market even if economics is only one part of a reimbursement decision.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96997363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10142</TotalTime>
  <Words>1753</Words>
  <Application>Microsoft Office PowerPoint</Application>
  <PresentationFormat>Widescreen</PresentationFormat>
  <Paragraphs>264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Aptos</vt:lpstr>
      <vt:lpstr>Arial</vt:lpstr>
      <vt:lpstr>Bierstadt</vt:lpstr>
      <vt:lpstr>Cambria Math</vt:lpstr>
      <vt:lpstr>Wingdings</vt:lpstr>
      <vt:lpstr>GestaltVTI</vt:lpstr>
      <vt:lpstr>Advanced Topics in Economic Evaluation and Healthcare</vt:lpstr>
      <vt:lpstr>Lecture Overview</vt:lpstr>
      <vt:lpstr>The Payer’s Problem</vt:lpstr>
      <vt:lpstr>The Payer’s Problem</vt:lpstr>
      <vt:lpstr>The Payer’s Problem</vt:lpstr>
      <vt:lpstr>Funding Decisions with the League Table</vt:lpstr>
      <vt:lpstr>Funding Decisions with the League Table</vt:lpstr>
      <vt:lpstr>The Cost Effectiveness League Table</vt:lpstr>
      <vt:lpstr>Funding Decisions with a Fixed Budget.</vt:lpstr>
      <vt:lpstr>Funding Decisions with a Fixed Budget.</vt:lpstr>
      <vt:lpstr>Funding Decisions Based on Thresholds</vt:lpstr>
      <vt:lpstr>Concerns about League Tables</vt:lpstr>
      <vt:lpstr>Problem #1: League tables combine studies with very different perspectives</vt:lpstr>
      <vt:lpstr>Problem #2: Time and Inflation</vt:lpstr>
      <vt:lpstr>Problem #3: Uncertainty is Discounted</vt:lpstr>
      <vt:lpstr>Regulatory Problems</vt:lpstr>
      <vt:lpstr>The Payer’s Problem</vt:lpstr>
      <vt:lpstr>The Payer’s Problem</vt:lpstr>
      <vt:lpstr>The Payer’s Problem</vt:lpstr>
      <vt:lpstr>Health Technology Assessment Agencies Globally</vt:lpstr>
      <vt:lpstr>HTA Agencies Globally</vt:lpstr>
      <vt:lpstr>What do HTA Agencies Do?</vt:lpstr>
      <vt:lpstr>How the CDA Changes the Picture</vt:lpstr>
      <vt:lpstr>Types of recommendations by the CDA</vt:lpstr>
      <vt:lpstr>Trends in Reimbursement Recommendations by the CDA</vt:lpstr>
      <vt:lpstr>Trends in Reimbursement Recommendations by the CDA</vt:lpstr>
      <vt:lpstr>Concluding Remarks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Smith</dc:creator>
  <cp:lastModifiedBy>Jacob Smith</cp:lastModifiedBy>
  <cp:revision>83</cp:revision>
  <dcterms:created xsi:type="dcterms:W3CDTF">2026-08-17T03:21:10Z</dcterms:created>
  <dcterms:modified xsi:type="dcterms:W3CDTF">2026-10-27T17:30:35Z</dcterms:modified>
</cp:coreProperties>
</file>