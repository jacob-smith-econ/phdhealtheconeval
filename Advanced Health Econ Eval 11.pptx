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26"/>
  </p:notesMasterIdLst>
  <p:sldIdLst>
    <p:sldId id="256" r:id="rId2"/>
    <p:sldId id="257" r:id="rId3"/>
    <p:sldId id="259" r:id="rId4"/>
    <p:sldId id="261" r:id="rId5"/>
    <p:sldId id="263" r:id="rId6"/>
    <p:sldId id="260" r:id="rId7"/>
    <p:sldId id="265" r:id="rId8"/>
    <p:sldId id="262" r:id="rId9"/>
    <p:sldId id="264" r:id="rId10"/>
    <p:sldId id="271" r:id="rId11"/>
    <p:sldId id="258" r:id="rId12"/>
    <p:sldId id="267" r:id="rId13"/>
    <p:sldId id="268" r:id="rId14"/>
    <p:sldId id="270" r:id="rId15"/>
    <p:sldId id="332" r:id="rId16"/>
    <p:sldId id="334" r:id="rId17"/>
    <p:sldId id="335" r:id="rId18"/>
    <p:sldId id="336" r:id="rId19"/>
    <p:sldId id="338" r:id="rId20"/>
    <p:sldId id="274" r:id="rId21"/>
    <p:sldId id="329" r:id="rId22"/>
    <p:sldId id="337" r:id="rId23"/>
    <p:sldId id="339" r:id="rId24"/>
    <p:sldId id="33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DFD0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4" autoAdjust="0"/>
    <p:restoredTop sz="92996" autoAdjust="0"/>
  </p:normalViewPr>
  <p:slideViewPr>
    <p:cSldViewPr snapToGrid="0">
      <p:cViewPr varScale="1">
        <p:scale>
          <a:sx n="82" d="100"/>
          <a:sy n="82" d="100"/>
        </p:scale>
        <p:origin x="108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85F2B-9DB3-46C6-BD28-BD611964EFEF}" type="datetimeFigureOut">
              <a:rPr lang="en-CA" smtClean="0"/>
              <a:t>2026-10-26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760D0-8468-434B-992C-0B7D2D9301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413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E760D0-8468-434B-992C-0B7D2D93019E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724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9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26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8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6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2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8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4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8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5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5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70" r:id="rId6"/>
    <p:sldLayoutId id="2147483775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13863-F928-09F7-33F8-93C103CEA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Advanced Topics in Economic Evaluation and Healthcare</a:t>
            </a:r>
            <a:endParaRPr lang="en-CA" sz="3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4B19C-1926-B464-1194-E2E07EBD9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anchor="t">
            <a:normAutofit/>
          </a:bodyPr>
          <a:lstStyle/>
          <a:p>
            <a:r>
              <a:rPr lang="en-US" dirty="0"/>
              <a:t>Lecture #11:Multiple Criteria Decision Analysis</a:t>
            </a:r>
            <a:endParaRPr lang="en-CA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Logo Request Form - McMaster Brand">
            <a:extLst>
              <a:ext uri="{FF2B5EF4-FFF2-40B4-BE49-F238E27FC236}">
                <a16:creationId xmlns:a16="http://schemas.microsoft.com/office/drawing/2014/main" id="{9B664600-1FAC-3307-6550-FD235344C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625" y="5679630"/>
            <a:ext cx="5192171" cy="100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0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EAD8C-4653-2156-1AE6-81A7043F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1D7D5-527F-5D91-FF68-E747009A6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this lecture we will provide an introduction to multiple criteria decision analysis. In particular we will discuss: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What multiple criteria decision analysis is.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How multiple criteria decision analysis is conducted.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An Example of MCDA from published literature.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CA" dirty="0"/>
              <a:t>Some “Economic” Critiques of MCDA</a:t>
            </a:r>
          </a:p>
          <a:p>
            <a:r>
              <a:rPr lang="en-CA" dirty="0"/>
              <a:t>By the end of this lecture you will have a conceptual overview of what multiple criteria decision analysis is and how it is conducted.</a:t>
            </a:r>
          </a:p>
          <a:p>
            <a:pPr marL="800100" lvl="1" indent="-34290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53032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A6365-ABF4-2B93-1AF4-78D5BBDFB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An Introduction to Multiple Criteria Decision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06C24F-5F1D-1360-334C-41C958D379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5879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2B6C-98CA-B19A-2839-C780F153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multiple criteria decision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82AE8-D1A0-E1A8-6871-4EE927E53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90725"/>
            <a:ext cx="11155680" cy="4355211"/>
          </a:xfrm>
        </p:spPr>
        <p:txBody>
          <a:bodyPr/>
          <a:lstStyle/>
          <a:p>
            <a:r>
              <a:rPr lang="en-CA" b="1" dirty="0"/>
              <a:t>Multi-Criteria Decision Analysis (MCDA) </a:t>
            </a:r>
            <a:r>
              <a:rPr lang="en-CA" dirty="0"/>
              <a:t>is a structured evaluation framework used to compare, rank, and choose between options when facing multiple conflicting objectives.</a:t>
            </a:r>
          </a:p>
          <a:p>
            <a:r>
              <a:rPr lang="en-CA" dirty="0"/>
              <a:t>It is a tool used when choices involve </a:t>
            </a:r>
            <a:r>
              <a:rPr lang="en-CA" b="1" dirty="0"/>
              <a:t>multiple outcome measures </a:t>
            </a:r>
            <a:r>
              <a:rPr lang="en-CA" dirty="0"/>
              <a:t> or </a:t>
            </a:r>
            <a:r>
              <a:rPr lang="en-CA" b="1" dirty="0"/>
              <a:t>multiple attributes </a:t>
            </a:r>
            <a:r>
              <a:rPr lang="en-CA" dirty="0"/>
              <a:t>which may or may not depend on each other.</a:t>
            </a:r>
          </a:p>
          <a:p>
            <a:r>
              <a:rPr lang="en-CA" dirty="0"/>
              <a:t>This is different from what we have been working on for this entire course which can be more broadly thought of as a single criteria decision analysis (the single criteria being the ICER). </a:t>
            </a:r>
          </a:p>
          <a:p>
            <a:r>
              <a:rPr lang="en-CA" dirty="0"/>
              <a:t>To move decision analysis to environments which are made complex by the number of items considered we need a slightly different set of tools.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1441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C990-50D0-0463-78EA-7025519A3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On the Need for Multi Criteria Decision Analysis in Health Technology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91DE-6767-5434-8D48-E55A56E3D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9" y="2578608"/>
            <a:ext cx="5708141" cy="3767328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Fact: Clinical trials report multiple different outcomes.</a:t>
            </a:r>
          </a:p>
          <a:p>
            <a:r>
              <a:rPr lang="en-CA" dirty="0"/>
              <a:t>Health Economists and analysts who use clinical trials as a primary source of information for cost effectiveness analysis are forced to choose specific results:</a:t>
            </a:r>
          </a:p>
          <a:p>
            <a:pPr lvl="1"/>
            <a:r>
              <a:rPr lang="en-CA" dirty="0"/>
              <a:t>VSL analysis requires us to use mortality rates alone.</a:t>
            </a:r>
          </a:p>
          <a:p>
            <a:pPr lvl="1"/>
            <a:r>
              <a:rPr lang="en-CA" dirty="0"/>
              <a:t>Additional risks of comorbidities are used in a model specific format.</a:t>
            </a:r>
          </a:p>
          <a:p>
            <a:pPr lvl="1"/>
            <a:r>
              <a:rPr lang="en-CA" dirty="0"/>
              <a:t>For CEA, scale-specific outcomes are used on their own.</a:t>
            </a:r>
          </a:p>
          <a:p>
            <a:pPr lvl="1"/>
            <a:r>
              <a:rPr lang="en-CA" dirty="0"/>
              <a:t>For CUA we may convert effects into QALYs using the EQ-5D-5L.</a:t>
            </a:r>
          </a:p>
          <a:p>
            <a:r>
              <a:rPr lang="en-CA" b="1" dirty="0"/>
              <a:t>NOTE: That when we do health technology assessment in the way we have been discussing, we necessarily leave material on the cutting room floor.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84A329-499E-DFC2-EF1F-5D2F95471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362" y="2794018"/>
            <a:ext cx="5652285" cy="308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4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65D5-F571-CE0E-F7F7-81D4090AE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31516"/>
            <a:ext cx="11155680" cy="1463040"/>
          </a:xfrm>
        </p:spPr>
        <p:txBody>
          <a:bodyPr/>
          <a:lstStyle/>
          <a:p>
            <a:r>
              <a:rPr lang="en-CA" dirty="0"/>
              <a:t>The “Fathers” of Multiple Criteria Decision Analysis</a:t>
            </a:r>
          </a:p>
        </p:txBody>
      </p:sp>
      <p:pic>
        <p:nvPicPr>
          <p:cNvPr id="4" name="Picture 3" descr="Ralph KEENEY | Research Professor Emeritus | PhD in Operations Research,  MIT | Duke University, Durham | DU | Fuqua School of Business | Research  profile - Page 3">
            <a:extLst>
              <a:ext uri="{FF2B5EF4-FFF2-40B4-BE49-F238E27FC236}">
                <a16:creationId xmlns:a16="http://schemas.microsoft.com/office/drawing/2014/main" id="{0EC9453C-13C2-EE11-FA31-66633EE73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960072"/>
            <a:ext cx="2743201" cy="2743201"/>
          </a:xfrm>
          <a:prstGeom prst="rect">
            <a:avLst/>
          </a:prstGeom>
        </p:spPr>
      </p:pic>
      <p:pic>
        <p:nvPicPr>
          <p:cNvPr id="5" name="Picture 4" descr="Harvard remembers Howard Raiffa — Harvard Gazette">
            <a:extLst>
              <a:ext uri="{FF2B5EF4-FFF2-40B4-BE49-F238E27FC236}">
                <a16:creationId xmlns:a16="http://schemas.microsoft.com/office/drawing/2014/main" id="{65352CEB-65AC-7A75-992E-A8E0F0E04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017" y="3043199"/>
            <a:ext cx="3868615" cy="2576945"/>
          </a:xfrm>
          <a:prstGeom prst="rect">
            <a:avLst/>
          </a:prstGeom>
        </p:spPr>
      </p:pic>
      <p:pic>
        <p:nvPicPr>
          <p:cNvPr id="6" name="Picture 5" descr="Decisions with Multiple Objectives: Preferences and Value ...">
            <a:extLst>
              <a:ext uri="{FF2B5EF4-FFF2-40B4-BE49-F238E27FC236}">
                <a16:creationId xmlns:a16="http://schemas.microsoft.com/office/drawing/2014/main" id="{8287CCEF-BAD2-073A-CF28-1357778C0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6069" y="2255734"/>
            <a:ext cx="2648762" cy="39716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F5E084-F691-BB8E-2914-25E4528D4982}"/>
              </a:ext>
            </a:extLst>
          </p:cNvPr>
          <p:cNvSpPr txBox="1"/>
          <p:nvPr/>
        </p:nvSpPr>
        <p:spPr>
          <a:xfrm>
            <a:off x="410307" y="5741818"/>
            <a:ext cx="1651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Ralph L. Keeny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759594-3078-D926-4A30-5227D10A050D}"/>
              </a:ext>
            </a:extLst>
          </p:cNvPr>
          <p:cNvSpPr txBox="1"/>
          <p:nvPr/>
        </p:nvSpPr>
        <p:spPr>
          <a:xfrm>
            <a:off x="4046925" y="5669703"/>
            <a:ext cx="1599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Howard Raffia</a:t>
            </a:r>
          </a:p>
        </p:txBody>
      </p:sp>
    </p:spTree>
    <p:extLst>
      <p:ext uri="{BB962C8B-B14F-4D97-AF65-F5344CB8AC3E}">
        <p14:creationId xmlns:p14="http://schemas.microsoft.com/office/powerpoint/2010/main" val="4088136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EBD89-F852-85EF-2290-27F6E1D5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a multiple criteria decision analysis is and is not.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BBF5-AD58-9132-ADB4-91D437E00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2578608"/>
            <a:ext cx="10804017" cy="3767328"/>
          </a:xfrm>
        </p:spPr>
        <p:txBody>
          <a:bodyPr/>
          <a:lstStyle/>
          <a:p>
            <a:r>
              <a:rPr lang="en-CA" dirty="0"/>
              <a:t>A multiple criteria decision analysis is not an alternative to cost effectiveness analysis.</a:t>
            </a:r>
          </a:p>
          <a:p>
            <a:r>
              <a:rPr lang="en-CA" dirty="0"/>
              <a:t>Its an alternative to the </a:t>
            </a:r>
            <a:r>
              <a:rPr lang="en-CA" b="1" dirty="0"/>
              <a:t>LEAGUE TABLE </a:t>
            </a:r>
            <a:r>
              <a:rPr lang="en-CA" dirty="0"/>
              <a:t>approach for making funding decisions over multiple projects.</a:t>
            </a:r>
          </a:p>
          <a:p>
            <a:pPr lvl="1"/>
            <a:r>
              <a:rPr lang="en-CA" dirty="0"/>
              <a:t>The league table will rank treatments according to their ICERs.</a:t>
            </a:r>
          </a:p>
          <a:p>
            <a:pPr lvl="1"/>
            <a:r>
              <a:rPr lang="en-CA" dirty="0"/>
              <a:t>A Multiple Criteria Decision Analysis will rank treatments according to a </a:t>
            </a:r>
            <a:r>
              <a:rPr lang="en-CA" b="1" dirty="0"/>
              <a:t>score.</a:t>
            </a:r>
            <a:endParaRPr lang="en-CA" dirty="0"/>
          </a:p>
          <a:p>
            <a:r>
              <a:rPr lang="en-CA" dirty="0"/>
              <a:t>MCDA is useful when decision makers are explicit about how economics and cost-effectiveness are only a single criteria when they are making decisions.</a:t>
            </a:r>
          </a:p>
          <a:p>
            <a:r>
              <a:rPr lang="en-CA" dirty="0"/>
              <a:t>It is also useful when we wish to rank based on multiple ICERs with different denominators. (i.e. for </a:t>
            </a:r>
            <a:r>
              <a:rPr lang="en-CA" b="1" dirty="0"/>
              <a:t>Benefit-Risk Reduction Analysis</a:t>
            </a:r>
            <a:r>
              <a:rPr lang="en-CA" dirty="0"/>
              <a:t>).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0379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81713-E656-3366-2344-C666FE970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38" y="563690"/>
            <a:ext cx="11155680" cy="1463040"/>
          </a:xfrm>
        </p:spPr>
        <p:txBody>
          <a:bodyPr/>
          <a:lstStyle/>
          <a:p>
            <a:r>
              <a:rPr lang="en-CA" dirty="0"/>
              <a:t>Single Criteria Decision Analysis VS Multiple Criteria Decision Analysis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F21EB8-6B1F-8921-4E94-B4663B44D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76409"/>
              </p:ext>
            </p:extLst>
          </p:nvPr>
        </p:nvGraphicFramePr>
        <p:xfrm>
          <a:off x="107004" y="2704451"/>
          <a:ext cx="3618690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008">
                  <a:extLst>
                    <a:ext uri="{9D8B030D-6E8A-4147-A177-3AD203B41FA5}">
                      <a16:colId xmlns:a16="http://schemas.microsoft.com/office/drawing/2014/main" val="1066918785"/>
                    </a:ext>
                  </a:extLst>
                </a:gridCol>
                <a:gridCol w="1687682">
                  <a:extLst>
                    <a:ext uri="{9D8B030D-6E8A-4147-A177-3AD203B41FA5}">
                      <a16:colId xmlns:a16="http://schemas.microsoft.com/office/drawing/2014/main" val="2791449839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ICER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2042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Cardiovascular 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$12,000/QALY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49521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Digital Mental Health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$25,000/QALY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7448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Oncology Immunotherapy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$48,000/QALY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215118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Orphan 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$120,000/QALY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99874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6A27F1-5975-353B-C8FD-3BCAE5C2E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603706"/>
              </p:ext>
            </p:extLst>
          </p:nvPr>
        </p:nvGraphicFramePr>
        <p:xfrm>
          <a:off x="4827689" y="2704451"/>
          <a:ext cx="7257307" cy="2686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571">
                  <a:extLst>
                    <a:ext uri="{9D8B030D-6E8A-4147-A177-3AD203B41FA5}">
                      <a16:colId xmlns:a16="http://schemas.microsoft.com/office/drawing/2014/main" val="1066918785"/>
                    </a:ext>
                  </a:extLst>
                </a:gridCol>
                <a:gridCol w="1486667">
                  <a:extLst>
                    <a:ext uri="{9D8B030D-6E8A-4147-A177-3AD203B41FA5}">
                      <a16:colId xmlns:a16="http://schemas.microsoft.com/office/drawing/2014/main" val="2791449839"/>
                    </a:ext>
                  </a:extLst>
                </a:gridCol>
                <a:gridCol w="1198167">
                  <a:extLst>
                    <a:ext uri="{9D8B030D-6E8A-4147-A177-3AD203B41FA5}">
                      <a16:colId xmlns:a16="http://schemas.microsoft.com/office/drawing/2014/main" val="1510347269"/>
                    </a:ext>
                  </a:extLst>
                </a:gridCol>
                <a:gridCol w="1322962">
                  <a:extLst>
                    <a:ext uri="{9D8B030D-6E8A-4147-A177-3AD203B41FA5}">
                      <a16:colId xmlns:a16="http://schemas.microsoft.com/office/drawing/2014/main" val="1233394659"/>
                    </a:ext>
                  </a:extLst>
                </a:gridCol>
                <a:gridCol w="1549940">
                  <a:extLst>
                    <a:ext uri="{9D8B030D-6E8A-4147-A177-3AD203B41FA5}">
                      <a16:colId xmlns:a16="http://schemas.microsoft.com/office/drawing/2014/main" val="1628141684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500" dirty="0"/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ICER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Patient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Clinical Efficacy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Age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2042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Cardiovascular 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$12,000/QALY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50+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49521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Digital Mental Health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$25,000/QALY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15-35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7448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Oncology Immunotherapy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$48,000/QALY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40-65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215118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Orphan 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$120,000/QALY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0-5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9987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A097D2C-1B6F-3C4F-5A67-D85ADD8F404E}"/>
              </a:ext>
            </a:extLst>
          </p:cNvPr>
          <p:cNvSpPr txBox="1"/>
          <p:nvPr/>
        </p:nvSpPr>
        <p:spPr>
          <a:xfrm>
            <a:off x="126851" y="2219816"/>
            <a:ext cx="3131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u="sng" dirty="0"/>
              <a:t>Single Criteria (ICER ONLY)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EFADC-7C49-8C84-B9DE-D3C4245E5681}"/>
              </a:ext>
            </a:extLst>
          </p:cNvPr>
          <p:cNvSpPr txBox="1"/>
          <p:nvPr/>
        </p:nvSpPr>
        <p:spPr>
          <a:xfrm>
            <a:off x="6534136" y="2180924"/>
            <a:ext cx="1966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u="sng" dirty="0"/>
              <a:t>Multiple Criteria </a:t>
            </a:r>
          </a:p>
        </p:txBody>
      </p:sp>
    </p:spTree>
    <p:extLst>
      <p:ext uri="{BB962C8B-B14F-4D97-AF65-F5344CB8AC3E}">
        <p14:creationId xmlns:p14="http://schemas.microsoft.com/office/powerpoint/2010/main" val="3874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CFCF-8B56-DEEB-5AA4-2718C15C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5399-1038-BFA7-305E-C529AF86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38" y="563690"/>
            <a:ext cx="11155680" cy="1463040"/>
          </a:xfrm>
        </p:spPr>
        <p:txBody>
          <a:bodyPr/>
          <a:lstStyle/>
          <a:p>
            <a:r>
              <a:rPr lang="en-CA" dirty="0"/>
              <a:t>Single Criteria Decision Analysis VS Multiple Criteria Decision Analysis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3E936F-CA84-5CA8-5411-06736103CC21}"/>
              </a:ext>
            </a:extLst>
          </p:cNvPr>
          <p:cNvGraphicFramePr>
            <a:graphicFrameLocks noGrp="1"/>
          </p:cNvGraphicFramePr>
          <p:nvPr/>
        </p:nvGraphicFramePr>
        <p:xfrm>
          <a:off x="107004" y="2704451"/>
          <a:ext cx="3618690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008">
                  <a:extLst>
                    <a:ext uri="{9D8B030D-6E8A-4147-A177-3AD203B41FA5}">
                      <a16:colId xmlns:a16="http://schemas.microsoft.com/office/drawing/2014/main" val="1066918785"/>
                    </a:ext>
                  </a:extLst>
                </a:gridCol>
                <a:gridCol w="1687682">
                  <a:extLst>
                    <a:ext uri="{9D8B030D-6E8A-4147-A177-3AD203B41FA5}">
                      <a16:colId xmlns:a16="http://schemas.microsoft.com/office/drawing/2014/main" val="2791449839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ICER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2042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Cardiovascular 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$12,000/QALY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49521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Digital Mental Health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$25,000/QALY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7448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Oncology Immunotherapy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$48,000/QALY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215118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Orphan 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$120,000/QALY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99874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BE9D4B-A670-CF37-3063-2E30AB07B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041935"/>
              </p:ext>
            </p:extLst>
          </p:nvPr>
        </p:nvGraphicFramePr>
        <p:xfrm>
          <a:off x="4827689" y="2704451"/>
          <a:ext cx="7257307" cy="2686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571">
                  <a:extLst>
                    <a:ext uri="{9D8B030D-6E8A-4147-A177-3AD203B41FA5}">
                      <a16:colId xmlns:a16="http://schemas.microsoft.com/office/drawing/2014/main" val="1066918785"/>
                    </a:ext>
                  </a:extLst>
                </a:gridCol>
                <a:gridCol w="1486667">
                  <a:extLst>
                    <a:ext uri="{9D8B030D-6E8A-4147-A177-3AD203B41FA5}">
                      <a16:colId xmlns:a16="http://schemas.microsoft.com/office/drawing/2014/main" val="2791449839"/>
                    </a:ext>
                  </a:extLst>
                </a:gridCol>
                <a:gridCol w="1187223">
                  <a:extLst>
                    <a:ext uri="{9D8B030D-6E8A-4147-A177-3AD203B41FA5}">
                      <a16:colId xmlns:a16="http://schemas.microsoft.com/office/drawing/2014/main" val="1510347269"/>
                    </a:ext>
                  </a:extLst>
                </a:gridCol>
                <a:gridCol w="1333906">
                  <a:extLst>
                    <a:ext uri="{9D8B030D-6E8A-4147-A177-3AD203B41FA5}">
                      <a16:colId xmlns:a16="http://schemas.microsoft.com/office/drawing/2014/main" val="1233394659"/>
                    </a:ext>
                  </a:extLst>
                </a:gridCol>
                <a:gridCol w="1549940">
                  <a:extLst>
                    <a:ext uri="{9D8B030D-6E8A-4147-A177-3AD203B41FA5}">
                      <a16:colId xmlns:a16="http://schemas.microsoft.com/office/drawing/2014/main" val="1628141684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500" dirty="0"/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ICER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Patient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Clinical Efficacy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Age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2042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Cardiovascular 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$12,000/QALY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50+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49521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Digital Mental Health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$25,000/QALY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15-35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7448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Oncology Immunotherapy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$48,000/QALY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40-65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215118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Orphan 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$120,000/QALY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0-5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9987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C94925-DFCD-1231-305E-87F23B3B5EBC}"/>
              </a:ext>
            </a:extLst>
          </p:cNvPr>
          <p:cNvSpPr txBox="1"/>
          <p:nvPr/>
        </p:nvSpPr>
        <p:spPr>
          <a:xfrm>
            <a:off x="126851" y="2219816"/>
            <a:ext cx="3131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u="sng" dirty="0"/>
              <a:t>Single Criteria (ICER ONLY)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D813AC-3557-6F9C-1261-97B5FB0436C9}"/>
              </a:ext>
            </a:extLst>
          </p:cNvPr>
          <p:cNvSpPr txBox="1"/>
          <p:nvPr/>
        </p:nvSpPr>
        <p:spPr>
          <a:xfrm>
            <a:off x="6534136" y="2180924"/>
            <a:ext cx="1966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u="sng" dirty="0"/>
              <a:t>Multiple Criteria 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4D247BDF-7BBD-C218-507B-C36281F2D83E}"/>
              </a:ext>
            </a:extLst>
          </p:cNvPr>
          <p:cNvSpPr/>
          <p:nvPr/>
        </p:nvSpPr>
        <p:spPr>
          <a:xfrm rot="16200000">
            <a:off x="9147636" y="2777004"/>
            <a:ext cx="323864" cy="5550860"/>
          </a:xfrm>
          <a:prstGeom prst="leftBrac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92F102-3D0C-9550-5103-07F7AF09D71C}"/>
              </a:ext>
            </a:extLst>
          </p:cNvPr>
          <p:cNvSpPr txBox="1"/>
          <p:nvPr/>
        </p:nvSpPr>
        <p:spPr>
          <a:xfrm>
            <a:off x="6646723" y="5714367"/>
            <a:ext cx="52545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Under Multiple Criteria Decision Analysis</a:t>
            </a:r>
            <a:br>
              <a:rPr lang="en-CA" b="1" dirty="0"/>
            </a:br>
            <a:r>
              <a:rPr lang="en-CA" b="1" dirty="0"/>
              <a:t>we need a Method for Scoring Each of these </a:t>
            </a:r>
            <a:br>
              <a:rPr lang="en-CA" b="1" dirty="0"/>
            </a:br>
            <a:r>
              <a:rPr lang="en-CA" b="1" dirty="0"/>
              <a:t>Attributes. (We will use more data than needed)</a:t>
            </a:r>
          </a:p>
        </p:txBody>
      </p:sp>
    </p:spTree>
    <p:extLst>
      <p:ext uri="{BB962C8B-B14F-4D97-AF65-F5344CB8AC3E}">
        <p14:creationId xmlns:p14="http://schemas.microsoft.com/office/powerpoint/2010/main" val="2201156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31439-6ADD-A54A-B30D-8DB8CD6B47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How to do a Multiple Criteria Decision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E05B8-18A6-D516-E046-B27B915ED8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4712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28D49-460E-1734-880A-71BF9B6C6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How to do a multiple criteria decision analysis.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35B54-1424-9AF6-9FBE-4B30960FB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Knowing that for MCDA we will be using more data than just the ICER for funding prioritization we need a guide for how to conduct it.</a:t>
            </a:r>
          </a:p>
          <a:p>
            <a:r>
              <a:rPr lang="en-CA" dirty="0"/>
              <a:t>Multiple Criteria Decision Analysis Involves three steps.</a:t>
            </a:r>
          </a:p>
          <a:p>
            <a:pPr marL="0" indent="0">
              <a:buNone/>
            </a:pPr>
            <a:r>
              <a:rPr lang="en-CA" u="sng" dirty="0"/>
              <a:t>Step 1:</a:t>
            </a:r>
            <a:r>
              <a:rPr lang="en-CA" dirty="0"/>
              <a:t> Choose your Data.</a:t>
            </a:r>
            <a:br>
              <a:rPr lang="en-CA" u="sng" dirty="0"/>
            </a:br>
            <a:r>
              <a:rPr lang="en-CA" u="sng" dirty="0"/>
              <a:t>Step 2: </a:t>
            </a:r>
            <a:r>
              <a:rPr lang="en-CA" dirty="0"/>
              <a:t>Numerate all non-numeric attributes.</a:t>
            </a:r>
            <a:br>
              <a:rPr lang="en-CA" dirty="0"/>
            </a:br>
            <a:r>
              <a:rPr lang="en-CA" u="sng" dirty="0"/>
              <a:t>Step 3: </a:t>
            </a:r>
            <a:r>
              <a:rPr lang="en-CA" dirty="0"/>
              <a:t>Generate a score under a scoring function.</a:t>
            </a:r>
            <a:endParaRPr lang="en-CA" u="sng" dirty="0"/>
          </a:p>
        </p:txBody>
      </p:sp>
    </p:spTree>
    <p:extLst>
      <p:ext uri="{BB962C8B-B14F-4D97-AF65-F5344CB8AC3E}">
        <p14:creationId xmlns:p14="http://schemas.microsoft.com/office/powerpoint/2010/main" val="2387446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CA605-5ADA-D335-B4C7-532D17318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dirty="0"/>
              <a:t>Choosing Data for a MDCA</a:t>
            </a:r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9DABD4-231E-CF14-E809-4D76E7A05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7" y="2429691"/>
            <a:ext cx="6216370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CFE09-18E2-A368-4A4B-DF211F33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CA" dirty="0"/>
              <a:t>When we choose data for MCDA, we care about if this is something that is important to decision makers.</a:t>
            </a:r>
          </a:p>
          <a:p>
            <a:r>
              <a:rPr lang="en-CA" dirty="0"/>
              <a:t>Theres no limit on the number of attributes or goals a problem can have.</a:t>
            </a:r>
          </a:p>
          <a:p>
            <a:r>
              <a:rPr lang="en-CA" dirty="0"/>
              <a:t>All we need to ask in the context of a MCDA.</a:t>
            </a:r>
          </a:p>
          <a:p>
            <a:r>
              <a:rPr lang="en-CA" dirty="0"/>
              <a:t>The UN has </a:t>
            </a:r>
            <a:r>
              <a:rPr lang="en-CA" b="1" dirty="0"/>
              <a:t>17 </a:t>
            </a:r>
            <a:r>
              <a:rPr lang="en-CA" dirty="0"/>
              <a:t>sustainable development goals. </a:t>
            </a:r>
          </a:p>
          <a:p>
            <a:r>
              <a:rPr lang="en-CA" dirty="0"/>
              <a:t>Under MCDA, we cannot say if this is good or bad based on the number of objectives.</a:t>
            </a:r>
          </a:p>
          <a:p>
            <a:r>
              <a:rPr lang="en-CA" dirty="0"/>
              <a:t>What is needed is that the data can be </a:t>
            </a:r>
            <a:r>
              <a:rPr lang="en-CA" b="1" dirty="0"/>
              <a:t>RANKED.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1129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B2CDC-C4E2-0390-51C5-6602445B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515A-BFA5-AD1F-13D1-43E4862CC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016508"/>
            <a:ext cx="11155680" cy="1463040"/>
          </a:xfrm>
        </p:spPr>
        <p:txBody>
          <a:bodyPr/>
          <a:lstStyle/>
          <a:p>
            <a:r>
              <a:rPr lang="en-CA" dirty="0"/>
              <a:t>Numerating Each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D4B52-5B86-B65F-C714-DAEB87AA2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650992" cy="3767328"/>
          </a:xfrm>
        </p:spPr>
        <p:txBody>
          <a:bodyPr/>
          <a:lstStyle/>
          <a:p>
            <a:r>
              <a:rPr lang="en-CA" dirty="0"/>
              <a:t>After selecting data we need to numerate it.</a:t>
            </a:r>
          </a:p>
          <a:p>
            <a:r>
              <a:rPr lang="en-CA" dirty="0"/>
              <a:t>There are very few restrictions on the scoring of data, however the scale should be reflective of the number of levels in the data.</a:t>
            </a:r>
          </a:p>
          <a:p>
            <a:r>
              <a:rPr lang="en-CA" dirty="0"/>
              <a:t>In general larger numbers should correspond to better outcomes (i.e. high, moderate, low should be numerated by 3, 2 and 1 etc.)</a:t>
            </a:r>
          </a:p>
          <a:p>
            <a:r>
              <a:rPr lang="en-CA" dirty="0"/>
              <a:t>This converts each “attribute” into a </a:t>
            </a:r>
            <a:r>
              <a:rPr lang="en-CA" b="1" dirty="0"/>
              <a:t>score.</a:t>
            </a:r>
          </a:p>
          <a:p>
            <a:r>
              <a:rPr lang="en-CA" b="1" dirty="0"/>
              <a:t>Scoring must be applied to every attribute in a data table.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BAB381-574C-59A9-0AC2-53F7408B2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096102"/>
              </p:ext>
            </p:extLst>
          </p:nvPr>
        </p:nvGraphicFramePr>
        <p:xfrm>
          <a:off x="6529509" y="3035428"/>
          <a:ext cx="5348165" cy="2686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8241">
                  <a:extLst>
                    <a:ext uri="{9D8B030D-6E8A-4147-A177-3AD203B41FA5}">
                      <a16:colId xmlns:a16="http://schemas.microsoft.com/office/drawing/2014/main" val="170490210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45076697"/>
                    </a:ext>
                  </a:extLst>
                </a:gridCol>
                <a:gridCol w="1685924">
                  <a:extLst>
                    <a:ext uri="{9D8B030D-6E8A-4147-A177-3AD203B41FA5}">
                      <a16:colId xmlns:a16="http://schemas.microsoft.com/office/drawing/2014/main" val="2488590581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500" dirty="0"/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Clinical Efficacy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Clinical Efficacy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354648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Cardiovascular 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614908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Digital Mental Health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381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Oncology Immunotherapy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529197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en-CA" sz="1500" dirty="0"/>
                        <a:t>Orphan 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5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5851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FB689AC-892B-DAA4-A697-8B45A2C20565}"/>
              </a:ext>
            </a:extLst>
          </p:cNvPr>
          <p:cNvSpPr txBox="1"/>
          <p:nvPr/>
        </p:nvSpPr>
        <p:spPr>
          <a:xfrm>
            <a:off x="6529509" y="2666096"/>
            <a:ext cx="2867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An Example of “Scoring” </a:t>
            </a:r>
          </a:p>
        </p:txBody>
      </p:sp>
    </p:spTree>
    <p:extLst>
      <p:ext uri="{BB962C8B-B14F-4D97-AF65-F5344CB8AC3E}">
        <p14:creationId xmlns:p14="http://schemas.microsoft.com/office/powerpoint/2010/main" val="3149079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2FF9-17ED-449E-F451-7A5599F3E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Scoring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B1FAA7-31E3-A6F2-B644-7F2EC23D40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/>
                  <a:t>Generally there are two main scoring functions when we conduct a multiple criteria decision analysis:</a:t>
                </a:r>
              </a:p>
              <a:p>
                <a:pPr marL="342900" indent="-342900">
                  <a:buAutoNum type="arabicPeriod"/>
                </a:pPr>
                <a:r>
                  <a:rPr lang="en-CA" dirty="0"/>
                  <a:t>Weighted Sum Model :</a:t>
                </a:r>
                <a:br>
                  <a:rPr lang="en-CA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342900" indent="-342900">
                  <a:buAutoNum type="arabicPeriod"/>
                </a:pPr>
                <a:r>
                  <a:rPr lang="en-CA" dirty="0"/>
                  <a:t>Weighted Product Model:</a:t>
                </a:r>
                <a:br>
                  <a:rPr lang="en-CA" dirty="0"/>
                </a:b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CA" dirty="0"/>
              </a:p>
              <a:p>
                <a:r>
                  <a:rPr lang="en-CA" dirty="0"/>
                  <a:t>More complex algorithms exist for ranking outcomes (i.e. </a:t>
                </a:r>
                <a:r>
                  <a:rPr lang="en-CA" b="1" dirty="0"/>
                  <a:t>AHP, VIKOR</a:t>
                </a:r>
                <a:r>
                  <a:rPr lang="en-CA" dirty="0"/>
                  <a:t>  and </a:t>
                </a:r>
                <a:r>
                  <a:rPr lang="en-CA" b="1" dirty="0"/>
                  <a:t>MACBETH)</a:t>
                </a:r>
                <a:r>
                  <a:rPr lang="en-CA" dirty="0"/>
                  <a:t>  but generally these two options will serve us well.</a:t>
                </a:r>
              </a:p>
              <a:p>
                <a:pPr marL="342900" indent="-342900">
                  <a:buAutoNum type="arabicPeriod"/>
                </a:pPr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B1FAA7-31E3-A6F2-B644-7F2EC23D40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2" t="-4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603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338FC-9264-0E26-E20A-F91B2FB8A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MCDA in the literature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EFCB6-8C7F-2E36-98D6-36F3B33968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A" sz="1500" i="0" dirty="0"/>
              <a:t>Matera, Maria Gabriella, et al. "Multi-criteria decision analysis of biologics in chronic obstructive pulmonary disease." </a:t>
            </a:r>
            <a:r>
              <a:rPr lang="en-CA" sz="1500" dirty="0"/>
              <a:t>International Journal of Chronic Obstructive Pulmonary Disease</a:t>
            </a:r>
            <a:r>
              <a:rPr lang="en-CA" sz="1500" i="0" dirty="0"/>
              <a:t> (2025): 3163-3173.</a:t>
            </a:r>
            <a:endParaRPr lang="en-CA" sz="1500" dirty="0"/>
          </a:p>
        </p:txBody>
      </p:sp>
    </p:spTree>
    <p:extLst>
      <p:ext uri="{BB962C8B-B14F-4D97-AF65-F5344CB8AC3E}">
        <p14:creationId xmlns:p14="http://schemas.microsoft.com/office/powerpoint/2010/main" val="1873186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5F6F6F-5D33-3001-3B8A-793D0E62C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41" y="231530"/>
            <a:ext cx="11125451" cy="33604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70E5C9-5A1C-7109-D75B-25D4B00ED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44" y="3592003"/>
            <a:ext cx="11585133" cy="216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56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2E2D47-B1D8-9A52-B0ED-5FC30D319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14" y="1060938"/>
            <a:ext cx="11646371" cy="473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95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8E555B-8BEA-0BF5-5FB4-2E858C6E4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95" y="517211"/>
            <a:ext cx="10303852" cy="621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55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B1872-CCBD-CBC2-7712-A5C882D7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E840FB-16DC-0E4C-32AD-0848B23EF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95" y="517211"/>
            <a:ext cx="10303852" cy="62165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D0B98A-AF4B-04DF-67B1-AE7C33703DE3}"/>
              </a:ext>
            </a:extLst>
          </p:cNvPr>
          <p:cNvSpPr txBox="1"/>
          <p:nvPr/>
        </p:nvSpPr>
        <p:spPr>
          <a:xfrm>
            <a:off x="9892061" y="2148181"/>
            <a:ext cx="15987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MCDA is a</a:t>
            </a:r>
          </a:p>
          <a:p>
            <a:r>
              <a:rPr lang="en-CA" b="1" dirty="0"/>
              <a:t>Great tool</a:t>
            </a:r>
          </a:p>
          <a:p>
            <a:r>
              <a:rPr lang="en-CA" b="1" dirty="0"/>
              <a:t>for forming</a:t>
            </a:r>
            <a:br>
              <a:rPr lang="en-CA" b="1" dirty="0"/>
            </a:br>
            <a:r>
              <a:rPr lang="en-CA" b="1" dirty="0"/>
              <a:t>rankings over</a:t>
            </a:r>
            <a:br>
              <a:rPr lang="en-CA" b="1" dirty="0"/>
            </a:br>
            <a:r>
              <a:rPr lang="en-CA" b="1" dirty="0"/>
              <a:t>treatments!</a:t>
            </a:r>
          </a:p>
        </p:txBody>
      </p:sp>
    </p:spTree>
    <p:extLst>
      <p:ext uri="{BB962C8B-B14F-4D97-AF65-F5344CB8AC3E}">
        <p14:creationId xmlns:p14="http://schemas.microsoft.com/office/powerpoint/2010/main" val="2413202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1641-DE7F-C52D-AE5C-15F5E98177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Some Economic Critiques of MCDA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A31A9-A79E-51DD-7B6F-D36C16894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357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78963" y="571590"/>
            <a:ext cx="8458200" cy="1143000"/>
          </a:xfrm>
        </p:spPr>
        <p:txBody>
          <a:bodyPr>
            <a:normAutofit/>
          </a:bodyPr>
          <a:lstStyle/>
          <a:p>
            <a:r>
              <a:rPr lang="de-DE" sz="3600" dirty="0"/>
              <a:t>Critique #1:Tinbergen Rule</a:t>
            </a:r>
            <a:endParaRPr lang="en-GB" sz="36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842" y="1571625"/>
            <a:ext cx="6477000" cy="4114800"/>
          </a:xfrm>
        </p:spPr>
        <p:txBody>
          <a:bodyPr>
            <a:normAutofit/>
          </a:bodyPr>
          <a:lstStyle/>
          <a:p>
            <a:r>
              <a:rPr lang="en-GB" sz="2800" i="1" dirty="0"/>
              <a:t>N</a:t>
            </a:r>
            <a:r>
              <a:rPr lang="en-GB" sz="2800" dirty="0"/>
              <a:t> problems require </a:t>
            </a:r>
            <a:r>
              <a:rPr lang="en-GB" sz="2800" i="1" dirty="0"/>
              <a:t>N</a:t>
            </a:r>
            <a:r>
              <a:rPr lang="en-GB" sz="2800" dirty="0"/>
              <a:t> policy instruments.</a:t>
            </a:r>
          </a:p>
          <a:p>
            <a:r>
              <a:rPr lang="en-GB" sz="2800" dirty="0"/>
              <a:t>This follows immediately from LaGrange’s work on optimization.</a:t>
            </a:r>
          </a:p>
          <a:p>
            <a:r>
              <a:rPr lang="en-GB" sz="2800" dirty="0"/>
              <a:t>Misdiagnosing multiple problems (social, environmental, economic) for a single one will thus get the solution wrong.</a:t>
            </a:r>
          </a:p>
          <a:p>
            <a:endParaRPr lang="en-GB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744" y="975176"/>
            <a:ext cx="2138801" cy="29015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065" y="974599"/>
            <a:ext cx="2583369" cy="29021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576786-D1BC-DE70-9EAB-57CCA3E0DF42}"/>
              </a:ext>
            </a:extLst>
          </p:cNvPr>
          <p:cNvSpPr txBox="1"/>
          <p:nvPr/>
        </p:nvSpPr>
        <p:spPr>
          <a:xfrm>
            <a:off x="6985525" y="3876766"/>
            <a:ext cx="1766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/>
              <a:t>Jan Tinbergen </a:t>
            </a:r>
            <a:br>
              <a:rPr lang="en-CA" i="1" dirty="0"/>
            </a:br>
            <a:r>
              <a:rPr lang="en-CA" i="1" dirty="0"/>
              <a:t>1903-1994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BC7BA-9ED9-9641-AC49-CCC8D0812266}"/>
              </a:ext>
            </a:extLst>
          </p:cNvPr>
          <p:cNvSpPr txBox="1"/>
          <p:nvPr/>
        </p:nvSpPr>
        <p:spPr>
          <a:xfrm>
            <a:off x="9438065" y="3940155"/>
            <a:ext cx="2678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/>
              <a:t>Joseph-Louis Lagrange</a:t>
            </a:r>
            <a:br>
              <a:rPr lang="en-CA" i="1" dirty="0"/>
            </a:br>
            <a:r>
              <a:rPr lang="en-CA" i="1" dirty="0"/>
              <a:t>1736-1813</a:t>
            </a:r>
          </a:p>
        </p:txBody>
      </p:sp>
    </p:spTree>
    <p:extLst>
      <p:ext uri="{BB962C8B-B14F-4D97-AF65-F5344CB8AC3E}">
        <p14:creationId xmlns:p14="http://schemas.microsoft.com/office/powerpoint/2010/main" val="828845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1F106-E0E8-1746-B8BD-5687B2FEA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dirty="0"/>
              <a:t>Critique #2: Who determines the score</a:t>
            </a:r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FB3313-CB78-4EF5-C587-0775DB119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2922353"/>
            <a:ext cx="6281928" cy="34236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9CD3B-6012-0D42-7854-1FCC4CE6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CA" dirty="0"/>
              <a:t>Multiple criteria decision analysis provides very little guidance on how attributes should be weighted.</a:t>
            </a:r>
          </a:p>
          <a:p>
            <a:r>
              <a:rPr lang="en-CA" dirty="0"/>
              <a:t>Even after careful reasoning, we may not truly pin down the correct way to weight each outcome.</a:t>
            </a:r>
          </a:p>
          <a:p>
            <a:r>
              <a:rPr lang="en-CA" dirty="0"/>
              <a:t>Changing of weights can radically impact the ranking of results.</a:t>
            </a:r>
          </a:p>
          <a:p>
            <a:r>
              <a:rPr lang="en-CA" dirty="0"/>
              <a:t>Sensitivity analysis of weights is very important for this reason.</a:t>
            </a:r>
          </a:p>
        </p:txBody>
      </p:sp>
    </p:spTree>
    <p:extLst>
      <p:ext uri="{BB962C8B-B14F-4D97-AF65-F5344CB8AC3E}">
        <p14:creationId xmlns:p14="http://schemas.microsoft.com/office/powerpoint/2010/main" val="1488070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58433-870E-1381-EAB8-582CE4962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2800" dirty="0"/>
              <a:t>Critique #3: Cost Effectiveness  is a more reliable tool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4AE71-B2BD-179E-A6F9-FE9F8B824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2922353"/>
            <a:ext cx="6281928" cy="34236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CB244-6202-8187-0E87-A3A77A9C6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CA" dirty="0"/>
              <a:t>We all care about generating value for money.</a:t>
            </a:r>
          </a:p>
          <a:p>
            <a:r>
              <a:rPr lang="en-CA" dirty="0"/>
              <a:t>By choosing to maximize over a score we are choosing some best choice over a weighted average of possible best choices.</a:t>
            </a:r>
          </a:p>
          <a:p>
            <a:r>
              <a:rPr lang="en-CA" dirty="0"/>
              <a:t>Maximizing over multiple objectives can lead us to situations where none of these objectives are satisfied.</a:t>
            </a:r>
          </a:p>
          <a:p>
            <a:r>
              <a:rPr lang="en-CA" dirty="0"/>
              <a:t>Ranking under the ICER is more reliable, because we are sure pick the best choice under a single criteria.</a:t>
            </a:r>
          </a:p>
          <a:p>
            <a:r>
              <a:rPr lang="en-CA" dirty="0"/>
              <a:t>Under multiple criteria we may get nowhere.</a:t>
            </a:r>
          </a:p>
        </p:txBody>
      </p:sp>
    </p:spTree>
    <p:extLst>
      <p:ext uri="{BB962C8B-B14F-4D97-AF65-F5344CB8AC3E}">
        <p14:creationId xmlns:p14="http://schemas.microsoft.com/office/powerpoint/2010/main" val="3447689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2874-AD48-9ACA-DCEA-72C6748B8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Concluding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902A6-C3E6-EA41-CCA0-4CD5A363C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Multiple Criteria Decision Analysis is a powerful tool for ranking alternatives beyond the use of league tables.</a:t>
            </a:r>
          </a:p>
          <a:p>
            <a:r>
              <a:rPr lang="en-CA" dirty="0"/>
              <a:t>They can accommodate many attributes and can be employed simply using some very basic algorithms.</a:t>
            </a:r>
          </a:p>
          <a:p>
            <a:r>
              <a:rPr lang="en-CA" dirty="0"/>
              <a:t>They can inform best clinical practices with new drugs and provide guidance on funding decisions beyond cost effectiveness.</a:t>
            </a:r>
          </a:p>
          <a:p>
            <a:r>
              <a:rPr lang="en-CA" dirty="0"/>
              <a:t>They are not without their own limitations as MCDA is very sensitive to scoring methods and weighting of attributes. </a:t>
            </a:r>
          </a:p>
        </p:txBody>
      </p:sp>
    </p:spTree>
    <p:extLst>
      <p:ext uri="{BB962C8B-B14F-4D97-AF65-F5344CB8AC3E}">
        <p14:creationId xmlns:p14="http://schemas.microsoft.com/office/powerpoint/2010/main" val="159568919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10386</TotalTime>
  <Words>1373</Words>
  <Application>Microsoft Office PowerPoint</Application>
  <PresentationFormat>Widescreen</PresentationFormat>
  <Paragraphs>178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Bierstadt</vt:lpstr>
      <vt:lpstr>Cambria Math</vt:lpstr>
      <vt:lpstr>GestaltVTI</vt:lpstr>
      <vt:lpstr>Advanced Topics in Economic Evaluation and Healthcare</vt:lpstr>
      <vt:lpstr>Lecture Overview</vt:lpstr>
      <vt:lpstr>An Introduction to Multiple Criteria Decision Analysis</vt:lpstr>
      <vt:lpstr>What is multiple criteria decision analysis</vt:lpstr>
      <vt:lpstr>On the Need for Multi Criteria Decision Analysis in Health Technology Assessment</vt:lpstr>
      <vt:lpstr>The “Fathers” of Multiple Criteria Decision Analysis</vt:lpstr>
      <vt:lpstr>What a multiple criteria decision analysis is and is not.</vt:lpstr>
      <vt:lpstr>Single Criteria Decision Analysis VS Multiple Criteria Decision Analysis </vt:lpstr>
      <vt:lpstr>Single Criteria Decision Analysis VS Multiple Criteria Decision Analysis </vt:lpstr>
      <vt:lpstr>How to do a Multiple Criteria Decision Analysis</vt:lpstr>
      <vt:lpstr>How to do a multiple criteria decision analysis. </vt:lpstr>
      <vt:lpstr>Choosing Data for a MDCA</vt:lpstr>
      <vt:lpstr>Numerating Each Attribute</vt:lpstr>
      <vt:lpstr>Scoring Functions</vt:lpstr>
      <vt:lpstr>MCDA in the literature</vt:lpstr>
      <vt:lpstr>PowerPoint Presentation</vt:lpstr>
      <vt:lpstr>PowerPoint Presentation</vt:lpstr>
      <vt:lpstr>PowerPoint Presentation</vt:lpstr>
      <vt:lpstr>PowerPoint Presentation</vt:lpstr>
      <vt:lpstr>Some Economic Critiques of MCDA</vt:lpstr>
      <vt:lpstr>Critique #1:Tinbergen Rule</vt:lpstr>
      <vt:lpstr>Critique #2: Who determines the score</vt:lpstr>
      <vt:lpstr>Critique #3: Cost Effectiveness  is a more reliable tool</vt:lpstr>
      <vt:lpstr>Concluding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82</cp:revision>
  <dcterms:created xsi:type="dcterms:W3CDTF">2026-08-17T03:21:10Z</dcterms:created>
  <dcterms:modified xsi:type="dcterms:W3CDTF">2026-10-27T04:37:47Z</dcterms:modified>
</cp:coreProperties>
</file>