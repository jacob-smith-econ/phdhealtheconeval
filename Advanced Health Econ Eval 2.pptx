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1" r:id="rId1"/>
  </p:sldMasterIdLst>
  <p:notesMasterIdLst>
    <p:notesMasterId r:id="rId56"/>
  </p:notesMasterIdLst>
  <p:sldIdLst>
    <p:sldId id="256" r:id="rId2"/>
    <p:sldId id="257" r:id="rId3"/>
    <p:sldId id="258" r:id="rId4"/>
    <p:sldId id="290" r:id="rId5"/>
    <p:sldId id="291" r:id="rId6"/>
    <p:sldId id="307" r:id="rId7"/>
    <p:sldId id="308" r:id="rId8"/>
    <p:sldId id="292" r:id="rId9"/>
    <p:sldId id="293" r:id="rId10"/>
    <p:sldId id="309" r:id="rId11"/>
    <p:sldId id="310" r:id="rId12"/>
    <p:sldId id="312" r:id="rId13"/>
    <p:sldId id="313" r:id="rId14"/>
    <p:sldId id="314" r:id="rId15"/>
    <p:sldId id="315" r:id="rId16"/>
    <p:sldId id="316" r:id="rId17"/>
    <p:sldId id="319" r:id="rId18"/>
    <p:sldId id="317" r:id="rId19"/>
    <p:sldId id="322" r:id="rId20"/>
    <p:sldId id="320" r:id="rId21"/>
    <p:sldId id="321" r:id="rId22"/>
    <p:sldId id="324" r:id="rId23"/>
    <p:sldId id="325" r:id="rId24"/>
    <p:sldId id="329" r:id="rId25"/>
    <p:sldId id="330" r:id="rId26"/>
    <p:sldId id="328" r:id="rId27"/>
    <p:sldId id="331" r:id="rId28"/>
    <p:sldId id="332" r:id="rId29"/>
    <p:sldId id="333" r:id="rId30"/>
    <p:sldId id="326" r:id="rId31"/>
    <p:sldId id="327" r:id="rId32"/>
    <p:sldId id="318" r:id="rId33"/>
    <p:sldId id="334" r:id="rId34"/>
    <p:sldId id="336" r:id="rId35"/>
    <p:sldId id="284" r:id="rId36"/>
    <p:sldId id="279" r:id="rId37"/>
    <p:sldId id="288" r:id="rId38"/>
    <p:sldId id="285" r:id="rId39"/>
    <p:sldId id="346" r:id="rId40"/>
    <p:sldId id="280" r:id="rId41"/>
    <p:sldId id="289" r:id="rId42"/>
    <p:sldId id="294" r:id="rId43"/>
    <p:sldId id="350" r:id="rId44"/>
    <p:sldId id="347" r:id="rId45"/>
    <p:sldId id="299" r:id="rId46"/>
    <p:sldId id="300" r:id="rId47"/>
    <p:sldId id="348" r:id="rId48"/>
    <p:sldId id="349" r:id="rId49"/>
    <p:sldId id="345" r:id="rId50"/>
    <p:sldId id="337" r:id="rId51"/>
    <p:sldId id="339" r:id="rId52"/>
    <p:sldId id="342" r:id="rId53"/>
    <p:sldId id="343" r:id="rId54"/>
    <p:sldId id="344"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163" autoAdjust="0"/>
  </p:normalViewPr>
  <p:slideViewPr>
    <p:cSldViewPr snapToGrid="0">
      <p:cViewPr varScale="1">
        <p:scale>
          <a:sx n="105" d="100"/>
          <a:sy n="105" d="100"/>
        </p:scale>
        <p:origin x="72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285F2B-9DB3-46C6-BD28-BD611964EFEF}" type="datetimeFigureOut">
              <a:rPr lang="en-CA" smtClean="0"/>
              <a:t>2026-09-15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E760D0-8468-434B-992C-0B7D2D93019E}" type="slidenum">
              <a:rPr lang="en-CA" smtClean="0"/>
              <a:t>‹#›</a:t>
            </a:fld>
            <a:endParaRPr lang="en-CA"/>
          </a:p>
        </p:txBody>
      </p:sp>
    </p:spTree>
    <p:extLst>
      <p:ext uri="{BB962C8B-B14F-4D97-AF65-F5344CB8AC3E}">
        <p14:creationId xmlns:p14="http://schemas.microsoft.com/office/powerpoint/2010/main" val="1054136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9/15/2026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78024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9/15/2026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123097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9/15/2026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9826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9/15/2026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002187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9/15/2026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05767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9/15/2026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33923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9/15/2026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840889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9/15/2026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54749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9/15/2026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18625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9/15/2026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119280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9/15/2026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5958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9/15/2026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066053621"/>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70" r:id="rId6"/>
    <p:sldLayoutId id="2147483775" r:id="rId7"/>
    <p:sldLayoutId id="2147483771" r:id="rId8"/>
    <p:sldLayoutId id="2147483772" r:id="rId9"/>
    <p:sldLayoutId id="2147483773" r:id="rId10"/>
    <p:sldLayoutId id="2147483774"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clinicaltrials.gov/study/NCT07513259?viewType=Card&amp;aggFilters=results:with,status:com&amp;page=2&amp;rank=11&amp;tab=results#results-overview"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cda-amc.ca/list-publicly-available-canadian-cost-information"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cihi.ca/en/patient-cost-estimator"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150.png"/><Relationship Id="rId3" Type="http://schemas.openxmlformats.org/officeDocument/2006/relationships/image" Target="../media/image100.png"/><Relationship Id="rId7" Type="http://schemas.openxmlformats.org/officeDocument/2006/relationships/image" Target="../media/image140.png"/><Relationship Id="rId2"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120.png"/><Relationship Id="rId4" Type="http://schemas.openxmlformats.org/officeDocument/2006/relationships/image" Target="../media/image110.png"/></Relationships>
</file>

<file path=ppt/slides/_rels/slide45.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170.png"/><Relationship Id="rId3" Type="http://schemas.openxmlformats.org/officeDocument/2006/relationships/image" Target="../media/image160.png"/><Relationship Id="rId7" Type="http://schemas.openxmlformats.org/officeDocument/2006/relationships/image" Target="../media/image140.png"/><Relationship Id="rId2"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120.png"/><Relationship Id="rId4" Type="http://schemas.openxmlformats.org/officeDocument/2006/relationships/image" Target="../media/image110.png"/></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hyperlink" Target="https://pede.research.sickkids.ca/" TargetMode="External"/><Relationship Id="rId2" Type="http://schemas.openxmlformats.org/officeDocument/2006/relationships/hyperlink" Target="https://cear.tuftsmedicalcenter.org/"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5820888B-4EA5-E0E8-6D52-7733E1E774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813863-F928-09F7-33F8-93C103CEAA85}"/>
              </a:ext>
            </a:extLst>
          </p:cNvPr>
          <p:cNvSpPr>
            <a:spLocks noGrp="1"/>
          </p:cNvSpPr>
          <p:nvPr>
            <p:ph type="ctrTitle"/>
          </p:nvPr>
        </p:nvSpPr>
        <p:spPr>
          <a:xfrm>
            <a:off x="521208" y="978408"/>
            <a:ext cx="3397649" cy="3303764"/>
          </a:xfrm>
        </p:spPr>
        <p:txBody>
          <a:bodyPr anchor="t">
            <a:normAutofit/>
          </a:bodyPr>
          <a:lstStyle/>
          <a:p>
            <a:pPr>
              <a:lnSpc>
                <a:spcPct val="90000"/>
              </a:lnSpc>
            </a:pPr>
            <a:r>
              <a:rPr lang="en-US" sz="3700" dirty="0"/>
              <a:t>Advanced Topics in Economic Evaluation and Healthcare</a:t>
            </a:r>
            <a:endParaRPr lang="en-CA" sz="3700" dirty="0"/>
          </a:p>
        </p:txBody>
      </p:sp>
      <p:sp>
        <p:nvSpPr>
          <p:cNvPr id="3" name="Subtitle 2">
            <a:extLst>
              <a:ext uri="{FF2B5EF4-FFF2-40B4-BE49-F238E27FC236}">
                <a16:creationId xmlns:a16="http://schemas.microsoft.com/office/drawing/2014/main" id="{DB04B19C-1926-B464-1194-E2E07EBD9E44}"/>
              </a:ext>
            </a:extLst>
          </p:cNvPr>
          <p:cNvSpPr>
            <a:spLocks noGrp="1"/>
          </p:cNvSpPr>
          <p:nvPr>
            <p:ph type="subTitle" idx="1"/>
          </p:nvPr>
        </p:nvSpPr>
        <p:spPr>
          <a:xfrm>
            <a:off x="521208" y="4354633"/>
            <a:ext cx="3397649" cy="1706533"/>
          </a:xfrm>
        </p:spPr>
        <p:txBody>
          <a:bodyPr anchor="t">
            <a:normAutofit/>
          </a:bodyPr>
          <a:lstStyle/>
          <a:p>
            <a:r>
              <a:rPr lang="en-US" dirty="0"/>
              <a:t>Lecture #2: Searching the Literature, Measuring Costs, Measuring Effects</a:t>
            </a:r>
            <a:endParaRPr lang="en-CA" dirty="0"/>
          </a:p>
        </p:txBody>
      </p:sp>
      <p:sp>
        <p:nvSpPr>
          <p:cNvPr id="35" name="Freeform: Shape 34">
            <a:extLst>
              <a:ext uri="{FF2B5EF4-FFF2-40B4-BE49-F238E27FC236}">
                <a16:creationId xmlns:a16="http://schemas.microsoft.com/office/drawing/2014/main" id="{06B5A8BF-0680-F9A7-27B1-3971EC9347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Logo Request Form - McMaster Brand">
            <a:extLst>
              <a:ext uri="{FF2B5EF4-FFF2-40B4-BE49-F238E27FC236}">
                <a16:creationId xmlns:a16="http://schemas.microsoft.com/office/drawing/2014/main" id="{9B664600-1FAC-3307-6550-FD235344C1A8}"/>
              </a:ext>
            </a:extLst>
          </p:cNvPr>
          <p:cNvPicPr>
            <a:picLocks noChangeAspect="1"/>
          </p:cNvPicPr>
          <p:nvPr/>
        </p:nvPicPr>
        <p:blipFill>
          <a:blip r:embed="rId2"/>
          <a:stretch>
            <a:fillRect/>
          </a:stretch>
        </p:blipFill>
        <p:spPr>
          <a:xfrm>
            <a:off x="6585625" y="5679630"/>
            <a:ext cx="5192171" cy="1005924"/>
          </a:xfrm>
          <a:prstGeom prst="rect">
            <a:avLst/>
          </a:prstGeom>
        </p:spPr>
      </p:pic>
    </p:spTree>
    <p:extLst>
      <p:ext uri="{BB962C8B-B14F-4D97-AF65-F5344CB8AC3E}">
        <p14:creationId xmlns:p14="http://schemas.microsoft.com/office/powerpoint/2010/main" val="38173063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B99E3-1F2A-1B0A-B8F0-5B3BAE3B4A5A}"/>
              </a:ext>
            </a:extLst>
          </p:cNvPr>
          <p:cNvSpPr>
            <a:spLocks noGrp="1"/>
          </p:cNvSpPr>
          <p:nvPr>
            <p:ph type="title"/>
          </p:nvPr>
        </p:nvSpPr>
        <p:spPr/>
        <p:txBody>
          <a:bodyPr/>
          <a:lstStyle/>
          <a:p>
            <a:r>
              <a:rPr lang="en-US" dirty="0"/>
              <a:t>Lecture Overview</a:t>
            </a:r>
            <a:endParaRPr lang="en-CA" dirty="0"/>
          </a:p>
        </p:txBody>
      </p:sp>
      <p:sp>
        <p:nvSpPr>
          <p:cNvPr id="3" name="Content Placeholder 2">
            <a:extLst>
              <a:ext uri="{FF2B5EF4-FFF2-40B4-BE49-F238E27FC236}">
                <a16:creationId xmlns:a16="http://schemas.microsoft.com/office/drawing/2014/main" id="{9D6A6D4B-9CE9-D639-6C88-AA260321B53F}"/>
              </a:ext>
            </a:extLst>
          </p:cNvPr>
          <p:cNvSpPr>
            <a:spLocks noGrp="1"/>
          </p:cNvSpPr>
          <p:nvPr>
            <p:ph idx="1"/>
          </p:nvPr>
        </p:nvSpPr>
        <p:spPr/>
        <p:txBody>
          <a:bodyPr/>
          <a:lstStyle/>
          <a:p>
            <a:r>
              <a:rPr lang="en-US" dirty="0"/>
              <a:t>In this lecture we will discuss.</a:t>
            </a:r>
          </a:p>
          <a:p>
            <a:pPr marL="800100" lvl="1" indent="-342900">
              <a:buFont typeface="+mj-lt"/>
              <a:buAutoNum type="arabicPeriod"/>
            </a:pPr>
            <a:r>
              <a:rPr lang="en-US" dirty="0"/>
              <a:t>What literature cost effectiveness studies are built out from.</a:t>
            </a:r>
          </a:p>
          <a:p>
            <a:pPr marL="800100" lvl="1" indent="-342900">
              <a:buFont typeface="+mj-lt"/>
              <a:buAutoNum type="arabicPeriod"/>
            </a:pPr>
            <a:r>
              <a:rPr lang="en-US" dirty="0"/>
              <a:t>The Measurement and Determination of Costs.</a:t>
            </a:r>
          </a:p>
          <a:p>
            <a:pPr marL="800100" lvl="1" indent="-342900">
              <a:buFont typeface="+mj-lt"/>
              <a:buAutoNum type="arabicPeriod"/>
            </a:pPr>
            <a:r>
              <a:rPr lang="en-US" dirty="0"/>
              <a:t>The Measurement and Determination of Effects (QALYs, DALYs and other Outcomes).</a:t>
            </a:r>
          </a:p>
          <a:p>
            <a:r>
              <a:rPr lang="en-US" dirty="0"/>
              <a:t>By the end of this lecture you will know how to leverage requisite data sources for critiquing and conducting cost effectiveness analysis.</a:t>
            </a:r>
          </a:p>
        </p:txBody>
      </p:sp>
    </p:spTree>
    <p:extLst>
      <p:ext uri="{BB962C8B-B14F-4D97-AF65-F5344CB8AC3E}">
        <p14:creationId xmlns:p14="http://schemas.microsoft.com/office/powerpoint/2010/main" val="3348784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AFD72-F22F-DE7A-1518-8BBB79698AE1}"/>
              </a:ext>
            </a:extLst>
          </p:cNvPr>
          <p:cNvSpPr>
            <a:spLocks noGrp="1"/>
          </p:cNvSpPr>
          <p:nvPr>
            <p:ph type="ctrTitle"/>
          </p:nvPr>
        </p:nvSpPr>
        <p:spPr/>
        <p:txBody>
          <a:bodyPr/>
          <a:lstStyle/>
          <a:p>
            <a:r>
              <a:rPr lang="en-US" dirty="0"/>
              <a:t>Searching the Literature</a:t>
            </a:r>
            <a:endParaRPr lang="en-CA" dirty="0"/>
          </a:p>
        </p:txBody>
      </p:sp>
    </p:spTree>
    <p:extLst>
      <p:ext uri="{BB962C8B-B14F-4D97-AF65-F5344CB8AC3E}">
        <p14:creationId xmlns:p14="http://schemas.microsoft.com/office/powerpoint/2010/main" val="2927914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CDA1D-9A52-2C6F-5A9C-A9527ADD28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F745F5-FCAA-9D25-1B36-B1DC2498FC56}"/>
              </a:ext>
            </a:extLst>
          </p:cNvPr>
          <p:cNvSpPr>
            <a:spLocks noGrp="1"/>
          </p:cNvSpPr>
          <p:nvPr>
            <p:ph type="title"/>
          </p:nvPr>
        </p:nvSpPr>
        <p:spPr>
          <a:xfrm>
            <a:off x="355119" y="534177"/>
            <a:ext cx="10634472" cy="1117092"/>
          </a:xfrm>
        </p:spPr>
        <p:txBody>
          <a:bodyPr>
            <a:normAutofit fontScale="90000"/>
          </a:bodyPr>
          <a:lstStyle/>
          <a:p>
            <a:r>
              <a:rPr lang="en-US" sz="3600" dirty="0"/>
              <a:t>Review: Economic Evaluation and The Life Cycle of a Drug</a:t>
            </a:r>
            <a:endParaRPr lang="en-CA" sz="3600" dirty="0"/>
          </a:p>
        </p:txBody>
      </p:sp>
      <p:cxnSp>
        <p:nvCxnSpPr>
          <p:cNvPr id="5" name="Straight Arrow Connector 4">
            <a:extLst>
              <a:ext uri="{FF2B5EF4-FFF2-40B4-BE49-F238E27FC236}">
                <a16:creationId xmlns:a16="http://schemas.microsoft.com/office/drawing/2014/main" id="{1F4C43E5-5306-6DEE-39E5-3A078A7FF97D}"/>
              </a:ext>
            </a:extLst>
          </p:cNvPr>
          <p:cNvCxnSpPr>
            <a:cxnSpLocks/>
            <a:stCxn id="7" idx="0"/>
          </p:cNvCxnSpPr>
          <p:nvPr/>
        </p:nvCxnSpPr>
        <p:spPr>
          <a:xfrm>
            <a:off x="826850" y="4280170"/>
            <a:ext cx="11245176" cy="6756"/>
          </a:xfrm>
          <a:prstGeom prst="straightConnector1">
            <a:avLst/>
          </a:prstGeom>
          <a:ln w="571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 name="Freeform: Shape 6">
            <a:extLst>
              <a:ext uri="{FF2B5EF4-FFF2-40B4-BE49-F238E27FC236}">
                <a16:creationId xmlns:a16="http://schemas.microsoft.com/office/drawing/2014/main" id="{D00C9074-F4FB-C538-A114-6BA6478D4F81}"/>
              </a:ext>
            </a:extLst>
          </p:cNvPr>
          <p:cNvSpPr/>
          <p:nvPr/>
        </p:nvSpPr>
        <p:spPr>
          <a:xfrm>
            <a:off x="826850" y="2937755"/>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9FD37E33-D5D3-2CDF-3A60-7B6F66DC0660}"/>
              </a:ext>
            </a:extLst>
          </p:cNvPr>
          <p:cNvSpPr txBox="1"/>
          <p:nvPr/>
        </p:nvSpPr>
        <p:spPr>
          <a:xfrm rot="19311110">
            <a:off x="849889" y="2226576"/>
            <a:ext cx="1811363" cy="369332"/>
          </a:xfrm>
          <a:prstGeom prst="rect">
            <a:avLst/>
          </a:prstGeom>
          <a:noFill/>
        </p:spPr>
        <p:txBody>
          <a:bodyPr wrap="square" rtlCol="0">
            <a:spAutoFit/>
          </a:bodyPr>
          <a:lstStyle/>
          <a:p>
            <a:r>
              <a:rPr lang="en-US" i="1" dirty="0"/>
              <a:t>Patent filed</a:t>
            </a:r>
            <a:endParaRPr lang="en-CA" i="1" dirty="0"/>
          </a:p>
        </p:txBody>
      </p:sp>
      <p:sp>
        <p:nvSpPr>
          <p:cNvPr id="10" name="Freeform: Shape 9">
            <a:extLst>
              <a:ext uri="{FF2B5EF4-FFF2-40B4-BE49-F238E27FC236}">
                <a16:creationId xmlns:a16="http://schemas.microsoft.com/office/drawing/2014/main" id="{5FC2D05D-943A-1DDF-97D5-0800DCF15FCB}"/>
              </a:ext>
            </a:extLst>
          </p:cNvPr>
          <p:cNvSpPr/>
          <p:nvPr/>
        </p:nvSpPr>
        <p:spPr>
          <a:xfrm>
            <a:off x="233463" y="2937754"/>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3" name="Straight Connector 12">
            <a:extLst>
              <a:ext uri="{FF2B5EF4-FFF2-40B4-BE49-F238E27FC236}">
                <a16:creationId xmlns:a16="http://schemas.microsoft.com/office/drawing/2014/main" id="{69350319-A9B7-129E-5CD6-8597E43AF428}"/>
              </a:ext>
            </a:extLst>
          </p:cNvPr>
          <p:cNvCxnSpPr>
            <a:cxnSpLocks/>
            <a:endCxn id="7" idx="0"/>
          </p:cNvCxnSpPr>
          <p:nvPr/>
        </p:nvCxnSpPr>
        <p:spPr>
          <a:xfrm>
            <a:off x="233463" y="4280170"/>
            <a:ext cx="593387" cy="0"/>
          </a:xfrm>
          <a:prstGeom prst="line">
            <a:avLst/>
          </a:prstGeom>
          <a:ln w="571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FA2B26A-4829-1C3D-CF89-9599943870DD}"/>
              </a:ext>
            </a:extLst>
          </p:cNvPr>
          <p:cNvSpPr txBox="1"/>
          <p:nvPr/>
        </p:nvSpPr>
        <p:spPr>
          <a:xfrm rot="19260489">
            <a:off x="318884" y="2322722"/>
            <a:ext cx="1210053" cy="369332"/>
          </a:xfrm>
          <a:prstGeom prst="rect">
            <a:avLst/>
          </a:prstGeom>
          <a:noFill/>
        </p:spPr>
        <p:txBody>
          <a:bodyPr wrap="square" rtlCol="0">
            <a:spAutoFit/>
          </a:bodyPr>
          <a:lstStyle/>
          <a:p>
            <a:r>
              <a:rPr lang="en-US" i="1" dirty="0"/>
              <a:t>Discovery</a:t>
            </a:r>
          </a:p>
        </p:txBody>
      </p:sp>
      <p:sp>
        <p:nvSpPr>
          <p:cNvPr id="16" name="Freeform: Shape 15">
            <a:extLst>
              <a:ext uri="{FF2B5EF4-FFF2-40B4-BE49-F238E27FC236}">
                <a16:creationId xmlns:a16="http://schemas.microsoft.com/office/drawing/2014/main" id="{98059795-6022-995A-7662-80FE3D75F050}"/>
              </a:ext>
            </a:extLst>
          </p:cNvPr>
          <p:cNvSpPr/>
          <p:nvPr/>
        </p:nvSpPr>
        <p:spPr>
          <a:xfrm>
            <a:off x="1575881" y="2932889"/>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TextBox 16">
            <a:extLst>
              <a:ext uri="{FF2B5EF4-FFF2-40B4-BE49-F238E27FC236}">
                <a16:creationId xmlns:a16="http://schemas.microsoft.com/office/drawing/2014/main" id="{7AA3DECA-A0CC-9DDA-EE4E-E85FDAB2DEB7}"/>
              </a:ext>
            </a:extLst>
          </p:cNvPr>
          <p:cNvSpPr txBox="1"/>
          <p:nvPr/>
        </p:nvSpPr>
        <p:spPr>
          <a:xfrm rot="19311110">
            <a:off x="1558769" y="2065906"/>
            <a:ext cx="2254124" cy="369332"/>
          </a:xfrm>
          <a:prstGeom prst="rect">
            <a:avLst/>
          </a:prstGeom>
          <a:noFill/>
        </p:spPr>
        <p:txBody>
          <a:bodyPr wrap="square" rtlCol="0">
            <a:spAutoFit/>
          </a:bodyPr>
          <a:lstStyle/>
          <a:p>
            <a:r>
              <a:rPr lang="en-US" i="1" dirty="0"/>
              <a:t>Acute Toxicology</a:t>
            </a:r>
            <a:endParaRPr lang="en-CA" i="1" dirty="0"/>
          </a:p>
        </p:txBody>
      </p:sp>
      <p:sp>
        <p:nvSpPr>
          <p:cNvPr id="18" name="Freeform: Shape 17">
            <a:extLst>
              <a:ext uri="{FF2B5EF4-FFF2-40B4-BE49-F238E27FC236}">
                <a16:creationId xmlns:a16="http://schemas.microsoft.com/office/drawing/2014/main" id="{A0FA65E3-6BE8-18C1-E48E-628F913D809A}"/>
              </a:ext>
            </a:extLst>
          </p:cNvPr>
          <p:cNvSpPr/>
          <p:nvPr/>
        </p:nvSpPr>
        <p:spPr>
          <a:xfrm>
            <a:off x="1979848" y="2924244"/>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Freeform: Shape 18">
            <a:extLst>
              <a:ext uri="{FF2B5EF4-FFF2-40B4-BE49-F238E27FC236}">
                <a16:creationId xmlns:a16="http://schemas.microsoft.com/office/drawing/2014/main" id="{E6F27F8F-15AF-5F14-B800-CE9584CFC33B}"/>
              </a:ext>
            </a:extLst>
          </p:cNvPr>
          <p:cNvSpPr/>
          <p:nvPr/>
        </p:nvSpPr>
        <p:spPr>
          <a:xfrm>
            <a:off x="2458100" y="2937753"/>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2" name="TextBox 21">
            <a:extLst>
              <a:ext uri="{FF2B5EF4-FFF2-40B4-BE49-F238E27FC236}">
                <a16:creationId xmlns:a16="http://schemas.microsoft.com/office/drawing/2014/main" id="{88460A9B-0EF0-7110-984B-69DE5BF41EA8}"/>
              </a:ext>
            </a:extLst>
          </p:cNvPr>
          <p:cNvSpPr txBox="1"/>
          <p:nvPr/>
        </p:nvSpPr>
        <p:spPr>
          <a:xfrm rot="19311110">
            <a:off x="2037021" y="2041980"/>
            <a:ext cx="2254124" cy="369332"/>
          </a:xfrm>
          <a:prstGeom prst="rect">
            <a:avLst/>
          </a:prstGeom>
          <a:noFill/>
        </p:spPr>
        <p:txBody>
          <a:bodyPr wrap="square" rtlCol="0">
            <a:spAutoFit/>
          </a:bodyPr>
          <a:lstStyle/>
          <a:p>
            <a:r>
              <a:rPr lang="en-US" i="1" dirty="0"/>
              <a:t>Pharmacology</a:t>
            </a:r>
            <a:endParaRPr lang="en-CA" i="1" dirty="0"/>
          </a:p>
        </p:txBody>
      </p:sp>
      <p:sp>
        <p:nvSpPr>
          <p:cNvPr id="23" name="TextBox 22">
            <a:extLst>
              <a:ext uri="{FF2B5EF4-FFF2-40B4-BE49-F238E27FC236}">
                <a16:creationId xmlns:a16="http://schemas.microsoft.com/office/drawing/2014/main" id="{AF46C2EE-2A1E-8D79-DD8D-D0114177DCBD}"/>
              </a:ext>
            </a:extLst>
          </p:cNvPr>
          <p:cNvSpPr txBox="1"/>
          <p:nvPr/>
        </p:nvSpPr>
        <p:spPr>
          <a:xfrm rot="19311110">
            <a:off x="2497218" y="2055492"/>
            <a:ext cx="2254124" cy="369332"/>
          </a:xfrm>
          <a:prstGeom prst="rect">
            <a:avLst/>
          </a:prstGeom>
          <a:noFill/>
        </p:spPr>
        <p:txBody>
          <a:bodyPr wrap="square" rtlCol="0">
            <a:spAutoFit/>
          </a:bodyPr>
          <a:lstStyle/>
          <a:p>
            <a:r>
              <a:rPr lang="en-US" i="1" dirty="0"/>
              <a:t>Chronical toxicity</a:t>
            </a:r>
            <a:endParaRPr lang="en-CA" i="1" dirty="0"/>
          </a:p>
        </p:txBody>
      </p:sp>
      <p:sp>
        <p:nvSpPr>
          <p:cNvPr id="24" name="Freeform: Shape 23">
            <a:extLst>
              <a:ext uri="{FF2B5EF4-FFF2-40B4-BE49-F238E27FC236}">
                <a16:creationId xmlns:a16="http://schemas.microsoft.com/office/drawing/2014/main" id="{738CCB43-5020-6980-7F09-9021BB97E8BC}"/>
              </a:ext>
            </a:extLst>
          </p:cNvPr>
          <p:cNvSpPr/>
          <p:nvPr/>
        </p:nvSpPr>
        <p:spPr>
          <a:xfrm>
            <a:off x="3914652" y="2924243"/>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5" name="TextBox 24">
            <a:extLst>
              <a:ext uri="{FF2B5EF4-FFF2-40B4-BE49-F238E27FC236}">
                <a16:creationId xmlns:a16="http://schemas.microsoft.com/office/drawing/2014/main" id="{26FA8090-FEB7-BB2F-0AB8-F95CD084F05B}"/>
              </a:ext>
            </a:extLst>
          </p:cNvPr>
          <p:cNvSpPr txBox="1"/>
          <p:nvPr/>
        </p:nvSpPr>
        <p:spPr>
          <a:xfrm rot="19311110">
            <a:off x="3910043" y="2024494"/>
            <a:ext cx="2376365" cy="369332"/>
          </a:xfrm>
          <a:prstGeom prst="rect">
            <a:avLst/>
          </a:prstGeom>
          <a:noFill/>
        </p:spPr>
        <p:txBody>
          <a:bodyPr wrap="square" rtlCol="0">
            <a:spAutoFit/>
          </a:bodyPr>
          <a:lstStyle/>
          <a:p>
            <a:r>
              <a:rPr lang="en-US" i="1" dirty="0"/>
              <a:t>Clinical Trials Phase I </a:t>
            </a:r>
            <a:endParaRPr lang="en-CA" i="1" dirty="0"/>
          </a:p>
        </p:txBody>
      </p:sp>
      <p:sp>
        <p:nvSpPr>
          <p:cNvPr id="26" name="Freeform: Shape 25">
            <a:extLst>
              <a:ext uri="{FF2B5EF4-FFF2-40B4-BE49-F238E27FC236}">
                <a16:creationId xmlns:a16="http://schemas.microsoft.com/office/drawing/2014/main" id="{357A89DF-CDDC-4939-DC95-C926AE3FF4AB}"/>
              </a:ext>
            </a:extLst>
          </p:cNvPr>
          <p:cNvSpPr/>
          <p:nvPr/>
        </p:nvSpPr>
        <p:spPr>
          <a:xfrm>
            <a:off x="4534130" y="2930999"/>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7" name="TextBox 26">
            <a:extLst>
              <a:ext uri="{FF2B5EF4-FFF2-40B4-BE49-F238E27FC236}">
                <a16:creationId xmlns:a16="http://schemas.microsoft.com/office/drawing/2014/main" id="{C6BD3763-1257-7F86-B214-C20EE2B0367E}"/>
              </a:ext>
            </a:extLst>
          </p:cNvPr>
          <p:cNvSpPr txBox="1"/>
          <p:nvPr/>
        </p:nvSpPr>
        <p:spPr>
          <a:xfrm rot="19311110">
            <a:off x="4526969" y="2031251"/>
            <a:ext cx="2376365" cy="369332"/>
          </a:xfrm>
          <a:prstGeom prst="rect">
            <a:avLst/>
          </a:prstGeom>
          <a:noFill/>
        </p:spPr>
        <p:txBody>
          <a:bodyPr wrap="square" rtlCol="0">
            <a:spAutoFit/>
          </a:bodyPr>
          <a:lstStyle/>
          <a:p>
            <a:r>
              <a:rPr lang="en-US" i="1" dirty="0"/>
              <a:t>Phase II</a:t>
            </a:r>
            <a:endParaRPr lang="en-CA" i="1" dirty="0"/>
          </a:p>
        </p:txBody>
      </p:sp>
      <p:sp>
        <p:nvSpPr>
          <p:cNvPr id="28" name="Freeform: Shape 27">
            <a:extLst>
              <a:ext uri="{FF2B5EF4-FFF2-40B4-BE49-F238E27FC236}">
                <a16:creationId xmlns:a16="http://schemas.microsoft.com/office/drawing/2014/main" id="{2867CEAA-E317-A3F7-7184-4F19CD51AF0F}"/>
              </a:ext>
            </a:extLst>
          </p:cNvPr>
          <p:cNvSpPr/>
          <p:nvPr/>
        </p:nvSpPr>
        <p:spPr>
          <a:xfrm>
            <a:off x="5036319" y="2944511"/>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9" name="TextBox 28">
            <a:extLst>
              <a:ext uri="{FF2B5EF4-FFF2-40B4-BE49-F238E27FC236}">
                <a16:creationId xmlns:a16="http://schemas.microsoft.com/office/drawing/2014/main" id="{2199FE58-AD61-368F-8417-EF2F46673930}"/>
              </a:ext>
            </a:extLst>
          </p:cNvPr>
          <p:cNvSpPr txBox="1"/>
          <p:nvPr/>
        </p:nvSpPr>
        <p:spPr>
          <a:xfrm rot="19311110">
            <a:off x="5063697" y="2093245"/>
            <a:ext cx="2376365" cy="369332"/>
          </a:xfrm>
          <a:prstGeom prst="rect">
            <a:avLst/>
          </a:prstGeom>
          <a:noFill/>
        </p:spPr>
        <p:txBody>
          <a:bodyPr wrap="square" rtlCol="0">
            <a:spAutoFit/>
          </a:bodyPr>
          <a:lstStyle/>
          <a:p>
            <a:r>
              <a:rPr lang="en-US" i="1" dirty="0"/>
              <a:t>Phase III</a:t>
            </a:r>
            <a:endParaRPr lang="en-CA" i="1" dirty="0"/>
          </a:p>
        </p:txBody>
      </p:sp>
      <p:sp>
        <p:nvSpPr>
          <p:cNvPr id="34" name="Freeform: Shape 33">
            <a:extLst>
              <a:ext uri="{FF2B5EF4-FFF2-40B4-BE49-F238E27FC236}">
                <a16:creationId xmlns:a16="http://schemas.microsoft.com/office/drawing/2014/main" id="{4B135D3C-2578-2DDF-93AC-76FED926FE60}"/>
              </a:ext>
            </a:extLst>
          </p:cNvPr>
          <p:cNvSpPr/>
          <p:nvPr/>
        </p:nvSpPr>
        <p:spPr>
          <a:xfrm>
            <a:off x="6078882" y="2924243"/>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5" name="Freeform: Shape 34">
            <a:extLst>
              <a:ext uri="{FF2B5EF4-FFF2-40B4-BE49-F238E27FC236}">
                <a16:creationId xmlns:a16="http://schemas.microsoft.com/office/drawing/2014/main" id="{4059B8F4-17B2-53F2-1E30-18AF873CA567}"/>
              </a:ext>
            </a:extLst>
          </p:cNvPr>
          <p:cNvSpPr/>
          <p:nvPr/>
        </p:nvSpPr>
        <p:spPr>
          <a:xfrm>
            <a:off x="6726986" y="2930999"/>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6" name="Freeform: Shape 35">
            <a:extLst>
              <a:ext uri="{FF2B5EF4-FFF2-40B4-BE49-F238E27FC236}">
                <a16:creationId xmlns:a16="http://schemas.microsoft.com/office/drawing/2014/main" id="{A867CB66-B1A2-7D14-6B79-4DA97888273F}"/>
              </a:ext>
            </a:extLst>
          </p:cNvPr>
          <p:cNvSpPr/>
          <p:nvPr/>
        </p:nvSpPr>
        <p:spPr>
          <a:xfrm>
            <a:off x="7229175" y="2944511"/>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7" name="TextBox 36">
            <a:extLst>
              <a:ext uri="{FF2B5EF4-FFF2-40B4-BE49-F238E27FC236}">
                <a16:creationId xmlns:a16="http://schemas.microsoft.com/office/drawing/2014/main" id="{D2EC2455-2CFF-1E0B-7841-90879832B0B7}"/>
              </a:ext>
            </a:extLst>
          </p:cNvPr>
          <p:cNvSpPr txBox="1"/>
          <p:nvPr/>
        </p:nvSpPr>
        <p:spPr>
          <a:xfrm rot="19311110">
            <a:off x="6112171" y="2024493"/>
            <a:ext cx="2376365" cy="369332"/>
          </a:xfrm>
          <a:prstGeom prst="rect">
            <a:avLst/>
          </a:prstGeom>
          <a:noFill/>
        </p:spPr>
        <p:txBody>
          <a:bodyPr wrap="square" rtlCol="0">
            <a:spAutoFit/>
          </a:bodyPr>
          <a:lstStyle/>
          <a:p>
            <a:r>
              <a:rPr lang="en-US" i="1" dirty="0"/>
              <a:t>Registration </a:t>
            </a:r>
            <a:endParaRPr lang="en-CA" i="1" dirty="0"/>
          </a:p>
        </p:txBody>
      </p:sp>
      <p:sp>
        <p:nvSpPr>
          <p:cNvPr id="38" name="TextBox 37">
            <a:extLst>
              <a:ext uri="{FF2B5EF4-FFF2-40B4-BE49-F238E27FC236}">
                <a16:creationId xmlns:a16="http://schemas.microsoft.com/office/drawing/2014/main" id="{605701D9-4666-B01F-5D42-5E2E51312B98}"/>
              </a:ext>
            </a:extLst>
          </p:cNvPr>
          <p:cNvSpPr txBox="1"/>
          <p:nvPr/>
        </p:nvSpPr>
        <p:spPr>
          <a:xfrm rot="19311110">
            <a:off x="6707524" y="2015750"/>
            <a:ext cx="2376365" cy="369332"/>
          </a:xfrm>
          <a:prstGeom prst="rect">
            <a:avLst/>
          </a:prstGeom>
          <a:noFill/>
        </p:spPr>
        <p:txBody>
          <a:bodyPr wrap="square" rtlCol="0">
            <a:spAutoFit/>
          </a:bodyPr>
          <a:lstStyle/>
          <a:p>
            <a:r>
              <a:rPr lang="en-US" i="1" dirty="0"/>
              <a:t>Price</a:t>
            </a:r>
            <a:endParaRPr lang="en-CA" i="1" dirty="0"/>
          </a:p>
        </p:txBody>
      </p:sp>
      <p:sp>
        <p:nvSpPr>
          <p:cNvPr id="39" name="TextBox 38">
            <a:extLst>
              <a:ext uri="{FF2B5EF4-FFF2-40B4-BE49-F238E27FC236}">
                <a16:creationId xmlns:a16="http://schemas.microsoft.com/office/drawing/2014/main" id="{67A74C9F-16E4-826E-313D-2C221654B5B1}"/>
              </a:ext>
            </a:extLst>
          </p:cNvPr>
          <p:cNvSpPr txBox="1"/>
          <p:nvPr/>
        </p:nvSpPr>
        <p:spPr>
          <a:xfrm rot="19311110">
            <a:off x="7254972" y="2048738"/>
            <a:ext cx="2376365" cy="369332"/>
          </a:xfrm>
          <a:prstGeom prst="rect">
            <a:avLst/>
          </a:prstGeom>
          <a:noFill/>
        </p:spPr>
        <p:txBody>
          <a:bodyPr wrap="square" rtlCol="0">
            <a:spAutoFit/>
          </a:bodyPr>
          <a:lstStyle/>
          <a:p>
            <a:r>
              <a:rPr lang="en-US" i="1" dirty="0"/>
              <a:t>Drug surveillance</a:t>
            </a:r>
            <a:endParaRPr lang="en-CA" i="1" dirty="0"/>
          </a:p>
        </p:txBody>
      </p:sp>
      <p:sp>
        <p:nvSpPr>
          <p:cNvPr id="41" name="Left Brace 40">
            <a:extLst>
              <a:ext uri="{FF2B5EF4-FFF2-40B4-BE49-F238E27FC236}">
                <a16:creationId xmlns:a16="http://schemas.microsoft.com/office/drawing/2014/main" id="{2D0710DA-1E91-5279-6371-D1D646AF7C97}"/>
              </a:ext>
            </a:extLst>
          </p:cNvPr>
          <p:cNvSpPr/>
          <p:nvPr/>
        </p:nvSpPr>
        <p:spPr>
          <a:xfrm rot="16200000">
            <a:off x="2794219" y="2420952"/>
            <a:ext cx="316239" cy="4250977"/>
          </a:xfrm>
          <a:prstGeom prst="leftBrace">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42" name="TextBox 41">
            <a:extLst>
              <a:ext uri="{FF2B5EF4-FFF2-40B4-BE49-F238E27FC236}">
                <a16:creationId xmlns:a16="http://schemas.microsoft.com/office/drawing/2014/main" id="{39F9A302-3365-806B-743B-C99A7B8DFEA0}"/>
              </a:ext>
            </a:extLst>
          </p:cNvPr>
          <p:cNvSpPr txBox="1"/>
          <p:nvPr/>
        </p:nvSpPr>
        <p:spPr>
          <a:xfrm>
            <a:off x="2378623" y="4622775"/>
            <a:ext cx="1147430" cy="369332"/>
          </a:xfrm>
          <a:prstGeom prst="rect">
            <a:avLst/>
          </a:prstGeom>
          <a:noFill/>
        </p:spPr>
        <p:txBody>
          <a:bodyPr wrap="none" rtlCol="0">
            <a:spAutoFit/>
          </a:bodyPr>
          <a:lstStyle/>
          <a:p>
            <a:r>
              <a:rPr lang="en-US" dirty="0"/>
              <a:t>Research</a:t>
            </a:r>
            <a:endParaRPr lang="en-CA" dirty="0"/>
          </a:p>
        </p:txBody>
      </p:sp>
      <p:sp>
        <p:nvSpPr>
          <p:cNvPr id="43" name="Left Brace 42">
            <a:extLst>
              <a:ext uri="{FF2B5EF4-FFF2-40B4-BE49-F238E27FC236}">
                <a16:creationId xmlns:a16="http://schemas.microsoft.com/office/drawing/2014/main" id="{20CBC3BE-0E47-D445-F11F-6AD554030CAA}"/>
              </a:ext>
            </a:extLst>
          </p:cNvPr>
          <p:cNvSpPr/>
          <p:nvPr/>
        </p:nvSpPr>
        <p:spPr>
          <a:xfrm rot="16200000">
            <a:off x="6488098" y="3634863"/>
            <a:ext cx="247227" cy="1727113"/>
          </a:xfrm>
          <a:prstGeom prst="leftBrace">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44" name="TextBox 43">
            <a:extLst>
              <a:ext uri="{FF2B5EF4-FFF2-40B4-BE49-F238E27FC236}">
                <a16:creationId xmlns:a16="http://schemas.microsoft.com/office/drawing/2014/main" id="{86EFE60F-86AF-5502-A64B-3E52321FED9D}"/>
              </a:ext>
            </a:extLst>
          </p:cNvPr>
          <p:cNvSpPr txBox="1"/>
          <p:nvPr/>
        </p:nvSpPr>
        <p:spPr>
          <a:xfrm>
            <a:off x="5824643" y="4549903"/>
            <a:ext cx="1696362" cy="369332"/>
          </a:xfrm>
          <a:prstGeom prst="rect">
            <a:avLst/>
          </a:prstGeom>
          <a:noFill/>
        </p:spPr>
        <p:txBody>
          <a:bodyPr wrap="none" rtlCol="0">
            <a:spAutoFit/>
          </a:bodyPr>
          <a:lstStyle/>
          <a:p>
            <a:r>
              <a:rPr lang="en-US" dirty="0"/>
              <a:t>Administration</a:t>
            </a:r>
            <a:endParaRPr lang="en-CA" dirty="0"/>
          </a:p>
        </p:txBody>
      </p:sp>
      <p:sp>
        <p:nvSpPr>
          <p:cNvPr id="45" name="Oval 44">
            <a:extLst>
              <a:ext uri="{FF2B5EF4-FFF2-40B4-BE49-F238E27FC236}">
                <a16:creationId xmlns:a16="http://schemas.microsoft.com/office/drawing/2014/main" id="{8345F288-9F1F-6216-C18E-BA60CB19C5FE}"/>
              </a:ext>
            </a:extLst>
          </p:cNvPr>
          <p:cNvSpPr/>
          <p:nvPr/>
        </p:nvSpPr>
        <p:spPr>
          <a:xfrm>
            <a:off x="5203406" y="4198475"/>
            <a:ext cx="175978" cy="176901"/>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TextBox 45">
            <a:extLst>
              <a:ext uri="{FF2B5EF4-FFF2-40B4-BE49-F238E27FC236}">
                <a16:creationId xmlns:a16="http://schemas.microsoft.com/office/drawing/2014/main" id="{3E3B55C8-8BA6-B9C1-6ECC-A206BEA33A1B}"/>
              </a:ext>
            </a:extLst>
          </p:cNvPr>
          <p:cNvSpPr txBox="1"/>
          <p:nvPr/>
        </p:nvSpPr>
        <p:spPr>
          <a:xfrm>
            <a:off x="11473534" y="4361774"/>
            <a:ext cx="718466" cy="369332"/>
          </a:xfrm>
          <a:prstGeom prst="rect">
            <a:avLst/>
          </a:prstGeom>
          <a:noFill/>
        </p:spPr>
        <p:txBody>
          <a:bodyPr wrap="none" rtlCol="0">
            <a:spAutoFit/>
          </a:bodyPr>
          <a:lstStyle/>
          <a:p>
            <a:r>
              <a:rPr lang="en-US" b="1" i="1" dirty="0"/>
              <a:t>Time</a:t>
            </a:r>
            <a:endParaRPr lang="en-CA" b="1" i="1" dirty="0"/>
          </a:p>
        </p:txBody>
      </p:sp>
      <p:sp>
        <p:nvSpPr>
          <p:cNvPr id="47" name="TextBox 46">
            <a:extLst>
              <a:ext uri="{FF2B5EF4-FFF2-40B4-BE49-F238E27FC236}">
                <a16:creationId xmlns:a16="http://schemas.microsoft.com/office/drawing/2014/main" id="{6E82A5BA-920F-B8C5-D089-BE44B9A87F93}"/>
              </a:ext>
            </a:extLst>
          </p:cNvPr>
          <p:cNvSpPr txBox="1"/>
          <p:nvPr/>
        </p:nvSpPr>
        <p:spPr>
          <a:xfrm rot="3757880">
            <a:off x="5121490" y="4586210"/>
            <a:ext cx="1016432" cy="369332"/>
          </a:xfrm>
          <a:prstGeom prst="rect">
            <a:avLst/>
          </a:prstGeom>
          <a:noFill/>
        </p:spPr>
        <p:txBody>
          <a:bodyPr wrap="none" rtlCol="0">
            <a:spAutoFit/>
          </a:bodyPr>
          <a:lstStyle/>
          <a:p>
            <a:r>
              <a:rPr lang="en-US" dirty="0"/>
              <a:t>10 years</a:t>
            </a:r>
            <a:endParaRPr lang="en-CA" dirty="0"/>
          </a:p>
        </p:txBody>
      </p:sp>
      <p:sp>
        <p:nvSpPr>
          <p:cNvPr id="48" name="Oval 47">
            <a:extLst>
              <a:ext uri="{FF2B5EF4-FFF2-40B4-BE49-F238E27FC236}">
                <a16:creationId xmlns:a16="http://schemas.microsoft.com/office/drawing/2014/main" id="{08ADFF5C-19E7-AEF2-830C-D08E77B46421}"/>
              </a:ext>
            </a:extLst>
          </p:cNvPr>
          <p:cNvSpPr/>
          <p:nvPr/>
        </p:nvSpPr>
        <p:spPr>
          <a:xfrm>
            <a:off x="7574480" y="4166331"/>
            <a:ext cx="175978" cy="176901"/>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9" name="TextBox 48">
            <a:extLst>
              <a:ext uri="{FF2B5EF4-FFF2-40B4-BE49-F238E27FC236}">
                <a16:creationId xmlns:a16="http://schemas.microsoft.com/office/drawing/2014/main" id="{F45CB52B-423F-6F2D-41A6-7F7446C47FEF}"/>
              </a:ext>
            </a:extLst>
          </p:cNvPr>
          <p:cNvSpPr txBox="1"/>
          <p:nvPr/>
        </p:nvSpPr>
        <p:spPr>
          <a:xfrm rot="3757880">
            <a:off x="9535700" y="4606207"/>
            <a:ext cx="1016432" cy="369332"/>
          </a:xfrm>
          <a:prstGeom prst="rect">
            <a:avLst/>
          </a:prstGeom>
          <a:noFill/>
        </p:spPr>
        <p:txBody>
          <a:bodyPr wrap="none" rtlCol="0">
            <a:spAutoFit/>
          </a:bodyPr>
          <a:lstStyle/>
          <a:p>
            <a:r>
              <a:rPr lang="en-US" dirty="0"/>
              <a:t>20 years</a:t>
            </a:r>
            <a:endParaRPr lang="en-CA" dirty="0"/>
          </a:p>
        </p:txBody>
      </p:sp>
      <p:sp>
        <p:nvSpPr>
          <p:cNvPr id="50" name="Oval 49">
            <a:extLst>
              <a:ext uri="{FF2B5EF4-FFF2-40B4-BE49-F238E27FC236}">
                <a16:creationId xmlns:a16="http://schemas.microsoft.com/office/drawing/2014/main" id="{46E42915-B19F-2445-48EC-CFCA4065083B}"/>
              </a:ext>
            </a:extLst>
          </p:cNvPr>
          <p:cNvSpPr/>
          <p:nvPr/>
        </p:nvSpPr>
        <p:spPr>
          <a:xfrm>
            <a:off x="9667951" y="4182826"/>
            <a:ext cx="175978" cy="176901"/>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1" name="TextBox 50">
            <a:extLst>
              <a:ext uri="{FF2B5EF4-FFF2-40B4-BE49-F238E27FC236}">
                <a16:creationId xmlns:a16="http://schemas.microsoft.com/office/drawing/2014/main" id="{21E1A587-1F5A-8B68-5E2B-39207C6F66D5}"/>
              </a:ext>
            </a:extLst>
          </p:cNvPr>
          <p:cNvSpPr txBox="1"/>
          <p:nvPr/>
        </p:nvSpPr>
        <p:spPr>
          <a:xfrm rot="3757880">
            <a:off x="7562819" y="4702432"/>
            <a:ext cx="1016432" cy="369332"/>
          </a:xfrm>
          <a:prstGeom prst="rect">
            <a:avLst/>
          </a:prstGeom>
          <a:noFill/>
        </p:spPr>
        <p:txBody>
          <a:bodyPr wrap="none" rtlCol="0">
            <a:spAutoFit/>
          </a:bodyPr>
          <a:lstStyle/>
          <a:p>
            <a:r>
              <a:rPr lang="en-US" dirty="0"/>
              <a:t>15 years</a:t>
            </a:r>
            <a:endParaRPr lang="en-CA" dirty="0"/>
          </a:p>
        </p:txBody>
      </p:sp>
      <p:sp>
        <p:nvSpPr>
          <p:cNvPr id="52" name="TextBox 51">
            <a:extLst>
              <a:ext uri="{FF2B5EF4-FFF2-40B4-BE49-F238E27FC236}">
                <a16:creationId xmlns:a16="http://schemas.microsoft.com/office/drawing/2014/main" id="{FDD3E3AF-992E-9781-A547-F8A0C9712D59}"/>
              </a:ext>
            </a:extLst>
          </p:cNvPr>
          <p:cNvSpPr txBox="1"/>
          <p:nvPr/>
        </p:nvSpPr>
        <p:spPr>
          <a:xfrm>
            <a:off x="9537618" y="3757188"/>
            <a:ext cx="1652825" cy="369332"/>
          </a:xfrm>
          <a:prstGeom prst="rect">
            <a:avLst/>
          </a:prstGeom>
          <a:noFill/>
        </p:spPr>
        <p:txBody>
          <a:bodyPr wrap="none" rtlCol="0">
            <a:spAutoFit/>
          </a:bodyPr>
          <a:lstStyle/>
          <a:p>
            <a:r>
              <a:rPr lang="en-US" i="1" dirty="0"/>
              <a:t>Patent Expires</a:t>
            </a:r>
            <a:endParaRPr lang="en-CA" i="1" dirty="0"/>
          </a:p>
        </p:txBody>
      </p:sp>
    </p:spTree>
    <p:extLst>
      <p:ext uri="{BB962C8B-B14F-4D97-AF65-F5344CB8AC3E}">
        <p14:creationId xmlns:p14="http://schemas.microsoft.com/office/powerpoint/2010/main" val="2606127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FE134-256E-1EA2-8D20-F3DD805249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6083C9-47C4-4FB5-AA67-CE1A56E8B5EE}"/>
              </a:ext>
            </a:extLst>
          </p:cNvPr>
          <p:cNvSpPr>
            <a:spLocks noGrp="1"/>
          </p:cNvSpPr>
          <p:nvPr>
            <p:ph type="title"/>
          </p:nvPr>
        </p:nvSpPr>
        <p:spPr>
          <a:xfrm>
            <a:off x="355119" y="534177"/>
            <a:ext cx="10634472" cy="1117092"/>
          </a:xfrm>
        </p:spPr>
        <p:txBody>
          <a:bodyPr>
            <a:normAutofit fontScale="90000"/>
          </a:bodyPr>
          <a:lstStyle/>
          <a:p>
            <a:r>
              <a:rPr lang="en-US" sz="3600" dirty="0"/>
              <a:t>Review: Economic Evaluation and The Life Cycle of a Drug</a:t>
            </a:r>
            <a:endParaRPr lang="en-CA" sz="3600" dirty="0"/>
          </a:p>
        </p:txBody>
      </p:sp>
      <p:cxnSp>
        <p:nvCxnSpPr>
          <p:cNvPr id="5" name="Straight Arrow Connector 4">
            <a:extLst>
              <a:ext uri="{FF2B5EF4-FFF2-40B4-BE49-F238E27FC236}">
                <a16:creationId xmlns:a16="http://schemas.microsoft.com/office/drawing/2014/main" id="{18E8A988-39C7-4698-CA7B-CADE8DC2860D}"/>
              </a:ext>
            </a:extLst>
          </p:cNvPr>
          <p:cNvCxnSpPr>
            <a:cxnSpLocks/>
            <a:stCxn id="7" idx="0"/>
          </p:cNvCxnSpPr>
          <p:nvPr/>
        </p:nvCxnSpPr>
        <p:spPr>
          <a:xfrm>
            <a:off x="826850" y="4280170"/>
            <a:ext cx="11245176" cy="6756"/>
          </a:xfrm>
          <a:prstGeom prst="straightConnector1">
            <a:avLst/>
          </a:prstGeom>
          <a:ln w="571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 name="Freeform: Shape 6">
            <a:extLst>
              <a:ext uri="{FF2B5EF4-FFF2-40B4-BE49-F238E27FC236}">
                <a16:creationId xmlns:a16="http://schemas.microsoft.com/office/drawing/2014/main" id="{B3266B03-75E6-FEC2-2B8E-B444A23EA4A0}"/>
              </a:ext>
            </a:extLst>
          </p:cNvPr>
          <p:cNvSpPr/>
          <p:nvPr/>
        </p:nvSpPr>
        <p:spPr>
          <a:xfrm>
            <a:off x="826850" y="2937755"/>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4C16048D-C890-7ADE-C248-58FA6535EEB5}"/>
              </a:ext>
            </a:extLst>
          </p:cNvPr>
          <p:cNvSpPr txBox="1"/>
          <p:nvPr/>
        </p:nvSpPr>
        <p:spPr>
          <a:xfrm rot="19311110">
            <a:off x="849889" y="2226576"/>
            <a:ext cx="1811363" cy="369332"/>
          </a:xfrm>
          <a:prstGeom prst="rect">
            <a:avLst/>
          </a:prstGeom>
          <a:noFill/>
        </p:spPr>
        <p:txBody>
          <a:bodyPr wrap="square" rtlCol="0">
            <a:spAutoFit/>
          </a:bodyPr>
          <a:lstStyle/>
          <a:p>
            <a:r>
              <a:rPr lang="en-US" i="1" dirty="0"/>
              <a:t>Patent filed</a:t>
            </a:r>
            <a:endParaRPr lang="en-CA" i="1" dirty="0"/>
          </a:p>
        </p:txBody>
      </p:sp>
      <p:sp>
        <p:nvSpPr>
          <p:cNvPr id="10" name="Freeform: Shape 9">
            <a:extLst>
              <a:ext uri="{FF2B5EF4-FFF2-40B4-BE49-F238E27FC236}">
                <a16:creationId xmlns:a16="http://schemas.microsoft.com/office/drawing/2014/main" id="{B334726A-5B29-E73C-9139-41744D0E4DBA}"/>
              </a:ext>
            </a:extLst>
          </p:cNvPr>
          <p:cNvSpPr/>
          <p:nvPr/>
        </p:nvSpPr>
        <p:spPr>
          <a:xfrm>
            <a:off x="233463" y="2937754"/>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3" name="Straight Connector 12">
            <a:extLst>
              <a:ext uri="{FF2B5EF4-FFF2-40B4-BE49-F238E27FC236}">
                <a16:creationId xmlns:a16="http://schemas.microsoft.com/office/drawing/2014/main" id="{28D93A83-B743-8A34-CECD-5F7641D80DF1}"/>
              </a:ext>
            </a:extLst>
          </p:cNvPr>
          <p:cNvCxnSpPr>
            <a:cxnSpLocks/>
            <a:endCxn id="7" idx="0"/>
          </p:cNvCxnSpPr>
          <p:nvPr/>
        </p:nvCxnSpPr>
        <p:spPr>
          <a:xfrm>
            <a:off x="233463" y="4280170"/>
            <a:ext cx="593387" cy="0"/>
          </a:xfrm>
          <a:prstGeom prst="line">
            <a:avLst/>
          </a:prstGeom>
          <a:ln w="571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29419A6-06CC-8C86-EB83-8344BB721162}"/>
              </a:ext>
            </a:extLst>
          </p:cNvPr>
          <p:cNvSpPr txBox="1"/>
          <p:nvPr/>
        </p:nvSpPr>
        <p:spPr>
          <a:xfrm rot="19260489">
            <a:off x="318884" y="2322722"/>
            <a:ext cx="1210053" cy="369332"/>
          </a:xfrm>
          <a:prstGeom prst="rect">
            <a:avLst/>
          </a:prstGeom>
          <a:noFill/>
        </p:spPr>
        <p:txBody>
          <a:bodyPr wrap="square" rtlCol="0">
            <a:spAutoFit/>
          </a:bodyPr>
          <a:lstStyle/>
          <a:p>
            <a:r>
              <a:rPr lang="en-US" i="1" dirty="0"/>
              <a:t>Discovery</a:t>
            </a:r>
          </a:p>
        </p:txBody>
      </p:sp>
      <p:sp>
        <p:nvSpPr>
          <p:cNvPr id="16" name="Freeform: Shape 15">
            <a:extLst>
              <a:ext uri="{FF2B5EF4-FFF2-40B4-BE49-F238E27FC236}">
                <a16:creationId xmlns:a16="http://schemas.microsoft.com/office/drawing/2014/main" id="{8819B992-2B41-C5D7-11FA-4F24B9159AD6}"/>
              </a:ext>
            </a:extLst>
          </p:cNvPr>
          <p:cNvSpPr/>
          <p:nvPr/>
        </p:nvSpPr>
        <p:spPr>
          <a:xfrm>
            <a:off x="1575881" y="2932889"/>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TextBox 16">
            <a:extLst>
              <a:ext uri="{FF2B5EF4-FFF2-40B4-BE49-F238E27FC236}">
                <a16:creationId xmlns:a16="http://schemas.microsoft.com/office/drawing/2014/main" id="{986DFB08-9591-878C-5AEE-A49615FA54E1}"/>
              </a:ext>
            </a:extLst>
          </p:cNvPr>
          <p:cNvSpPr txBox="1"/>
          <p:nvPr/>
        </p:nvSpPr>
        <p:spPr>
          <a:xfrm rot="19311110">
            <a:off x="1558769" y="2065906"/>
            <a:ext cx="2254124" cy="369332"/>
          </a:xfrm>
          <a:prstGeom prst="rect">
            <a:avLst/>
          </a:prstGeom>
          <a:noFill/>
        </p:spPr>
        <p:txBody>
          <a:bodyPr wrap="square" rtlCol="0">
            <a:spAutoFit/>
          </a:bodyPr>
          <a:lstStyle/>
          <a:p>
            <a:r>
              <a:rPr lang="en-US" i="1" dirty="0"/>
              <a:t>Acute Toxicology</a:t>
            </a:r>
            <a:endParaRPr lang="en-CA" i="1" dirty="0"/>
          </a:p>
        </p:txBody>
      </p:sp>
      <p:sp>
        <p:nvSpPr>
          <p:cNvPr id="18" name="Freeform: Shape 17">
            <a:extLst>
              <a:ext uri="{FF2B5EF4-FFF2-40B4-BE49-F238E27FC236}">
                <a16:creationId xmlns:a16="http://schemas.microsoft.com/office/drawing/2014/main" id="{FBA62AF4-22B5-89A3-D000-659787EAC7EC}"/>
              </a:ext>
            </a:extLst>
          </p:cNvPr>
          <p:cNvSpPr/>
          <p:nvPr/>
        </p:nvSpPr>
        <p:spPr>
          <a:xfrm>
            <a:off x="1979848" y="2924244"/>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Freeform: Shape 18">
            <a:extLst>
              <a:ext uri="{FF2B5EF4-FFF2-40B4-BE49-F238E27FC236}">
                <a16:creationId xmlns:a16="http://schemas.microsoft.com/office/drawing/2014/main" id="{89A61356-84A6-AF4F-0856-42E302329B34}"/>
              </a:ext>
            </a:extLst>
          </p:cNvPr>
          <p:cNvSpPr/>
          <p:nvPr/>
        </p:nvSpPr>
        <p:spPr>
          <a:xfrm>
            <a:off x="2458100" y="2937753"/>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2" name="TextBox 21">
            <a:extLst>
              <a:ext uri="{FF2B5EF4-FFF2-40B4-BE49-F238E27FC236}">
                <a16:creationId xmlns:a16="http://schemas.microsoft.com/office/drawing/2014/main" id="{B74F580E-4C84-0F2F-A7F8-5C05656A7FE7}"/>
              </a:ext>
            </a:extLst>
          </p:cNvPr>
          <p:cNvSpPr txBox="1"/>
          <p:nvPr/>
        </p:nvSpPr>
        <p:spPr>
          <a:xfrm rot="19311110">
            <a:off x="2037021" y="2041980"/>
            <a:ext cx="2254124" cy="369332"/>
          </a:xfrm>
          <a:prstGeom prst="rect">
            <a:avLst/>
          </a:prstGeom>
          <a:noFill/>
        </p:spPr>
        <p:txBody>
          <a:bodyPr wrap="square" rtlCol="0">
            <a:spAutoFit/>
          </a:bodyPr>
          <a:lstStyle/>
          <a:p>
            <a:r>
              <a:rPr lang="en-US" i="1" dirty="0"/>
              <a:t>Pharmacology</a:t>
            </a:r>
            <a:endParaRPr lang="en-CA" i="1" dirty="0"/>
          </a:p>
        </p:txBody>
      </p:sp>
      <p:sp>
        <p:nvSpPr>
          <p:cNvPr id="23" name="TextBox 22">
            <a:extLst>
              <a:ext uri="{FF2B5EF4-FFF2-40B4-BE49-F238E27FC236}">
                <a16:creationId xmlns:a16="http://schemas.microsoft.com/office/drawing/2014/main" id="{4C1C7D47-E3C0-D811-C73A-80B9A3A028CD}"/>
              </a:ext>
            </a:extLst>
          </p:cNvPr>
          <p:cNvSpPr txBox="1"/>
          <p:nvPr/>
        </p:nvSpPr>
        <p:spPr>
          <a:xfrm rot="19311110">
            <a:off x="2497218" y="2055492"/>
            <a:ext cx="2254124" cy="369332"/>
          </a:xfrm>
          <a:prstGeom prst="rect">
            <a:avLst/>
          </a:prstGeom>
          <a:noFill/>
        </p:spPr>
        <p:txBody>
          <a:bodyPr wrap="square" rtlCol="0">
            <a:spAutoFit/>
          </a:bodyPr>
          <a:lstStyle/>
          <a:p>
            <a:r>
              <a:rPr lang="en-US" i="1" dirty="0"/>
              <a:t>Chronical toxicity</a:t>
            </a:r>
            <a:endParaRPr lang="en-CA" i="1" dirty="0"/>
          </a:p>
        </p:txBody>
      </p:sp>
      <p:sp>
        <p:nvSpPr>
          <p:cNvPr id="24" name="Freeform: Shape 23">
            <a:extLst>
              <a:ext uri="{FF2B5EF4-FFF2-40B4-BE49-F238E27FC236}">
                <a16:creationId xmlns:a16="http://schemas.microsoft.com/office/drawing/2014/main" id="{96A6B602-51BF-6634-CABF-1860FC6A7A01}"/>
              </a:ext>
            </a:extLst>
          </p:cNvPr>
          <p:cNvSpPr/>
          <p:nvPr/>
        </p:nvSpPr>
        <p:spPr>
          <a:xfrm>
            <a:off x="3914652" y="2924243"/>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5" name="TextBox 24">
            <a:extLst>
              <a:ext uri="{FF2B5EF4-FFF2-40B4-BE49-F238E27FC236}">
                <a16:creationId xmlns:a16="http://schemas.microsoft.com/office/drawing/2014/main" id="{595210D7-8588-C482-9E71-95BBC0A3B2DB}"/>
              </a:ext>
            </a:extLst>
          </p:cNvPr>
          <p:cNvSpPr txBox="1"/>
          <p:nvPr/>
        </p:nvSpPr>
        <p:spPr>
          <a:xfrm rot="19311110">
            <a:off x="3910043" y="2024494"/>
            <a:ext cx="2376365" cy="369332"/>
          </a:xfrm>
          <a:prstGeom prst="rect">
            <a:avLst/>
          </a:prstGeom>
          <a:noFill/>
        </p:spPr>
        <p:txBody>
          <a:bodyPr wrap="square" rtlCol="0">
            <a:spAutoFit/>
          </a:bodyPr>
          <a:lstStyle/>
          <a:p>
            <a:r>
              <a:rPr lang="en-US" i="1" dirty="0"/>
              <a:t>Clinical Trials Phase I </a:t>
            </a:r>
            <a:endParaRPr lang="en-CA" i="1" dirty="0"/>
          </a:p>
        </p:txBody>
      </p:sp>
      <p:sp>
        <p:nvSpPr>
          <p:cNvPr id="26" name="Freeform: Shape 25">
            <a:extLst>
              <a:ext uri="{FF2B5EF4-FFF2-40B4-BE49-F238E27FC236}">
                <a16:creationId xmlns:a16="http://schemas.microsoft.com/office/drawing/2014/main" id="{FD07097F-A7F3-7FCA-4C40-C27957CC2A97}"/>
              </a:ext>
            </a:extLst>
          </p:cNvPr>
          <p:cNvSpPr/>
          <p:nvPr/>
        </p:nvSpPr>
        <p:spPr>
          <a:xfrm>
            <a:off x="4534130" y="2930999"/>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7" name="TextBox 26">
            <a:extLst>
              <a:ext uri="{FF2B5EF4-FFF2-40B4-BE49-F238E27FC236}">
                <a16:creationId xmlns:a16="http://schemas.microsoft.com/office/drawing/2014/main" id="{727AA5FC-B193-28A1-2092-7AE299465F24}"/>
              </a:ext>
            </a:extLst>
          </p:cNvPr>
          <p:cNvSpPr txBox="1"/>
          <p:nvPr/>
        </p:nvSpPr>
        <p:spPr>
          <a:xfrm rot="19311110">
            <a:off x="4526969" y="2031251"/>
            <a:ext cx="2376365" cy="369332"/>
          </a:xfrm>
          <a:prstGeom prst="rect">
            <a:avLst/>
          </a:prstGeom>
          <a:noFill/>
        </p:spPr>
        <p:txBody>
          <a:bodyPr wrap="square" rtlCol="0">
            <a:spAutoFit/>
          </a:bodyPr>
          <a:lstStyle/>
          <a:p>
            <a:r>
              <a:rPr lang="en-US" i="1" dirty="0"/>
              <a:t>Phase II</a:t>
            </a:r>
            <a:endParaRPr lang="en-CA" i="1" dirty="0"/>
          </a:p>
        </p:txBody>
      </p:sp>
      <p:sp>
        <p:nvSpPr>
          <p:cNvPr id="28" name="Freeform: Shape 27">
            <a:extLst>
              <a:ext uri="{FF2B5EF4-FFF2-40B4-BE49-F238E27FC236}">
                <a16:creationId xmlns:a16="http://schemas.microsoft.com/office/drawing/2014/main" id="{F7C814C4-F60A-4FD1-3F62-C7785FE7B6DD}"/>
              </a:ext>
            </a:extLst>
          </p:cNvPr>
          <p:cNvSpPr/>
          <p:nvPr/>
        </p:nvSpPr>
        <p:spPr>
          <a:xfrm>
            <a:off x="5036319" y="2944511"/>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9" name="TextBox 28">
            <a:extLst>
              <a:ext uri="{FF2B5EF4-FFF2-40B4-BE49-F238E27FC236}">
                <a16:creationId xmlns:a16="http://schemas.microsoft.com/office/drawing/2014/main" id="{8F6A4BCD-A8C4-0FDB-8445-9E71C23877CB}"/>
              </a:ext>
            </a:extLst>
          </p:cNvPr>
          <p:cNvSpPr txBox="1"/>
          <p:nvPr/>
        </p:nvSpPr>
        <p:spPr>
          <a:xfrm rot="19311110">
            <a:off x="5063697" y="2093245"/>
            <a:ext cx="2376365" cy="369332"/>
          </a:xfrm>
          <a:prstGeom prst="rect">
            <a:avLst/>
          </a:prstGeom>
          <a:noFill/>
        </p:spPr>
        <p:txBody>
          <a:bodyPr wrap="square" rtlCol="0">
            <a:spAutoFit/>
          </a:bodyPr>
          <a:lstStyle/>
          <a:p>
            <a:r>
              <a:rPr lang="en-US" i="1" dirty="0"/>
              <a:t>Phase III</a:t>
            </a:r>
            <a:endParaRPr lang="en-CA" i="1" dirty="0"/>
          </a:p>
        </p:txBody>
      </p:sp>
      <p:sp>
        <p:nvSpPr>
          <p:cNvPr id="34" name="Freeform: Shape 33">
            <a:extLst>
              <a:ext uri="{FF2B5EF4-FFF2-40B4-BE49-F238E27FC236}">
                <a16:creationId xmlns:a16="http://schemas.microsoft.com/office/drawing/2014/main" id="{19E8D752-122D-F055-9307-5E8F488F8FE5}"/>
              </a:ext>
            </a:extLst>
          </p:cNvPr>
          <p:cNvSpPr/>
          <p:nvPr/>
        </p:nvSpPr>
        <p:spPr>
          <a:xfrm>
            <a:off x="6078882" y="2924243"/>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5" name="Freeform: Shape 34">
            <a:extLst>
              <a:ext uri="{FF2B5EF4-FFF2-40B4-BE49-F238E27FC236}">
                <a16:creationId xmlns:a16="http://schemas.microsoft.com/office/drawing/2014/main" id="{598C52E2-0C3A-EC1A-6888-A121F7A5276E}"/>
              </a:ext>
            </a:extLst>
          </p:cNvPr>
          <p:cNvSpPr/>
          <p:nvPr/>
        </p:nvSpPr>
        <p:spPr>
          <a:xfrm>
            <a:off x="6726986" y="2930999"/>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6" name="Freeform: Shape 35">
            <a:extLst>
              <a:ext uri="{FF2B5EF4-FFF2-40B4-BE49-F238E27FC236}">
                <a16:creationId xmlns:a16="http://schemas.microsoft.com/office/drawing/2014/main" id="{FAB6A104-80B5-FDA5-3F1F-CA677BDF6B43}"/>
              </a:ext>
            </a:extLst>
          </p:cNvPr>
          <p:cNvSpPr/>
          <p:nvPr/>
        </p:nvSpPr>
        <p:spPr>
          <a:xfrm>
            <a:off x="7229175" y="2944511"/>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7" name="TextBox 36">
            <a:extLst>
              <a:ext uri="{FF2B5EF4-FFF2-40B4-BE49-F238E27FC236}">
                <a16:creationId xmlns:a16="http://schemas.microsoft.com/office/drawing/2014/main" id="{75D4E0FE-E4D2-E45A-DC13-108C601EF795}"/>
              </a:ext>
            </a:extLst>
          </p:cNvPr>
          <p:cNvSpPr txBox="1"/>
          <p:nvPr/>
        </p:nvSpPr>
        <p:spPr>
          <a:xfrm rot="19311110">
            <a:off x="6112171" y="2024493"/>
            <a:ext cx="2376365" cy="369332"/>
          </a:xfrm>
          <a:prstGeom prst="rect">
            <a:avLst/>
          </a:prstGeom>
          <a:noFill/>
        </p:spPr>
        <p:txBody>
          <a:bodyPr wrap="square" rtlCol="0">
            <a:spAutoFit/>
          </a:bodyPr>
          <a:lstStyle/>
          <a:p>
            <a:r>
              <a:rPr lang="en-US" i="1" dirty="0"/>
              <a:t>Registration </a:t>
            </a:r>
            <a:endParaRPr lang="en-CA" i="1" dirty="0"/>
          </a:p>
        </p:txBody>
      </p:sp>
      <p:sp>
        <p:nvSpPr>
          <p:cNvPr id="38" name="TextBox 37">
            <a:extLst>
              <a:ext uri="{FF2B5EF4-FFF2-40B4-BE49-F238E27FC236}">
                <a16:creationId xmlns:a16="http://schemas.microsoft.com/office/drawing/2014/main" id="{9D007657-9230-9755-A725-4D0FEFDB0AD3}"/>
              </a:ext>
            </a:extLst>
          </p:cNvPr>
          <p:cNvSpPr txBox="1"/>
          <p:nvPr/>
        </p:nvSpPr>
        <p:spPr>
          <a:xfrm rot="19311110">
            <a:off x="6707524" y="2015750"/>
            <a:ext cx="2376365" cy="369332"/>
          </a:xfrm>
          <a:prstGeom prst="rect">
            <a:avLst/>
          </a:prstGeom>
          <a:noFill/>
        </p:spPr>
        <p:txBody>
          <a:bodyPr wrap="square" rtlCol="0">
            <a:spAutoFit/>
          </a:bodyPr>
          <a:lstStyle/>
          <a:p>
            <a:r>
              <a:rPr lang="en-US" i="1" dirty="0"/>
              <a:t>Price</a:t>
            </a:r>
            <a:endParaRPr lang="en-CA" i="1" dirty="0"/>
          </a:p>
        </p:txBody>
      </p:sp>
      <p:sp>
        <p:nvSpPr>
          <p:cNvPr id="39" name="TextBox 38">
            <a:extLst>
              <a:ext uri="{FF2B5EF4-FFF2-40B4-BE49-F238E27FC236}">
                <a16:creationId xmlns:a16="http://schemas.microsoft.com/office/drawing/2014/main" id="{C2A7401D-6A3F-979D-C88A-ABE195814E79}"/>
              </a:ext>
            </a:extLst>
          </p:cNvPr>
          <p:cNvSpPr txBox="1"/>
          <p:nvPr/>
        </p:nvSpPr>
        <p:spPr>
          <a:xfrm rot="19311110">
            <a:off x="7254972" y="2048738"/>
            <a:ext cx="2376365" cy="369332"/>
          </a:xfrm>
          <a:prstGeom prst="rect">
            <a:avLst/>
          </a:prstGeom>
          <a:noFill/>
        </p:spPr>
        <p:txBody>
          <a:bodyPr wrap="square" rtlCol="0">
            <a:spAutoFit/>
          </a:bodyPr>
          <a:lstStyle/>
          <a:p>
            <a:r>
              <a:rPr lang="en-US" i="1" dirty="0"/>
              <a:t>Drug surveillance</a:t>
            </a:r>
            <a:endParaRPr lang="en-CA" i="1" dirty="0"/>
          </a:p>
        </p:txBody>
      </p:sp>
      <p:sp>
        <p:nvSpPr>
          <p:cNvPr id="41" name="Left Brace 40">
            <a:extLst>
              <a:ext uri="{FF2B5EF4-FFF2-40B4-BE49-F238E27FC236}">
                <a16:creationId xmlns:a16="http://schemas.microsoft.com/office/drawing/2014/main" id="{B18AACCD-C070-0D96-5942-AEC5E72EFE6A}"/>
              </a:ext>
            </a:extLst>
          </p:cNvPr>
          <p:cNvSpPr/>
          <p:nvPr/>
        </p:nvSpPr>
        <p:spPr>
          <a:xfrm rot="16200000">
            <a:off x="2794219" y="2420952"/>
            <a:ext cx="316239" cy="4250977"/>
          </a:xfrm>
          <a:prstGeom prst="leftBrace">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42" name="TextBox 41">
            <a:extLst>
              <a:ext uri="{FF2B5EF4-FFF2-40B4-BE49-F238E27FC236}">
                <a16:creationId xmlns:a16="http://schemas.microsoft.com/office/drawing/2014/main" id="{8996F61D-F45C-7480-494E-12C187125804}"/>
              </a:ext>
            </a:extLst>
          </p:cNvPr>
          <p:cNvSpPr txBox="1"/>
          <p:nvPr/>
        </p:nvSpPr>
        <p:spPr>
          <a:xfrm>
            <a:off x="2378623" y="4622775"/>
            <a:ext cx="1147430" cy="369332"/>
          </a:xfrm>
          <a:prstGeom prst="rect">
            <a:avLst/>
          </a:prstGeom>
          <a:noFill/>
        </p:spPr>
        <p:txBody>
          <a:bodyPr wrap="none" rtlCol="0">
            <a:spAutoFit/>
          </a:bodyPr>
          <a:lstStyle/>
          <a:p>
            <a:r>
              <a:rPr lang="en-US" dirty="0"/>
              <a:t>Research</a:t>
            </a:r>
            <a:endParaRPr lang="en-CA" dirty="0"/>
          </a:p>
        </p:txBody>
      </p:sp>
      <p:sp>
        <p:nvSpPr>
          <p:cNvPr id="43" name="Left Brace 42">
            <a:extLst>
              <a:ext uri="{FF2B5EF4-FFF2-40B4-BE49-F238E27FC236}">
                <a16:creationId xmlns:a16="http://schemas.microsoft.com/office/drawing/2014/main" id="{5B588AA3-D7B9-5CAA-3B65-FE15DCF40B31}"/>
              </a:ext>
            </a:extLst>
          </p:cNvPr>
          <p:cNvSpPr/>
          <p:nvPr/>
        </p:nvSpPr>
        <p:spPr>
          <a:xfrm rot="16200000">
            <a:off x="6488098" y="3634863"/>
            <a:ext cx="247227" cy="1727113"/>
          </a:xfrm>
          <a:prstGeom prst="leftBrace">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44" name="TextBox 43">
            <a:extLst>
              <a:ext uri="{FF2B5EF4-FFF2-40B4-BE49-F238E27FC236}">
                <a16:creationId xmlns:a16="http://schemas.microsoft.com/office/drawing/2014/main" id="{237C1B42-4C31-3074-2EEA-A8F2FD2C2CEC}"/>
              </a:ext>
            </a:extLst>
          </p:cNvPr>
          <p:cNvSpPr txBox="1"/>
          <p:nvPr/>
        </p:nvSpPr>
        <p:spPr>
          <a:xfrm>
            <a:off x="5824643" y="4549903"/>
            <a:ext cx="1696362" cy="369332"/>
          </a:xfrm>
          <a:prstGeom prst="rect">
            <a:avLst/>
          </a:prstGeom>
          <a:noFill/>
        </p:spPr>
        <p:txBody>
          <a:bodyPr wrap="none" rtlCol="0">
            <a:spAutoFit/>
          </a:bodyPr>
          <a:lstStyle/>
          <a:p>
            <a:r>
              <a:rPr lang="en-US" dirty="0"/>
              <a:t>Administration</a:t>
            </a:r>
            <a:endParaRPr lang="en-CA" dirty="0"/>
          </a:p>
        </p:txBody>
      </p:sp>
      <p:sp>
        <p:nvSpPr>
          <p:cNvPr id="45" name="Oval 44">
            <a:extLst>
              <a:ext uri="{FF2B5EF4-FFF2-40B4-BE49-F238E27FC236}">
                <a16:creationId xmlns:a16="http://schemas.microsoft.com/office/drawing/2014/main" id="{7FFF48D6-BE7D-89B4-ED45-42704CC5F9D7}"/>
              </a:ext>
            </a:extLst>
          </p:cNvPr>
          <p:cNvSpPr/>
          <p:nvPr/>
        </p:nvSpPr>
        <p:spPr>
          <a:xfrm>
            <a:off x="5203406" y="4198475"/>
            <a:ext cx="175978" cy="176901"/>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TextBox 45">
            <a:extLst>
              <a:ext uri="{FF2B5EF4-FFF2-40B4-BE49-F238E27FC236}">
                <a16:creationId xmlns:a16="http://schemas.microsoft.com/office/drawing/2014/main" id="{601C2786-A90B-79A8-47E1-1EE5D48F6422}"/>
              </a:ext>
            </a:extLst>
          </p:cNvPr>
          <p:cNvSpPr txBox="1"/>
          <p:nvPr/>
        </p:nvSpPr>
        <p:spPr>
          <a:xfrm>
            <a:off x="11473534" y="4361774"/>
            <a:ext cx="718466" cy="369332"/>
          </a:xfrm>
          <a:prstGeom prst="rect">
            <a:avLst/>
          </a:prstGeom>
          <a:noFill/>
        </p:spPr>
        <p:txBody>
          <a:bodyPr wrap="none" rtlCol="0">
            <a:spAutoFit/>
          </a:bodyPr>
          <a:lstStyle/>
          <a:p>
            <a:r>
              <a:rPr lang="en-US" b="1" i="1" dirty="0"/>
              <a:t>Time</a:t>
            </a:r>
            <a:endParaRPr lang="en-CA" b="1" i="1" dirty="0"/>
          </a:p>
        </p:txBody>
      </p:sp>
      <p:sp>
        <p:nvSpPr>
          <p:cNvPr id="47" name="TextBox 46">
            <a:extLst>
              <a:ext uri="{FF2B5EF4-FFF2-40B4-BE49-F238E27FC236}">
                <a16:creationId xmlns:a16="http://schemas.microsoft.com/office/drawing/2014/main" id="{02246DD7-2F75-E20F-3BE4-3A4C7B692BF3}"/>
              </a:ext>
            </a:extLst>
          </p:cNvPr>
          <p:cNvSpPr txBox="1"/>
          <p:nvPr/>
        </p:nvSpPr>
        <p:spPr>
          <a:xfrm rot="3757880">
            <a:off x="5121490" y="4586210"/>
            <a:ext cx="1016432" cy="369332"/>
          </a:xfrm>
          <a:prstGeom prst="rect">
            <a:avLst/>
          </a:prstGeom>
          <a:noFill/>
        </p:spPr>
        <p:txBody>
          <a:bodyPr wrap="none" rtlCol="0">
            <a:spAutoFit/>
          </a:bodyPr>
          <a:lstStyle/>
          <a:p>
            <a:r>
              <a:rPr lang="en-US" dirty="0"/>
              <a:t>10 years</a:t>
            </a:r>
            <a:endParaRPr lang="en-CA" dirty="0"/>
          </a:p>
        </p:txBody>
      </p:sp>
      <p:sp>
        <p:nvSpPr>
          <p:cNvPr id="48" name="Oval 47">
            <a:extLst>
              <a:ext uri="{FF2B5EF4-FFF2-40B4-BE49-F238E27FC236}">
                <a16:creationId xmlns:a16="http://schemas.microsoft.com/office/drawing/2014/main" id="{D80C48B1-C42B-0C61-69D0-D69199265A10}"/>
              </a:ext>
            </a:extLst>
          </p:cNvPr>
          <p:cNvSpPr/>
          <p:nvPr/>
        </p:nvSpPr>
        <p:spPr>
          <a:xfrm>
            <a:off x="7574480" y="4166331"/>
            <a:ext cx="175978" cy="176901"/>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9" name="TextBox 48">
            <a:extLst>
              <a:ext uri="{FF2B5EF4-FFF2-40B4-BE49-F238E27FC236}">
                <a16:creationId xmlns:a16="http://schemas.microsoft.com/office/drawing/2014/main" id="{2446E997-2D47-E1AA-F398-17F1B3314A5E}"/>
              </a:ext>
            </a:extLst>
          </p:cNvPr>
          <p:cNvSpPr txBox="1"/>
          <p:nvPr/>
        </p:nvSpPr>
        <p:spPr>
          <a:xfrm rot="3757880">
            <a:off x="9535700" y="4606207"/>
            <a:ext cx="1016432" cy="369332"/>
          </a:xfrm>
          <a:prstGeom prst="rect">
            <a:avLst/>
          </a:prstGeom>
          <a:noFill/>
        </p:spPr>
        <p:txBody>
          <a:bodyPr wrap="none" rtlCol="0">
            <a:spAutoFit/>
          </a:bodyPr>
          <a:lstStyle/>
          <a:p>
            <a:r>
              <a:rPr lang="en-US" dirty="0"/>
              <a:t>20 years</a:t>
            </a:r>
            <a:endParaRPr lang="en-CA" dirty="0"/>
          </a:p>
        </p:txBody>
      </p:sp>
      <p:sp>
        <p:nvSpPr>
          <p:cNvPr id="50" name="Oval 49">
            <a:extLst>
              <a:ext uri="{FF2B5EF4-FFF2-40B4-BE49-F238E27FC236}">
                <a16:creationId xmlns:a16="http://schemas.microsoft.com/office/drawing/2014/main" id="{2422CBB2-3DAF-6393-8FDE-21B2EA1EE596}"/>
              </a:ext>
            </a:extLst>
          </p:cNvPr>
          <p:cNvSpPr/>
          <p:nvPr/>
        </p:nvSpPr>
        <p:spPr>
          <a:xfrm>
            <a:off x="9667951" y="4182826"/>
            <a:ext cx="175978" cy="176901"/>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1" name="TextBox 50">
            <a:extLst>
              <a:ext uri="{FF2B5EF4-FFF2-40B4-BE49-F238E27FC236}">
                <a16:creationId xmlns:a16="http://schemas.microsoft.com/office/drawing/2014/main" id="{406B7EF1-7179-2EA7-B1AD-2CDC94850B6B}"/>
              </a:ext>
            </a:extLst>
          </p:cNvPr>
          <p:cNvSpPr txBox="1"/>
          <p:nvPr/>
        </p:nvSpPr>
        <p:spPr>
          <a:xfrm rot="3757880">
            <a:off x="7562819" y="4702432"/>
            <a:ext cx="1016432" cy="369332"/>
          </a:xfrm>
          <a:prstGeom prst="rect">
            <a:avLst/>
          </a:prstGeom>
          <a:noFill/>
        </p:spPr>
        <p:txBody>
          <a:bodyPr wrap="none" rtlCol="0">
            <a:spAutoFit/>
          </a:bodyPr>
          <a:lstStyle/>
          <a:p>
            <a:r>
              <a:rPr lang="en-US" dirty="0"/>
              <a:t>15 years</a:t>
            </a:r>
            <a:endParaRPr lang="en-CA" dirty="0"/>
          </a:p>
        </p:txBody>
      </p:sp>
      <p:sp>
        <p:nvSpPr>
          <p:cNvPr id="52" name="TextBox 51">
            <a:extLst>
              <a:ext uri="{FF2B5EF4-FFF2-40B4-BE49-F238E27FC236}">
                <a16:creationId xmlns:a16="http://schemas.microsoft.com/office/drawing/2014/main" id="{AD814CA4-A779-335C-ED08-83633D1EE389}"/>
              </a:ext>
            </a:extLst>
          </p:cNvPr>
          <p:cNvSpPr txBox="1"/>
          <p:nvPr/>
        </p:nvSpPr>
        <p:spPr>
          <a:xfrm>
            <a:off x="9537618" y="3757188"/>
            <a:ext cx="1652825" cy="369332"/>
          </a:xfrm>
          <a:prstGeom prst="rect">
            <a:avLst/>
          </a:prstGeom>
          <a:noFill/>
        </p:spPr>
        <p:txBody>
          <a:bodyPr wrap="none" rtlCol="0">
            <a:spAutoFit/>
          </a:bodyPr>
          <a:lstStyle/>
          <a:p>
            <a:r>
              <a:rPr lang="en-US" i="1" dirty="0"/>
              <a:t>Patent Expires</a:t>
            </a:r>
            <a:endParaRPr lang="en-CA" i="1" dirty="0"/>
          </a:p>
        </p:txBody>
      </p:sp>
      <p:sp>
        <p:nvSpPr>
          <p:cNvPr id="3" name="TextBox 2">
            <a:extLst>
              <a:ext uri="{FF2B5EF4-FFF2-40B4-BE49-F238E27FC236}">
                <a16:creationId xmlns:a16="http://schemas.microsoft.com/office/drawing/2014/main" id="{D1D48A5B-EC0B-EF91-A4EB-330CEA363567}"/>
              </a:ext>
            </a:extLst>
          </p:cNvPr>
          <p:cNvSpPr txBox="1"/>
          <p:nvPr/>
        </p:nvSpPr>
        <p:spPr>
          <a:xfrm>
            <a:off x="1369392" y="5506477"/>
            <a:ext cx="8757526" cy="1200329"/>
          </a:xfrm>
          <a:prstGeom prst="rect">
            <a:avLst/>
          </a:prstGeom>
          <a:noFill/>
          <a:ln w="76200">
            <a:solidFill>
              <a:schemeClr val="tx1"/>
            </a:solidFill>
          </a:ln>
        </p:spPr>
        <p:txBody>
          <a:bodyPr wrap="none" rtlCol="0">
            <a:spAutoFit/>
          </a:bodyPr>
          <a:lstStyle/>
          <a:p>
            <a:r>
              <a:rPr lang="en-US" b="1" dirty="0"/>
              <a:t>Cost Effectiveness Research is Situated Adjacent to Clinical Research.</a:t>
            </a:r>
          </a:p>
          <a:p>
            <a:br>
              <a:rPr lang="en-US" b="1" i="1" dirty="0"/>
            </a:br>
            <a:r>
              <a:rPr lang="en-US" i="1" dirty="0"/>
              <a:t>While not everyone can do medical research– in principle anyone can discuss, debate</a:t>
            </a:r>
            <a:br>
              <a:rPr lang="en-US" i="1" dirty="0"/>
            </a:br>
            <a:r>
              <a:rPr lang="en-US" i="1" dirty="0"/>
              <a:t>and argue its value </a:t>
            </a:r>
            <a:endParaRPr lang="en-CA" i="1" dirty="0"/>
          </a:p>
        </p:txBody>
      </p:sp>
    </p:spTree>
    <p:extLst>
      <p:ext uri="{BB962C8B-B14F-4D97-AF65-F5344CB8AC3E}">
        <p14:creationId xmlns:p14="http://schemas.microsoft.com/office/powerpoint/2010/main" val="2890393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BF611-895C-7775-97D0-E452A9FA215E}"/>
              </a:ext>
            </a:extLst>
          </p:cNvPr>
          <p:cNvSpPr>
            <a:spLocks noGrp="1"/>
          </p:cNvSpPr>
          <p:nvPr>
            <p:ph type="title"/>
          </p:nvPr>
        </p:nvSpPr>
        <p:spPr/>
        <p:txBody>
          <a:bodyPr/>
          <a:lstStyle/>
          <a:p>
            <a:r>
              <a:rPr lang="en-US" dirty="0"/>
              <a:t>REVIEW: A “Model Free” Approach to Cost Effectiveness Analysis</a:t>
            </a:r>
            <a:endParaRPr lang="en-CA" dirty="0"/>
          </a:p>
        </p:txBody>
      </p:sp>
      <p:sp>
        <p:nvSpPr>
          <p:cNvPr id="4" name="Rectangle 3">
            <a:extLst>
              <a:ext uri="{FF2B5EF4-FFF2-40B4-BE49-F238E27FC236}">
                <a16:creationId xmlns:a16="http://schemas.microsoft.com/office/drawing/2014/main" id="{8F92288D-1C3C-1057-22FC-9D6EF46EBD0E}"/>
              </a:ext>
            </a:extLst>
          </p:cNvPr>
          <p:cNvSpPr/>
          <p:nvPr/>
        </p:nvSpPr>
        <p:spPr>
          <a:xfrm>
            <a:off x="1941922" y="4213781"/>
            <a:ext cx="641023" cy="589271"/>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6" name="Straight Connector 5">
            <a:extLst>
              <a:ext uri="{FF2B5EF4-FFF2-40B4-BE49-F238E27FC236}">
                <a16:creationId xmlns:a16="http://schemas.microsoft.com/office/drawing/2014/main" id="{21CA17AB-7EC9-CAF8-42C0-A53CC13E7569}"/>
              </a:ext>
            </a:extLst>
          </p:cNvPr>
          <p:cNvCxnSpPr>
            <a:cxnSpLocks/>
            <a:stCxn id="4" idx="3"/>
            <a:endCxn id="10" idx="1"/>
          </p:cNvCxnSpPr>
          <p:nvPr/>
        </p:nvCxnSpPr>
        <p:spPr>
          <a:xfrm flipV="1">
            <a:off x="2582945" y="3271007"/>
            <a:ext cx="1495719" cy="123741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F3325BF9-8306-2589-35A9-BEA1313B5AC9}"/>
              </a:ext>
            </a:extLst>
          </p:cNvPr>
          <p:cNvCxnSpPr>
            <a:cxnSpLocks/>
            <a:stCxn id="4" idx="3"/>
            <a:endCxn id="12" idx="1"/>
          </p:cNvCxnSpPr>
          <p:nvPr/>
        </p:nvCxnSpPr>
        <p:spPr>
          <a:xfrm>
            <a:off x="2582945" y="4508417"/>
            <a:ext cx="1495719" cy="1138239"/>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9AF25B46-ACBC-F56D-5B45-572E690535EC}"/>
              </a:ext>
            </a:extLst>
          </p:cNvPr>
          <p:cNvSpPr/>
          <p:nvPr/>
        </p:nvSpPr>
        <p:spPr>
          <a:xfrm>
            <a:off x="4078664" y="2931642"/>
            <a:ext cx="1875934" cy="678729"/>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Costs of A</a:t>
            </a:r>
            <a:br>
              <a:rPr lang="en-US" dirty="0">
                <a:solidFill>
                  <a:schemeClr val="tx1"/>
                </a:solidFill>
              </a:rPr>
            </a:br>
            <a:r>
              <a:rPr lang="en-US" dirty="0">
                <a:solidFill>
                  <a:schemeClr val="tx1"/>
                </a:solidFill>
              </a:rPr>
              <a:t>Effects of A</a:t>
            </a:r>
            <a:endParaRPr lang="en-CA" dirty="0">
              <a:solidFill>
                <a:schemeClr val="tx1"/>
              </a:solidFill>
            </a:endParaRPr>
          </a:p>
        </p:txBody>
      </p:sp>
      <p:sp>
        <p:nvSpPr>
          <p:cNvPr id="12" name="Rectangle 11">
            <a:extLst>
              <a:ext uri="{FF2B5EF4-FFF2-40B4-BE49-F238E27FC236}">
                <a16:creationId xmlns:a16="http://schemas.microsoft.com/office/drawing/2014/main" id="{6645491A-4E5B-CA7E-597D-9861C726D04A}"/>
              </a:ext>
            </a:extLst>
          </p:cNvPr>
          <p:cNvSpPr/>
          <p:nvPr/>
        </p:nvSpPr>
        <p:spPr>
          <a:xfrm>
            <a:off x="4078664" y="5307291"/>
            <a:ext cx="1875934" cy="678729"/>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Costs of B</a:t>
            </a:r>
            <a:br>
              <a:rPr lang="en-US" dirty="0">
                <a:solidFill>
                  <a:schemeClr val="tx1"/>
                </a:solidFill>
              </a:rPr>
            </a:br>
            <a:r>
              <a:rPr lang="en-US" dirty="0">
                <a:solidFill>
                  <a:schemeClr val="tx1"/>
                </a:solidFill>
              </a:rPr>
              <a:t>Effects of B</a:t>
            </a:r>
            <a:endParaRPr lang="en-CA" dirty="0">
              <a:solidFill>
                <a:schemeClr val="tx1"/>
              </a:solidFill>
            </a:endParaRPr>
          </a:p>
        </p:txBody>
      </p:sp>
      <p:sp>
        <p:nvSpPr>
          <p:cNvPr id="17" name="TextBox 16">
            <a:extLst>
              <a:ext uri="{FF2B5EF4-FFF2-40B4-BE49-F238E27FC236}">
                <a16:creationId xmlns:a16="http://schemas.microsoft.com/office/drawing/2014/main" id="{90EE609A-1A71-50A0-E9D6-8AC0D934AD50}"/>
              </a:ext>
            </a:extLst>
          </p:cNvPr>
          <p:cNvSpPr txBox="1"/>
          <p:nvPr/>
        </p:nvSpPr>
        <p:spPr>
          <a:xfrm>
            <a:off x="1679781" y="3118427"/>
            <a:ext cx="1806328" cy="646331"/>
          </a:xfrm>
          <a:prstGeom prst="rect">
            <a:avLst/>
          </a:prstGeom>
          <a:noFill/>
        </p:spPr>
        <p:txBody>
          <a:bodyPr wrap="none" rtlCol="0">
            <a:spAutoFit/>
          </a:bodyPr>
          <a:lstStyle/>
          <a:p>
            <a:r>
              <a:rPr lang="en-US" dirty="0"/>
              <a:t>Treatment A</a:t>
            </a:r>
            <a:br>
              <a:rPr lang="en-US" dirty="0"/>
            </a:br>
            <a:r>
              <a:rPr lang="en-US" dirty="0"/>
              <a:t>(The Alternative)</a:t>
            </a:r>
            <a:endParaRPr lang="en-CA" dirty="0"/>
          </a:p>
        </p:txBody>
      </p:sp>
      <p:sp>
        <p:nvSpPr>
          <p:cNvPr id="19" name="TextBox 18">
            <a:extLst>
              <a:ext uri="{FF2B5EF4-FFF2-40B4-BE49-F238E27FC236}">
                <a16:creationId xmlns:a16="http://schemas.microsoft.com/office/drawing/2014/main" id="{4D152C37-E65B-3F43-CB48-9AA89E6D16D7}"/>
              </a:ext>
            </a:extLst>
          </p:cNvPr>
          <p:cNvSpPr txBox="1"/>
          <p:nvPr/>
        </p:nvSpPr>
        <p:spPr>
          <a:xfrm>
            <a:off x="1941922" y="5294961"/>
            <a:ext cx="1389163" cy="923330"/>
          </a:xfrm>
          <a:prstGeom prst="rect">
            <a:avLst/>
          </a:prstGeom>
          <a:noFill/>
        </p:spPr>
        <p:txBody>
          <a:bodyPr wrap="none" rtlCol="0">
            <a:spAutoFit/>
          </a:bodyPr>
          <a:lstStyle/>
          <a:p>
            <a:r>
              <a:rPr lang="en-US" dirty="0"/>
              <a:t>Treatment B</a:t>
            </a:r>
            <a:br>
              <a:rPr lang="en-US" dirty="0"/>
            </a:br>
            <a:r>
              <a:rPr lang="en-US" dirty="0"/>
              <a:t>Baseline</a:t>
            </a:r>
            <a:br>
              <a:rPr lang="en-US" dirty="0"/>
            </a:br>
            <a:r>
              <a:rPr lang="en-US" dirty="0"/>
              <a:t>Treatment</a:t>
            </a:r>
            <a:endParaRPr lang="en-CA"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081DF6A-9DBB-9BC9-84B2-9480A64A5D6E}"/>
                  </a:ext>
                </a:extLst>
              </p:cNvPr>
              <p:cNvSpPr txBox="1"/>
              <p:nvPr/>
            </p:nvSpPr>
            <p:spPr>
              <a:xfrm>
                <a:off x="5875256" y="2769204"/>
                <a:ext cx="6094428" cy="659796"/>
              </a:xfrm>
              <a:prstGeom prst="rect">
                <a:avLst/>
              </a:prstGeom>
              <a:noFill/>
            </p:spPr>
            <p:txBody>
              <a:bodyPr wrap="square">
                <a:spAutoFit/>
              </a:bodyPr>
              <a:lstStyle/>
              <a:p>
                <a:pPr/>
                <a14:m>
                  <m:oMathPara xmlns:m="http://schemas.openxmlformats.org/officeDocument/2006/math">
                    <m:oMath>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𝜆</m:t>
                          </m:r>
                        </m:e>
                        <m:sup>
                          <m:r>
                            <a:rPr lang="en-US" sz="1800" b="0" i="1" smtClean="0">
                              <a:latin typeface="Cambria Math" panose="02040503050406030204" pitchFamily="18" charset="0"/>
                            </a:rPr>
                            <m:t>𝐴</m:t>
                          </m:r>
                        </m:sup>
                      </m:sSup>
                      <m:r>
                        <a:rPr lang="en-US" sz="1800" b="0" i="1" smtClean="0">
                          <a:latin typeface="Cambria Math" panose="02040503050406030204" pitchFamily="18" charset="0"/>
                        </a:rPr>
                        <m:t>=</m:t>
                      </m:r>
                      <m:f>
                        <m:fPr>
                          <m:ctrlPr>
                            <a:rPr lang="en-US" sz="1800" b="0" i="0" smtClean="0">
                              <a:latin typeface="Cambria Math" panose="02040503050406030204" pitchFamily="18" charset="0"/>
                            </a:rPr>
                          </m:ctrlPr>
                        </m:fPr>
                        <m:num>
                          <m:r>
                            <m:rPr>
                              <m:sty m:val="p"/>
                            </m:rPr>
                            <a:rPr lang="en-US" sz="1800" b="0" i="0" smtClean="0">
                              <a:latin typeface="Cambria Math" panose="02040503050406030204" pitchFamily="18" charset="0"/>
                            </a:rPr>
                            <m:t>Δ</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𝐴</m:t>
                              </m:r>
                            </m:sub>
                          </m:sSub>
                        </m:num>
                        <m:den>
                          <m:r>
                            <m:rPr>
                              <m:sty m:val="p"/>
                            </m:rPr>
                            <a:rPr lang="en-US" sz="1800" b="0" i="0" smtClean="0">
                              <a:latin typeface="Cambria Math" panose="02040503050406030204" pitchFamily="18" charset="0"/>
                            </a:rPr>
                            <m:t>Δ</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𝐴</m:t>
                              </m:r>
                            </m:sub>
                          </m:sSub>
                        </m:den>
                      </m:f>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𝐴</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𝐵</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𝐴</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𝐵</m:t>
                              </m:r>
                            </m:sub>
                          </m:sSub>
                        </m:den>
                      </m:f>
                    </m:oMath>
                  </m:oMathPara>
                </a14:m>
                <a:endParaRPr lang="en-CA" dirty="0"/>
              </a:p>
            </p:txBody>
          </p:sp>
        </mc:Choice>
        <mc:Fallback xmlns="">
          <p:sp>
            <p:nvSpPr>
              <p:cNvPr id="8" name="TextBox 7">
                <a:extLst>
                  <a:ext uri="{FF2B5EF4-FFF2-40B4-BE49-F238E27FC236}">
                    <a16:creationId xmlns:a16="http://schemas.microsoft.com/office/drawing/2014/main" id="{5081DF6A-9DBB-9BC9-84B2-9480A64A5D6E}"/>
                  </a:ext>
                </a:extLst>
              </p:cNvPr>
              <p:cNvSpPr txBox="1">
                <a:spLocks noRot="1" noChangeAspect="1" noMove="1" noResize="1" noEditPoints="1" noAdjustHandles="1" noChangeArrowheads="1" noChangeShapeType="1" noTextEdit="1"/>
              </p:cNvSpPr>
              <p:nvPr/>
            </p:nvSpPr>
            <p:spPr>
              <a:xfrm>
                <a:off x="5875256" y="2769204"/>
                <a:ext cx="6094428" cy="659796"/>
              </a:xfrm>
              <a:prstGeom prst="rect">
                <a:avLst/>
              </a:prstGeom>
              <a:blipFill>
                <a:blip r:embed="rId2"/>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4241182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F8F17-F38F-B5E2-E137-DBB94B7FA0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AA45D9-7B80-92C6-F223-B7DFCDC0EAB1}"/>
              </a:ext>
            </a:extLst>
          </p:cNvPr>
          <p:cNvSpPr>
            <a:spLocks noGrp="1"/>
          </p:cNvSpPr>
          <p:nvPr>
            <p:ph type="title"/>
          </p:nvPr>
        </p:nvSpPr>
        <p:spPr/>
        <p:txBody>
          <a:bodyPr/>
          <a:lstStyle/>
          <a:p>
            <a:r>
              <a:rPr lang="en-US" dirty="0"/>
              <a:t>REVIEW: A “Model Free” Approach to Cost Effectiveness Analysis</a:t>
            </a:r>
            <a:endParaRPr lang="en-CA" dirty="0"/>
          </a:p>
        </p:txBody>
      </p:sp>
      <p:sp>
        <p:nvSpPr>
          <p:cNvPr id="4" name="Rectangle 3">
            <a:extLst>
              <a:ext uri="{FF2B5EF4-FFF2-40B4-BE49-F238E27FC236}">
                <a16:creationId xmlns:a16="http://schemas.microsoft.com/office/drawing/2014/main" id="{52156BD9-6836-59DD-AE7D-18897715AAEF}"/>
              </a:ext>
            </a:extLst>
          </p:cNvPr>
          <p:cNvSpPr/>
          <p:nvPr/>
        </p:nvSpPr>
        <p:spPr>
          <a:xfrm>
            <a:off x="1941922" y="4213781"/>
            <a:ext cx="641023" cy="589271"/>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6" name="Straight Connector 5">
            <a:extLst>
              <a:ext uri="{FF2B5EF4-FFF2-40B4-BE49-F238E27FC236}">
                <a16:creationId xmlns:a16="http://schemas.microsoft.com/office/drawing/2014/main" id="{49F17C15-8CCD-003D-244E-CEAE5D74CBA5}"/>
              </a:ext>
            </a:extLst>
          </p:cNvPr>
          <p:cNvCxnSpPr>
            <a:cxnSpLocks/>
            <a:stCxn id="4" idx="3"/>
            <a:endCxn id="10" idx="1"/>
          </p:cNvCxnSpPr>
          <p:nvPr/>
        </p:nvCxnSpPr>
        <p:spPr>
          <a:xfrm flipV="1">
            <a:off x="2582945" y="3271007"/>
            <a:ext cx="1495719" cy="123741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CA7FE252-E63C-9B6D-BA1E-6302A8E3E546}"/>
              </a:ext>
            </a:extLst>
          </p:cNvPr>
          <p:cNvCxnSpPr>
            <a:cxnSpLocks/>
            <a:stCxn id="4" idx="3"/>
            <a:endCxn id="12" idx="1"/>
          </p:cNvCxnSpPr>
          <p:nvPr/>
        </p:nvCxnSpPr>
        <p:spPr>
          <a:xfrm>
            <a:off x="2582945" y="4508417"/>
            <a:ext cx="1495719" cy="1138239"/>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35B142D0-CC2B-38BA-1C9C-DA0BE86BB655}"/>
              </a:ext>
            </a:extLst>
          </p:cNvPr>
          <p:cNvSpPr/>
          <p:nvPr/>
        </p:nvSpPr>
        <p:spPr>
          <a:xfrm>
            <a:off x="4078664" y="2931642"/>
            <a:ext cx="1875934" cy="678729"/>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Costs of A</a:t>
            </a:r>
            <a:br>
              <a:rPr lang="en-US" dirty="0">
                <a:solidFill>
                  <a:schemeClr val="tx1"/>
                </a:solidFill>
              </a:rPr>
            </a:br>
            <a:r>
              <a:rPr lang="en-US" dirty="0">
                <a:solidFill>
                  <a:schemeClr val="tx1"/>
                </a:solidFill>
              </a:rPr>
              <a:t>Effects of A</a:t>
            </a:r>
            <a:endParaRPr lang="en-CA" dirty="0">
              <a:solidFill>
                <a:schemeClr val="tx1"/>
              </a:solidFill>
            </a:endParaRPr>
          </a:p>
        </p:txBody>
      </p:sp>
      <p:sp>
        <p:nvSpPr>
          <p:cNvPr id="12" name="Rectangle 11">
            <a:extLst>
              <a:ext uri="{FF2B5EF4-FFF2-40B4-BE49-F238E27FC236}">
                <a16:creationId xmlns:a16="http://schemas.microsoft.com/office/drawing/2014/main" id="{752A1929-F3F4-5100-6649-A24A99AD9E68}"/>
              </a:ext>
            </a:extLst>
          </p:cNvPr>
          <p:cNvSpPr/>
          <p:nvPr/>
        </p:nvSpPr>
        <p:spPr>
          <a:xfrm>
            <a:off x="4078664" y="5307291"/>
            <a:ext cx="1875934" cy="678729"/>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Costs of B</a:t>
            </a:r>
            <a:br>
              <a:rPr lang="en-US" dirty="0">
                <a:solidFill>
                  <a:schemeClr val="tx1"/>
                </a:solidFill>
              </a:rPr>
            </a:br>
            <a:r>
              <a:rPr lang="en-US" dirty="0">
                <a:solidFill>
                  <a:schemeClr val="tx1"/>
                </a:solidFill>
              </a:rPr>
              <a:t>Effects of B</a:t>
            </a:r>
            <a:endParaRPr lang="en-CA" dirty="0">
              <a:solidFill>
                <a:schemeClr val="tx1"/>
              </a:solidFill>
            </a:endParaRPr>
          </a:p>
        </p:txBody>
      </p:sp>
      <p:sp>
        <p:nvSpPr>
          <p:cNvPr id="17" name="TextBox 16">
            <a:extLst>
              <a:ext uri="{FF2B5EF4-FFF2-40B4-BE49-F238E27FC236}">
                <a16:creationId xmlns:a16="http://schemas.microsoft.com/office/drawing/2014/main" id="{268ABBB4-919A-F0DB-32B9-FFB342FC69CD}"/>
              </a:ext>
            </a:extLst>
          </p:cNvPr>
          <p:cNvSpPr txBox="1"/>
          <p:nvPr/>
        </p:nvSpPr>
        <p:spPr>
          <a:xfrm>
            <a:off x="1679781" y="3118427"/>
            <a:ext cx="1806328" cy="646331"/>
          </a:xfrm>
          <a:prstGeom prst="rect">
            <a:avLst/>
          </a:prstGeom>
          <a:noFill/>
        </p:spPr>
        <p:txBody>
          <a:bodyPr wrap="none" rtlCol="0">
            <a:spAutoFit/>
          </a:bodyPr>
          <a:lstStyle/>
          <a:p>
            <a:r>
              <a:rPr lang="en-US" dirty="0"/>
              <a:t>Treatment A</a:t>
            </a:r>
            <a:br>
              <a:rPr lang="en-US" dirty="0"/>
            </a:br>
            <a:r>
              <a:rPr lang="en-US" dirty="0"/>
              <a:t>(The Alternative)</a:t>
            </a:r>
            <a:endParaRPr lang="en-CA" dirty="0"/>
          </a:p>
        </p:txBody>
      </p:sp>
      <p:sp>
        <p:nvSpPr>
          <p:cNvPr id="19" name="TextBox 18">
            <a:extLst>
              <a:ext uri="{FF2B5EF4-FFF2-40B4-BE49-F238E27FC236}">
                <a16:creationId xmlns:a16="http://schemas.microsoft.com/office/drawing/2014/main" id="{CD14E8B9-728D-F306-A95E-E9B8C51A64D8}"/>
              </a:ext>
            </a:extLst>
          </p:cNvPr>
          <p:cNvSpPr txBox="1"/>
          <p:nvPr/>
        </p:nvSpPr>
        <p:spPr>
          <a:xfrm>
            <a:off x="1941922" y="5294961"/>
            <a:ext cx="1389163" cy="923330"/>
          </a:xfrm>
          <a:prstGeom prst="rect">
            <a:avLst/>
          </a:prstGeom>
          <a:noFill/>
        </p:spPr>
        <p:txBody>
          <a:bodyPr wrap="none" rtlCol="0">
            <a:spAutoFit/>
          </a:bodyPr>
          <a:lstStyle/>
          <a:p>
            <a:r>
              <a:rPr lang="en-US" dirty="0"/>
              <a:t>Treatment B</a:t>
            </a:r>
            <a:br>
              <a:rPr lang="en-US" dirty="0"/>
            </a:br>
            <a:r>
              <a:rPr lang="en-US" dirty="0"/>
              <a:t>Baseline</a:t>
            </a:r>
            <a:br>
              <a:rPr lang="en-US" dirty="0"/>
            </a:br>
            <a:r>
              <a:rPr lang="en-US" dirty="0"/>
              <a:t>Treatment</a:t>
            </a:r>
            <a:endParaRPr lang="en-CA" dirty="0"/>
          </a:p>
        </p:txBody>
      </p:sp>
      <p:sp>
        <p:nvSpPr>
          <p:cNvPr id="3" name="TextBox 2">
            <a:extLst>
              <a:ext uri="{FF2B5EF4-FFF2-40B4-BE49-F238E27FC236}">
                <a16:creationId xmlns:a16="http://schemas.microsoft.com/office/drawing/2014/main" id="{9803872A-F497-A12A-B29C-0ED23F490ADD}"/>
              </a:ext>
            </a:extLst>
          </p:cNvPr>
          <p:cNvSpPr txBox="1"/>
          <p:nvPr/>
        </p:nvSpPr>
        <p:spPr>
          <a:xfrm>
            <a:off x="5690648" y="4086079"/>
            <a:ext cx="6053004" cy="646331"/>
          </a:xfrm>
          <a:prstGeom prst="rect">
            <a:avLst/>
          </a:prstGeom>
          <a:noFill/>
          <a:ln w="57150">
            <a:solidFill>
              <a:schemeClr val="tx1"/>
            </a:solidFill>
          </a:ln>
        </p:spPr>
        <p:txBody>
          <a:bodyPr wrap="none" rtlCol="0">
            <a:spAutoFit/>
          </a:bodyPr>
          <a:lstStyle/>
          <a:p>
            <a:r>
              <a:rPr lang="en-US" b="1" dirty="0"/>
              <a:t>While missing some details, this structure is </a:t>
            </a:r>
            <a:br>
              <a:rPr lang="en-US" b="1" dirty="0"/>
            </a:br>
            <a:r>
              <a:rPr lang="en-US" b="1" dirty="0"/>
              <a:t>nearly identical to that of a randomized controlled trial!</a:t>
            </a:r>
            <a:endParaRPr lang="en-CA" b="1"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F9F813F-1F9F-4833-F8EB-5BAE4A64208B}"/>
                  </a:ext>
                </a:extLst>
              </p:cNvPr>
              <p:cNvSpPr txBox="1"/>
              <p:nvPr/>
            </p:nvSpPr>
            <p:spPr>
              <a:xfrm>
                <a:off x="5875256" y="2769204"/>
                <a:ext cx="6094428" cy="659796"/>
              </a:xfrm>
              <a:prstGeom prst="rect">
                <a:avLst/>
              </a:prstGeom>
              <a:noFill/>
            </p:spPr>
            <p:txBody>
              <a:bodyPr wrap="square">
                <a:spAutoFit/>
              </a:bodyPr>
              <a:lstStyle/>
              <a:p>
                <a:pPr/>
                <a14:m>
                  <m:oMathPara xmlns:m="http://schemas.openxmlformats.org/officeDocument/2006/math">
                    <m:oMath>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𝜆</m:t>
                          </m:r>
                        </m:e>
                        <m:sup>
                          <m:r>
                            <a:rPr lang="en-US" sz="1800" b="0" i="1" smtClean="0">
                              <a:latin typeface="Cambria Math" panose="02040503050406030204" pitchFamily="18" charset="0"/>
                            </a:rPr>
                            <m:t>𝐴</m:t>
                          </m:r>
                        </m:sup>
                      </m:sSup>
                      <m:r>
                        <a:rPr lang="en-US" sz="1800" b="0" i="1" smtClean="0">
                          <a:latin typeface="Cambria Math" panose="02040503050406030204" pitchFamily="18" charset="0"/>
                        </a:rPr>
                        <m:t>=</m:t>
                      </m:r>
                      <m:f>
                        <m:fPr>
                          <m:ctrlPr>
                            <a:rPr lang="en-US" sz="1800" b="0" i="0" smtClean="0">
                              <a:latin typeface="Cambria Math" panose="02040503050406030204" pitchFamily="18" charset="0"/>
                            </a:rPr>
                          </m:ctrlPr>
                        </m:fPr>
                        <m:num>
                          <m:r>
                            <m:rPr>
                              <m:sty m:val="p"/>
                            </m:rPr>
                            <a:rPr lang="en-US" sz="1800" b="0" i="0" smtClean="0">
                              <a:latin typeface="Cambria Math" panose="02040503050406030204" pitchFamily="18" charset="0"/>
                            </a:rPr>
                            <m:t>Δ</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𝐴</m:t>
                              </m:r>
                            </m:sub>
                          </m:sSub>
                        </m:num>
                        <m:den>
                          <m:r>
                            <m:rPr>
                              <m:sty m:val="p"/>
                            </m:rPr>
                            <a:rPr lang="en-US" sz="1800" b="0" i="0" smtClean="0">
                              <a:latin typeface="Cambria Math" panose="02040503050406030204" pitchFamily="18" charset="0"/>
                            </a:rPr>
                            <m:t>Δ</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𝐴</m:t>
                              </m:r>
                            </m:sub>
                          </m:sSub>
                        </m:den>
                      </m:f>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𝐴</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𝐵</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𝐴</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𝐵</m:t>
                              </m:r>
                            </m:sub>
                          </m:sSub>
                        </m:den>
                      </m:f>
                    </m:oMath>
                  </m:oMathPara>
                </a14:m>
                <a:endParaRPr lang="en-CA" dirty="0"/>
              </a:p>
            </p:txBody>
          </p:sp>
        </mc:Choice>
        <mc:Fallback xmlns="">
          <p:sp>
            <p:nvSpPr>
              <p:cNvPr id="9" name="TextBox 8">
                <a:extLst>
                  <a:ext uri="{FF2B5EF4-FFF2-40B4-BE49-F238E27FC236}">
                    <a16:creationId xmlns:a16="http://schemas.microsoft.com/office/drawing/2014/main" id="{8F9F813F-1F9F-4833-F8EB-5BAE4A64208B}"/>
                  </a:ext>
                </a:extLst>
              </p:cNvPr>
              <p:cNvSpPr txBox="1">
                <a:spLocks noRot="1" noChangeAspect="1" noMove="1" noResize="1" noEditPoints="1" noAdjustHandles="1" noChangeArrowheads="1" noChangeShapeType="1" noTextEdit="1"/>
              </p:cNvSpPr>
              <p:nvPr/>
            </p:nvSpPr>
            <p:spPr>
              <a:xfrm>
                <a:off x="5875256" y="2769204"/>
                <a:ext cx="6094428" cy="659796"/>
              </a:xfrm>
              <a:prstGeom prst="rect">
                <a:avLst/>
              </a:prstGeom>
              <a:blipFill>
                <a:blip r:embed="rId2"/>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1930143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F67D9-34B5-FAAC-844E-6B1D0B7BFE33}"/>
              </a:ext>
            </a:extLst>
          </p:cNvPr>
          <p:cNvSpPr>
            <a:spLocks noGrp="1"/>
          </p:cNvSpPr>
          <p:nvPr>
            <p:ph type="title"/>
          </p:nvPr>
        </p:nvSpPr>
        <p:spPr>
          <a:xfrm>
            <a:off x="518160" y="771018"/>
            <a:ext cx="11155680" cy="1463040"/>
          </a:xfrm>
        </p:spPr>
        <p:txBody>
          <a:bodyPr>
            <a:normAutofit fontScale="90000"/>
          </a:bodyPr>
          <a:lstStyle/>
          <a:p>
            <a:r>
              <a:rPr lang="en-US" dirty="0"/>
              <a:t>The Challenge: Reading Medical Literature as a Non-Clinician– What we are looking for.</a:t>
            </a:r>
            <a:endParaRPr lang="en-CA" dirty="0"/>
          </a:p>
        </p:txBody>
      </p:sp>
      <p:sp>
        <p:nvSpPr>
          <p:cNvPr id="3" name="Content Placeholder 2">
            <a:extLst>
              <a:ext uri="{FF2B5EF4-FFF2-40B4-BE49-F238E27FC236}">
                <a16:creationId xmlns:a16="http://schemas.microsoft.com/office/drawing/2014/main" id="{F40CCAC6-448B-3434-614F-0513AB0CE04E}"/>
              </a:ext>
            </a:extLst>
          </p:cNvPr>
          <p:cNvSpPr>
            <a:spLocks noGrp="1"/>
          </p:cNvSpPr>
          <p:nvPr>
            <p:ph idx="1"/>
          </p:nvPr>
        </p:nvSpPr>
        <p:spPr>
          <a:xfrm>
            <a:off x="518160" y="2234057"/>
            <a:ext cx="11155680" cy="4110181"/>
          </a:xfrm>
        </p:spPr>
        <p:txBody>
          <a:bodyPr>
            <a:normAutofit fontScale="92500" lnSpcReduction="10000"/>
          </a:bodyPr>
          <a:lstStyle/>
          <a:p>
            <a:r>
              <a:rPr lang="en-US" dirty="0"/>
              <a:t>On an outset, what is being asked of everyone of us as analysts is to do something you may not be comfortable with– Review published medical literature– specifically results from clinical trials.</a:t>
            </a:r>
          </a:p>
          <a:p>
            <a:r>
              <a:rPr lang="en-US" dirty="0"/>
              <a:t>What we are looking for is as follows:</a:t>
            </a:r>
          </a:p>
          <a:p>
            <a:pPr marL="800100" lvl="1" indent="-342900">
              <a:buFont typeface="+mj-lt"/>
              <a:buAutoNum type="arabicPeriod"/>
            </a:pPr>
            <a:r>
              <a:rPr lang="en-US" dirty="0"/>
              <a:t>What is the medical intervention being evaluated?</a:t>
            </a:r>
          </a:p>
          <a:p>
            <a:pPr marL="800100" lvl="1" indent="-342900">
              <a:buFont typeface="+mj-lt"/>
              <a:buAutoNum type="arabicPeriod"/>
            </a:pPr>
            <a:r>
              <a:rPr lang="en-US" dirty="0"/>
              <a:t>Who is the patient population?</a:t>
            </a:r>
          </a:p>
          <a:p>
            <a:pPr marL="800100" lvl="1" indent="-342900">
              <a:buFont typeface="+mj-lt"/>
              <a:buAutoNum type="arabicPeriod"/>
            </a:pPr>
            <a:r>
              <a:rPr lang="en-US" dirty="0"/>
              <a:t>What is the novel treatment and what is the control treatment?</a:t>
            </a:r>
          </a:p>
          <a:p>
            <a:pPr marL="800100" lvl="1" indent="-342900">
              <a:buFont typeface="+mj-lt"/>
              <a:buAutoNum type="arabicPeriod"/>
            </a:pPr>
            <a:r>
              <a:rPr lang="en-US" dirty="0"/>
              <a:t>Where in the clinical pathway is a treatment being used?</a:t>
            </a:r>
          </a:p>
          <a:p>
            <a:pPr marL="800100" lvl="1" indent="-342900">
              <a:buFont typeface="+mj-lt"/>
              <a:buAutoNum type="arabicPeriod"/>
            </a:pPr>
            <a:r>
              <a:rPr lang="en-US" dirty="0"/>
              <a:t>What are the possible health states of patients?</a:t>
            </a:r>
          </a:p>
          <a:p>
            <a:r>
              <a:rPr lang="en-US" dirty="0"/>
              <a:t>Formally this is related to </a:t>
            </a:r>
            <a:r>
              <a:rPr lang="en-US" b="1" dirty="0"/>
              <a:t>PICO</a:t>
            </a:r>
            <a:r>
              <a:rPr lang="en-US" dirty="0"/>
              <a:t> Framework.</a:t>
            </a:r>
          </a:p>
          <a:p>
            <a:pPr lvl="1"/>
            <a:r>
              <a:rPr lang="en-US" b="1" dirty="0"/>
              <a:t>Patient Population: </a:t>
            </a:r>
            <a:r>
              <a:rPr lang="en-US" dirty="0"/>
              <a:t>The patient group, disease, or health issue under study.</a:t>
            </a:r>
          </a:p>
          <a:p>
            <a:pPr lvl="1"/>
            <a:r>
              <a:rPr lang="en-US" b="1" dirty="0"/>
              <a:t>Intervention: </a:t>
            </a:r>
            <a:r>
              <a:rPr lang="en-US" dirty="0"/>
              <a:t>The specific treatment, test, or action being evaluated.</a:t>
            </a:r>
          </a:p>
          <a:p>
            <a:pPr lvl="1"/>
            <a:r>
              <a:rPr lang="en-US" b="1" dirty="0"/>
              <a:t>Comparison: </a:t>
            </a:r>
            <a:r>
              <a:rPr lang="en-US" dirty="0"/>
              <a:t>The standard care or control being used for comparison.</a:t>
            </a:r>
          </a:p>
          <a:p>
            <a:pPr lvl="1"/>
            <a:r>
              <a:rPr lang="en-US" b="1" dirty="0"/>
              <a:t>Outcome: </a:t>
            </a:r>
            <a:r>
              <a:rPr lang="en-US" dirty="0"/>
              <a:t>The measurable effect that is expected to be seen.</a:t>
            </a:r>
          </a:p>
        </p:txBody>
      </p:sp>
    </p:spTree>
    <p:extLst>
      <p:ext uri="{BB962C8B-B14F-4D97-AF65-F5344CB8AC3E}">
        <p14:creationId xmlns:p14="http://schemas.microsoft.com/office/powerpoint/2010/main" val="1659617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4F977-B2AD-CA30-C7CD-DEB7C0E8DF23}"/>
              </a:ext>
            </a:extLst>
          </p:cNvPr>
          <p:cNvSpPr>
            <a:spLocks noGrp="1"/>
          </p:cNvSpPr>
          <p:nvPr>
            <p:ph type="title"/>
          </p:nvPr>
        </p:nvSpPr>
        <p:spPr/>
        <p:txBody>
          <a:bodyPr/>
          <a:lstStyle/>
          <a:p>
            <a:r>
              <a:rPr lang="en-US" dirty="0"/>
              <a:t>Where to find literature</a:t>
            </a:r>
            <a:endParaRPr lang="en-CA" dirty="0"/>
          </a:p>
        </p:txBody>
      </p:sp>
      <p:sp>
        <p:nvSpPr>
          <p:cNvPr id="3" name="Content Placeholder 2">
            <a:extLst>
              <a:ext uri="{FF2B5EF4-FFF2-40B4-BE49-F238E27FC236}">
                <a16:creationId xmlns:a16="http://schemas.microsoft.com/office/drawing/2014/main" id="{59CA44D6-4C22-F9E8-9676-FBB76B66EC4E}"/>
              </a:ext>
            </a:extLst>
          </p:cNvPr>
          <p:cNvSpPr>
            <a:spLocks noGrp="1"/>
          </p:cNvSpPr>
          <p:nvPr>
            <p:ph idx="1"/>
          </p:nvPr>
        </p:nvSpPr>
        <p:spPr>
          <a:xfrm>
            <a:off x="518160" y="1923728"/>
            <a:ext cx="11155680" cy="3767328"/>
          </a:xfrm>
        </p:spPr>
        <p:txBody>
          <a:bodyPr/>
          <a:lstStyle/>
          <a:p>
            <a:r>
              <a:rPr lang="en-US" dirty="0"/>
              <a:t>There are several databases for finding trial data. Some of these are:</a:t>
            </a:r>
          </a:p>
          <a:p>
            <a:pPr marL="800100" lvl="1" indent="-342900">
              <a:buFont typeface="+mj-lt"/>
              <a:buAutoNum type="arabicPeriod"/>
            </a:pPr>
            <a:r>
              <a:rPr lang="en-US" dirty="0"/>
              <a:t>ClinicalTrials.gov</a:t>
            </a:r>
          </a:p>
          <a:p>
            <a:pPr marL="800100" lvl="1" indent="-342900">
              <a:buFont typeface="+mj-lt"/>
              <a:buAutoNum type="arabicPeriod"/>
            </a:pPr>
            <a:r>
              <a:rPr lang="en-US" dirty="0" err="1"/>
              <a:t>Pubmed</a:t>
            </a:r>
            <a:endParaRPr lang="en-US" dirty="0"/>
          </a:p>
          <a:p>
            <a:pPr marL="800100" lvl="1" indent="-342900">
              <a:buFont typeface="+mj-lt"/>
              <a:buAutoNum type="arabicPeriod"/>
            </a:pPr>
            <a:r>
              <a:rPr lang="en-US" dirty="0"/>
              <a:t>WHO International Clinical Trials Registry Platform</a:t>
            </a:r>
          </a:p>
          <a:p>
            <a:r>
              <a:rPr lang="en-CA" dirty="0"/>
              <a:t>Note this is a “primary search” where we would try to conduct a cost effectiveness analysis based on previously conducted cost effectiveness research. We can also search cost effectiveness models directly which answer similar questions to the ones we have.</a:t>
            </a:r>
          </a:p>
          <a:p>
            <a:r>
              <a:rPr lang="en-CA" dirty="0"/>
              <a:t>The number of journals and resources for this is numerous, however often you will find cost effectiveness studies in medical journals directly.</a:t>
            </a:r>
          </a:p>
          <a:p>
            <a:pPr lvl="1"/>
            <a:r>
              <a:rPr lang="en-CA" dirty="0"/>
              <a:t>This is because questions of cost effectiveness concern practitioners directly.</a:t>
            </a:r>
          </a:p>
        </p:txBody>
      </p:sp>
    </p:spTree>
    <p:extLst>
      <p:ext uri="{BB962C8B-B14F-4D97-AF65-F5344CB8AC3E}">
        <p14:creationId xmlns:p14="http://schemas.microsoft.com/office/powerpoint/2010/main" val="3767203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9AEBB-91B9-8036-5FF6-105EB84E7B11}"/>
              </a:ext>
            </a:extLst>
          </p:cNvPr>
          <p:cNvSpPr>
            <a:spLocks noGrp="1"/>
          </p:cNvSpPr>
          <p:nvPr>
            <p:ph type="title"/>
          </p:nvPr>
        </p:nvSpPr>
        <p:spPr>
          <a:xfrm>
            <a:off x="521208" y="780445"/>
            <a:ext cx="11155680" cy="1463040"/>
          </a:xfrm>
        </p:spPr>
        <p:txBody>
          <a:bodyPr/>
          <a:lstStyle/>
          <a:p>
            <a:r>
              <a:rPr lang="en-US" dirty="0"/>
              <a:t>Example: a first cut at a “model free” cost effectiveness analysis</a:t>
            </a:r>
            <a:endParaRPr lang="en-CA" dirty="0"/>
          </a:p>
        </p:txBody>
      </p:sp>
      <p:sp>
        <p:nvSpPr>
          <p:cNvPr id="3" name="Content Placeholder 2">
            <a:extLst>
              <a:ext uri="{FF2B5EF4-FFF2-40B4-BE49-F238E27FC236}">
                <a16:creationId xmlns:a16="http://schemas.microsoft.com/office/drawing/2014/main" id="{4276A9F0-48E6-A709-B39C-F5A2DB4FCF05}"/>
              </a:ext>
            </a:extLst>
          </p:cNvPr>
          <p:cNvSpPr>
            <a:spLocks noGrp="1"/>
          </p:cNvSpPr>
          <p:nvPr>
            <p:ph idx="1"/>
          </p:nvPr>
        </p:nvSpPr>
        <p:spPr>
          <a:xfrm>
            <a:off x="521208" y="2093411"/>
            <a:ext cx="11155680" cy="3767328"/>
          </a:xfrm>
        </p:spPr>
        <p:txBody>
          <a:bodyPr/>
          <a:lstStyle/>
          <a:p>
            <a:r>
              <a:rPr lang="en-US" dirty="0"/>
              <a:t>To get an idea of how its possible to use clinical trail data to conduct a cost effectiveness analysis consider the following study on clinicaltrials.gov</a:t>
            </a:r>
          </a:p>
          <a:p>
            <a:pPr marL="0" indent="0">
              <a:buNone/>
            </a:pPr>
            <a:r>
              <a:rPr lang="en-CA" b="1" dirty="0">
                <a:hlinkClick r:id="rId2"/>
              </a:rPr>
              <a:t>Pre-Diagnosis GLP-1 Receptor Agonist Use and Post-Cancer Mortality in Adults With Obesity and Type 2 Diabetes</a:t>
            </a:r>
            <a:endParaRPr lang="en-CA" b="1" dirty="0"/>
          </a:p>
          <a:p>
            <a:r>
              <a:rPr lang="en-CA" dirty="0"/>
              <a:t>This study analyzes the effect of GLP-1 use on obesity related cancer survival.</a:t>
            </a:r>
          </a:p>
        </p:txBody>
      </p:sp>
      <p:pic>
        <p:nvPicPr>
          <p:cNvPr id="5" name="Picture 4">
            <a:extLst>
              <a:ext uri="{FF2B5EF4-FFF2-40B4-BE49-F238E27FC236}">
                <a16:creationId xmlns:a16="http://schemas.microsoft.com/office/drawing/2014/main" id="{56CEEFC3-E7A6-CED3-417E-0C1B2C7DDCBC}"/>
              </a:ext>
            </a:extLst>
          </p:cNvPr>
          <p:cNvPicPr>
            <a:picLocks noChangeAspect="1"/>
          </p:cNvPicPr>
          <p:nvPr/>
        </p:nvPicPr>
        <p:blipFill>
          <a:blip r:embed="rId3"/>
          <a:stretch>
            <a:fillRect/>
          </a:stretch>
        </p:blipFill>
        <p:spPr>
          <a:xfrm>
            <a:off x="1067194" y="4121870"/>
            <a:ext cx="8868658" cy="2640287"/>
          </a:xfrm>
          <a:prstGeom prst="rect">
            <a:avLst/>
          </a:prstGeom>
        </p:spPr>
      </p:pic>
    </p:spTree>
    <p:extLst>
      <p:ext uri="{BB962C8B-B14F-4D97-AF65-F5344CB8AC3E}">
        <p14:creationId xmlns:p14="http://schemas.microsoft.com/office/powerpoint/2010/main" val="4152619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C72B0-8418-C250-43A7-AC1D0439CA91}"/>
              </a:ext>
            </a:extLst>
          </p:cNvPr>
          <p:cNvSpPr>
            <a:spLocks noGrp="1"/>
          </p:cNvSpPr>
          <p:nvPr>
            <p:ph type="title"/>
          </p:nvPr>
        </p:nvSpPr>
        <p:spPr>
          <a:xfrm>
            <a:off x="521208" y="698420"/>
            <a:ext cx="11155680" cy="1463040"/>
          </a:xfrm>
        </p:spPr>
        <p:txBody>
          <a:bodyPr/>
          <a:lstStyle/>
          <a:p>
            <a:r>
              <a:rPr lang="en-US" dirty="0"/>
              <a:t>Example: a first cut at a “model free” cost effectiveness analysis</a:t>
            </a:r>
            <a:endParaRPr lang="en-CA"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7EC272-4926-6E45-C5D5-B97A3C6431DC}"/>
                  </a:ext>
                </a:extLst>
              </p:cNvPr>
              <p:cNvSpPr>
                <a:spLocks noGrp="1"/>
              </p:cNvSpPr>
              <p:nvPr>
                <p:ph idx="1"/>
              </p:nvPr>
            </p:nvSpPr>
            <p:spPr>
              <a:xfrm>
                <a:off x="521208" y="2161460"/>
                <a:ext cx="4616400" cy="4184476"/>
              </a:xfrm>
            </p:spPr>
            <p:txBody>
              <a:bodyPr>
                <a:normAutofit fontScale="92500" lnSpcReduction="20000"/>
              </a:bodyPr>
              <a:lstStyle/>
              <a:p>
                <a:r>
                  <a:rPr lang="en-US" dirty="0"/>
                  <a:t>The main outcome measure is here it mortality.</a:t>
                </a:r>
              </a:p>
              <a:p>
                <a:endParaRPr lang="en-US" dirty="0"/>
              </a:p>
              <a:p>
                <a:r>
                  <a:rPr lang="en-US" dirty="0"/>
                  <a:t>For our sake we will convert these into mortality rates.</a:t>
                </a:r>
                <a:br>
                  <a:rPr lang="en-US" dirty="0"/>
                </a:br>
                <a:br>
                  <a:rPr lang="en-US" dirty="0"/>
                </a:br>
                <a14:m>
                  <m:oMath xmlns:m="http://schemas.openxmlformats.org/officeDocument/2006/math">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Θ</m:t>
                        </m:r>
                      </m:e>
                      <m:sub>
                        <m:r>
                          <m:rPr>
                            <m:sty m:val="p"/>
                          </m:rPr>
                          <a:rPr lang="en-US" b="0" i="0" smtClean="0">
                            <a:latin typeface="Cambria Math" panose="02040503050406030204" pitchFamily="18" charset="0"/>
                          </a:rPr>
                          <m:t>GLP</m:t>
                        </m:r>
                      </m:sub>
                    </m:sSub>
                    <m:r>
                      <a:rPr lang="en-US" b="0" i="0" smtClean="0">
                        <a:latin typeface="Cambria Math" panose="02040503050406030204" pitchFamily="18" charset="0"/>
                      </a:rPr>
                      <m:t>=</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876</m:t>
                            </m:r>
                          </m:num>
                          <m:den>
                            <m:r>
                              <a:rPr lang="en-US" b="0" i="1" smtClean="0">
                                <a:latin typeface="Cambria Math" panose="02040503050406030204" pitchFamily="18" charset="0"/>
                              </a:rPr>
                              <m:t>12060</m:t>
                            </m:r>
                          </m:den>
                        </m:f>
                      </m:e>
                    </m:d>
                    <m:r>
                      <a:rPr lang="en-US" b="0" i="1" smtClean="0">
                        <a:latin typeface="Cambria Math" panose="02040503050406030204" pitchFamily="18" charset="0"/>
                      </a:rPr>
                      <m:t>×100%≈ 7.26%</m:t>
                    </m:r>
                  </m:oMath>
                </a14:m>
                <a:br>
                  <a:rPr lang="en-US" b="0" dirty="0"/>
                </a:br>
                <a:br>
                  <a:rPr lang="en-US" b="0" dirty="0"/>
                </a:br>
                <a14:m>
                  <m:oMath xmlns:m="http://schemas.openxmlformats.org/officeDocument/2006/math">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Θ</m:t>
                        </m:r>
                      </m:e>
                      <m:sub>
                        <m:r>
                          <m:rPr>
                            <m:sty m:val="p"/>
                          </m:rPr>
                          <a:rPr lang="en-US" b="0" i="0" smtClean="0">
                            <a:latin typeface="Cambria Math" panose="02040503050406030204" pitchFamily="18" charset="0"/>
                          </a:rPr>
                          <m:t>SC</m:t>
                        </m:r>
                      </m:sub>
                    </m:sSub>
                    <m:r>
                      <a:rPr lang="en-US" b="0" i="0" smtClean="0">
                        <a:latin typeface="Cambria Math" panose="02040503050406030204" pitchFamily="18" charset="0"/>
                      </a:rPr>
                      <m:t>=</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1233</m:t>
                            </m:r>
                          </m:num>
                          <m:den>
                            <m:r>
                              <a:rPr lang="en-US" b="0" i="1" smtClean="0">
                                <a:latin typeface="Cambria Math" panose="02040503050406030204" pitchFamily="18" charset="0"/>
                              </a:rPr>
                              <m:t>12125</m:t>
                            </m:r>
                          </m:den>
                        </m:f>
                      </m:e>
                    </m:d>
                    <m:r>
                      <a:rPr lang="en-US" b="0" i="1" smtClean="0">
                        <a:latin typeface="Cambria Math" panose="02040503050406030204" pitchFamily="18" charset="0"/>
                      </a:rPr>
                      <m:t>×100%≈10.17%</m:t>
                    </m:r>
                  </m:oMath>
                </a14:m>
                <a:endParaRPr lang="en-CA" dirty="0"/>
              </a:p>
              <a:p>
                <a:r>
                  <a:rPr lang="en-CA" dirty="0"/>
                  <a:t>Thus the change in mortality for the treatment arm based on this outcome is:</a:t>
                </a:r>
                <a:br>
                  <a:rPr lang="en-CA" dirty="0"/>
                </a:br>
                <a14:m>
                  <m:oMath xmlns:m="http://schemas.openxmlformats.org/officeDocument/2006/math">
                    <m:r>
                      <a:rPr lang="en-US" b="0" i="1" smtClean="0">
                        <a:latin typeface="Cambria Math" panose="02040503050406030204" pitchFamily="18" charset="0"/>
                      </a:rPr>
                      <m:t>7.26%−10.17%=−2.91%</m:t>
                    </m:r>
                  </m:oMath>
                </a14:m>
                <a:endParaRPr lang="en-CA" dirty="0"/>
              </a:p>
            </p:txBody>
          </p:sp>
        </mc:Choice>
        <mc:Fallback xmlns="">
          <p:sp>
            <p:nvSpPr>
              <p:cNvPr id="3" name="Content Placeholder 2">
                <a:extLst>
                  <a:ext uri="{FF2B5EF4-FFF2-40B4-BE49-F238E27FC236}">
                    <a16:creationId xmlns:a16="http://schemas.microsoft.com/office/drawing/2014/main" id="{DF7EC272-4926-6E45-C5D5-B97A3C6431DC}"/>
                  </a:ext>
                </a:extLst>
              </p:cNvPr>
              <p:cNvSpPr>
                <a:spLocks noGrp="1" noRot="1" noChangeAspect="1" noMove="1" noResize="1" noEditPoints="1" noAdjustHandles="1" noChangeArrowheads="1" noChangeShapeType="1" noTextEdit="1"/>
              </p:cNvSpPr>
              <p:nvPr>
                <p:ph idx="1"/>
              </p:nvPr>
            </p:nvSpPr>
            <p:spPr>
              <a:xfrm>
                <a:off x="521208" y="2161460"/>
                <a:ext cx="4616400" cy="4184476"/>
              </a:xfrm>
              <a:blipFill>
                <a:blip r:embed="rId2"/>
                <a:stretch>
                  <a:fillRect l="-661" t="-1166"/>
                </a:stretch>
              </a:blipFill>
            </p:spPr>
            <p:txBody>
              <a:bodyPr/>
              <a:lstStyle/>
              <a:p>
                <a:r>
                  <a:rPr lang="en-CA">
                    <a:noFill/>
                  </a:rPr>
                  <a:t> </a:t>
                </a:r>
              </a:p>
            </p:txBody>
          </p:sp>
        </mc:Fallback>
      </mc:AlternateContent>
      <p:pic>
        <p:nvPicPr>
          <p:cNvPr id="5" name="Picture 4">
            <a:extLst>
              <a:ext uri="{FF2B5EF4-FFF2-40B4-BE49-F238E27FC236}">
                <a16:creationId xmlns:a16="http://schemas.microsoft.com/office/drawing/2014/main" id="{D26ADA95-98BB-10F0-3850-144A2DBB30BA}"/>
              </a:ext>
            </a:extLst>
          </p:cNvPr>
          <p:cNvPicPr>
            <a:picLocks noChangeAspect="1"/>
          </p:cNvPicPr>
          <p:nvPr/>
        </p:nvPicPr>
        <p:blipFill>
          <a:blip r:embed="rId3"/>
          <a:stretch>
            <a:fillRect/>
          </a:stretch>
        </p:blipFill>
        <p:spPr>
          <a:xfrm>
            <a:off x="6391496" y="1933850"/>
            <a:ext cx="5279296" cy="2234954"/>
          </a:xfrm>
          <a:prstGeom prst="rect">
            <a:avLst/>
          </a:prstGeom>
        </p:spPr>
      </p:pic>
    </p:spTree>
    <p:extLst>
      <p:ext uri="{BB962C8B-B14F-4D97-AF65-F5344CB8AC3E}">
        <p14:creationId xmlns:p14="http://schemas.microsoft.com/office/powerpoint/2010/main" val="1519460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58285-45D0-9928-9A2E-3C5215967B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7E3DC4-5725-DB0B-030C-7CD3158A7641}"/>
              </a:ext>
            </a:extLst>
          </p:cNvPr>
          <p:cNvSpPr>
            <a:spLocks noGrp="1"/>
          </p:cNvSpPr>
          <p:nvPr>
            <p:ph type="title"/>
          </p:nvPr>
        </p:nvSpPr>
        <p:spPr/>
        <p:txBody>
          <a:bodyPr/>
          <a:lstStyle/>
          <a:p>
            <a:r>
              <a:rPr lang="en-US" dirty="0"/>
              <a:t>REVIEW: A “Model Free” Approach to Cost Effectiveness Analysis</a:t>
            </a:r>
            <a:endParaRPr lang="en-CA" dirty="0"/>
          </a:p>
        </p:txBody>
      </p:sp>
      <p:sp>
        <p:nvSpPr>
          <p:cNvPr id="4" name="Rectangle 3">
            <a:extLst>
              <a:ext uri="{FF2B5EF4-FFF2-40B4-BE49-F238E27FC236}">
                <a16:creationId xmlns:a16="http://schemas.microsoft.com/office/drawing/2014/main" id="{9477F5F5-BBDB-931D-5FA1-353E4599002E}"/>
              </a:ext>
            </a:extLst>
          </p:cNvPr>
          <p:cNvSpPr/>
          <p:nvPr/>
        </p:nvSpPr>
        <p:spPr>
          <a:xfrm>
            <a:off x="1941922" y="4213781"/>
            <a:ext cx="641023" cy="589271"/>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6" name="Straight Connector 5">
            <a:extLst>
              <a:ext uri="{FF2B5EF4-FFF2-40B4-BE49-F238E27FC236}">
                <a16:creationId xmlns:a16="http://schemas.microsoft.com/office/drawing/2014/main" id="{906DD5D5-0DDC-E511-5BEE-75A3402173AE}"/>
              </a:ext>
            </a:extLst>
          </p:cNvPr>
          <p:cNvCxnSpPr>
            <a:cxnSpLocks/>
            <a:stCxn id="4" idx="3"/>
            <a:endCxn id="10" idx="1"/>
          </p:cNvCxnSpPr>
          <p:nvPr/>
        </p:nvCxnSpPr>
        <p:spPr>
          <a:xfrm flipV="1">
            <a:off x="2582945" y="3101372"/>
            <a:ext cx="1495719" cy="1407045"/>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866AD08-47C5-9B3A-3C77-5C68FA7C06BD}"/>
              </a:ext>
            </a:extLst>
          </p:cNvPr>
          <p:cNvCxnSpPr>
            <a:cxnSpLocks/>
            <a:stCxn id="4" idx="3"/>
            <a:endCxn id="12" idx="1"/>
          </p:cNvCxnSpPr>
          <p:nvPr/>
        </p:nvCxnSpPr>
        <p:spPr>
          <a:xfrm>
            <a:off x="2582945" y="4508417"/>
            <a:ext cx="1495719" cy="88612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75C7DBC7-1480-7C6A-7BB2-48514AB542CE}"/>
              </a:ext>
            </a:extLst>
          </p:cNvPr>
          <p:cNvSpPr/>
          <p:nvPr/>
        </p:nvSpPr>
        <p:spPr>
          <a:xfrm>
            <a:off x="4078664" y="2592372"/>
            <a:ext cx="2623794" cy="1018000"/>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Costs of A</a:t>
            </a:r>
            <a:br>
              <a:rPr lang="en-US" dirty="0">
                <a:solidFill>
                  <a:schemeClr val="tx1"/>
                </a:solidFill>
              </a:rPr>
            </a:br>
            <a:r>
              <a:rPr lang="en-US" dirty="0">
                <a:solidFill>
                  <a:schemeClr val="tx1"/>
                </a:solidFill>
              </a:rPr>
              <a:t>Effects of A</a:t>
            </a:r>
            <a:endParaRPr lang="en-CA" dirty="0">
              <a:solidFill>
                <a:schemeClr val="tx1"/>
              </a:solidFill>
            </a:endParaRPr>
          </a:p>
        </p:txBody>
      </p:sp>
      <p:sp>
        <p:nvSpPr>
          <p:cNvPr id="12" name="Rectangle 11">
            <a:extLst>
              <a:ext uri="{FF2B5EF4-FFF2-40B4-BE49-F238E27FC236}">
                <a16:creationId xmlns:a16="http://schemas.microsoft.com/office/drawing/2014/main" id="{DBE0F4C7-48AE-B4EE-7FB3-2D1D899E09E9}"/>
              </a:ext>
            </a:extLst>
          </p:cNvPr>
          <p:cNvSpPr/>
          <p:nvPr/>
        </p:nvSpPr>
        <p:spPr>
          <a:xfrm>
            <a:off x="4078664" y="4803053"/>
            <a:ext cx="2746342" cy="1182968"/>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Costs of B</a:t>
            </a:r>
            <a:br>
              <a:rPr lang="en-US" dirty="0">
                <a:solidFill>
                  <a:schemeClr val="tx1"/>
                </a:solidFill>
              </a:rPr>
            </a:br>
            <a:r>
              <a:rPr lang="en-US" dirty="0">
                <a:solidFill>
                  <a:schemeClr val="tx1"/>
                </a:solidFill>
              </a:rPr>
              <a:t>Effects of B</a:t>
            </a:r>
            <a:endParaRPr lang="en-CA" dirty="0">
              <a:solidFill>
                <a:schemeClr val="tx1"/>
              </a:solidFill>
            </a:endParaRPr>
          </a:p>
        </p:txBody>
      </p:sp>
      <p:sp>
        <p:nvSpPr>
          <p:cNvPr id="17" name="TextBox 16">
            <a:extLst>
              <a:ext uri="{FF2B5EF4-FFF2-40B4-BE49-F238E27FC236}">
                <a16:creationId xmlns:a16="http://schemas.microsoft.com/office/drawing/2014/main" id="{B58D0764-58A6-970B-1D40-5A2CA5BB5012}"/>
              </a:ext>
            </a:extLst>
          </p:cNvPr>
          <p:cNvSpPr txBox="1"/>
          <p:nvPr/>
        </p:nvSpPr>
        <p:spPr>
          <a:xfrm>
            <a:off x="1679781" y="3118427"/>
            <a:ext cx="1806328" cy="646331"/>
          </a:xfrm>
          <a:prstGeom prst="rect">
            <a:avLst/>
          </a:prstGeom>
          <a:noFill/>
        </p:spPr>
        <p:txBody>
          <a:bodyPr wrap="none" rtlCol="0">
            <a:spAutoFit/>
          </a:bodyPr>
          <a:lstStyle/>
          <a:p>
            <a:r>
              <a:rPr lang="en-US" dirty="0"/>
              <a:t>Treatment A</a:t>
            </a:r>
            <a:br>
              <a:rPr lang="en-US" dirty="0"/>
            </a:br>
            <a:r>
              <a:rPr lang="en-US" dirty="0"/>
              <a:t>(The Alternative)</a:t>
            </a:r>
            <a:endParaRPr lang="en-CA" dirty="0"/>
          </a:p>
        </p:txBody>
      </p:sp>
      <p:sp>
        <p:nvSpPr>
          <p:cNvPr id="19" name="TextBox 18">
            <a:extLst>
              <a:ext uri="{FF2B5EF4-FFF2-40B4-BE49-F238E27FC236}">
                <a16:creationId xmlns:a16="http://schemas.microsoft.com/office/drawing/2014/main" id="{C4AE7B23-076B-6559-E6C8-DF7E7FE47419}"/>
              </a:ext>
            </a:extLst>
          </p:cNvPr>
          <p:cNvSpPr txBox="1"/>
          <p:nvPr/>
        </p:nvSpPr>
        <p:spPr>
          <a:xfrm>
            <a:off x="1941922" y="5294961"/>
            <a:ext cx="1389163" cy="923330"/>
          </a:xfrm>
          <a:prstGeom prst="rect">
            <a:avLst/>
          </a:prstGeom>
          <a:noFill/>
        </p:spPr>
        <p:txBody>
          <a:bodyPr wrap="none" rtlCol="0">
            <a:spAutoFit/>
          </a:bodyPr>
          <a:lstStyle/>
          <a:p>
            <a:r>
              <a:rPr lang="en-US" dirty="0"/>
              <a:t>Treatment B</a:t>
            </a:r>
            <a:br>
              <a:rPr lang="en-US" dirty="0"/>
            </a:br>
            <a:r>
              <a:rPr lang="en-US" dirty="0"/>
              <a:t>Baseline</a:t>
            </a:r>
            <a:br>
              <a:rPr lang="en-US" dirty="0"/>
            </a:br>
            <a:r>
              <a:rPr lang="en-US" dirty="0"/>
              <a:t>Treatment</a:t>
            </a:r>
            <a:endParaRPr lang="en-CA"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E0C185F-3F84-BE1C-26E6-1F34D31EE38E}"/>
                  </a:ext>
                </a:extLst>
              </p:cNvPr>
              <p:cNvSpPr txBox="1"/>
              <p:nvPr/>
            </p:nvSpPr>
            <p:spPr>
              <a:xfrm>
                <a:off x="5954598" y="4079348"/>
                <a:ext cx="6094428" cy="659796"/>
              </a:xfrm>
              <a:prstGeom prst="rect">
                <a:avLst/>
              </a:prstGeom>
              <a:noFill/>
            </p:spPr>
            <p:txBody>
              <a:bodyPr wrap="square">
                <a:spAutoFit/>
              </a:bodyPr>
              <a:lstStyle/>
              <a:p>
                <a:pPr/>
                <a14:m>
                  <m:oMathPara xmlns:m="http://schemas.openxmlformats.org/officeDocument/2006/math">
                    <m:oMath>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𝜆</m:t>
                          </m:r>
                        </m:e>
                        <m:sup>
                          <m:r>
                            <a:rPr lang="en-US" sz="1800" b="0" i="1" smtClean="0">
                              <a:latin typeface="Cambria Math" panose="02040503050406030204" pitchFamily="18" charset="0"/>
                            </a:rPr>
                            <m:t>𝐴</m:t>
                          </m:r>
                        </m:sup>
                      </m:sSup>
                      <m:r>
                        <a:rPr lang="en-US" sz="1800" b="0" i="1" smtClean="0">
                          <a:latin typeface="Cambria Math" panose="02040503050406030204" pitchFamily="18" charset="0"/>
                        </a:rPr>
                        <m:t>=</m:t>
                      </m:r>
                      <m:f>
                        <m:fPr>
                          <m:ctrlPr>
                            <a:rPr lang="en-US" sz="1800" b="0" i="0" smtClean="0">
                              <a:latin typeface="Cambria Math" panose="02040503050406030204" pitchFamily="18" charset="0"/>
                            </a:rPr>
                          </m:ctrlPr>
                        </m:fPr>
                        <m:num>
                          <m:r>
                            <m:rPr>
                              <m:sty m:val="p"/>
                            </m:rPr>
                            <a:rPr lang="en-US" sz="1800" b="0" i="0" smtClean="0">
                              <a:latin typeface="Cambria Math" panose="02040503050406030204" pitchFamily="18" charset="0"/>
                            </a:rPr>
                            <m:t>Δ</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𝐴</m:t>
                              </m:r>
                            </m:sub>
                          </m:sSub>
                        </m:num>
                        <m:den>
                          <m:r>
                            <m:rPr>
                              <m:sty m:val="p"/>
                            </m:rPr>
                            <a:rPr lang="en-US" sz="1800" b="0" i="0" smtClean="0">
                              <a:latin typeface="Cambria Math" panose="02040503050406030204" pitchFamily="18" charset="0"/>
                            </a:rPr>
                            <m:t>Δ</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𝐴</m:t>
                              </m:r>
                            </m:sub>
                          </m:sSub>
                        </m:den>
                      </m:f>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𝐴</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𝐵</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𝐴</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𝐵</m:t>
                              </m:r>
                            </m:sub>
                          </m:sSub>
                        </m:den>
                      </m:f>
                    </m:oMath>
                  </m:oMathPara>
                </a14:m>
                <a:endParaRPr lang="en-CA" dirty="0"/>
              </a:p>
            </p:txBody>
          </p:sp>
        </mc:Choice>
        <mc:Fallback xmlns="">
          <p:sp>
            <p:nvSpPr>
              <p:cNvPr id="9" name="TextBox 8">
                <a:extLst>
                  <a:ext uri="{FF2B5EF4-FFF2-40B4-BE49-F238E27FC236}">
                    <a16:creationId xmlns:a16="http://schemas.microsoft.com/office/drawing/2014/main" id="{3E0C185F-3F84-BE1C-26E6-1F34D31EE38E}"/>
                  </a:ext>
                </a:extLst>
              </p:cNvPr>
              <p:cNvSpPr txBox="1">
                <a:spLocks noRot="1" noChangeAspect="1" noMove="1" noResize="1" noEditPoints="1" noAdjustHandles="1" noChangeArrowheads="1" noChangeShapeType="1" noTextEdit="1"/>
              </p:cNvSpPr>
              <p:nvPr/>
            </p:nvSpPr>
            <p:spPr>
              <a:xfrm>
                <a:off x="5954598" y="4079348"/>
                <a:ext cx="6094428" cy="659796"/>
              </a:xfrm>
              <a:prstGeom prst="rect">
                <a:avLst/>
              </a:prstGeom>
              <a:blipFill>
                <a:blip r:embed="rId2"/>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956785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637B1-406F-FF3B-8E27-24EA40FC39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DCA968-0EF8-E343-CEFD-4C3DA359043D}"/>
              </a:ext>
            </a:extLst>
          </p:cNvPr>
          <p:cNvSpPr>
            <a:spLocks noGrp="1"/>
          </p:cNvSpPr>
          <p:nvPr>
            <p:ph type="title"/>
          </p:nvPr>
        </p:nvSpPr>
        <p:spPr/>
        <p:txBody>
          <a:bodyPr/>
          <a:lstStyle/>
          <a:p>
            <a:r>
              <a:rPr lang="en-US" dirty="0"/>
              <a:t>REVIEW: A “Model Free” Approach to Cost Effectiveness Analysis</a:t>
            </a:r>
            <a:endParaRPr lang="en-CA" dirty="0"/>
          </a:p>
        </p:txBody>
      </p:sp>
      <p:sp>
        <p:nvSpPr>
          <p:cNvPr id="4" name="Rectangle 3">
            <a:extLst>
              <a:ext uri="{FF2B5EF4-FFF2-40B4-BE49-F238E27FC236}">
                <a16:creationId xmlns:a16="http://schemas.microsoft.com/office/drawing/2014/main" id="{9DD4105E-3F83-CC9D-1795-628194A239BF}"/>
              </a:ext>
            </a:extLst>
          </p:cNvPr>
          <p:cNvSpPr/>
          <p:nvPr/>
        </p:nvSpPr>
        <p:spPr>
          <a:xfrm>
            <a:off x="1941922" y="4213781"/>
            <a:ext cx="641023" cy="589271"/>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6" name="Straight Connector 5">
            <a:extLst>
              <a:ext uri="{FF2B5EF4-FFF2-40B4-BE49-F238E27FC236}">
                <a16:creationId xmlns:a16="http://schemas.microsoft.com/office/drawing/2014/main" id="{01DB6C07-E44C-4332-0E5F-4CE2AD93608E}"/>
              </a:ext>
            </a:extLst>
          </p:cNvPr>
          <p:cNvCxnSpPr>
            <a:cxnSpLocks/>
            <a:stCxn id="4" idx="3"/>
            <a:endCxn id="10" idx="1"/>
          </p:cNvCxnSpPr>
          <p:nvPr/>
        </p:nvCxnSpPr>
        <p:spPr>
          <a:xfrm flipV="1">
            <a:off x="2582945" y="3101372"/>
            <a:ext cx="1495719" cy="1407045"/>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337976D3-67A4-1B12-C49B-3CCD7D24A118}"/>
              </a:ext>
            </a:extLst>
          </p:cNvPr>
          <p:cNvCxnSpPr>
            <a:cxnSpLocks/>
            <a:stCxn id="4" idx="3"/>
            <a:endCxn id="12" idx="1"/>
          </p:cNvCxnSpPr>
          <p:nvPr/>
        </p:nvCxnSpPr>
        <p:spPr>
          <a:xfrm>
            <a:off x="2582945" y="4508417"/>
            <a:ext cx="1495719" cy="886119"/>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8742D329-179A-6036-820A-115B656C07F1}"/>
              </a:ext>
            </a:extLst>
          </p:cNvPr>
          <p:cNvSpPr/>
          <p:nvPr/>
        </p:nvSpPr>
        <p:spPr>
          <a:xfrm>
            <a:off x="4078664" y="2592372"/>
            <a:ext cx="2623794" cy="1018000"/>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Costs?</a:t>
            </a:r>
            <a:br>
              <a:rPr lang="en-US" dirty="0">
                <a:solidFill>
                  <a:schemeClr val="tx1"/>
                </a:solidFill>
              </a:rPr>
            </a:br>
            <a:r>
              <a:rPr lang="en-US" dirty="0">
                <a:solidFill>
                  <a:schemeClr val="tx1"/>
                </a:solidFill>
              </a:rPr>
              <a:t>Mortality Rate= -7.26%</a:t>
            </a:r>
            <a:endParaRPr lang="en-CA" dirty="0">
              <a:solidFill>
                <a:schemeClr val="tx1"/>
              </a:solidFill>
            </a:endParaRPr>
          </a:p>
        </p:txBody>
      </p:sp>
      <p:sp>
        <p:nvSpPr>
          <p:cNvPr id="12" name="Rectangle 11">
            <a:extLst>
              <a:ext uri="{FF2B5EF4-FFF2-40B4-BE49-F238E27FC236}">
                <a16:creationId xmlns:a16="http://schemas.microsoft.com/office/drawing/2014/main" id="{40EC99A9-A75B-7F3E-8D72-9D9054D95FAC}"/>
              </a:ext>
            </a:extLst>
          </p:cNvPr>
          <p:cNvSpPr/>
          <p:nvPr/>
        </p:nvSpPr>
        <p:spPr>
          <a:xfrm>
            <a:off x="4078664" y="4803052"/>
            <a:ext cx="2746342" cy="1182968"/>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Costs?</a:t>
            </a:r>
            <a:br>
              <a:rPr lang="en-US" dirty="0">
                <a:solidFill>
                  <a:schemeClr val="tx1"/>
                </a:solidFill>
              </a:rPr>
            </a:br>
            <a:r>
              <a:rPr lang="en-US" dirty="0">
                <a:solidFill>
                  <a:schemeClr val="tx1"/>
                </a:solidFill>
              </a:rPr>
              <a:t>Mortality Rate=-10.17%</a:t>
            </a:r>
            <a:endParaRPr lang="en-CA" dirty="0">
              <a:solidFill>
                <a:schemeClr val="tx1"/>
              </a:solidFill>
            </a:endParaRPr>
          </a:p>
        </p:txBody>
      </p:sp>
      <p:sp>
        <p:nvSpPr>
          <p:cNvPr id="17" name="TextBox 16">
            <a:extLst>
              <a:ext uri="{FF2B5EF4-FFF2-40B4-BE49-F238E27FC236}">
                <a16:creationId xmlns:a16="http://schemas.microsoft.com/office/drawing/2014/main" id="{FD144BA1-AE42-D2E9-E47A-A60EF6C21335}"/>
              </a:ext>
            </a:extLst>
          </p:cNvPr>
          <p:cNvSpPr txBox="1"/>
          <p:nvPr/>
        </p:nvSpPr>
        <p:spPr>
          <a:xfrm>
            <a:off x="1679781" y="3118427"/>
            <a:ext cx="1696170" cy="646331"/>
          </a:xfrm>
          <a:prstGeom prst="rect">
            <a:avLst/>
          </a:prstGeom>
          <a:noFill/>
        </p:spPr>
        <p:txBody>
          <a:bodyPr wrap="none" rtlCol="0">
            <a:spAutoFit/>
          </a:bodyPr>
          <a:lstStyle/>
          <a:p>
            <a:r>
              <a:rPr lang="en-US" dirty="0"/>
              <a:t>GLP-1 Assisted</a:t>
            </a:r>
            <a:br>
              <a:rPr lang="en-US" dirty="0"/>
            </a:br>
            <a:r>
              <a:rPr lang="en-US" dirty="0"/>
              <a:t>Treatment</a:t>
            </a:r>
            <a:endParaRPr lang="en-CA" dirty="0"/>
          </a:p>
        </p:txBody>
      </p:sp>
      <p:sp>
        <p:nvSpPr>
          <p:cNvPr id="19" name="TextBox 18">
            <a:extLst>
              <a:ext uri="{FF2B5EF4-FFF2-40B4-BE49-F238E27FC236}">
                <a16:creationId xmlns:a16="http://schemas.microsoft.com/office/drawing/2014/main" id="{DF4FBE11-9394-71DC-5663-23248AE35868}"/>
              </a:ext>
            </a:extLst>
          </p:cNvPr>
          <p:cNvSpPr txBox="1"/>
          <p:nvPr/>
        </p:nvSpPr>
        <p:spPr>
          <a:xfrm>
            <a:off x="1941922" y="5294961"/>
            <a:ext cx="1628907" cy="369332"/>
          </a:xfrm>
          <a:prstGeom prst="rect">
            <a:avLst/>
          </a:prstGeom>
          <a:noFill/>
        </p:spPr>
        <p:txBody>
          <a:bodyPr wrap="none" rtlCol="0">
            <a:spAutoFit/>
          </a:bodyPr>
          <a:lstStyle/>
          <a:p>
            <a:r>
              <a:rPr lang="en-US" dirty="0"/>
              <a:t>Standard Care</a:t>
            </a:r>
            <a:endParaRPr lang="en-CA"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896C779-36F3-C5F5-B63A-A38BF98828AC}"/>
                  </a:ext>
                </a:extLst>
              </p:cNvPr>
              <p:cNvSpPr txBox="1"/>
              <p:nvPr/>
            </p:nvSpPr>
            <p:spPr>
              <a:xfrm>
                <a:off x="5954598" y="4079348"/>
                <a:ext cx="6094428" cy="659796"/>
              </a:xfrm>
              <a:prstGeom prst="rect">
                <a:avLst/>
              </a:prstGeom>
              <a:noFill/>
            </p:spPr>
            <p:txBody>
              <a:bodyPr wrap="square">
                <a:spAutoFit/>
              </a:bodyPr>
              <a:lstStyle/>
              <a:p>
                <a:pPr/>
                <a14:m>
                  <m:oMathPara xmlns:m="http://schemas.openxmlformats.org/officeDocument/2006/math">
                    <m:oMath>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𝜆</m:t>
                          </m:r>
                        </m:e>
                        <m:sup>
                          <m:r>
                            <a:rPr lang="en-US" sz="1800" b="0" i="1" smtClean="0">
                              <a:latin typeface="Cambria Math" panose="02040503050406030204" pitchFamily="18" charset="0"/>
                            </a:rPr>
                            <m:t>𝐴</m:t>
                          </m:r>
                        </m:sup>
                      </m:sSup>
                      <m:r>
                        <a:rPr lang="en-US" sz="1800" b="0" i="1" smtClean="0">
                          <a:latin typeface="Cambria Math" panose="02040503050406030204" pitchFamily="18" charset="0"/>
                        </a:rPr>
                        <m:t>=</m:t>
                      </m:r>
                      <m:f>
                        <m:fPr>
                          <m:ctrlPr>
                            <a:rPr lang="en-US" sz="1800" b="0" i="0" smtClean="0">
                              <a:latin typeface="Cambria Math" panose="02040503050406030204" pitchFamily="18" charset="0"/>
                            </a:rPr>
                          </m:ctrlPr>
                        </m:fPr>
                        <m:num>
                          <m:r>
                            <m:rPr>
                              <m:sty m:val="p"/>
                            </m:rPr>
                            <a:rPr lang="en-US" sz="1800" b="0" i="0" smtClean="0">
                              <a:latin typeface="Cambria Math" panose="02040503050406030204" pitchFamily="18" charset="0"/>
                            </a:rPr>
                            <m:t>Δ</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𝐴</m:t>
                              </m:r>
                            </m:sub>
                          </m:sSub>
                        </m:num>
                        <m:den>
                          <m:r>
                            <m:rPr>
                              <m:sty m:val="p"/>
                            </m:rPr>
                            <a:rPr lang="en-US" sz="1800" b="0" i="0" smtClean="0">
                              <a:latin typeface="Cambria Math" panose="02040503050406030204" pitchFamily="18" charset="0"/>
                            </a:rPr>
                            <m:t>Δ</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𝐴</m:t>
                              </m:r>
                            </m:sub>
                          </m:sSub>
                        </m:den>
                      </m:f>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𝐴</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𝐵</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𝐴</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𝐵</m:t>
                              </m:r>
                            </m:sub>
                          </m:sSub>
                        </m:den>
                      </m:f>
                    </m:oMath>
                  </m:oMathPara>
                </a14:m>
                <a:endParaRPr lang="en-CA" dirty="0"/>
              </a:p>
            </p:txBody>
          </p:sp>
        </mc:Choice>
        <mc:Fallback xmlns="">
          <p:sp>
            <p:nvSpPr>
              <p:cNvPr id="9" name="TextBox 8">
                <a:extLst>
                  <a:ext uri="{FF2B5EF4-FFF2-40B4-BE49-F238E27FC236}">
                    <a16:creationId xmlns:a16="http://schemas.microsoft.com/office/drawing/2014/main" id="{9896C779-36F3-C5F5-B63A-A38BF98828AC}"/>
                  </a:ext>
                </a:extLst>
              </p:cNvPr>
              <p:cNvSpPr txBox="1">
                <a:spLocks noRot="1" noChangeAspect="1" noMove="1" noResize="1" noEditPoints="1" noAdjustHandles="1" noChangeArrowheads="1" noChangeShapeType="1" noTextEdit="1"/>
              </p:cNvSpPr>
              <p:nvPr/>
            </p:nvSpPr>
            <p:spPr>
              <a:xfrm>
                <a:off x="5954598" y="4079348"/>
                <a:ext cx="6094428" cy="659796"/>
              </a:xfrm>
              <a:prstGeom prst="rect">
                <a:avLst/>
              </a:prstGeom>
              <a:blipFill>
                <a:blip r:embed="rId2"/>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2447488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29218-E558-7A72-3D4B-3D100822EF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AA0AA5-2572-76DB-7237-526FD6EDB437}"/>
              </a:ext>
            </a:extLst>
          </p:cNvPr>
          <p:cNvSpPr>
            <a:spLocks noGrp="1"/>
          </p:cNvSpPr>
          <p:nvPr>
            <p:ph type="title"/>
          </p:nvPr>
        </p:nvSpPr>
        <p:spPr/>
        <p:txBody>
          <a:bodyPr/>
          <a:lstStyle/>
          <a:p>
            <a:r>
              <a:rPr lang="en-US" dirty="0"/>
              <a:t>REVIEW: A “Model Free” Approach to Cost Effectiveness Analysis</a:t>
            </a:r>
            <a:endParaRPr lang="en-CA" dirty="0"/>
          </a:p>
        </p:txBody>
      </p:sp>
      <p:sp>
        <p:nvSpPr>
          <p:cNvPr id="4" name="Rectangle 3">
            <a:extLst>
              <a:ext uri="{FF2B5EF4-FFF2-40B4-BE49-F238E27FC236}">
                <a16:creationId xmlns:a16="http://schemas.microsoft.com/office/drawing/2014/main" id="{36BFF91C-9176-465B-AE49-4ABA539BB718}"/>
              </a:ext>
            </a:extLst>
          </p:cNvPr>
          <p:cNvSpPr/>
          <p:nvPr/>
        </p:nvSpPr>
        <p:spPr>
          <a:xfrm>
            <a:off x="1941922" y="4213781"/>
            <a:ext cx="641023" cy="589271"/>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6" name="Straight Connector 5">
            <a:extLst>
              <a:ext uri="{FF2B5EF4-FFF2-40B4-BE49-F238E27FC236}">
                <a16:creationId xmlns:a16="http://schemas.microsoft.com/office/drawing/2014/main" id="{DBF92E5B-F6BA-5CC8-5D86-319559CFF62B}"/>
              </a:ext>
            </a:extLst>
          </p:cNvPr>
          <p:cNvCxnSpPr>
            <a:cxnSpLocks/>
            <a:stCxn id="4" idx="3"/>
            <a:endCxn id="10" idx="1"/>
          </p:cNvCxnSpPr>
          <p:nvPr/>
        </p:nvCxnSpPr>
        <p:spPr>
          <a:xfrm flipV="1">
            <a:off x="2582945" y="3101372"/>
            <a:ext cx="1495719" cy="1407045"/>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035D106A-4281-78FE-7AA2-D0D826FBEDA9}"/>
              </a:ext>
            </a:extLst>
          </p:cNvPr>
          <p:cNvCxnSpPr>
            <a:cxnSpLocks/>
            <a:stCxn id="4" idx="3"/>
            <a:endCxn id="12" idx="1"/>
          </p:cNvCxnSpPr>
          <p:nvPr/>
        </p:nvCxnSpPr>
        <p:spPr>
          <a:xfrm>
            <a:off x="2582945" y="4508417"/>
            <a:ext cx="1495719" cy="886119"/>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A296F146-9AF8-4F8D-C0E8-801449815F9C}"/>
              </a:ext>
            </a:extLst>
          </p:cNvPr>
          <p:cNvSpPr/>
          <p:nvPr/>
        </p:nvSpPr>
        <p:spPr>
          <a:xfrm>
            <a:off x="4078664" y="2592372"/>
            <a:ext cx="2623794" cy="1018000"/>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Costs?</a:t>
            </a:r>
            <a:br>
              <a:rPr lang="en-US" dirty="0">
                <a:solidFill>
                  <a:schemeClr val="tx1"/>
                </a:solidFill>
              </a:rPr>
            </a:br>
            <a:r>
              <a:rPr lang="en-US" b="1" dirty="0">
                <a:solidFill>
                  <a:schemeClr val="tx1"/>
                </a:solidFill>
              </a:rPr>
              <a:t>Mortality Rate= -7.26%</a:t>
            </a:r>
            <a:endParaRPr lang="en-CA" b="1" dirty="0">
              <a:solidFill>
                <a:schemeClr val="tx1"/>
              </a:solidFill>
            </a:endParaRPr>
          </a:p>
        </p:txBody>
      </p:sp>
      <p:sp>
        <p:nvSpPr>
          <p:cNvPr id="12" name="Rectangle 11">
            <a:extLst>
              <a:ext uri="{FF2B5EF4-FFF2-40B4-BE49-F238E27FC236}">
                <a16:creationId xmlns:a16="http://schemas.microsoft.com/office/drawing/2014/main" id="{5C46C6C0-3EC2-63C2-EEDE-91695EB61A67}"/>
              </a:ext>
            </a:extLst>
          </p:cNvPr>
          <p:cNvSpPr/>
          <p:nvPr/>
        </p:nvSpPr>
        <p:spPr>
          <a:xfrm>
            <a:off x="4078664" y="4803052"/>
            <a:ext cx="2746342" cy="1182968"/>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Costs?</a:t>
            </a:r>
            <a:br>
              <a:rPr lang="en-US" dirty="0">
                <a:solidFill>
                  <a:schemeClr val="tx1"/>
                </a:solidFill>
              </a:rPr>
            </a:br>
            <a:r>
              <a:rPr lang="en-US" b="1" dirty="0">
                <a:solidFill>
                  <a:schemeClr val="tx1"/>
                </a:solidFill>
              </a:rPr>
              <a:t>Mortality Rate=-10.17%</a:t>
            </a:r>
            <a:endParaRPr lang="en-CA" b="1" dirty="0">
              <a:solidFill>
                <a:schemeClr val="tx1"/>
              </a:solidFill>
            </a:endParaRPr>
          </a:p>
        </p:txBody>
      </p:sp>
      <p:sp>
        <p:nvSpPr>
          <p:cNvPr id="17" name="TextBox 16">
            <a:extLst>
              <a:ext uri="{FF2B5EF4-FFF2-40B4-BE49-F238E27FC236}">
                <a16:creationId xmlns:a16="http://schemas.microsoft.com/office/drawing/2014/main" id="{BA0CC242-B0DC-66DD-9E6E-E0EB5D350E86}"/>
              </a:ext>
            </a:extLst>
          </p:cNvPr>
          <p:cNvSpPr txBox="1"/>
          <p:nvPr/>
        </p:nvSpPr>
        <p:spPr>
          <a:xfrm>
            <a:off x="1679781" y="3118427"/>
            <a:ext cx="1783373" cy="646331"/>
          </a:xfrm>
          <a:prstGeom prst="rect">
            <a:avLst/>
          </a:prstGeom>
          <a:noFill/>
        </p:spPr>
        <p:txBody>
          <a:bodyPr wrap="none" rtlCol="0">
            <a:spAutoFit/>
          </a:bodyPr>
          <a:lstStyle/>
          <a:p>
            <a:r>
              <a:rPr lang="en-US" b="1" dirty="0"/>
              <a:t>GLP-1 Assisted</a:t>
            </a:r>
            <a:br>
              <a:rPr lang="en-US" b="1" dirty="0"/>
            </a:br>
            <a:r>
              <a:rPr lang="en-US" b="1" dirty="0"/>
              <a:t>Treatment</a:t>
            </a:r>
            <a:endParaRPr lang="en-CA" b="1" dirty="0"/>
          </a:p>
        </p:txBody>
      </p:sp>
      <p:sp>
        <p:nvSpPr>
          <p:cNvPr id="19" name="TextBox 18">
            <a:extLst>
              <a:ext uri="{FF2B5EF4-FFF2-40B4-BE49-F238E27FC236}">
                <a16:creationId xmlns:a16="http://schemas.microsoft.com/office/drawing/2014/main" id="{02DAD2AD-AA05-5BA7-B7EC-C8E1A366905B}"/>
              </a:ext>
            </a:extLst>
          </p:cNvPr>
          <p:cNvSpPr txBox="1"/>
          <p:nvPr/>
        </p:nvSpPr>
        <p:spPr>
          <a:xfrm>
            <a:off x="1941922" y="5294961"/>
            <a:ext cx="1712777" cy="369332"/>
          </a:xfrm>
          <a:prstGeom prst="rect">
            <a:avLst/>
          </a:prstGeom>
          <a:noFill/>
        </p:spPr>
        <p:txBody>
          <a:bodyPr wrap="none" rtlCol="0">
            <a:spAutoFit/>
          </a:bodyPr>
          <a:lstStyle/>
          <a:p>
            <a:r>
              <a:rPr lang="en-US" b="1" dirty="0"/>
              <a:t>Standard Care</a:t>
            </a:r>
            <a:endParaRPr lang="en-CA" b="1"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86CC008-4673-A2C4-F1B6-337AE67B3955}"/>
                  </a:ext>
                </a:extLst>
              </p:cNvPr>
              <p:cNvSpPr txBox="1"/>
              <p:nvPr/>
            </p:nvSpPr>
            <p:spPr>
              <a:xfrm>
                <a:off x="5954598" y="4079348"/>
                <a:ext cx="6094428" cy="659796"/>
              </a:xfrm>
              <a:prstGeom prst="rect">
                <a:avLst/>
              </a:prstGeom>
              <a:noFill/>
            </p:spPr>
            <p:txBody>
              <a:bodyPr wrap="square">
                <a:spAutoFit/>
              </a:bodyPr>
              <a:lstStyle/>
              <a:p>
                <a:pPr/>
                <a14:m>
                  <m:oMathPara xmlns:m="http://schemas.openxmlformats.org/officeDocument/2006/math">
                    <m:oMath>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𝜆</m:t>
                          </m:r>
                        </m:e>
                        <m:sup>
                          <m:r>
                            <a:rPr lang="en-US" sz="1800" b="0" i="1" smtClean="0">
                              <a:latin typeface="Cambria Math" panose="02040503050406030204" pitchFamily="18" charset="0"/>
                            </a:rPr>
                            <m:t>𝐴</m:t>
                          </m:r>
                        </m:sup>
                      </m:sSup>
                      <m:r>
                        <a:rPr lang="en-US" sz="1800" b="0" i="1" smtClean="0">
                          <a:latin typeface="Cambria Math" panose="02040503050406030204" pitchFamily="18" charset="0"/>
                        </a:rPr>
                        <m:t>=</m:t>
                      </m:r>
                      <m:f>
                        <m:fPr>
                          <m:ctrlPr>
                            <a:rPr lang="en-US" sz="1800" b="0" i="0" smtClean="0">
                              <a:latin typeface="Cambria Math" panose="02040503050406030204" pitchFamily="18" charset="0"/>
                            </a:rPr>
                          </m:ctrlPr>
                        </m:fPr>
                        <m:num>
                          <m:r>
                            <m:rPr>
                              <m:sty m:val="p"/>
                            </m:rPr>
                            <a:rPr lang="en-US" sz="1800" b="0" i="0" smtClean="0">
                              <a:latin typeface="Cambria Math" panose="02040503050406030204" pitchFamily="18" charset="0"/>
                            </a:rPr>
                            <m:t>Δ</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𝐴</m:t>
                              </m:r>
                            </m:sub>
                          </m:sSub>
                        </m:num>
                        <m:den>
                          <m:r>
                            <m:rPr>
                              <m:sty m:val="p"/>
                            </m:rPr>
                            <a:rPr lang="en-US" sz="1800" b="0" i="0" smtClean="0">
                              <a:latin typeface="Cambria Math" panose="02040503050406030204" pitchFamily="18" charset="0"/>
                            </a:rPr>
                            <m:t>Δ</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𝐴</m:t>
                              </m:r>
                            </m:sub>
                          </m:sSub>
                        </m:den>
                      </m:f>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𝐴</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𝐵</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𝐴</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𝐵</m:t>
                              </m:r>
                            </m:sub>
                          </m:sSub>
                        </m:den>
                      </m:f>
                    </m:oMath>
                  </m:oMathPara>
                </a14:m>
                <a:endParaRPr lang="en-CA" dirty="0"/>
              </a:p>
            </p:txBody>
          </p:sp>
        </mc:Choice>
        <mc:Fallback xmlns="">
          <p:sp>
            <p:nvSpPr>
              <p:cNvPr id="9" name="TextBox 8">
                <a:extLst>
                  <a:ext uri="{FF2B5EF4-FFF2-40B4-BE49-F238E27FC236}">
                    <a16:creationId xmlns:a16="http://schemas.microsoft.com/office/drawing/2014/main" id="{286CC008-4673-A2C4-F1B6-337AE67B3955}"/>
                  </a:ext>
                </a:extLst>
              </p:cNvPr>
              <p:cNvSpPr txBox="1">
                <a:spLocks noRot="1" noChangeAspect="1" noMove="1" noResize="1" noEditPoints="1" noAdjustHandles="1" noChangeArrowheads="1" noChangeShapeType="1" noTextEdit="1"/>
              </p:cNvSpPr>
              <p:nvPr/>
            </p:nvSpPr>
            <p:spPr>
              <a:xfrm>
                <a:off x="5954598" y="4079348"/>
                <a:ext cx="6094428" cy="659796"/>
              </a:xfrm>
              <a:prstGeom prst="rect">
                <a:avLst/>
              </a:prstGeom>
              <a:blipFill>
                <a:blip r:embed="rId2"/>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3066544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E197C-E074-DB80-1697-2082F60945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C5294D-2617-8C18-6381-343E3D6C298A}"/>
              </a:ext>
            </a:extLst>
          </p:cNvPr>
          <p:cNvSpPr>
            <a:spLocks noGrp="1"/>
          </p:cNvSpPr>
          <p:nvPr>
            <p:ph type="title"/>
          </p:nvPr>
        </p:nvSpPr>
        <p:spPr/>
        <p:txBody>
          <a:bodyPr/>
          <a:lstStyle/>
          <a:p>
            <a:r>
              <a:rPr lang="en-US" dirty="0"/>
              <a:t>REVIEW: A “Model Free” Approach to Cost Effectiveness Analysis</a:t>
            </a:r>
            <a:endParaRPr lang="en-CA" dirty="0"/>
          </a:p>
        </p:txBody>
      </p:sp>
      <p:sp>
        <p:nvSpPr>
          <p:cNvPr id="4" name="Rectangle 3">
            <a:extLst>
              <a:ext uri="{FF2B5EF4-FFF2-40B4-BE49-F238E27FC236}">
                <a16:creationId xmlns:a16="http://schemas.microsoft.com/office/drawing/2014/main" id="{D42A71CE-7779-D52B-5D79-1DBD761A2273}"/>
              </a:ext>
            </a:extLst>
          </p:cNvPr>
          <p:cNvSpPr/>
          <p:nvPr/>
        </p:nvSpPr>
        <p:spPr>
          <a:xfrm>
            <a:off x="1941922" y="4213781"/>
            <a:ext cx="641023" cy="589271"/>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6" name="Straight Connector 5">
            <a:extLst>
              <a:ext uri="{FF2B5EF4-FFF2-40B4-BE49-F238E27FC236}">
                <a16:creationId xmlns:a16="http://schemas.microsoft.com/office/drawing/2014/main" id="{C395DED2-6F11-A025-D00C-78AC80F72EB7}"/>
              </a:ext>
            </a:extLst>
          </p:cNvPr>
          <p:cNvCxnSpPr>
            <a:cxnSpLocks/>
            <a:stCxn id="4" idx="3"/>
            <a:endCxn id="10" idx="1"/>
          </p:cNvCxnSpPr>
          <p:nvPr/>
        </p:nvCxnSpPr>
        <p:spPr>
          <a:xfrm flipV="1">
            <a:off x="2582945" y="3101372"/>
            <a:ext cx="1495719" cy="1407045"/>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F1159E7E-013F-36B2-4D37-1A417EF3D19C}"/>
              </a:ext>
            </a:extLst>
          </p:cNvPr>
          <p:cNvCxnSpPr>
            <a:cxnSpLocks/>
            <a:stCxn id="4" idx="3"/>
            <a:endCxn id="12" idx="1"/>
          </p:cNvCxnSpPr>
          <p:nvPr/>
        </p:nvCxnSpPr>
        <p:spPr>
          <a:xfrm>
            <a:off x="2582945" y="4508417"/>
            <a:ext cx="1495719" cy="886119"/>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1ABB53E2-8CC3-138E-7015-130A3D9A96B5}"/>
              </a:ext>
            </a:extLst>
          </p:cNvPr>
          <p:cNvSpPr/>
          <p:nvPr/>
        </p:nvSpPr>
        <p:spPr>
          <a:xfrm>
            <a:off x="4078664" y="2592372"/>
            <a:ext cx="2623794" cy="1018000"/>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Costs?</a:t>
            </a:r>
            <a:br>
              <a:rPr lang="en-US" dirty="0">
                <a:solidFill>
                  <a:schemeClr val="tx1"/>
                </a:solidFill>
              </a:rPr>
            </a:br>
            <a:r>
              <a:rPr lang="en-US" dirty="0">
                <a:solidFill>
                  <a:schemeClr val="tx1"/>
                </a:solidFill>
              </a:rPr>
              <a:t>Mortality Rate= -7.26%</a:t>
            </a:r>
            <a:endParaRPr lang="en-CA" dirty="0">
              <a:solidFill>
                <a:schemeClr val="tx1"/>
              </a:solidFill>
            </a:endParaRPr>
          </a:p>
        </p:txBody>
      </p:sp>
      <p:sp>
        <p:nvSpPr>
          <p:cNvPr id="12" name="Rectangle 11">
            <a:extLst>
              <a:ext uri="{FF2B5EF4-FFF2-40B4-BE49-F238E27FC236}">
                <a16:creationId xmlns:a16="http://schemas.microsoft.com/office/drawing/2014/main" id="{85F773A2-78FA-8B6F-BAD9-78ED594BE76E}"/>
              </a:ext>
            </a:extLst>
          </p:cNvPr>
          <p:cNvSpPr/>
          <p:nvPr/>
        </p:nvSpPr>
        <p:spPr>
          <a:xfrm>
            <a:off x="4078664" y="4803052"/>
            <a:ext cx="2746342" cy="1182968"/>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Costs?</a:t>
            </a:r>
            <a:br>
              <a:rPr lang="en-US" dirty="0">
                <a:solidFill>
                  <a:schemeClr val="tx1"/>
                </a:solidFill>
              </a:rPr>
            </a:br>
            <a:r>
              <a:rPr lang="en-US" dirty="0">
                <a:solidFill>
                  <a:schemeClr val="tx1"/>
                </a:solidFill>
              </a:rPr>
              <a:t>Mortality Rate=-10.17%</a:t>
            </a:r>
            <a:endParaRPr lang="en-CA" dirty="0">
              <a:solidFill>
                <a:schemeClr val="tx1"/>
              </a:solidFill>
            </a:endParaRPr>
          </a:p>
        </p:txBody>
      </p:sp>
      <p:sp>
        <p:nvSpPr>
          <p:cNvPr id="17" name="TextBox 16">
            <a:extLst>
              <a:ext uri="{FF2B5EF4-FFF2-40B4-BE49-F238E27FC236}">
                <a16:creationId xmlns:a16="http://schemas.microsoft.com/office/drawing/2014/main" id="{26C7FD39-A3EB-BC10-687F-85CBEEEB52F5}"/>
              </a:ext>
            </a:extLst>
          </p:cNvPr>
          <p:cNvSpPr txBox="1"/>
          <p:nvPr/>
        </p:nvSpPr>
        <p:spPr>
          <a:xfrm>
            <a:off x="1679781" y="3118427"/>
            <a:ext cx="1783373" cy="646331"/>
          </a:xfrm>
          <a:prstGeom prst="rect">
            <a:avLst/>
          </a:prstGeom>
          <a:noFill/>
        </p:spPr>
        <p:txBody>
          <a:bodyPr wrap="none" rtlCol="0">
            <a:spAutoFit/>
          </a:bodyPr>
          <a:lstStyle/>
          <a:p>
            <a:r>
              <a:rPr lang="en-US" b="1" dirty="0"/>
              <a:t>GLP-1 Assisted</a:t>
            </a:r>
            <a:br>
              <a:rPr lang="en-US" b="1" dirty="0"/>
            </a:br>
            <a:r>
              <a:rPr lang="en-US" b="1" dirty="0"/>
              <a:t>Treatment</a:t>
            </a:r>
            <a:endParaRPr lang="en-CA" b="1" dirty="0"/>
          </a:p>
        </p:txBody>
      </p:sp>
      <p:sp>
        <p:nvSpPr>
          <p:cNvPr id="19" name="TextBox 18">
            <a:extLst>
              <a:ext uri="{FF2B5EF4-FFF2-40B4-BE49-F238E27FC236}">
                <a16:creationId xmlns:a16="http://schemas.microsoft.com/office/drawing/2014/main" id="{3F40AE70-DA33-6007-5975-4C757F0C9035}"/>
              </a:ext>
            </a:extLst>
          </p:cNvPr>
          <p:cNvSpPr txBox="1"/>
          <p:nvPr/>
        </p:nvSpPr>
        <p:spPr>
          <a:xfrm>
            <a:off x="1941922" y="5294961"/>
            <a:ext cx="1712777" cy="369332"/>
          </a:xfrm>
          <a:prstGeom prst="rect">
            <a:avLst/>
          </a:prstGeom>
          <a:noFill/>
        </p:spPr>
        <p:txBody>
          <a:bodyPr wrap="none" rtlCol="0">
            <a:spAutoFit/>
          </a:bodyPr>
          <a:lstStyle/>
          <a:p>
            <a:r>
              <a:rPr lang="en-US" b="1" dirty="0"/>
              <a:t>Standard Care</a:t>
            </a:r>
            <a:endParaRPr lang="en-CA" b="1"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153730E-004E-4A4F-A7CC-B48E1BA8242A}"/>
                  </a:ext>
                </a:extLst>
              </p:cNvPr>
              <p:cNvSpPr txBox="1"/>
              <p:nvPr/>
            </p:nvSpPr>
            <p:spPr>
              <a:xfrm>
                <a:off x="5954598" y="4079348"/>
                <a:ext cx="6094428" cy="659796"/>
              </a:xfrm>
              <a:prstGeom prst="rect">
                <a:avLst/>
              </a:prstGeom>
              <a:noFill/>
            </p:spPr>
            <p:txBody>
              <a:bodyPr wrap="square">
                <a:spAutoFit/>
              </a:bodyPr>
              <a:lstStyle/>
              <a:p>
                <a:pPr/>
                <a14:m>
                  <m:oMathPara xmlns:m="http://schemas.openxmlformats.org/officeDocument/2006/math">
                    <m:oMath>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𝜆</m:t>
                          </m:r>
                        </m:e>
                        <m:sup>
                          <m:r>
                            <a:rPr lang="en-US" sz="1800" b="0" i="1" smtClean="0">
                              <a:latin typeface="Cambria Math" panose="02040503050406030204" pitchFamily="18" charset="0"/>
                            </a:rPr>
                            <m:t>𝐴</m:t>
                          </m:r>
                        </m:sup>
                      </m:sSup>
                      <m:r>
                        <a:rPr lang="en-US" sz="1800" b="0" i="1" smtClean="0">
                          <a:latin typeface="Cambria Math" panose="02040503050406030204" pitchFamily="18" charset="0"/>
                        </a:rPr>
                        <m:t>=</m:t>
                      </m:r>
                      <m:f>
                        <m:fPr>
                          <m:ctrlPr>
                            <a:rPr lang="en-US" sz="1800" b="0" i="0" smtClean="0">
                              <a:latin typeface="Cambria Math" panose="02040503050406030204" pitchFamily="18" charset="0"/>
                            </a:rPr>
                          </m:ctrlPr>
                        </m:fPr>
                        <m:num>
                          <m:r>
                            <m:rPr>
                              <m:sty m:val="p"/>
                            </m:rPr>
                            <a:rPr lang="en-US" sz="1800" b="0" i="0" smtClean="0">
                              <a:latin typeface="Cambria Math" panose="02040503050406030204" pitchFamily="18" charset="0"/>
                            </a:rPr>
                            <m:t>Δ</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𝐴</m:t>
                              </m:r>
                            </m:sub>
                          </m:sSub>
                        </m:num>
                        <m:den>
                          <m:r>
                            <m:rPr>
                              <m:sty m:val="p"/>
                            </m:rPr>
                            <a:rPr lang="en-US" sz="1800" b="0" i="0" smtClean="0">
                              <a:latin typeface="Cambria Math" panose="02040503050406030204" pitchFamily="18" charset="0"/>
                            </a:rPr>
                            <m:t>Δ</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𝐴</m:t>
                              </m:r>
                            </m:sub>
                          </m:sSub>
                        </m:den>
                      </m:f>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𝐴</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𝐵</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𝐴</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𝐵</m:t>
                              </m:r>
                            </m:sub>
                          </m:sSub>
                        </m:den>
                      </m:f>
                    </m:oMath>
                  </m:oMathPara>
                </a14:m>
                <a:endParaRPr lang="en-CA" dirty="0"/>
              </a:p>
            </p:txBody>
          </p:sp>
        </mc:Choice>
        <mc:Fallback xmlns="">
          <p:sp>
            <p:nvSpPr>
              <p:cNvPr id="9" name="TextBox 8">
                <a:extLst>
                  <a:ext uri="{FF2B5EF4-FFF2-40B4-BE49-F238E27FC236}">
                    <a16:creationId xmlns:a16="http://schemas.microsoft.com/office/drawing/2014/main" id="{9153730E-004E-4A4F-A7CC-B48E1BA8242A}"/>
                  </a:ext>
                </a:extLst>
              </p:cNvPr>
              <p:cNvSpPr txBox="1">
                <a:spLocks noRot="1" noChangeAspect="1" noMove="1" noResize="1" noEditPoints="1" noAdjustHandles="1" noChangeArrowheads="1" noChangeShapeType="1" noTextEdit="1"/>
              </p:cNvSpPr>
              <p:nvPr/>
            </p:nvSpPr>
            <p:spPr>
              <a:xfrm>
                <a:off x="5954598" y="4079348"/>
                <a:ext cx="6094428" cy="659796"/>
              </a:xfrm>
              <a:prstGeom prst="rect">
                <a:avLst/>
              </a:prstGeom>
              <a:blipFill>
                <a:blip r:embed="rId2"/>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3315632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02369-F393-B2B4-B9BE-C24666C50324}"/>
              </a:ext>
            </a:extLst>
          </p:cNvPr>
          <p:cNvSpPr>
            <a:spLocks noGrp="1"/>
          </p:cNvSpPr>
          <p:nvPr>
            <p:ph type="title"/>
          </p:nvPr>
        </p:nvSpPr>
        <p:spPr/>
        <p:txBody>
          <a:bodyPr/>
          <a:lstStyle/>
          <a:p>
            <a:r>
              <a:rPr lang="en-US" dirty="0"/>
              <a:t>What is holding us back in our “Model Free” Cost effectiveness analysis</a:t>
            </a:r>
            <a:endParaRPr lang="en-CA" dirty="0"/>
          </a:p>
        </p:txBody>
      </p:sp>
      <p:sp>
        <p:nvSpPr>
          <p:cNvPr id="3" name="Content Placeholder 2">
            <a:extLst>
              <a:ext uri="{FF2B5EF4-FFF2-40B4-BE49-F238E27FC236}">
                <a16:creationId xmlns:a16="http://schemas.microsoft.com/office/drawing/2014/main" id="{145609DE-AE9D-4628-5DE9-10EC0514FD4F}"/>
              </a:ext>
            </a:extLst>
          </p:cNvPr>
          <p:cNvSpPr>
            <a:spLocks noGrp="1"/>
          </p:cNvSpPr>
          <p:nvPr>
            <p:ph idx="1"/>
          </p:nvPr>
        </p:nvSpPr>
        <p:spPr/>
        <p:txBody>
          <a:bodyPr/>
          <a:lstStyle/>
          <a:p>
            <a:r>
              <a:rPr lang="en-US" dirty="0"/>
              <a:t>W</a:t>
            </a:r>
            <a:r>
              <a:rPr lang="en-CA" dirty="0"/>
              <a:t>e are missing data on costs.</a:t>
            </a:r>
          </a:p>
          <a:p>
            <a:r>
              <a:rPr lang="en-CA" dirty="0"/>
              <a:t>Therefore we cant compute the ICER  [or more specifically in the case of when reduction mortality is used as denominator– The </a:t>
            </a:r>
            <a:r>
              <a:rPr lang="en-CA" b="1" dirty="0"/>
              <a:t>value of a statistical life (VSL)] </a:t>
            </a:r>
            <a:r>
              <a:rPr lang="en-CA" dirty="0"/>
              <a:t>to</a:t>
            </a:r>
            <a:r>
              <a:rPr lang="en-CA" b="1" dirty="0"/>
              <a:t> </a:t>
            </a:r>
            <a:r>
              <a:rPr lang="en-CA" dirty="0"/>
              <a:t>define the value of this treatment!</a:t>
            </a:r>
          </a:p>
          <a:p>
            <a:r>
              <a:rPr lang="en-CA" dirty="0"/>
              <a:t>This “missing data problem” will motivate the slides ahead.</a:t>
            </a:r>
          </a:p>
          <a:p>
            <a:r>
              <a:rPr lang="en-CA" dirty="0"/>
              <a:t>Some questions to think about are:</a:t>
            </a:r>
          </a:p>
          <a:p>
            <a:pPr lvl="1">
              <a:buFont typeface="Wingdings" panose="05000000000000000000" pitchFamily="2" charset="2"/>
              <a:buChar char="Ø"/>
            </a:pPr>
            <a:r>
              <a:rPr lang="en-CA" dirty="0"/>
              <a:t>Where do we find data on costs of treatment?</a:t>
            </a:r>
          </a:p>
          <a:p>
            <a:pPr lvl="1">
              <a:buFont typeface="Wingdings" panose="05000000000000000000" pitchFamily="2" charset="2"/>
              <a:buChar char="Ø"/>
            </a:pPr>
            <a:r>
              <a:rPr lang="en-CA" dirty="0"/>
              <a:t>What if we don’t care about mortality but rather quality of life? How is that valued and where is this data found?</a:t>
            </a:r>
          </a:p>
          <a:p>
            <a:pPr lvl="1">
              <a:buFont typeface="Wingdings" panose="05000000000000000000" pitchFamily="2" charset="2"/>
              <a:buChar char="Ø"/>
            </a:pPr>
            <a:r>
              <a:rPr lang="en-CA" dirty="0"/>
              <a:t>What if a treatment is utilized in a broader clinical pathway?</a:t>
            </a:r>
          </a:p>
          <a:p>
            <a:endParaRPr lang="en-CA" dirty="0"/>
          </a:p>
        </p:txBody>
      </p:sp>
    </p:spTree>
    <p:extLst>
      <p:ext uri="{BB962C8B-B14F-4D97-AF65-F5344CB8AC3E}">
        <p14:creationId xmlns:p14="http://schemas.microsoft.com/office/powerpoint/2010/main" val="4190502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64520-EF1F-4BAB-72CB-98AAB15D4D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C91376-8EC5-77AA-7702-14B68430BC35}"/>
              </a:ext>
            </a:extLst>
          </p:cNvPr>
          <p:cNvSpPr>
            <a:spLocks noGrp="1"/>
          </p:cNvSpPr>
          <p:nvPr>
            <p:ph type="title"/>
          </p:nvPr>
        </p:nvSpPr>
        <p:spPr/>
        <p:txBody>
          <a:bodyPr/>
          <a:lstStyle/>
          <a:p>
            <a:r>
              <a:rPr lang="en-US" dirty="0"/>
              <a:t>What is holding us back in our “Model Free” Cost effectiveness analysis</a:t>
            </a:r>
            <a:endParaRPr lang="en-CA" dirty="0"/>
          </a:p>
        </p:txBody>
      </p:sp>
      <p:sp>
        <p:nvSpPr>
          <p:cNvPr id="3" name="Content Placeholder 2">
            <a:extLst>
              <a:ext uri="{FF2B5EF4-FFF2-40B4-BE49-F238E27FC236}">
                <a16:creationId xmlns:a16="http://schemas.microsoft.com/office/drawing/2014/main" id="{A5756586-5680-1853-BD8E-C3A90399B507}"/>
              </a:ext>
            </a:extLst>
          </p:cNvPr>
          <p:cNvSpPr>
            <a:spLocks noGrp="1"/>
          </p:cNvSpPr>
          <p:nvPr>
            <p:ph idx="1"/>
          </p:nvPr>
        </p:nvSpPr>
        <p:spPr/>
        <p:txBody>
          <a:bodyPr/>
          <a:lstStyle/>
          <a:p>
            <a:r>
              <a:rPr lang="en-US" dirty="0"/>
              <a:t>W</a:t>
            </a:r>
            <a:r>
              <a:rPr lang="en-CA" dirty="0"/>
              <a:t>e are missing data on costs.</a:t>
            </a:r>
          </a:p>
          <a:p>
            <a:r>
              <a:rPr lang="en-CA" dirty="0"/>
              <a:t>Therefore we cant compute the ICER  [or more specifically in the case of when reduction mortality is used as denominator– The </a:t>
            </a:r>
            <a:r>
              <a:rPr lang="en-CA" b="1" dirty="0"/>
              <a:t>value of a statistical life (VSL)] </a:t>
            </a:r>
            <a:r>
              <a:rPr lang="en-CA" dirty="0"/>
              <a:t>to</a:t>
            </a:r>
            <a:r>
              <a:rPr lang="en-CA" b="1" dirty="0"/>
              <a:t> </a:t>
            </a:r>
            <a:r>
              <a:rPr lang="en-CA" dirty="0"/>
              <a:t>define the value of this treatment!</a:t>
            </a:r>
          </a:p>
          <a:p>
            <a:r>
              <a:rPr lang="en-CA" dirty="0"/>
              <a:t>This “missing data problem” will motivate the slides ahead.</a:t>
            </a:r>
          </a:p>
          <a:p>
            <a:r>
              <a:rPr lang="en-CA" dirty="0"/>
              <a:t>Some questions to think about are:</a:t>
            </a:r>
          </a:p>
          <a:p>
            <a:pPr lvl="1">
              <a:buFont typeface="Wingdings" panose="05000000000000000000" pitchFamily="2" charset="2"/>
              <a:buChar char="Ø"/>
            </a:pPr>
            <a:r>
              <a:rPr lang="en-CA" dirty="0"/>
              <a:t>Where do we find data on costs of treatment? </a:t>
            </a:r>
            <a:r>
              <a:rPr lang="en-CA" b="1" dirty="0"/>
              <a:t>(ANSWERED TODAY!)</a:t>
            </a:r>
            <a:endParaRPr lang="en-CA" dirty="0"/>
          </a:p>
          <a:p>
            <a:pPr lvl="1">
              <a:buFont typeface="Wingdings" panose="05000000000000000000" pitchFamily="2" charset="2"/>
              <a:buChar char="Ø"/>
            </a:pPr>
            <a:r>
              <a:rPr lang="en-CA" dirty="0"/>
              <a:t>What if we don’t care about mortality but rather quality of life? How is that valued and where is this data found? (</a:t>
            </a:r>
            <a:r>
              <a:rPr lang="en-CA" b="1" dirty="0"/>
              <a:t>ANSWERED TODAY!)</a:t>
            </a:r>
            <a:endParaRPr lang="en-CA" dirty="0"/>
          </a:p>
          <a:p>
            <a:pPr lvl="1">
              <a:buFont typeface="Wingdings" panose="05000000000000000000" pitchFamily="2" charset="2"/>
              <a:buChar char="Ø"/>
            </a:pPr>
            <a:r>
              <a:rPr lang="en-CA" dirty="0"/>
              <a:t>What if a treatment is utilized in a broader clinical pathway? (</a:t>
            </a:r>
            <a:r>
              <a:rPr lang="en-CA" b="1" dirty="0"/>
              <a:t>ANSWERED IN FUTURE CLASSES!)</a:t>
            </a:r>
            <a:endParaRPr lang="en-CA" dirty="0"/>
          </a:p>
          <a:p>
            <a:endParaRPr lang="en-CA" dirty="0"/>
          </a:p>
        </p:txBody>
      </p:sp>
    </p:spTree>
    <p:extLst>
      <p:ext uri="{BB962C8B-B14F-4D97-AF65-F5344CB8AC3E}">
        <p14:creationId xmlns:p14="http://schemas.microsoft.com/office/powerpoint/2010/main" val="2876836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A2BCC-A7F4-E6B1-B8F0-69CAA06F96D3}"/>
              </a:ext>
            </a:extLst>
          </p:cNvPr>
          <p:cNvSpPr>
            <a:spLocks noGrp="1"/>
          </p:cNvSpPr>
          <p:nvPr>
            <p:ph type="ctrTitle"/>
          </p:nvPr>
        </p:nvSpPr>
        <p:spPr/>
        <p:txBody>
          <a:bodyPr/>
          <a:lstStyle/>
          <a:p>
            <a:r>
              <a:rPr lang="en-US" dirty="0"/>
              <a:t>Data on Costs</a:t>
            </a:r>
            <a:endParaRPr lang="en-CA" dirty="0"/>
          </a:p>
        </p:txBody>
      </p:sp>
    </p:spTree>
    <p:extLst>
      <p:ext uri="{BB962C8B-B14F-4D97-AF65-F5344CB8AC3E}">
        <p14:creationId xmlns:p14="http://schemas.microsoft.com/office/powerpoint/2010/main" val="396675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ED23AF9-CDED-9C60-BA99-07DB7B9F9280}"/>
              </a:ext>
            </a:extLst>
          </p:cNvPr>
          <p:cNvSpPr txBox="1"/>
          <p:nvPr/>
        </p:nvSpPr>
        <p:spPr>
          <a:xfrm>
            <a:off x="518160" y="6059267"/>
            <a:ext cx="10832966" cy="646331"/>
          </a:xfrm>
          <a:prstGeom prst="rect">
            <a:avLst/>
          </a:prstGeom>
          <a:noFill/>
        </p:spPr>
        <p:txBody>
          <a:bodyPr wrap="square">
            <a:spAutoFit/>
          </a:bodyPr>
          <a:lstStyle/>
          <a:p>
            <a:r>
              <a:rPr lang="en-CA" sz="1800" i="1" dirty="0" err="1">
                <a:solidFill>
                  <a:schemeClr val="tx1"/>
                </a:solidFill>
                <a:effectLst/>
                <a:latin typeface="+mn-lt"/>
              </a:rPr>
              <a:t>Kalseth</a:t>
            </a:r>
            <a:r>
              <a:rPr lang="en-CA" sz="1800" i="1" dirty="0">
                <a:solidFill>
                  <a:schemeClr val="tx1"/>
                </a:solidFill>
                <a:effectLst/>
                <a:latin typeface="+mn-lt"/>
              </a:rPr>
              <a:t>, J., &amp; Halvorsen, T. (2020). Health and care service utilisation and cost over the life-span: a descriptive analysis of population data. BMC health services research, 20(1), 435.</a:t>
            </a:r>
            <a:endParaRPr lang="en-CA" i="1" dirty="0"/>
          </a:p>
        </p:txBody>
      </p:sp>
      <p:sp>
        <p:nvSpPr>
          <p:cNvPr id="9" name="Title 1">
            <a:extLst>
              <a:ext uri="{FF2B5EF4-FFF2-40B4-BE49-F238E27FC236}">
                <a16:creationId xmlns:a16="http://schemas.microsoft.com/office/drawing/2014/main" id="{0573D439-F5F9-A0BF-6355-B342502C1C52}"/>
              </a:ext>
            </a:extLst>
          </p:cNvPr>
          <p:cNvSpPr>
            <a:spLocks noGrp="1"/>
          </p:cNvSpPr>
          <p:nvPr>
            <p:ph type="title"/>
          </p:nvPr>
        </p:nvSpPr>
        <p:spPr>
          <a:xfrm>
            <a:off x="518160" y="880086"/>
            <a:ext cx="11155680" cy="1463040"/>
          </a:xfrm>
        </p:spPr>
        <p:txBody>
          <a:bodyPr/>
          <a:lstStyle/>
          <a:p>
            <a:r>
              <a:rPr lang="en-US" dirty="0"/>
              <a:t>Facts about Costs over the lifecycle</a:t>
            </a:r>
            <a:endParaRPr lang="en-CA" dirty="0"/>
          </a:p>
        </p:txBody>
      </p:sp>
      <p:pic>
        <p:nvPicPr>
          <p:cNvPr id="11" name="Picture 10">
            <a:extLst>
              <a:ext uri="{FF2B5EF4-FFF2-40B4-BE49-F238E27FC236}">
                <a16:creationId xmlns:a16="http://schemas.microsoft.com/office/drawing/2014/main" id="{3219D6CF-F18E-352E-7177-3FEC094D3938}"/>
              </a:ext>
            </a:extLst>
          </p:cNvPr>
          <p:cNvPicPr>
            <a:picLocks noChangeAspect="1"/>
          </p:cNvPicPr>
          <p:nvPr/>
        </p:nvPicPr>
        <p:blipFill>
          <a:blip r:embed="rId2"/>
          <a:stretch>
            <a:fillRect/>
          </a:stretch>
        </p:blipFill>
        <p:spPr>
          <a:xfrm>
            <a:off x="518160" y="1590360"/>
            <a:ext cx="10258887" cy="4099575"/>
          </a:xfrm>
          <a:prstGeom prst="rect">
            <a:avLst/>
          </a:prstGeom>
        </p:spPr>
      </p:pic>
      <p:sp>
        <p:nvSpPr>
          <p:cNvPr id="12" name="TextBox 11">
            <a:extLst>
              <a:ext uri="{FF2B5EF4-FFF2-40B4-BE49-F238E27FC236}">
                <a16:creationId xmlns:a16="http://schemas.microsoft.com/office/drawing/2014/main" id="{FD6C5F7E-13A1-4C34-6FE6-4033805EBB97}"/>
              </a:ext>
            </a:extLst>
          </p:cNvPr>
          <p:cNvSpPr txBox="1"/>
          <p:nvPr/>
        </p:nvSpPr>
        <p:spPr>
          <a:xfrm>
            <a:off x="786580" y="5689935"/>
            <a:ext cx="184731" cy="369332"/>
          </a:xfrm>
          <a:prstGeom prst="rect">
            <a:avLst/>
          </a:prstGeom>
          <a:noFill/>
        </p:spPr>
        <p:txBody>
          <a:bodyPr wrap="none" rtlCol="0">
            <a:spAutoFit/>
          </a:bodyPr>
          <a:lstStyle/>
          <a:p>
            <a:endParaRPr lang="en-CA" dirty="0"/>
          </a:p>
        </p:txBody>
      </p:sp>
      <p:sp>
        <p:nvSpPr>
          <p:cNvPr id="13" name="TextBox 12">
            <a:extLst>
              <a:ext uri="{FF2B5EF4-FFF2-40B4-BE49-F238E27FC236}">
                <a16:creationId xmlns:a16="http://schemas.microsoft.com/office/drawing/2014/main" id="{A8EF2F4C-D84B-803F-BE09-9A11B4A41166}"/>
              </a:ext>
            </a:extLst>
          </p:cNvPr>
          <p:cNvSpPr txBox="1"/>
          <p:nvPr/>
        </p:nvSpPr>
        <p:spPr>
          <a:xfrm>
            <a:off x="518160" y="5608582"/>
            <a:ext cx="8542723" cy="246221"/>
          </a:xfrm>
          <a:prstGeom prst="rect">
            <a:avLst/>
          </a:prstGeom>
          <a:noFill/>
        </p:spPr>
        <p:txBody>
          <a:bodyPr wrap="none" rtlCol="0">
            <a:spAutoFit/>
          </a:bodyPr>
          <a:lstStyle/>
          <a:p>
            <a:r>
              <a:rPr lang="en-US" sz="1000" i="1" dirty="0"/>
              <a:t>*This figure presents per capita health expenditure for health expenditures in Norway. The shape of these curves are generalizable across the life cycle.</a:t>
            </a:r>
            <a:endParaRPr lang="en-CA" sz="1000" i="1" dirty="0"/>
          </a:p>
        </p:txBody>
      </p:sp>
    </p:spTree>
    <p:extLst>
      <p:ext uri="{BB962C8B-B14F-4D97-AF65-F5344CB8AC3E}">
        <p14:creationId xmlns:p14="http://schemas.microsoft.com/office/powerpoint/2010/main" val="14408510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7A4CF-6013-000D-3D3D-C958EE4869BA}"/>
              </a:ext>
            </a:extLst>
          </p:cNvPr>
          <p:cNvSpPr>
            <a:spLocks noGrp="1"/>
          </p:cNvSpPr>
          <p:nvPr>
            <p:ph type="title"/>
          </p:nvPr>
        </p:nvSpPr>
        <p:spPr/>
        <p:txBody>
          <a:bodyPr/>
          <a:lstStyle/>
          <a:p>
            <a:r>
              <a:rPr lang="en-US" dirty="0"/>
              <a:t>Some Data Sources on Costs</a:t>
            </a:r>
            <a:endParaRPr lang="en-CA" dirty="0"/>
          </a:p>
        </p:txBody>
      </p:sp>
      <p:sp>
        <p:nvSpPr>
          <p:cNvPr id="3" name="Content Placeholder 2">
            <a:extLst>
              <a:ext uri="{FF2B5EF4-FFF2-40B4-BE49-F238E27FC236}">
                <a16:creationId xmlns:a16="http://schemas.microsoft.com/office/drawing/2014/main" id="{C3445F9E-0735-C706-EF6E-6E0EDC901717}"/>
              </a:ext>
            </a:extLst>
          </p:cNvPr>
          <p:cNvSpPr>
            <a:spLocks noGrp="1"/>
          </p:cNvSpPr>
          <p:nvPr>
            <p:ph idx="1"/>
          </p:nvPr>
        </p:nvSpPr>
        <p:spPr>
          <a:xfrm>
            <a:off x="515112" y="2313137"/>
            <a:ext cx="11155680" cy="3767328"/>
          </a:xfrm>
        </p:spPr>
        <p:txBody>
          <a:bodyPr/>
          <a:lstStyle/>
          <a:p>
            <a:r>
              <a:rPr lang="en-US" dirty="0"/>
              <a:t>There are a multitude of data sources which you can use for identifying costs.</a:t>
            </a:r>
            <a:r>
              <a:rPr lang="en-CA" dirty="0"/>
              <a:t> Ideally, if you have exact dollar amounts for each treatment provided based on provider knowledge this is the best.</a:t>
            </a:r>
          </a:p>
          <a:p>
            <a:r>
              <a:rPr lang="en-CA" dirty="0"/>
              <a:t>More often than not, the independent researcher will find themselves making estimates.</a:t>
            </a:r>
          </a:p>
          <a:p>
            <a:r>
              <a:rPr lang="en-CA" dirty="0"/>
              <a:t>Some tools for “micro-costing” which we will discuss today are:</a:t>
            </a:r>
          </a:p>
          <a:p>
            <a:pPr marL="800100" lvl="1" indent="-342900">
              <a:buFont typeface="+mj-lt"/>
              <a:buAutoNum type="arabicPeriod"/>
            </a:pPr>
            <a:r>
              <a:rPr lang="en-US" dirty="0"/>
              <a:t>The CIHI Patient Cost Estimator</a:t>
            </a:r>
          </a:p>
          <a:p>
            <a:pPr marL="800100" lvl="1" indent="-342900">
              <a:buFont typeface="+mj-lt"/>
              <a:buAutoNum type="arabicPeriod"/>
            </a:pPr>
            <a:r>
              <a:rPr lang="en-US" dirty="0"/>
              <a:t>Ontario’s Interactive Drug Formulary Search</a:t>
            </a:r>
          </a:p>
          <a:p>
            <a:r>
              <a:rPr lang="en-US" dirty="0"/>
              <a:t>A more comprehensive list of costing resources are provided by the Canadian Drug Authority’s list of </a:t>
            </a:r>
            <a:r>
              <a:rPr lang="en-US" dirty="0">
                <a:hlinkClick r:id="rId2"/>
              </a:rPr>
              <a:t>publicly available </a:t>
            </a:r>
            <a:r>
              <a:rPr lang="en-US" dirty="0" err="1">
                <a:hlinkClick r:id="rId2"/>
              </a:rPr>
              <a:t>canadian</a:t>
            </a:r>
            <a:r>
              <a:rPr lang="en-US" dirty="0">
                <a:hlinkClick r:id="rId2"/>
              </a:rPr>
              <a:t> cost information</a:t>
            </a:r>
            <a:r>
              <a:rPr lang="en-US" dirty="0"/>
              <a:t>.</a:t>
            </a:r>
            <a:endParaRPr lang="en-CA" dirty="0"/>
          </a:p>
          <a:p>
            <a:r>
              <a:rPr lang="en-CA" b="1" dirty="0"/>
              <a:t>NOTE: By the very nature and complexity of costs and the dependence on the healthcare environment this overview of tools is incomplete.</a:t>
            </a:r>
            <a:endParaRPr lang="en-US" b="1" dirty="0"/>
          </a:p>
        </p:txBody>
      </p:sp>
    </p:spTree>
    <p:extLst>
      <p:ext uri="{BB962C8B-B14F-4D97-AF65-F5344CB8AC3E}">
        <p14:creationId xmlns:p14="http://schemas.microsoft.com/office/powerpoint/2010/main" val="2106767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BA84B-1AA6-E436-8E56-D2B1B8430337}"/>
              </a:ext>
            </a:extLst>
          </p:cNvPr>
          <p:cNvSpPr>
            <a:spLocks noGrp="1"/>
          </p:cNvSpPr>
          <p:nvPr>
            <p:ph type="title"/>
          </p:nvPr>
        </p:nvSpPr>
        <p:spPr/>
        <p:txBody>
          <a:bodyPr/>
          <a:lstStyle/>
          <a:p>
            <a:r>
              <a:rPr lang="en-US" dirty="0"/>
              <a:t>The CIHI Patient Cost Calculator</a:t>
            </a:r>
            <a:endParaRPr lang="en-CA"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F4DBFE2-C60C-4A34-384A-42E866606E42}"/>
                  </a:ext>
                </a:extLst>
              </p:cNvPr>
              <p:cNvSpPr>
                <a:spLocks noGrp="1"/>
              </p:cNvSpPr>
              <p:nvPr>
                <p:ph idx="1"/>
              </p:nvPr>
            </p:nvSpPr>
            <p:spPr>
              <a:xfrm>
                <a:off x="518160" y="2112264"/>
                <a:ext cx="11155680" cy="3767328"/>
              </a:xfrm>
            </p:spPr>
            <p:txBody>
              <a:bodyPr>
                <a:normAutofit fontScale="92500" lnSpcReduction="20000"/>
              </a:bodyPr>
              <a:lstStyle/>
              <a:p>
                <a:r>
                  <a:rPr lang="en-US" dirty="0"/>
                  <a:t>CIHI provides the following description of this tool:</a:t>
                </a:r>
              </a:p>
              <a:p>
                <a:pPr lvl="1"/>
                <a:r>
                  <a:rPr lang="en-CA" dirty="0"/>
                  <a:t>The Patient Cost Estimator (PCE) is an interactive tool developed by CIHI to </a:t>
                </a:r>
                <a:r>
                  <a:rPr lang="en-CA" b="1" i="1" dirty="0"/>
                  <a:t>estimate the average cost of various services provided in hospitals. </a:t>
                </a:r>
              </a:p>
              <a:p>
                <a:pPr lvl="1"/>
                <a:r>
                  <a:rPr lang="en-CA" dirty="0"/>
                  <a:t>This tool provides information nationally, by jurisdiction, by patient service (i.e., </a:t>
                </a:r>
                <a:r>
                  <a:rPr lang="en-CA" b="1" dirty="0"/>
                  <a:t>case-mix group</a:t>
                </a:r>
                <a:r>
                  <a:rPr lang="en-CA" dirty="0"/>
                  <a:t>) and by patient age group. </a:t>
                </a:r>
              </a:p>
              <a:p>
                <a:pPr lvl="1"/>
                <a:r>
                  <a:rPr lang="en-CA" dirty="0"/>
                  <a:t>The cost estimates represent the estimated average cost of services provided to the average typical inpatient in an acute care facility.</a:t>
                </a:r>
              </a:p>
              <a:p>
                <a:pPr lvl="1"/>
                <a:r>
                  <a:rPr lang="en-CA" dirty="0"/>
                  <a:t> They include the costs incurred by the hospital when providing services. </a:t>
                </a:r>
              </a:p>
              <a:p>
                <a:pPr lvl="1"/>
                <a:r>
                  <a:rPr lang="en-CA" dirty="0"/>
                  <a:t>The estimated average cost of physician services provided to inpatients during their hospital stay is also available as a separate component of cost for 7 jurisdictions. </a:t>
                </a:r>
              </a:p>
              <a:p>
                <a:r>
                  <a:rPr lang="en-CA" b="1" dirty="0"/>
                  <a:t>This tool is powerful because it provides average cost estimates for 813 different case mixes across 9 different age groups for all 13 provinces and territories.</a:t>
                </a:r>
              </a:p>
              <a:p>
                <a:r>
                  <a:rPr lang="en-CA" dirty="0"/>
                  <a:t>This </a:t>
                </a:r>
                <a:r>
                  <a:rPr lang="en-CA" dirty="0" err="1"/>
                  <a:t>microcosts</a:t>
                </a:r>
                <a:r>
                  <a:rPr lang="en-CA" dirty="0"/>
                  <a:t> a total of 813</a:t>
                </a:r>
                <a14:m>
                  <m:oMath xmlns:m="http://schemas.openxmlformats.org/officeDocument/2006/math">
                    <m:r>
                      <a:rPr lang="en-US" b="0" i="1" smtClean="0">
                        <a:latin typeface="Cambria Math" panose="02040503050406030204" pitchFamily="18" charset="0"/>
                      </a:rPr>
                      <m:t>×</m:t>
                    </m:r>
                  </m:oMath>
                </a14:m>
                <a:r>
                  <a:rPr lang="en-CA" dirty="0"/>
                  <a:t>9</a:t>
                </a:r>
                <a14:m>
                  <m:oMath xmlns:m="http://schemas.openxmlformats.org/officeDocument/2006/math">
                    <m:r>
                      <a:rPr lang="en-US" b="0" i="1" dirty="0" smtClean="0">
                        <a:latin typeface="Cambria Math" panose="02040503050406030204" pitchFamily="18" charset="0"/>
                      </a:rPr>
                      <m:t>×</m:t>
                    </m:r>
                  </m:oMath>
                </a14:m>
                <a:r>
                  <a:rPr lang="en-CA" dirty="0"/>
                  <a:t>13= 95,121 different patient types!</a:t>
                </a:r>
              </a:p>
              <a:p>
                <a:r>
                  <a:rPr lang="en-CA" dirty="0"/>
                  <a:t>You can view it </a:t>
                </a:r>
                <a:r>
                  <a:rPr lang="en-CA" dirty="0">
                    <a:hlinkClick r:id="rId2"/>
                  </a:rPr>
                  <a:t>here</a:t>
                </a:r>
                <a:endParaRPr lang="en-CA" dirty="0"/>
              </a:p>
            </p:txBody>
          </p:sp>
        </mc:Choice>
        <mc:Fallback xmlns="">
          <p:sp>
            <p:nvSpPr>
              <p:cNvPr id="3" name="Content Placeholder 2">
                <a:extLst>
                  <a:ext uri="{FF2B5EF4-FFF2-40B4-BE49-F238E27FC236}">
                    <a16:creationId xmlns:a16="http://schemas.microsoft.com/office/drawing/2014/main" id="{8F4DBFE2-C60C-4A34-384A-42E866606E42}"/>
                  </a:ext>
                </a:extLst>
              </p:cNvPr>
              <p:cNvSpPr>
                <a:spLocks noGrp="1" noRot="1" noChangeAspect="1" noMove="1" noResize="1" noEditPoints="1" noAdjustHandles="1" noChangeArrowheads="1" noChangeShapeType="1" noTextEdit="1"/>
              </p:cNvSpPr>
              <p:nvPr>
                <p:ph idx="1"/>
              </p:nvPr>
            </p:nvSpPr>
            <p:spPr>
              <a:xfrm>
                <a:off x="518160" y="2112264"/>
                <a:ext cx="11155680" cy="3767328"/>
              </a:xfrm>
              <a:blipFill>
                <a:blip r:embed="rId3"/>
                <a:stretch>
                  <a:fillRect l="-273" t="-1294" r="-55"/>
                </a:stretch>
              </a:blipFill>
            </p:spPr>
            <p:txBody>
              <a:bodyPr/>
              <a:lstStyle/>
              <a:p>
                <a:r>
                  <a:rPr lang="en-CA">
                    <a:noFill/>
                  </a:rPr>
                  <a:t> </a:t>
                </a:r>
              </a:p>
            </p:txBody>
          </p:sp>
        </mc:Fallback>
      </mc:AlternateContent>
    </p:spTree>
    <p:extLst>
      <p:ext uri="{BB962C8B-B14F-4D97-AF65-F5344CB8AC3E}">
        <p14:creationId xmlns:p14="http://schemas.microsoft.com/office/powerpoint/2010/main" val="3425585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69012-A739-C225-E528-E676E6347B83}"/>
              </a:ext>
            </a:extLst>
          </p:cNvPr>
          <p:cNvSpPr>
            <a:spLocks noGrp="1"/>
          </p:cNvSpPr>
          <p:nvPr>
            <p:ph type="title"/>
          </p:nvPr>
        </p:nvSpPr>
        <p:spPr/>
        <p:txBody>
          <a:bodyPr/>
          <a:lstStyle/>
          <a:p>
            <a:r>
              <a:rPr lang="en-US" dirty="0"/>
              <a:t>The CIHI Patient Cost Calculator</a:t>
            </a:r>
            <a:endParaRPr lang="en-CA" dirty="0"/>
          </a:p>
        </p:txBody>
      </p:sp>
      <p:sp>
        <p:nvSpPr>
          <p:cNvPr id="3" name="Content Placeholder 2">
            <a:extLst>
              <a:ext uri="{FF2B5EF4-FFF2-40B4-BE49-F238E27FC236}">
                <a16:creationId xmlns:a16="http://schemas.microsoft.com/office/drawing/2014/main" id="{EA31364A-727F-360B-3730-04BE4B1D5781}"/>
              </a:ext>
            </a:extLst>
          </p:cNvPr>
          <p:cNvSpPr>
            <a:spLocks noGrp="1"/>
          </p:cNvSpPr>
          <p:nvPr>
            <p:ph idx="1"/>
          </p:nvPr>
        </p:nvSpPr>
        <p:spPr/>
        <p:txBody>
          <a:bodyPr/>
          <a:lstStyle/>
          <a:p>
            <a:r>
              <a:rPr lang="en-US" dirty="0"/>
              <a:t>Some things to consider when using this </a:t>
            </a:r>
          </a:p>
          <a:p>
            <a:r>
              <a:rPr lang="en-US" dirty="0"/>
              <a:t>This data set provides estimates of average costs at the hospital level. </a:t>
            </a:r>
          </a:p>
          <a:p>
            <a:pPr lvl="1"/>
            <a:r>
              <a:rPr lang="en-US" dirty="0"/>
              <a:t>It does not consider different costs or sequencing along a patient’s treatment plan or provide estimates of the variation in costs which may occur.</a:t>
            </a:r>
          </a:p>
          <a:p>
            <a:pPr lvl="1"/>
            <a:r>
              <a:rPr lang="en-US" dirty="0"/>
              <a:t> Further, as this is based on case mix, some patient groups may be aggregated together.</a:t>
            </a:r>
          </a:p>
          <a:p>
            <a:pPr lvl="1"/>
            <a:r>
              <a:rPr lang="en-US" dirty="0"/>
              <a:t>Treatment which occurs outside of a hospital environment are often not included in this database.</a:t>
            </a:r>
          </a:p>
          <a:p>
            <a:r>
              <a:rPr lang="en-US" b="1" dirty="0"/>
              <a:t>BOTTOM LINE: The CIHI Patient Cost Calculator is a Powerful Tool. However if you are looking for more granularity in your costing approach you may need a different set of data.</a:t>
            </a:r>
          </a:p>
          <a:p>
            <a:pPr lvl="1"/>
            <a:endParaRPr lang="en-US" dirty="0"/>
          </a:p>
        </p:txBody>
      </p:sp>
    </p:spTree>
    <p:extLst>
      <p:ext uri="{BB962C8B-B14F-4D97-AF65-F5344CB8AC3E}">
        <p14:creationId xmlns:p14="http://schemas.microsoft.com/office/powerpoint/2010/main" val="11329789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A34F8-45CD-CCC6-1424-58B06E6AE025}"/>
              </a:ext>
            </a:extLst>
          </p:cNvPr>
          <p:cNvSpPr>
            <a:spLocks noGrp="1"/>
          </p:cNvSpPr>
          <p:nvPr>
            <p:ph type="title"/>
          </p:nvPr>
        </p:nvSpPr>
        <p:spPr>
          <a:xfrm>
            <a:off x="521208" y="889917"/>
            <a:ext cx="11155680" cy="1463040"/>
          </a:xfrm>
        </p:spPr>
        <p:txBody>
          <a:bodyPr/>
          <a:lstStyle/>
          <a:p>
            <a:r>
              <a:rPr lang="en-US" dirty="0"/>
              <a:t>Ontario’s Drug Formulary Search</a:t>
            </a:r>
            <a:endParaRPr lang="en-CA" dirty="0"/>
          </a:p>
        </p:txBody>
      </p:sp>
      <p:sp>
        <p:nvSpPr>
          <p:cNvPr id="3" name="Content Placeholder 2">
            <a:extLst>
              <a:ext uri="{FF2B5EF4-FFF2-40B4-BE49-F238E27FC236}">
                <a16:creationId xmlns:a16="http://schemas.microsoft.com/office/drawing/2014/main" id="{534345A3-684B-06E9-A81F-2CBD76C2F5EF}"/>
              </a:ext>
            </a:extLst>
          </p:cNvPr>
          <p:cNvSpPr>
            <a:spLocks noGrp="1"/>
          </p:cNvSpPr>
          <p:nvPr>
            <p:ph idx="1"/>
          </p:nvPr>
        </p:nvSpPr>
        <p:spPr>
          <a:xfrm>
            <a:off x="422886" y="2096828"/>
            <a:ext cx="11155680" cy="3767328"/>
          </a:xfrm>
        </p:spPr>
        <p:txBody>
          <a:bodyPr/>
          <a:lstStyle/>
          <a:p>
            <a:r>
              <a:rPr lang="en-US" dirty="0"/>
              <a:t>The Ontario drug formulary search tool is a tool which provides a detailed costing for the approved drugs and treatments in Ontario. </a:t>
            </a:r>
          </a:p>
          <a:p>
            <a:r>
              <a:rPr lang="en-US" dirty="0"/>
              <a:t>The use of this tool is to provide exact estimates for </a:t>
            </a:r>
            <a:r>
              <a:rPr lang="en-US" dirty="0" err="1"/>
              <a:t>microcosting</a:t>
            </a:r>
            <a:r>
              <a:rPr lang="en-US" dirty="0"/>
              <a:t> specific approved drugs. It also helps provide a sense of what the cost of these treatments are.</a:t>
            </a:r>
            <a:endParaRPr lang="en-CA" dirty="0"/>
          </a:p>
          <a:p>
            <a:r>
              <a:rPr lang="en-CA" dirty="0"/>
              <a:t>To relate the search back to the example cost effectiveness analysis (or in our context since VSL is computed it is a cost benefit analysis) we will search for generic names of the GLP-1s</a:t>
            </a:r>
          </a:p>
          <a:p>
            <a:r>
              <a:rPr lang="en-CA" dirty="0"/>
              <a:t>The search term we care about are </a:t>
            </a:r>
            <a:r>
              <a:rPr lang="en-CA" b="1" dirty="0"/>
              <a:t>SEMAGLUTIDE.</a:t>
            </a:r>
          </a:p>
        </p:txBody>
      </p:sp>
    </p:spTree>
    <p:extLst>
      <p:ext uri="{BB962C8B-B14F-4D97-AF65-F5344CB8AC3E}">
        <p14:creationId xmlns:p14="http://schemas.microsoft.com/office/powerpoint/2010/main" val="39299188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55F51-126B-3513-54F3-ABD62E8E7547}"/>
              </a:ext>
            </a:extLst>
          </p:cNvPr>
          <p:cNvSpPr>
            <a:spLocks noGrp="1"/>
          </p:cNvSpPr>
          <p:nvPr>
            <p:ph type="title"/>
          </p:nvPr>
        </p:nvSpPr>
        <p:spPr>
          <a:xfrm>
            <a:off x="521208" y="639098"/>
            <a:ext cx="11155680" cy="1140542"/>
          </a:xfrm>
        </p:spPr>
        <p:txBody>
          <a:bodyPr/>
          <a:lstStyle/>
          <a:p>
            <a:r>
              <a:rPr lang="en-US" dirty="0"/>
              <a:t>Ontario’s Drug Formulary Search</a:t>
            </a:r>
            <a:endParaRPr lang="en-CA" dirty="0"/>
          </a:p>
        </p:txBody>
      </p:sp>
      <p:pic>
        <p:nvPicPr>
          <p:cNvPr id="4" name="Picture 3">
            <a:extLst>
              <a:ext uri="{FF2B5EF4-FFF2-40B4-BE49-F238E27FC236}">
                <a16:creationId xmlns:a16="http://schemas.microsoft.com/office/drawing/2014/main" id="{5058CC10-5226-21C5-73C8-45B7CE21C4F2}"/>
              </a:ext>
            </a:extLst>
          </p:cNvPr>
          <p:cNvPicPr>
            <a:picLocks noChangeAspect="1"/>
          </p:cNvPicPr>
          <p:nvPr/>
        </p:nvPicPr>
        <p:blipFill>
          <a:blip r:embed="rId2"/>
          <a:stretch>
            <a:fillRect/>
          </a:stretch>
        </p:blipFill>
        <p:spPr>
          <a:xfrm>
            <a:off x="1017875" y="1594296"/>
            <a:ext cx="8293274" cy="5263704"/>
          </a:xfrm>
          <a:prstGeom prst="rect">
            <a:avLst/>
          </a:prstGeom>
        </p:spPr>
      </p:pic>
    </p:spTree>
    <p:extLst>
      <p:ext uri="{BB962C8B-B14F-4D97-AF65-F5344CB8AC3E}">
        <p14:creationId xmlns:p14="http://schemas.microsoft.com/office/powerpoint/2010/main" val="23652670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1D8DE-E459-D76D-C4D3-7FC5172280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8BD470-B957-A4E4-A6A9-0124697206EE}"/>
              </a:ext>
            </a:extLst>
          </p:cNvPr>
          <p:cNvSpPr>
            <a:spLocks noGrp="1"/>
          </p:cNvSpPr>
          <p:nvPr>
            <p:ph type="title"/>
          </p:nvPr>
        </p:nvSpPr>
        <p:spPr>
          <a:xfrm>
            <a:off x="521208" y="639098"/>
            <a:ext cx="11155680" cy="1140542"/>
          </a:xfrm>
        </p:spPr>
        <p:txBody>
          <a:bodyPr/>
          <a:lstStyle/>
          <a:p>
            <a:r>
              <a:rPr lang="en-US" dirty="0"/>
              <a:t>Ontario’s Drug Formulary Search</a:t>
            </a:r>
            <a:endParaRPr lang="en-CA" dirty="0"/>
          </a:p>
        </p:txBody>
      </p:sp>
      <p:pic>
        <p:nvPicPr>
          <p:cNvPr id="4" name="Picture 3">
            <a:extLst>
              <a:ext uri="{FF2B5EF4-FFF2-40B4-BE49-F238E27FC236}">
                <a16:creationId xmlns:a16="http://schemas.microsoft.com/office/drawing/2014/main" id="{EA2BBFCB-1728-F219-8C71-10EDB1EAFDD6}"/>
              </a:ext>
            </a:extLst>
          </p:cNvPr>
          <p:cNvPicPr>
            <a:picLocks noChangeAspect="1"/>
          </p:cNvPicPr>
          <p:nvPr/>
        </p:nvPicPr>
        <p:blipFill>
          <a:blip r:embed="rId2"/>
          <a:stretch>
            <a:fillRect/>
          </a:stretch>
        </p:blipFill>
        <p:spPr>
          <a:xfrm>
            <a:off x="1017875" y="1594296"/>
            <a:ext cx="8293274" cy="5263704"/>
          </a:xfrm>
          <a:prstGeom prst="rect">
            <a:avLst/>
          </a:prstGeom>
        </p:spPr>
      </p:pic>
      <p:sp>
        <p:nvSpPr>
          <p:cNvPr id="3" name="Rectangle 2">
            <a:extLst>
              <a:ext uri="{FF2B5EF4-FFF2-40B4-BE49-F238E27FC236}">
                <a16:creationId xmlns:a16="http://schemas.microsoft.com/office/drawing/2014/main" id="{1AD7EDA5-D446-864B-4D92-1F6570F843EE}"/>
              </a:ext>
            </a:extLst>
          </p:cNvPr>
          <p:cNvSpPr/>
          <p:nvPr/>
        </p:nvSpPr>
        <p:spPr>
          <a:xfrm>
            <a:off x="5535563" y="2526890"/>
            <a:ext cx="629264" cy="2369576"/>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TextBox 4">
            <a:extLst>
              <a:ext uri="{FF2B5EF4-FFF2-40B4-BE49-F238E27FC236}">
                <a16:creationId xmlns:a16="http://schemas.microsoft.com/office/drawing/2014/main" id="{6B4420C5-1ABD-08EF-46C3-5FBAC40C84C9}"/>
              </a:ext>
            </a:extLst>
          </p:cNvPr>
          <p:cNvSpPr txBox="1"/>
          <p:nvPr/>
        </p:nvSpPr>
        <p:spPr>
          <a:xfrm>
            <a:off x="9311149" y="2734838"/>
            <a:ext cx="2593963" cy="369332"/>
          </a:xfrm>
          <a:prstGeom prst="rect">
            <a:avLst/>
          </a:prstGeom>
          <a:noFill/>
        </p:spPr>
        <p:txBody>
          <a:bodyPr wrap="square" rtlCol="0">
            <a:spAutoFit/>
          </a:bodyPr>
          <a:lstStyle/>
          <a:p>
            <a:r>
              <a:rPr lang="en-US" b="1" dirty="0"/>
              <a:t>Average Cost= $142.34</a:t>
            </a:r>
            <a:endParaRPr lang="en-CA" b="1" dirty="0"/>
          </a:p>
        </p:txBody>
      </p:sp>
    </p:spTree>
    <p:extLst>
      <p:ext uri="{BB962C8B-B14F-4D97-AF65-F5344CB8AC3E}">
        <p14:creationId xmlns:p14="http://schemas.microsoft.com/office/powerpoint/2010/main" val="20416954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2F036-6D71-D507-0C9C-936B801AD0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B05132-7802-0AC3-570C-7411965A42B3}"/>
              </a:ext>
            </a:extLst>
          </p:cNvPr>
          <p:cNvSpPr>
            <a:spLocks noGrp="1"/>
          </p:cNvSpPr>
          <p:nvPr>
            <p:ph type="title"/>
          </p:nvPr>
        </p:nvSpPr>
        <p:spPr/>
        <p:txBody>
          <a:bodyPr/>
          <a:lstStyle/>
          <a:p>
            <a:r>
              <a:rPr lang="en-US" dirty="0"/>
              <a:t>Revising the Cost Effectiveness Analysis</a:t>
            </a:r>
            <a:endParaRPr lang="en-CA" dirty="0"/>
          </a:p>
        </p:txBody>
      </p:sp>
      <p:sp>
        <p:nvSpPr>
          <p:cNvPr id="4" name="Rectangle 3">
            <a:extLst>
              <a:ext uri="{FF2B5EF4-FFF2-40B4-BE49-F238E27FC236}">
                <a16:creationId xmlns:a16="http://schemas.microsoft.com/office/drawing/2014/main" id="{3020FC41-8BF6-0DE2-89AC-59D4F45F5F71}"/>
              </a:ext>
            </a:extLst>
          </p:cNvPr>
          <p:cNvSpPr/>
          <p:nvPr/>
        </p:nvSpPr>
        <p:spPr>
          <a:xfrm>
            <a:off x="1941922" y="4213781"/>
            <a:ext cx="641023" cy="589271"/>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6" name="Straight Connector 5">
            <a:extLst>
              <a:ext uri="{FF2B5EF4-FFF2-40B4-BE49-F238E27FC236}">
                <a16:creationId xmlns:a16="http://schemas.microsoft.com/office/drawing/2014/main" id="{262AA831-46BB-072D-414F-04C908FAA609}"/>
              </a:ext>
            </a:extLst>
          </p:cNvPr>
          <p:cNvCxnSpPr>
            <a:cxnSpLocks/>
            <a:stCxn id="4" idx="3"/>
            <a:endCxn id="10" idx="1"/>
          </p:cNvCxnSpPr>
          <p:nvPr/>
        </p:nvCxnSpPr>
        <p:spPr>
          <a:xfrm flipV="1">
            <a:off x="2582945" y="3101372"/>
            <a:ext cx="1495719" cy="1407045"/>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AC15C5B-29E4-93EF-91A5-B687F6077382}"/>
              </a:ext>
            </a:extLst>
          </p:cNvPr>
          <p:cNvCxnSpPr>
            <a:cxnSpLocks/>
            <a:stCxn id="4" idx="3"/>
            <a:endCxn id="12" idx="1"/>
          </p:cNvCxnSpPr>
          <p:nvPr/>
        </p:nvCxnSpPr>
        <p:spPr>
          <a:xfrm>
            <a:off x="2582945" y="4508417"/>
            <a:ext cx="1495719" cy="886119"/>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E38E4B0-BA01-5E46-FD76-21B731347ED8}"/>
              </a:ext>
            </a:extLst>
          </p:cNvPr>
          <p:cNvSpPr/>
          <p:nvPr/>
        </p:nvSpPr>
        <p:spPr>
          <a:xfrm>
            <a:off x="4078664" y="2592372"/>
            <a:ext cx="2623794" cy="1018000"/>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Costs?</a:t>
            </a:r>
            <a:br>
              <a:rPr lang="en-US" dirty="0">
                <a:solidFill>
                  <a:schemeClr val="tx1"/>
                </a:solidFill>
              </a:rPr>
            </a:br>
            <a:r>
              <a:rPr lang="en-US" dirty="0">
                <a:solidFill>
                  <a:schemeClr val="tx1"/>
                </a:solidFill>
              </a:rPr>
              <a:t>Mortality Rate= -7.26%</a:t>
            </a:r>
            <a:endParaRPr lang="en-CA" dirty="0">
              <a:solidFill>
                <a:schemeClr val="tx1"/>
              </a:solidFill>
            </a:endParaRPr>
          </a:p>
        </p:txBody>
      </p:sp>
      <p:sp>
        <p:nvSpPr>
          <p:cNvPr id="12" name="Rectangle 11">
            <a:extLst>
              <a:ext uri="{FF2B5EF4-FFF2-40B4-BE49-F238E27FC236}">
                <a16:creationId xmlns:a16="http://schemas.microsoft.com/office/drawing/2014/main" id="{6141BDF3-D957-638F-A799-A025DC3BFC32}"/>
              </a:ext>
            </a:extLst>
          </p:cNvPr>
          <p:cNvSpPr/>
          <p:nvPr/>
        </p:nvSpPr>
        <p:spPr>
          <a:xfrm>
            <a:off x="4078664" y="4803052"/>
            <a:ext cx="2746342" cy="1182968"/>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Costs?</a:t>
            </a:r>
            <a:br>
              <a:rPr lang="en-US" dirty="0">
                <a:solidFill>
                  <a:schemeClr val="tx1"/>
                </a:solidFill>
              </a:rPr>
            </a:br>
            <a:r>
              <a:rPr lang="en-US" dirty="0">
                <a:solidFill>
                  <a:schemeClr val="tx1"/>
                </a:solidFill>
              </a:rPr>
              <a:t>Mortality Rate=-10.17%</a:t>
            </a:r>
            <a:endParaRPr lang="en-CA" dirty="0">
              <a:solidFill>
                <a:schemeClr val="tx1"/>
              </a:solidFill>
            </a:endParaRPr>
          </a:p>
        </p:txBody>
      </p:sp>
      <p:sp>
        <p:nvSpPr>
          <p:cNvPr id="17" name="TextBox 16">
            <a:extLst>
              <a:ext uri="{FF2B5EF4-FFF2-40B4-BE49-F238E27FC236}">
                <a16:creationId xmlns:a16="http://schemas.microsoft.com/office/drawing/2014/main" id="{7AE10BA6-EB34-982D-0861-F82AD1BAAF1B}"/>
              </a:ext>
            </a:extLst>
          </p:cNvPr>
          <p:cNvSpPr txBox="1"/>
          <p:nvPr/>
        </p:nvSpPr>
        <p:spPr>
          <a:xfrm>
            <a:off x="1679781" y="3118427"/>
            <a:ext cx="1783373" cy="646331"/>
          </a:xfrm>
          <a:prstGeom prst="rect">
            <a:avLst/>
          </a:prstGeom>
          <a:noFill/>
        </p:spPr>
        <p:txBody>
          <a:bodyPr wrap="none" rtlCol="0">
            <a:spAutoFit/>
          </a:bodyPr>
          <a:lstStyle/>
          <a:p>
            <a:r>
              <a:rPr lang="en-US" b="1" dirty="0"/>
              <a:t>GLP-1 Assisted</a:t>
            </a:r>
            <a:br>
              <a:rPr lang="en-US" b="1" dirty="0"/>
            </a:br>
            <a:r>
              <a:rPr lang="en-US" b="1" dirty="0"/>
              <a:t>Treatment</a:t>
            </a:r>
            <a:endParaRPr lang="en-CA" b="1" dirty="0"/>
          </a:p>
        </p:txBody>
      </p:sp>
      <p:sp>
        <p:nvSpPr>
          <p:cNvPr id="19" name="TextBox 18">
            <a:extLst>
              <a:ext uri="{FF2B5EF4-FFF2-40B4-BE49-F238E27FC236}">
                <a16:creationId xmlns:a16="http://schemas.microsoft.com/office/drawing/2014/main" id="{C38F2EC1-CF7E-AF17-D9AE-E593014C4AEC}"/>
              </a:ext>
            </a:extLst>
          </p:cNvPr>
          <p:cNvSpPr txBox="1"/>
          <p:nvPr/>
        </p:nvSpPr>
        <p:spPr>
          <a:xfrm>
            <a:off x="1941922" y="5294961"/>
            <a:ext cx="1712777" cy="369332"/>
          </a:xfrm>
          <a:prstGeom prst="rect">
            <a:avLst/>
          </a:prstGeom>
          <a:noFill/>
        </p:spPr>
        <p:txBody>
          <a:bodyPr wrap="none" rtlCol="0">
            <a:spAutoFit/>
          </a:bodyPr>
          <a:lstStyle/>
          <a:p>
            <a:r>
              <a:rPr lang="en-US" b="1" dirty="0"/>
              <a:t>Standard Care</a:t>
            </a:r>
            <a:endParaRPr lang="en-CA" b="1"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B4099F9-45E2-DF52-2A7E-CED9D84268D8}"/>
                  </a:ext>
                </a:extLst>
              </p:cNvPr>
              <p:cNvSpPr txBox="1"/>
              <p:nvPr/>
            </p:nvSpPr>
            <p:spPr>
              <a:xfrm>
                <a:off x="5954598" y="4079348"/>
                <a:ext cx="6094428" cy="659796"/>
              </a:xfrm>
              <a:prstGeom prst="rect">
                <a:avLst/>
              </a:prstGeom>
              <a:noFill/>
            </p:spPr>
            <p:txBody>
              <a:bodyPr wrap="square">
                <a:spAutoFit/>
              </a:bodyPr>
              <a:lstStyle/>
              <a:p>
                <a:pPr/>
                <a14:m>
                  <m:oMathPara xmlns:m="http://schemas.openxmlformats.org/officeDocument/2006/math">
                    <m:oMath>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𝜆</m:t>
                          </m:r>
                        </m:e>
                        <m:sup>
                          <m:r>
                            <a:rPr lang="en-US" sz="1800" b="0" i="1" smtClean="0">
                              <a:latin typeface="Cambria Math" panose="02040503050406030204" pitchFamily="18" charset="0"/>
                            </a:rPr>
                            <m:t>𝐴</m:t>
                          </m:r>
                        </m:sup>
                      </m:sSup>
                      <m:r>
                        <a:rPr lang="en-US" sz="1800" b="0" i="1" smtClean="0">
                          <a:latin typeface="Cambria Math" panose="02040503050406030204" pitchFamily="18" charset="0"/>
                        </a:rPr>
                        <m:t>=</m:t>
                      </m:r>
                      <m:f>
                        <m:fPr>
                          <m:ctrlPr>
                            <a:rPr lang="en-US" sz="1800" b="0" i="0" smtClean="0">
                              <a:latin typeface="Cambria Math" panose="02040503050406030204" pitchFamily="18" charset="0"/>
                            </a:rPr>
                          </m:ctrlPr>
                        </m:fPr>
                        <m:num>
                          <m:r>
                            <m:rPr>
                              <m:sty m:val="p"/>
                            </m:rPr>
                            <a:rPr lang="en-US" sz="1800" b="0" i="0" smtClean="0">
                              <a:latin typeface="Cambria Math" panose="02040503050406030204" pitchFamily="18" charset="0"/>
                            </a:rPr>
                            <m:t>Δ</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𝐴</m:t>
                              </m:r>
                            </m:sub>
                          </m:sSub>
                        </m:num>
                        <m:den>
                          <m:r>
                            <m:rPr>
                              <m:sty m:val="p"/>
                            </m:rPr>
                            <a:rPr lang="en-US" sz="1800" b="0" i="0" smtClean="0">
                              <a:latin typeface="Cambria Math" panose="02040503050406030204" pitchFamily="18" charset="0"/>
                            </a:rPr>
                            <m:t>Δ</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𝐴</m:t>
                              </m:r>
                            </m:sub>
                          </m:sSub>
                        </m:den>
                      </m:f>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𝐴</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𝐵</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𝐴</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𝐵</m:t>
                              </m:r>
                            </m:sub>
                          </m:sSub>
                        </m:den>
                      </m:f>
                    </m:oMath>
                  </m:oMathPara>
                </a14:m>
                <a:endParaRPr lang="en-CA" dirty="0"/>
              </a:p>
            </p:txBody>
          </p:sp>
        </mc:Choice>
        <mc:Fallback xmlns="">
          <p:sp>
            <p:nvSpPr>
              <p:cNvPr id="9" name="TextBox 8">
                <a:extLst>
                  <a:ext uri="{FF2B5EF4-FFF2-40B4-BE49-F238E27FC236}">
                    <a16:creationId xmlns:a16="http://schemas.microsoft.com/office/drawing/2014/main" id="{9153730E-004E-4A4F-A7CC-B48E1BA8242A}"/>
                  </a:ext>
                </a:extLst>
              </p:cNvPr>
              <p:cNvSpPr txBox="1">
                <a:spLocks noRot="1" noChangeAspect="1" noMove="1" noResize="1" noEditPoints="1" noAdjustHandles="1" noChangeArrowheads="1" noChangeShapeType="1" noTextEdit="1"/>
              </p:cNvSpPr>
              <p:nvPr/>
            </p:nvSpPr>
            <p:spPr>
              <a:xfrm>
                <a:off x="5954598" y="4079348"/>
                <a:ext cx="6094428" cy="659796"/>
              </a:xfrm>
              <a:prstGeom prst="rect">
                <a:avLst/>
              </a:prstGeom>
              <a:blipFill>
                <a:blip r:embed="rId2"/>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8455029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DF08E-D1A9-D4EB-3076-969E1B13F8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BF27D2-9980-9BDC-D09D-2D551BD0F271}"/>
              </a:ext>
            </a:extLst>
          </p:cNvPr>
          <p:cNvSpPr>
            <a:spLocks noGrp="1"/>
          </p:cNvSpPr>
          <p:nvPr>
            <p:ph type="title"/>
          </p:nvPr>
        </p:nvSpPr>
        <p:spPr/>
        <p:txBody>
          <a:bodyPr/>
          <a:lstStyle/>
          <a:p>
            <a:r>
              <a:rPr lang="en-US" dirty="0"/>
              <a:t>Revising the Cost Effectiveness Analysis</a:t>
            </a:r>
            <a:endParaRPr lang="en-CA" dirty="0"/>
          </a:p>
        </p:txBody>
      </p:sp>
      <p:sp>
        <p:nvSpPr>
          <p:cNvPr id="4" name="Rectangle 3">
            <a:extLst>
              <a:ext uri="{FF2B5EF4-FFF2-40B4-BE49-F238E27FC236}">
                <a16:creationId xmlns:a16="http://schemas.microsoft.com/office/drawing/2014/main" id="{FAC749C6-D624-079F-FF0F-2240626346A6}"/>
              </a:ext>
            </a:extLst>
          </p:cNvPr>
          <p:cNvSpPr/>
          <p:nvPr/>
        </p:nvSpPr>
        <p:spPr>
          <a:xfrm>
            <a:off x="1941922" y="4213781"/>
            <a:ext cx="641023" cy="589271"/>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6" name="Straight Connector 5">
            <a:extLst>
              <a:ext uri="{FF2B5EF4-FFF2-40B4-BE49-F238E27FC236}">
                <a16:creationId xmlns:a16="http://schemas.microsoft.com/office/drawing/2014/main" id="{B394822A-77CE-53A9-2E84-F392E039F588}"/>
              </a:ext>
            </a:extLst>
          </p:cNvPr>
          <p:cNvCxnSpPr>
            <a:cxnSpLocks/>
            <a:stCxn id="4" idx="3"/>
            <a:endCxn id="10" idx="1"/>
          </p:cNvCxnSpPr>
          <p:nvPr/>
        </p:nvCxnSpPr>
        <p:spPr>
          <a:xfrm flipV="1">
            <a:off x="2582945" y="3101372"/>
            <a:ext cx="1495719" cy="1407045"/>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E0A3A7A6-E071-141F-EE85-B5C1DEFF7FC2}"/>
              </a:ext>
            </a:extLst>
          </p:cNvPr>
          <p:cNvCxnSpPr>
            <a:cxnSpLocks/>
            <a:stCxn id="4" idx="3"/>
            <a:endCxn id="12" idx="1"/>
          </p:cNvCxnSpPr>
          <p:nvPr/>
        </p:nvCxnSpPr>
        <p:spPr>
          <a:xfrm>
            <a:off x="2582945" y="4508417"/>
            <a:ext cx="1495719" cy="886119"/>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B7496168-E460-0E2C-BA1D-9A73A15DFA74}"/>
                  </a:ext>
                </a:extLst>
              </p:cNvPr>
              <p:cNvSpPr/>
              <p:nvPr/>
            </p:nvSpPr>
            <p:spPr>
              <a:xfrm>
                <a:off x="4078664" y="2592372"/>
                <a:ext cx="2623794" cy="1018000"/>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Costs= </a:t>
                </a:r>
                <a14:m>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𝑪</m:t>
                        </m:r>
                      </m:e>
                      <m:sub>
                        <m:r>
                          <a:rPr lang="en-US" b="1" i="1" smtClean="0">
                            <a:solidFill>
                              <a:schemeClr val="tx1"/>
                            </a:solidFill>
                            <a:latin typeface="Cambria Math" panose="02040503050406030204" pitchFamily="18" charset="0"/>
                          </a:rPr>
                          <m:t>𝑺𝑪</m:t>
                        </m:r>
                      </m:sub>
                    </m:sSub>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𝟏𝟒𝟐</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𝟑𝟒</m:t>
                    </m:r>
                  </m:oMath>
                </a14:m>
                <a:br>
                  <a:rPr lang="en-US" dirty="0">
                    <a:solidFill>
                      <a:schemeClr val="tx1"/>
                    </a:solidFill>
                  </a:rPr>
                </a:br>
                <a:r>
                  <a:rPr lang="en-US" dirty="0">
                    <a:solidFill>
                      <a:schemeClr val="tx1"/>
                    </a:solidFill>
                  </a:rPr>
                  <a:t>Mortality Rate= -7.26%</a:t>
                </a:r>
                <a:endParaRPr lang="en-CA" dirty="0">
                  <a:solidFill>
                    <a:schemeClr val="tx1"/>
                  </a:solidFill>
                </a:endParaRPr>
              </a:p>
            </p:txBody>
          </p:sp>
        </mc:Choice>
        <mc:Fallback xmlns="">
          <p:sp>
            <p:nvSpPr>
              <p:cNvPr id="10" name="Rectangle 9">
                <a:extLst>
                  <a:ext uri="{FF2B5EF4-FFF2-40B4-BE49-F238E27FC236}">
                    <a16:creationId xmlns:a16="http://schemas.microsoft.com/office/drawing/2014/main" id="{B7496168-E460-0E2C-BA1D-9A73A15DFA74}"/>
                  </a:ext>
                </a:extLst>
              </p:cNvPr>
              <p:cNvSpPr>
                <a:spLocks noRot="1" noChangeAspect="1" noMove="1" noResize="1" noEditPoints="1" noAdjustHandles="1" noChangeArrowheads="1" noChangeShapeType="1" noTextEdit="1"/>
              </p:cNvSpPr>
              <p:nvPr/>
            </p:nvSpPr>
            <p:spPr>
              <a:xfrm>
                <a:off x="4078664" y="2592372"/>
                <a:ext cx="2623794" cy="1018000"/>
              </a:xfrm>
              <a:prstGeom prst="rect">
                <a:avLst/>
              </a:prstGeom>
              <a:blipFill>
                <a:blip r:embed="rId2"/>
                <a:stretch>
                  <a:fillRect/>
                </a:stretch>
              </a:blipFill>
              <a:ln w="57150">
                <a:solidFill>
                  <a:schemeClr val="tx1"/>
                </a:solidFill>
              </a:ln>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C229D858-D73B-5875-88A3-8F0DAF99BB08}"/>
                  </a:ext>
                </a:extLst>
              </p:cNvPr>
              <p:cNvSpPr/>
              <p:nvPr/>
            </p:nvSpPr>
            <p:spPr>
              <a:xfrm>
                <a:off x="4078664" y="4803052"/>
                <a:ext cx="2746342" cy="1182968"/>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Costs=</a:t>
                </a:r>
                <a14:m>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𝑪</m:t>
                        </m:r>
                      </m:e>
                      <m:sub>
                        <m:r>
                          <a:rPr lang="en-US" b="1" i="1" smtClean="0">
                            <a:solidFill>
                              <a:schemeClr val="tx1"/>
                            </a:solidFill>
                            <a:latin typeface="Cambria Math" panose="02040503050406030204" pitchFamily="18" charset="0"/>
                          </a:rPr>
                          <m:t>𝑺𝑪</m:t>
                        </m:r>
                      </m:sub>
                    </m:sSub>
                  </m:oMath>
                </a14:m>
                <a:br>
                  <a:rPr lang="en-US" dirty="0">
                    <a:solidFill>
                      <a:schemeClr val="tx1"/>
                    </a:solidFill>
                  </a:rPr>
                </a:br>
                <a:r>
                  <a:rPr lang="en-US" dirty="0">
                    <a:solidFill>
                      <a:schemeClr val="tx1"/>
                    </a:solidFill>
                  </a:rPr>
                  <a:t>Mortality Rate=-10.17%</a:t>
                </a:r>
                <a:endParaRPr lang="en-CA" dirty="0">
                  <a:solidFill>
                    <a:schemeClr val="tx1"/>
                  </a:solidFill>
                </a:endParaRPr>
              </a:p>
            </p:txBody>
          </p:sp>
        </mc:Choice>
        <mc:Fallback xmlns="">
          <p:sp>
            <p:nvSpPr>
              <p:cNvPr id="12" name="Rectangle 11">
                <a:extLst>
                  <a:ext uri="{FF2B5EF4-FFF2-40B4-BE49-F238E27FC236}">
                    <a16:creationId xmlns:a16="http://schemas.microsoft.com/office/drawing/2014/main" id="{C229D858-D73B-5875-88A3-8F0DAF99BB08}"/>
                  </a:ext>
                </a:extLst>
              </p:cNvPr>
              <p:cNvSpPr>
                <a:spLocks noRot="1" noChangeAspect="1" noMove="1" noResize="1" noEditPoints="1" noAdjustHandles="1" noChangeArrowheads="1" noChangeShapeType="1" noTextEdit="1"/>
              </p:cNvSpPr>
              <p:nvPr/>
            </p:nvSpPr>
            <p:spPr>
              <a:xfrm>
                <a:off x="4078664" y="4803052"/>
                <a:ext cx="2746342" cy="1182968"/>
              </a:xfrm>
              <a:prstGeom prst="rect">
                <a:avLst/>
              </a:prstGeom>
              <a:blipFill>
                <a:blip r:embed="rId3"/>
                <a:stretch>
                  <a:fillRect/>
                </a:stretch>
              </a:blipFill>
              <a:ln w="57150">
                <a:solidFill>
                  <a:schemeClr val="tx1"/>
                </a:solidFill>
              </a:ln>
            </p:spPr>
            <p:txBody>
              <a:bodyPr/>
              <a:lstStyle/>
              <a:p>
                <a:r>
                  <a:rPr lang="en-CA">
                    <a:noFill/>
                  </a:rPr>
                  <a:t> </a:t>
                </a:r>
              </a:p>
            </p:txBody>
          </p:sp>
        </mc:Fallback>
      </mc:AlternateContent>
      <p:sp>
        <p:nvSpPr>
          <p:cNvPr id="17" name="TextBox 16">
            <a:extLst>
              <a:ext uri="{FF2B5EF4-FFF2-40B4-BE49-F238E27FC236}">
                <a16:creationId xmlns:a16="http://schemas.microsoft.com/office/drawing/2014/main" id="{18B10B77-BA0A-EE26-A733-EB30B3FA1A1F}"/>
              </a:ext>
            </a:extLst>
          </p:cNvPr>
          <p:cNvSpPr txBox="1"/>
          <p:nvPr/>
        </p:nvSpPr>
        <p:spPr>
          <a:xfrm>
            <a:off x="1679781" y="3118427"/>
            <a:ext cx="1783373" cy="646331"/>
          </a:xfrm>
          <a:prstGeom prst="rect">
            <a:avLst/>
          </a:prstGeom>
          <a:noFill/>
        </p:spPr>
        <p:txBody>
          <a:bodyPr wrap="none" rtlCol="0">
            <a:spAutoFit/>
          </a:bodyPr>
          <a:lstStyle/>
          <a:p>
            <a:r>
              <a:rPr lang="en-US" b="1" dirty="0"/>
              <a:t>GLP-1 Assisted</a:t>
            </a:r>
            <a:br>
              <a:rPr lang="en-US" b="1" dirty="0"/>
            </a:br>
            <a:r>
              <a:rPr lang="en-US" b="1" dirty="0"/>
              <a:t>Treatment</a:t>
            </a:r>
            <a:endParaRPr lang="en-CA" b="1" dirty="0"/>
          </a:p>
        </p:txBody>
      </p:sp>
      <p:sp>
        <p:nvSpPr>
          <p:cNvPr id="19" name="TextBox 18">
            <a:extLst>
              <a:ext uri="{FF2B5EF4-FFF2-40B4-BE49-F238E27FC236}">
                <a16:creationId xmlns:a16="http://schemas.microsoft.com/office/drawing/2014/main" id="{3BFFA208-FE73-FF95-0BAD-939260768407}"/>
              </a:ext>
            </a:extLst>
          </p:cNvPr>
          <p:cNvSpPr txBox="1"/>
          <p:nvPr/>
        </p:nvSpPr>
        <p:spPr>
          <a:xfrm>
            <a:off x="1941922" y="5294961"/>
            <a:ext cx="1712777" cy="369332"/>
          </a:xfrm>
          <a:prstGeom prst="rect">
            <a:avLst/>
          </a:prstGeom>
          <a:noFill/>
        </p:spPr>
        <p:txBody>
          <a:bodyPr wrap="none" rtlCol="0">
            <a:spAutoFit/>
          </a:bodyPr>
          <a:lstStyle/>
          <a:p>
            <a:r>
              <a:rPr lang="en-US" b="1" dirty="0"/>
              <a:t>Standard Care</a:t>
            </a:r>
            <a:endParaRPr lang="en-CA" b="1"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B07E1A7-B7E4-B030-3957-A007BBDE1BCA}"/>
                  </a:ext>
                </a:extLst>
              </p:cNvPr>
              <p:cNvSpPr txBox="1"/>
              <p:nvPr/>
            </p:nvSpPr>
            <p:spPr>
              <a:xfrm>
                <a:off x="5954598" y="4079348"/>
                <a:ext cx="6094428" cy="659796"/>
              </a:xfrm>
              <a:prstGeom prst="rect">
                <a:avLst/>
              </a:prstGeom>
              <a:noFill/>
            </p:spPr>
            <p:txBody>
              <a:bodyPr wrap="square">
                <a:spAutoFit/>
              </a:bodyPr>
              <a:lstStyle/>
              <a:p>
                <a:pPr/>
                <a14:m>
                  <m:oMathPara xmlns:m="http://schemas.openxmlformats.org/officeDocument/2006/math">
                    <m:oMath>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𝜆</m:t>
                          </m:r>
                        </m:e>
                        <m:sup>
                          <m:r>
                            <a:rPr lang="en-US" sz="1800" b="0" i="1" smtClean="0">
                              <a:latin typeface="Cambria Math" panose="02040503050406030204" pitchFamily="18" charset="0"/>
                            </a:rPr>
                            <m:t>𝐴</m:t>
                          </m:r>
                        </m:sup>
                      </m:sSup>
                      <m:r>
                        <a:rPr lang="en-US" sz="1800" b="0" i="1" smtClean="0">
                          <a:latin typeface="Cambria Math" panose="02040503050406030204" pitchFamily="18" charset="0"/>
                        </a:rPr>
                        <m:t>=</m:t>
                      </m:r>
                      <m:f>
                        <m:fPr>
                          <m:ctrlPr>
                            <a:rPr lang="en-US" sz="1800" b="0" i="0" smtClean="0">
                              <a:latin typeface="Cambria Math" panose="02040503050406030204" pitchFamily="18" charset="0"/>
                            </a:rPr>
                          </m:ctrlPr>
                        </m:fPr>
                        <m:num>
                          <m:r>
                            <m:rPr>
                              <m:sty m:val="p"/>
                            </m:rPr>
                            <a:rPr lang="en-US" sz="1800" b="0" i="0" smtClean="0">
                              <a:latin typeface="Cambria Math" panose="02040503050406030204" pitchFamily="18" charset="0"/>
                            </a:rPr>
                            <m:t>Δ</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𝐴</m:t>
                              </m:r>
                            </m:sub>
                          </m:sSub>
                        </m:num>
                        <m:den>
                          <m:r>
                            <m:rPr>
                              <m:sty m:val="p"/>
                            </m:rPr>
                            <a:rPr lang="en-US" sz="1800" b="0" i="0" smtClean="0">
                              <a:latin typeface="Cambria Math" panose="02040503050406030204" pitchFamily="18" charset="0"/>
                            </a:rPr>
                            <m:t>Δ</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𝐴</m:t>
                              </m:r>
                            </m:sub>
                          </m:sSub>
                        </m:den>
                      </m:f>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𝐴</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𝐵</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𝐴</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𝐵</m:t>
                              </m:r>
                            </m:sub>
                          </m:sSub>
                        </m:den>
                      </m:f>
                    </m:oMath>
                  </m:oMathPara>
                </a14:m>
                <a:endParaRPr lang="en-CA" dirty="0"/>
              </a:p>
            </p:txBody>
          </p:sp>
        </mc:Choice>
        <mc:Fallback xmlns="">
          <p:sp>
            <p:nvSpPr>
              <p:cNvPr id="9" name="TextBox 8">
                <a:extLst>
                  <a:ext uri="{FF2B5EF4-FFF2-40B4-BE49-F238E27FC236}">
                    <a16:creationId xmlns:a16="http://schemas.microsoft.com/office/drawing/2014/main" id="{9153730E-004E-4A4F-A7CC-B48E1BA8242A}"/>
                  </a:ext>
                </a:extLst>
              </p:cNvPr>
              <p:cNvSpPr txBox="1">
                <a:spLocks noRot="1" noChangeAspect="1" noMove="1" noResize="1" noEditPoints="1" noAdjustHandles="1" noChangeArrowheads="1" noChangeShapeType="1" noTextEdit="1"/>
              </p:cNvSpPr>
              <p:nvPr/>
            </p:nvSpPr>
            <p:spPr>
              <a:xfrm>
                <a:off x="5954598" y="4079348"/>
                <a:ext cx="6094428" cy="659796"/>
              </a:xfrm>
              <a:prstGeom prst="rect">
                <a:avLst/>
              </a:prstGeom>
              <a:blipFill>
                <a:blip r:embed="rId4"/>
                <a:stretch>
                  <a:fillRect/>
                </a:stretch>
              </a:blipFill>
            </p:spPr>
            <p:txBody>
              <a:bodyPr/>
              <a:lstStyle/>
              <a:p>
                <a:r>
                  <a:rPr lang="en-CA">
                    <a:noFill/>
                  </a:rPr>
                  <a:t> </a:t>
                </a:r>
              </a:p>
            </p:txBody>
          </p:sp>
        </mc:Fallback>
      </mc:AlternateContent>
      <p:sp>
        <p:nvSpPr>
          <p:cNvPr id="3" name="TextBox 2">
            <a:extLst>
              <a:ext uri="{FF2B5EF4-FFF2-40B4-BE49-F238E27FC236}">
                <a16:creationId xmlns:a16="http://schemas.microsoft.com/office/drawing/2014/main" id="{E53E8D66-16F1-AC4D-A746-BDFDFDF4824C}"/>
              </a:ext>
            </a:extLst>
          </p:cNvPr>
          <p:cNvSpPr txBox="1"/>
          <p:nvPr/>
        </p:nvSpPr>
        <p:spPr>
          <a:xfrm>
            <a:off x="7225678" y="2614066"/>
            <a:ext cx="4766754" cy="646331"/>
          </a:xfrm>
          <a:prstGeom prst="rect">
            <a:avLst/>
          </a:prstGeom>
          <a:noFill/>
          <a:ln w="57150">
            <a:solidFill>
              <a:schemeClr val="tx1"/>
            </a:solidFill>
          </a:ln>
        </p:spPr>
        <p:txBody>
          <a:bodyPr wrap="none" rtlCol="0">
            <a:spAutoFit/>
          </a:bodyPr>
          <a:lstStyle/>
          <a:p>
            <a:r>
              <a:rPr lang="en-US" dirty="0"/>
              <a:t>Costs on each arm are symmetric with</a:t>
            </a:r>
            <a:br>
              <a:rPr lang="en-US" dirty="0"/>
            </a:br>
            <a:r>
              <a:rPr lang="en-US" dirty="0"/>
              <a:t>some unmeasured standard care component.</a:t>
            </a:r>
            <a:endParaRPr lang="en-CA" dirty="0"/>
          </a:p>
        </p:txBody>
      </p:sp>
    </p:spTree>
    <p:extLst>
      <p:ext uri="{BB962C8B-B14F-4D97-AF65-F5344CB8AC3E}">
        <p14:creationId xmlns:p14="http://schemas.microsoft.com/office/powerpoint/2010/main" val="24028131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57B4E-A336-4E20-716C-DB7CD2380A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A1340-37A2-1F9A-2914-F9BEA968B8F9}"/>
              </a:ext>
            </a:extLst>
          </p:cNvPr>
          <p:cNvSpPr>
            <a:spLocks noGrp="1"/>
          </p:cNvSpPr>
          <p:nvPr>
            <p:ph type="title"/>
          </p:nvPr>
        </p:nvSpPr>
        <p:spPr/>
        <p:txBody>
          <a:bodyPr/>
          <a:lstStyle/>
          <a:p>
            <a:r>
              <a:rPr lang="en-US" dirty="0"/>
              <a:t>Revising the Cost Effectiveness Analysis</a:t>
            </a:r>
            <a:endParaRPr lang="en-CA" dirty="0"/>
          </a:p>
        </p:txBody>
      </p:sp>
      <p:sp>
        <p:nvSpPr>
          <p:cNvPr id="4" name="Rectangle 3">
            <a:extLst>
              <a:ext uri="{FF2B5EF4-FFF2-40B4-BE49-F238E27FC236}">
                <a16:creationId xmlns:a16="http://schemas.microsoft.com/office/drawing/2014/main" id="{05074BE5-7689-8B93-451A-DE526B4E23AE}"/>
              </a:ext>
            </a:extLst>
          </p:cNvPr>
          <p:cNvSpPr/>
          <p:nvPr/>
        </p:nvSpPr>
        <p:spPr>
          <a:xfrm>
            <a:off x="1941922" y="4213781"/>
            <a:ext cx="641023" cy="589271"/>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6" name="Straight Connector 5">
            <a:extLst>
              <a:ext uri="{FF2B5EF4-FFF2-40B4-BE49-F238E27FC236}">
                <a16:creationId xmlns:a16="http://schemas.microsoft.com/office/drawing/2014/main" id="{F713823D-DE2E-5EA2-42C7-9F0CE4BC208C}"/>
              </a:ext>
            </a:extLst>
          </p:cNvPr>
          <p:cNvCxnSpPr>
            <a:cxnSpLocks/>
            <a:stCxn id="4" idx="3"/>
            <a:endCxn id="10" idx="1"/>
          </p:cNvCxnSpPr>
          <p:nvPr/>
        </p:nvCxnSpPr>
        <p:spPr>
          <a:xfrm flipV="1">
            <a:off x="2582945" y="3101372"/>
            <a:ext cx="1495719" cy="1407045"/>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DB0F871C-D2BC-056E-1D6C-2608D51A9265}"/>
              </a:ext>
            </a:extLst>
          </p:cNvPr>
          <p:cNvCxnSpPr>
            <a:cxnSpLocks/>
            <a:stCxn id="4" idx="3"/>
            <a:endCxn id="12" idx="1"/>
          </p:cNvCxnSpPr>
          <p:nvPr/>
        </p:nvCxnSpPr>
        <p:spPr>
          <a:xfrm>
            <a:off x="2582945" y="4508417"/>
            <a:ext cx="1495719" cy="886119"/>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69B0EBA3-BF12-EF98-16FA-91A243C1C3B8}"/>
                  </a:ext>
                </a:extLst>
              </p:cNvPr>
              <p:cNvSpPr/>
              <p:nvPr/>
            </p:nvSpPr>
            <p:spPr>
              <a:xfrm>
                <a:off x="4078664" y="2592372"/>
                <a:ext cx="2623794" cy="1018000"/>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Costs= </a:t>
                </a:r>
                <a14:m>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𝑪</m:t>
                        </m:r>
                      </m:e>
                      <m:sub>
                        <m:r>
                          <a:rPr lang="en-US" b="1" i="1" smtClean="0">
                            <a:solidFill>
                              <a:schemeClr val="tx1"/>
                            </a:solidFill>
                            <a:latin typeface="Cambria Math" panose="02040503050406030204" pitchFamily="18" charset="0"/>
                          </a:rPr>
                          <m:t>𝑺𝑪</m:t>
                        </m:r>
                      </m:sub>
                    </m:sSub>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𝟏𝟒𝟐</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𝟑𝟒</m:t>
                    </m:r>
                  </m:oMath>
                </a14:m>
                <a:br>
                  <a:rPr lang="en-US" dirty="0">
                    <a:solidFill>
                      <a:schemeClr val="tx1"/>
                    </a:solidFill>
                  </a:rPr>
                </a:br>
                <a:r>
                  <a:rPr lang="en-US" dirty="0">
                    <a:solidFill>
                      <a:schemeClr val="tx1"/>
                    </a:solidFill>
                  </a:rPr>
                  <a:t>Mortality Rate= -7.26%</a:t>
                </a:r>
                <a:endParaRPr lang="en-CA" dirty="0">
                  <a:solidFill>
                    <a:schemeClr val="tx1"/>
                  </a:solidFill>
                </a:endParaRPr>
              </a:p>
            </p:txBody>
          </p:sp>
        </mc:Choice>
        <mc:Fallback xmlns="">
          <p:sp>
            <p:nvSpPr>
              <p:cNvPr id="10" name="Rectangle 9">
                <a:extLst>
                  <a:ext uri="{FF2B5EF4-FFF2-40B4-BE49-F238E27FC236}">
                    <a16:creationId xmlns:a16="http://schemas.microsoft.com/office/drawing/2014/main" id="{69B0EBA3-BF12-EF98-16FA-91A243C1C3B8}"/>
                  </a:ext>
                </a:extLst>
              </p:cNvPr>
              <p:cNvSpPr>
                <a:spLocks noRot="1" noChangeAspect="1" noMove="1" noResize="1" noEditPoints="1" noAdjustHandles="1" noChangeArrowheads="1" noChangeShapeType="1" noTextEdit="1"/>
              </p:cNvSpPr>
              <p:nvPr/>
            </p:nvSpPr>
            <p:spPr>
              <a:xfrm>
                <a:off x="4078664" y="2592372"/>
                <a:ext cx="2623794" cy="1018000"/>
              </a:xfrm>
              <a:prstGeom prst="rect">
                <a:avLst/>
              </a:prstGeom>
              <a:blipFill>
                <a:blip r:embed="rId2"/>
                <a:stretch>
                  <a:fillRect/>
                </a:stretch>
              </a:blipFill>
              <a:ln w="57150">
                <a:solidFill>
                  <a:schemeClr val="tx1"/>
                </a:solidFill>
              </a:ln>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F8208014-4001-4216-9A41-2DB72C460362}"/>
                  </a:ext>
                </a:extLst>
              </p:cNvPr>
              <p:cNvSpPr/>
              <p:nvPr/>
            </p:nvSpPr>
            <p:spPr>
              <a:xfrm>
                <a:off x="4078664" y="4803052"/>
                <a:ext cx="2746342" cy="1182968"/>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Costs=</a:t>
                </a:r>
                <a14:m>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𝑪</m:t>
                        </m:r>
                      </m:e>
                      <m:sub>
                        <m:r>
                          <a:rPr lang="en-US" b="1" i="1" smtClean="0">
                            <a:solidFill>
                              <a:schemeClr val="tx1"/>
                            </a:solidFill>
                            <a:latin typeface="Cambria Math" panose="02040503050406030204" pitchFamily="18" charset="0"/>
                          </a:rPr>
                          <m:t>𝑺𝑪</m:t>
                        </m:r>
                      </m:sub>
                    </m:sSub>
                  </m:oMath>
                </a14:m>
                <a:br>
                  <a:rPr lang="en-US" dirty="0">
                    <a:solidFill>
                      <a:schemeClr val="tx1"/>
                    </a:solidFill>
                  </a:rPr>
                </a:br>
                <a:r>
                  <a:rPr lang="en-US" dirty="0">
                    <a:solidFill>
                      <a:schemeClr val="tx1"/>
                    </a:solidFill>
                  </a:rPr>
                  <a:t>Mortality Rate=-10.17%</a:t>
                </a:r>
                <a:endParaRPr lang="en-CA" dirty="0">
                  <a:solidFill>
                    <a:schemeClr val="tx1"/>
                  </a:solidFill>
                </a:endParaRPr>
              </a:p>
            </p:txBody>
          </p:sp>
        </mc:Choice>
        <mc:Fallback xmlns="">
          <p:sp>
            <p:nvSpPr>
              <p:cNvPr id="12" name="Rectangle 11">
                <a:extLst>
                  <a:ext uri="{FF2B5EF4-FFF2-40B4-BE49-F238E27FC236}">
                    <a16:creationId xmlns:a16="http://schemas.microsoft.com/office/drawing/2014/main" id="{F8208014-4001-4216-9A41-2DB72C460362}"/>
                  </a:ext>
                </a:extLst>
              </p:cNvPr>
              <p:cNvSpPr>
                <a:spLocks noRot="1" noChangeAspect="1" noMove="1" noResize="1" noEditPoints="1" noAdjustHandles="1" noChangeArrowheads="1" noChangeShapeType="1" noTextEdit="1"/>
              </p:cNvSpPr>
              <p:nvPr/>
            </p:nvSpPr>
            <p:spPr>
              <a:xfrm>
                <a:off x="4078664" y="4803052"/>
                <a:ext cx="2746342" cy="1182968"/>
              </a:xfrm>
              <a:prstGeom prst="rect">
                <a:avLst/>
              </a:prstGeom>
              <a:blipFill>
                <a:blip r:embed="rId3"/>
                <a:stretch>
                  <a:fillRect/>
                </a:stretch>
              </a:blipFill>
              <a:ln w="57150">
                <a:solidFill>
                  <a:schemeClr val="tx1"/>
                </a:solidFill>
              </a:ln>
            </p:spPr>
            <p:txBody>
              <a:bodyPr/>
              <a:lstStyle/>
              <a:p>
                <a:r>
                  <a:rPr lang="en-CA">
                    <a:noFill/>
                  </a:rPr>
                  <a:t> </a:t>
                </a:r>
              </a:p>
            </p:txBody>
          </p:sp>
        </mc:Fallback>
      </mc:AlternateContent>
      <p:sp>
        <p:nvSpPr>
          <p:cNvPr id="17" name="TextBox 16">
            <a:extLst>
              <a:ext uri="{FF2B5EF4-FFF2-40B4-BE49-F238E27FC236}">
                <a16:creationId xmlns:a16="http://schemas.microsoft.com/office/drawing/2014/main" id="{3B9410E9-CC39-A34B-52E5-CE49C11AACEC}"/>
              </a:ext>
            </a:extLst>
          </p:cNvPr>
          <p:cNvSpPr txBox="1"/>
          <p:nvPr/>
        </p:nvSpPr>
        <p:spPr>
          <a:xfrm>
            <a:off x="1679781" y="3118427"/>
            <a:ext cx="1783373" cy="646331"/>
          </a:xfrm>
          <a:prstGeom prst="rect">
            <a:avLst/>
          </a:prstGeom>
          <a:noFill/>
        </p:spPr>
        <p:txBody>
          <a:bodyPr wrap="none" rtlCol="0">
            <a:spAutoFit/>
          </a:bodyPr>
          <a:lstStyle/>
          <a:p>
            <a:r>
              <a:rPr lang="en-US" b="1" dirty="0"/>
              <a:t>GLP-1 Assisted</a:t>
            </a:r>
            <a:br>
              <a:rPr lang="en-US" b="1" dirty="0"/>
            </a:br>
            <a:r>
              <a:rPr lang="en-US" b="1" dirty="0"/>
              <a:t>Treatment</a:t>
            </a:r>
            <a:endParaRPr lang="en-CA" b="1" dirty="0"/>
          </a:p>
        </p:txBody>
      </p:sp>
      <p:sp>
        <p:nvSpPr>
          <p:cNvPr id="19" name="TextBox 18">
            <a:extLst>
              <a:ext uri="{FF2B5EF4-FFF2-40B4-BE49-F238E27FC236}">
                <a16:creationId xmlns:a16="http://schemas.microsoft.com/office/drawing/2014/main" id="{01E5AE7A-D6C4-FEC2-F8EA-CDC144C409A7}"/>
              </a:ext>
            </a:extLst>
          </p:cNvPr>
          <p:cNvSpPr txBox="1"/>
          <p:nvPr/>
        </p:nvSpPr>
        <p:spPr>
          <a:xfrm>
            <a:off x="1941922" y="5294961"/>
            <a:ext cx="1712777" cy="369332"/>
          </a:xfrm>
          <a:prstGeom prst="rect">
            <a:avLst/>
          </a:prstGeom>
          <a:noFill/>
        </p:spPr>
        <p:txBody>
          <a:bodyPr wrap="none" rtlCol="0">
            <a:spAutoFit/>
          </a:bodyPr>
          <a:lstStyle/>
          <a:p>
            <a:r>
              <a:rPr lang="en-US" b="1" dirty="0"/>
              <a:t>Standard Care</a:t>
            </a:r>
            <a:endParaRPr lang="en-CA" b="1"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EB1DB85-4E98-6FEA-5770-6D7E2E9085A5}"/>
                  </a:ext>
                </a:extLst>
              </p:cNvPr>
              <p:cNvSpPr txBox="1"/>
              <p:nvPr/>
            </p:nvSpPr>
            <p:spPr>
              <a:xfrm>
                <a:off x="5986494" y="3995939"/>
                <a:ext cx="6094428" cy="659796"/>
              </a:xfrm>
              <a:prstGeom prst="rect">
                <a:avLst/>
              </a:prstGeom>
              <a:noFill/>
            </p:spPr>
            <p:txBody>
              <a:bodyPr wrap="square">
                <a:spAutoFit/>
              </a:bodyPr>
              <a:lstStyle/>
              <a:p>
                <a:pPr/>
                <a14:m>
                  <m:oMathPara xmlns:m="http://schemas.openxmlformats.org/officeDocument/2006/math">
                    <m:oMath>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𝜆</m:t>
                          </m:r>
                        </m:e>
                        <m:sup>
                          <m:r>
                            <a:rPr lang="en-US" sz="1800" b="0" i="1" smtClean="0">
                              <a:latin typeface="Cambria Math" panose="02040503050406030204" pitchFamily="18" charset="0"/>
                            </a:rPr>
                            <m:t>𝐴</m:t>
                          </m:r>
                        </m:sup>
                      </m:sSup>
                      <m:r>
                        <a:rPr lang="en-US" sz="1800" b="0" i="1" smtClean="0">
                          <a:latin typeface="Cambria Math" panose="02040503050406030204" pitchFamily="18" charset="0"/>
                        </a:rPr>
                        <m:t>=</m:t>
                      </m:r>
                      <m:f>
                        <m:fPr>
                          <m:ctrlPr>
                            <a:rPr lang="en-US" sz="1800" b="0" i="0" smtClean="0">
                              <a:latin typeface="Cambria Math" panose="02040503050406030204" pitchFamily="18" charset="0"/>
                            </a:rPr>
                          </m:ctrlPr>
                        </m:fPr>
                        <m:num>
                          <m:r>
                            <m:rPr>
                              <m:sty m:val="p"/>
                            </m:rPr>
                            <a:rPr lang="en-US" sz="1800" b="0" i="0" smtClean="0">
                              <a:latin typeface="Cambria Math" panose="02040503050406030204" pitchFamily="18" charset="0"/>
                            </a:rPr>
                            <m:t>Δ</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𝐴</m:t>
                              </m:r>
                            </m:sub>
                          </m:sSub>
                        </m:num>
                        <m:den>
                          <m:r>
                            <m:rPr>
                              <m:sty m:val="p"/>
                            </m:rPr>
                            <a:rPr lang="en-US" sz="1800" b="0" i="0" smtClean="0">
                              <a:latin typeface="Cambria Math" panose="02040503050406030204" pitchFamily="18" charset="0"/>
                            </a:rPr>
                            <m:t>Δ</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𝐴</m:t>
                              </m:r>
                            </m:sub>
                          </m:sSub>
                        </m:den>
                      </m:f>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𝑆𝐶</m:t>
                              </m:r>
                            </m:sub>
                          </m:sSub>
                          <m:r>
                            <a:rPr lang="en-US" sz="1800" b="0" i="1" smtClean="0">
                              <a:latin typeface="Cambria Math" panose="02040503050406030204" pitchFamily="18" charset="0"/>
                            </a:rPr>
                            <m:t>+142.34−</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𝑆𝐶</m:t>
                              </m:r>
                            </m:sub>
                          </m:sSub>
                        </m:num>
                        <m:den>
                          <m:r>
                            <a:rPr lang="en-US" sz="1800" b="0" i="1" smtClean="0">
                              <a:latin typeface="Cambria Math" panose="02040503050406030204" pitchFamily="18" charset="0"/>
                            </a:rPr>
                            <m:t>−0.0726−(−0.1017)</m:t>
                          </m:r>
                        </m:den>
                      </m:f>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142.34</m:t>
                          </m:r>
                        </m:num>
                        <m:den>
                          <m:r>
                            <a:rPr lang="en-US" sz="1800" b="0" i="1" smtClean="0">
                              <a:latin typeface="Cambria Math" panose="02040503050406030204" pitchFamily="18" charset="0"/>
                            </a:rPr>
                            <m:t>0.0291</m:t>
                          </m:r>
                        </m:den>
                      </m:f>
                      <m:r>
                        <a:rPr lang="en-US" sz="1800" b="0" i="1" smtClean="0">
                          <a:latin typeface="Cambria Math" panose="02040503050406030204" pitchFamily="18" charset="0"/>
                        </a:rPr>
                        <m:t>=</m:t>
                      </m:r>
                      <m:r>
                        <m:rPr>
                          <m:nor/>
                        </m:rPr>
                        <a:rPr lang="en-CA" i="0"/>
                        <m:t>4891</m:t>
                      </m:r>
                    </m:oMath>
                  </m:oMathPara>
                </a14:m>
                <a:endParaRPr lang="en-CA" dirty="0"/>
              </a:p>
            </p:txBody>
          </p:sp>
        </mc:Choice>
        <mc:Fallback xmlns="">
          <p:sp>
            <p:nvSpPr>
              <p:cNvPr id="9" name="TextBox 8">
                <a:extLst>
                  <a:ext uri="{FF2B5EF4-FFF2-40B4-BE49-F238E27FC236}">
                    <a16:creationId xmlns:a16="http://schemas.microsoft.com/office/drawing/2014/main" id="{0EB1DB85-4E98-6FEA-5770-6D7E2E9085A5}"/>
                  </a:ext>
                </a:extLst>
              </p:cNvPr>
              <p:cNvSpPr txBox="1">
                <a:spLocks noRot="1" noChangeAspect="1" noMove="1" noResize="1" noEditPoints="1" noAdjustHandles="1" noChangeArrowheads="1" noChangeShapeType="1" noTextEdit="1"/>
              </p:cNvSpPr>
              <p:nvPr/>
            </p:nvSpPr>
            <p:spPr>
              <a:xfrm>
                <a:off x="5986494" y="3995939"/>
                <a:ext cx="6094428" cy="659796"/>
              </a:xfrm>
              <a:prstGeom prst="rect">
                <a:avLst/>
              </a:prstGeom>
              <a:blipFill>
                <a:blip r:embed="rId4"/>
                <a:stretch>
                  <a:fillRect/>
                </a:stretch>
              </a:blipFill>
            </p:spPr>
            <p:txBody>
              <a:bodyPr/>
              <a:lstStyle/>
              <a:p>
                <a:r>
                  <a:rPr lang="en-CA">
                    <a:noFill/>
                  </a:rPr>
                  <a:t> </a:t>
                </a:r>
              </a:p>
            </p:txBody>
          </p:sp>
        </mc:Fallback>
      </mc:AlternateContent>
      <p:sp>
        <p:nvSpPr>
          <p:cNvPr id="3" name="TextBox 2">
            <a:extLst>
              <a:ext uri="{FF2B5EF4-FFF2-40B4-BE49-F238E27FC236}">
                <a16:creationId xmlns:a16="http://schemas.microsoft.com/office/drawing/2014/main" id="{0C33D124-419D-33BA-4C4D-5973B684E171}"/>
              </a:ext>
            </a:extLst>
          </p:cNvPr>
          <p:cNvSpPr txBox="1"/>
          <p:nvPr/>
        </p:nvSpPr>
        <p:spPr>
          <a:xfrm>
            <a:off x="7225678" y="2614066"/>
            <a:ext cx="4766754" cy="646331"/>
          </a:xfrm>
          <a:prstGeom prst="rect">
            <a:avLst/>
          </a:prstGeom>
          <a:noFill/>
          <a:ln w="57150">
            <a:solidFill>
              <a:schemeClr val="tx1"/>
            </a:solidFill>
          </a:ln>
        </p:spPr>
        <p:txBody>
          <a:bodyPr wrap="none" rtlCol="0">
            <a:spAutoFit/>
          </a:bodyPr>
          <a:lstStyle/>
          <a:p>
            <a:r>
              <a:rPr lang="en-US" dirty="0"/>
              <a:t>Costs on each arm are symmetric with</a:t>
            </a:r>
            <a:br>
              <a:rPr lang="en-US" dirty="0"/>
            </a:br>
            <a:r>
              <a:rPr lang="en-US" dirty="0"/>
              <a:t>some unmeasured standard care component.</a:t>
            </a:r>
            <a:endParaRPr lang="en-CA" dirty="0"/>
          </a:p>
        </p:txBody>
      </p:sp>
    </p:spTree>
    <p:extLst>
      <p:ext uri="{BB962C8B-B14F-4D97-AF65-F5344CB8AC3E}">
        <p14:creationId xmlns:p14="http://schemas.microsoft.com/office/powerpoint/2010/main" val="36551054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FCC27-DD60-79CD-83C8-B60A3ED619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DA9649-7AD2-7B85-F26D-2DE95D1F1CD4}"/>
              </a:ext>
            </a:extLst>
          </p:cNvPr>
          <p:cNvSpPr>
            <a:spLocks noGrp="1"/>
          </p:cNvSpPr>
          <p:nvPr>
            <p:ph type="title"/>
          </p:nvPr>
        </p:nvSpPr>
        <p:spPr/>
        <p:txBody>
          <a:bodyPr/>
          <a:lstStyle/>
          <a:p>
            <a:r>
              <a:rPr lang="en-US" dirty="0"/>
              <a:t>Revising the Cost Effectiveness Analysis</a:t>
            </a:r>
            <a:endParaRPr lang="en-CA" dirty="0"/>
          </a:p>
        </p:txBody>
      </p:sp>
      <p:sp>
        <p:nvSpPr>
          <p:cNvPr id="4" name="Rectangle 3">
            <a:extLst>
              <a:ext uri="{FF2B5EF4-FFF2-40B4-BE49-F238E27FC236}">
                <a16:creationId xmlns:a16="http://schemas.microsoft.com/office/drawing/2014/main" id="{A63E8773-6693-1A8C-8D18-E2EFDE3D0290}"/>
              </a:ext>
            </a:extLst>
          </p:cNvPr>
          <p:cNvSpPr/>
          <p:nvPr/>
        </p:nvSpPr>
        <p:spPr>
          <a:xfrm>
            <a:off x="1941922" y="4213781"/>
            <a:ext cx="641023" cy="589271"/>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6" name="Straight Connector 5">
            <a:extLst>
              <a:ext uri="{FF2B5EF4-FFF2-40B4-BE49-F238E27FC236}">
                <a16:creationId xmlns:a16="http://schemas.microsoft.com/office/drawing/2014/main" id="{2934B773-5E7E-0DEE-E5BF-04148D9145A8}"/>
              </a:ext>
            </a:extLst>
          </p:cNvPr>
          <p:cNvCxnSpPr>
            <a:cxnSpLocks/>
            <a:stCxn id="4" idx="3"/>
            <a:endCxn id="10" idx="1"/>
          </p:cNvCxnSpPr>
          <p:nvPr/>
        </p:nvCxnSpPr>
        <p:spPr>
          <a:xfrm flipV="1">
            <a:off x="2582945" y="3101372"/>
            <a:ext cx="1495719" cy="1407045"/>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8CBDF25-0771-400A-8533-A2B6C4A29EF6}"/>
              </a:ext>
            </a:extLst>
          </p:cNvPr>
          <p:cNvCxnSpPr>
            <a:cxnSpLocks/>
            <a:stCxn id="4" idx="3"/>
            <a:endCxn id="12" idx="1"/>
          </p:cNvCxnSpPr>
          <p:nvPr/>
        </p:nvCxnSpPr>
        <p:spPr>
          <a:xfrm>
            <a:off x="2582945" y="4508417"/>
            <a:ext cx="1495719" cy="886119"/>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EECD4D33-46C6-023A-F3F5-686A8B5A55B1}"/>
                  </a:ext>
                </a:extLst>
              </p:cNvPr>
              <p:cNvSpPr/>
              <p:nvPr/>
            </p:nvSpPr>
            <p:spPr>
              <a:xfrm>
                <a:off x="4078664" y="2592372"/>
                <a:ext cx="2623794" cy="1018000"/>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Costs= </a:t>
                </a:r>
                <a14:m>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𝑪</m:t>
                        </m:r>
                      </m:e>
                      <m:sub>
                        <m:r>
                          <a:rPr lang="en-US" b="1" i="1" smtClean="0">
                            <a:solidFill>
                              <a:schemeClr val="tx1"/>
                            </a:solidFill>
                            <a:latin typeface="Cambria Math" panose="02040503050406030204" pitchFamily="18" charset="0"/>
                          </a:rPr>
                          <m:t>𝑺𝑪</m:t>
                        </m:r>
                      </m:sub>
                    </m:sSub>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𝟏𝟒𝟐</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𝟑𝟒</m:t>
                    </m:r>
                  </m:oMath>
                </a14:m>
                <a:br>
                  <a:rPr lang="en-US" dirty="0">
                    <a:solidFill>
                      <a:schemeClr val="tx1"/>
                    </a:solidFill>
                  </a:rPr>
                </a:br>
                <a:r>
                  <a:rPr lang="en-US" dirty="0">
                    <a:solidFill>
                      <a:schemeClr val="tx1"/>
                    </a:solidFill>
                  </a:rPr>
                  <a:t>Mortality Rate= -7.26%</a:t>
                </a:r>
                <a:endParaRPr lang="en-CA" dirty="0">
                  <a:solidFill>
                    <a:schemeClr val="tx1"/>
                  </a:solidFill>
                </a:endParaRPr>
              </a:p>
            </p:txBody>
          </p:sp>
        </mc:Choice>
        <mc:Fallback xmlns="">
          <p:sp>
            <p:nvSpPr>
              <p:cNvPr id="10" name="Rectangle 9">
                <a:extLst>
                  <a:ext uri="{FF2B5EF4-FFF2-40B4-BE49-F238E27FC236}">
                    <a16:creationId xmlns:a16="http://schemas.microsoft.com/office/drawing/2014/main" id="{EECD4D33-46C6-023A-F3F5-686A8B5A55B1}"/>
                  </a:ext>
                </a:extLst>
              </p:cNvPr>
              <p:cNvSpPr>
                <a:spLocks noRot="1" noChangeAspect="1" noMove="1" noResize="1" noEditPoints="1" noAdjustHandles="1" noChangeArrowheads="1" noChangeShapeType="1" noTextEdit="1"/>
              </p:cNvSpPr>
              <p:nvPr/>
            </p:nvSpPr>
            <p:spPr>
              <a:xfrm>
                <a:off x="4078664" y="2592372"/>
                <a:ext cx="2623794" cy="1018000"/>
              </a:xfrm>
              <a:prstGeom prst="rect">
                <a:avLst/>
              </a:prstGeom>
              <a:blipFill>
                <a:blip r:embed="rId2"/>
                <a:stretch>
                  <a:fillRect/>
                </a:stretch>
              </a:blipFill>
              <a:ln w="57150">
                <a:solidFill>
                  <a:schemeClr val="tx1"/>
                </a:solidFill>
              </a:ln>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57B47B0C-6525-9CD0-928A-03BAA43AC077}"/>
                  </a:ext>
                </a:extLst>
              </p:cNvPr>
              <p:cNvSpPr/>
              <p:nvPr/>
            </p:nvSpPr>
            <p:spPr>
              <a:xfrm>
                <a:off x="4078664" y="4803052"/>
                <a:ext cx="2746342" cy="1182968"/>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Costs=</a:t>
                </a:r>
                <a14:m>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𝑪</m:t>
                        </m:r>
                      </m:e>
                      <m:sub>
                        <m:r>
                          <a:rPr lang="en-US" b="1" i="1" smtClean="0">
                            <a:solidFill>
                              <a:schemeClr val="tx1"/>
                            </a:solidFill>
                            <a:latin typeface="Cambria Math" panose="02040503050406030204" pitchFamily="18" charset="0"/>
                          </a:rPr>
                          <m:t>𝑺𝑪</m:t>
                        </m:r>
                      </m:sub>
                    </m:sSub>
                  </m:oMath>
                </a14:m>
                <a:br>
                  <a:rPr lang="en-US" dirty="0">
                    <a:solidFill>
                      <a:schemeClr val="tx1"/>
                    </a:solidFill>
                  </a:rPr>
                </a:br>
                <a:r>
                  <a:rPr lang="en-US" dirty="0">
                    <a:solidFill>
                      <a:schemeClr val="tx1"/>
                    </a:solidFill>
                  </a:rPr>
                  <a:t>Mortality Rate=-10.17%</a:t>
                </a:r>
                <a:endParaRPr lang="en-CA" dirty="0">
                  <a:solidFill>
                    <a:schemeClr val="tx1"/>
                  </a:solidFill>
                </a:endParaRPr>
              </a:p>
            </p:txBody>
          </p:sp>
        </mc:Choice>
        <mc:Fallback xmlns="">
          <p:sp>
            <p:nvSpPr>
              <p:cNvPr id="12" name="Rectangle 11">
                <a:extLst>
                  <a:ext uri="{FF2B5EF4-FFF2-40B4-BE49-F238E27FC236}">
                    <a16:creationId xmlns:a16="http://schemas.microsoft.com/office/drawing/2014/main" id="{57B47B0C-6525-9CD0-928A-03BAA43AC077}"/>
                  </a:ext>
                </a:extLst>
              </p:cNvPr>
              <p:cNvSpPr>
                <a:spLocks noRot="1" noChangeAspect="1" noMove="1" noResize="1" noEditPoints="1" noAdjustHandles="1" noChangeArrowheads="1" noChangeShapeType="1" noTextEdit="1"/>
              </p:cNvSpPr>
              <p:nvPr/>
            </p:nvSpPr>
            <p:spPr>
              <a:xfrm>
                <a:off x="4078664" y="4803052"/>
                <a:ext cx="2746342" cy="1182968"/>
              </a:xfrm>
              <a:prstGeom prst="rect">
                <a:avLst/>
              </a:prstGeom>
              <a:blipFill>
                <a:blip r:embed="rId3"/>
                <a:stretch>
                  <a:fillRect/>
                </a:stretch>
              </a:blipFill>
              <a:ln w="57150">
                <a:solidFill>
                  <a:schemeClr val="tx1"/>
                </a:solidFill>
              </a:ln>
            </p:spPr>
            <p:txBody>
              <a:bodyPr/>
              <a:lstStyle/>
              <a:p>
                <a:r>
                  <a:rPr lang="en-CA">
                    <a:noFill/>
                  </a:rPr>
                  <a:t> </a:t>
                </a:r>
              </a:p>
            </p:txBody>
          </p:sp>
        </mc:Fallback>
      </mc:AlternateContent>
      <p:sp>
        <p:nvSpPr>
          <p:cNvPr id="17" name="TextBox 16">
            <a:extLst>
              <a:ext uri="{FF2B5EF4-FFF2-40B4-BE49-F238E27FC236}">
                <a16:creationId xmlns:a16="http://schemas.microsoft.com/office/drawing/2014/main" id="{452D9B2A-C0B0-E0FD-646B-0ED5F7932D3A}"/>
              </a:ext>
            </a:extLst>
          </p:cNvPr>
          <p:cNvSpPr txBox="1"/>
          <p:nvPr/>
        </p:nvSpPr>
        <p:spPr>
          <a:xfrm>
            <a:off x="1679781" y="3118427"/>
            <a:ext cx="1783373" cy="646331"/>
          </a:xfrm>
          <a:prstGeom prst="rect">
            <a:avLst/>
          </a:prstGeom>
          <a:noFill/>
        </p:spPr>
        <p:txBody>
          <a:bodyPr wrap="none" rtlCol="0">
            <a:spAutoFit/>
          </a:bodyPr>
          <a:lstStyle/>
          <a:p>
            <a:r>
              <a:rPr lang="en-US" b="1" dirty="0"/>
              <a:t>GLP-1 Assisted</a:t>
            </a:r>
            <a:br>
              <a:rPr lang="en-US" b="1" dirty="0"/>
            </a:br>
            <a:r>
              <a:rPr lang="en-US" b="1" dirty="0"/>
              <a:t>Treatment</a:t>
            </a:r>
            <a:endParaRPr lang="en-CA" b="1" dirty="0"/>
          </a:p>
        </p:txBody>
      </p:sp>
      <p:sp>
        <p:nvSpPr>
          <p:cNvPr id="19" name="TextBox 18">
            <a:extLst>
              <a:ext uri="{FF2B5EF4-FFF2-40B4-BE49-F238E27FC236}">
                <a16:creationId xmlns:a16="http://schemas.microsoft.com/office/drawing/2014/main" id="{E69D635B-F7D0-1329-3AB9-BCDD74F61666}"/>
              </a:ext>
            </a:extLst>
          </p:cNvPr>
          <p:cNvSpPr txBox="1"/>
          <p:nvPr/>
        </p:nvSpPr>
        <p:spPr>
          <a:xfrm>
            <a:off x="1941922" y="5294961"/>
            <a:ext cx="1712777" cy="369332"/>
          </a:xfrm>
          <a:prstGeom prst="rect">
            <a:avLst/>
          </a:prstGeom>
          <a:noFill/>
        </p:spPr>
        <p:txBody>
          <a:bodyPr wrap="none" rtlCol="0">
            <a:spAutoFit/>
          </a:bodyPr>
          <a:lstStyle/>
          <a:p>
            <a:r>
              <a:rPr lang="en-US" b="1" dirty="0"/>
              <a:t>Standard Care</a:t>
            </a:r>
            <a:endParaRPr lang="en-CA" b="1"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849604B-F6AB-7D5E-A236-30A8531A8C06}"/>
                  </a:ext>
                </a:extLst>
              </p:cNvPr>
              <p:cNvSpPr txBox="1"/>
              <p:nvPr/>
            </p:nvSpPr>
            <p:spPr>
              <a:xfrm>
                <a:off x="5643716" y="3905007"/>
                <a:ext cx="6437206" cy="661912"/>
              </a:xfrm>
              <a:prstGeom prst="rect">
                <a:avLst/>
              </a:prstGeom>
              <a:noFill/>
              <a:ln w="57150">
                <a:solidFill>
                  <a:schemeClr val="tx1"/>
                </a:solidFill>
              </a:ln>
            </p:spPr>
            <p:txBody>
              <a:bodyPr wrap="square">
                <a:spAutoFit/>
              </a:bodyPr>
              <a:lstStyle/>
              <a:p>
                <a:pPr/>
                <a14:m>
                  <m:oMathPara xmlns:m="http://schemas.openxmlformats.org/officeDocument/2006/math">
                    <m:oMath>
                      <m:r>
                        <m:rPr>
                          <m:sty m:val="p"/>
                        </m:rPr>
                        <a:rPr lang="en-US" sz="1800" b="0" i="0" smtClean="0">
                          <a:latin typeface="Cambria Math" panose="02040503050406030204" pitchFamily="18" charset="0"/>
                        </a:rPr>
                        <m:t>VSL</m:t>
                      </m:r>
                      <m:r>
                        <a:rPr lang="en-US" sz="1800" b="0" i="1" smtClean="0">
                          <a:latin typeface="Cambria Math" panose="02040503050406030204" pitchFamily="18" charset="0"/>
                        </a:rPr>
                        <m:t>=</m:t>
                      </m:r>
                      <m:f>
                        <m:fPr>
                          <m:ctrlPr>
                            <a:rPr lang="en-US" sz="1800" b="0" i="0" smtClean="0">
                              <a:latin typeface="Cambria Math" panose="02040503050406030204" pitchFamily="18" charset="0"/>
                            </a:rPr>
                          </m:ctrlPr>
                        </m:fPr>
                        <m:num>
                          <m:r>
                            <m:rPr>
                              <m:sty m:val="p"/>
                            </m:rPr>
                            <a:rPr lang="en-US" sz="1800" b="0" i="0" smtClean="0">
                              <a:latin typeface="Cambria Math" panose="02040503050406030204" pitchFamily="18" charset="0"/>
                            </a:rPr>
                            <m:t>Δ</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𝐴</m:t>
                              </m:r>
                            </m:sub>
                          </m:sSub>
                        </m:num>
                        <m:den>
                          <m:r>
                            <m:rPr>
                              <m:sty m:val="p"/>
                            </m:rPr>
                            <a:rPr lang="en-US" sz="1800" b="0" i="0" smtClean="0">
                              <a:latin typeface="Cambria Math" panose="02040503050406030204" pitchFamily="18" charset="0"/>
                            </a:rPr>
                            <m:t>ΔPr</m:t>
                          </m:r>
                          <m:r>
                            <a:rPr lang="en-US" sz="1800" b="0" i="1" smtClean="0">
                              <a:latin typeface="Cambria Math" panose="02040503050406030204" pitchFamily="18" charset="0"/>
                            </a:rPr>
                            <m:t>⁡(</m:t>
                          </m:r>
                          <m:r>
                            <a:rPr lang="en-US" sz="1800" b="0" i="1" smtClean="0">
                              <a:latin typeface="Cambria Math" panose="02040503050406030204" pitchFamily="18" charset="0"/>
                            </a:rPr>
                            <m:t>𝐷𝑒𝑎𝑡ℎ</m:t>
                          </m:r>
                          <m:r>
                            <a:rPr lang="en-US" sz="1800" b="0" i="1" smtClean="0">
                              <a:latin typeface="Cambria Math" panose="02040503050406030204" pitchFamily="18" charset="0"/>
                            </a:rPr>
                            <m:t>)</m:t>
                          </m:r>
                        </m:den>
                      </m:f>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𝑆𝐶</m:t>
                              </m:r>
                            </m:sub>
                          </m:sSub>
                          <m:r>
                            <a:rPr lang="en-US" sz="1800" b="0" i="1" smtClean="0">
                              <a:latin typeface="Cambria Math" panose="02040503050406030204" pitchFamily="18" charset="0"/>
                            </a:rPr>
                            <m:t>+142.34−</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𝑆𝐶</m:t>
                              </m:r>
                            </m:sub>
                          </m:sSub>
                        </m:num>
                        <m:den>
                          <m:r>
                            <a:rPr lang="en-US" sz="1800" b="0" i="1" smtClean="0">
                              <a:latin typeface="Cambria Math" panose="02040503050406030204" pitchFamily="18" charset="0"/>
                            </a:rPr>
                            <m:t>−0.0726−(−0.1017)</m:t>
                          </m:r>
                        </m:den>
                      </m:f>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142.34</m:t>
                          </m:r>
                        </m:num>
                        <m:den>
                          <m:r>
                            <a:rPr lang="en-US" sz="1800" b="0" i="1" smtClean="0">
                              <a:latin typeface="Cambria Math" panose="02040503050406030204" pitchFamily="18" charset="0"/>
                            </a:rPr>
                            <m:t>0.0291</m:t>
                          </m:r>
                        </m:den>
                      </m:f>
                      <m:r>
                        <a:rPr lang="en-US" sz="1800" b="0" i="1" smtClean="0">
                          <a:latin typeface="Cambria Math" panose="02040503050406030204" pitchFamily="18" charset="0"/>
                        </a:rPr>
                        <m:t>≈</m:t>
                      </m:r>
                      <m:r>
                        <m:rPr>
                          <m:nor/>
                        </m:rPr>
                        <a:rPr lang="en-US" sz="1800" b="0" i="0" smtClean="0">
                          <a:latin typeface="Cambria Math" panose="02040503050406030204" pitchFamily="18" charset="0"/>
                        </a:rPr>
                        <m:t>$</m:t>
                      </m:r>
                      <m:r>
                        <m:rPr>
                          <m:nor/>
                        </m:rPr>
                        <a:rPr lang="en-CA" i="0"/>
                        <m:t>4891</m:t>
                      </m:r>
                    </m:oMath>
                  </m:oMathPara>
                </a14:m>
                <a:endParaRPr lang="en-CA" dirty="0"/>
              </a:p>
            </p:txBody>
          </p:sp>
        </mc:Choice>
        <mc:Fallback xmlns="">
          <p:sp>
            <p:nvSpPr>
              <p:cNvPr id="9" name="TextBox 8">
                <a:extLst>
                  <a:ext uri="{FF2B5EF4-FFF2-40B4-BE49-F238E27FC236}">
                    <a16:creationId xmlns:a16="http://schemas.microsoft.com/office/drawing/2014/main" id="{9849604B-F6AB-7D5E-A236-30A8531A8C06}"/>
                  </a:ext>
                </a:extLst>
              </p:cNvPr>
              <p:cNvSpPr txBox="1">
                <a:spLocks noRot="1" noChangeAspect="1" noMove="1" noResize="1" noEditPoints="1" noAdjustHandles="1" noChangeArrowheads="1" noChangeShapeType="1" noTextEdit="1"/>
              </p:cNvSpPr>
              <p:nvPr/>
            </p:nvSpPr>
            <p:spPr>
              <a:xfrm>
                <a:off x="5643716" y="3905007"/>
                <a:ext cx="6437206" cy="661912"/>
              </a:xfrm>
              <a:prstGeom prst="rect">
                <a:avLst/>
              </a:prstGeom>
              <a:blipFill>
                <a:blip r:embed="rId4"/>
                <a:stretch>
                  <a:fillRect/>
                </a:stretch>
              </a:blipFill>
              <a:ln w="57150">
                <a:solidFill>
                  <a:schemeClr val="tx1"/>
                </a:solidFill>
              </a:ln>
            </p:spPr>
            <p:txBody>
              <a:bodyPr/>
              <a:lstStyle/>
              <a:p>
                <a:r>
                  <a:rPr lang="en-CA">
                    <a:noFill/>
                  </a:rPr>
                  <a:t> </a:t>
                </a:r>
              </a:p>
            </p:txBody>
          </p:sp>
        </mc:Fallback>
      </mc:AlternateContent>
      <p:sp>
        <p:nvSpPr>
          <p:cNvPr id="3" name="TextBox 2">
            <a:extLst>
              <a:ext uri="{FF2B5EF4-FFF2-40B4-BE49-F238E27FC236}">
                <a16:creationId xmlns:a16="http://schemas.microsoft.com/office/drawing/2014/main" id="{A8F86E74-577F-3804-E742-2280817E629C}"/>
              </a:ext>
            </a:extLst>
          </p:cNvPr>
          <p:cNvSpPr txBox="1"/>
          <p:nvPr/>
        </p:nvSpPr>
        <p:spPr>
          <a:xfrm>
            <a:off x="7368478" y="5017962"/>
            <a:ext cx="4712444" cy="646331"/>
          </a:xfrm>
          <a:prstGeom prst="rect">
            <a:avLst/>
          </a:prstGeom>
          <a:noFill/>
          <a:ln w="57150">
            <a:solidFill>
              <a:schemeClr val="tx1"/>
            </a:solidFill>
          </a:ln>
        </p:spPr>
        <p:txBody>
          <a:bodyPr wrap="none" rtlCol="0">
            <a:spAutoFit/>
          </a:bodyPr>
          <a:lstStyle/>
          <a:p>
            <a:r>
              <a:rPr lang="en-US" dirty="0"/>
              <a:t>Since our effects are in changes in mortality,</a:t>
            </a:r>
            <a:br>
              <a:rPr lang="en-US" dirty="0"/>
            </a:br>
            <a:r>
              <a:rPr lang="en-US" dirty="0"/>
              <a:t>we are computing the </a:t>
            </a:r>
            <a:r>
              <a:rPr lang="en-US" i="1" dirty="0"/>
              <a:t>cost for a statistical life</a:t>
            </a:r>
            <a:endParaRPr lang="en-CA" i="1" dirty="0"/>
          </a:p>
        </p:txBody>
      </p:sp>
    </p:spTree>
    <p:extLst>
      <p:ext uri="{BB962C8B-B14F-4D97-AF65-F5344CB8AC3E}">
        <p14:creationId xmlns:p14="http://schemas.microsoft.com/office/powerpoint/2010/main" val="5123965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855FC-E248-F35A-2538-4EDB6347F0F7}"/>
              </a:ext>
            </a:extLst>
          </p:cNvPr>
          <p:cNvSpPr>
            <a:spLocks noGrp="1"/>
          </p:cNvSpPr>
          <p:nvPr>
            <p:ph type="title"/>
          </p:nvPr>
        </p:nvSpPr>
        <p:spPr/>
        <p:txBody>
          <a:bodyPr/>
          <a:lstStyle/>
          <a:p>
            <a:r>
              <a:rPr lang="en-US" dirty="0"/>
              <a:t>We computed the VSL. Now what?</a:t>
            </a:r>
            <a:endParaRPr lang="en-CA" dirty="0"/>
          </a:p>
        </p:txBody>
      </p:sp>
      <p:sp>
        <p:nvSpPr>
          <p:cNvPr id="3" name="Content Placeholder 2">
            <a:extLst>
              <a:ext uri="{FF2B5EF4-FFF2-40B4-BE49-F238E27FC236}">
                <a16:creationId xmlns:a16="http://schemas.microsoft.com/office/drawing/2014/main" id="{C06D16F5-1CA1-7CB0-FF5B-55EC0B5E4519}"/>
              </a:ext>
            </a:extLst>
          </p:cNvPr>
          <p:cNvSpPr>
            <a:spLocks noGrp="1"/>
          </p:cNvSpPr>
          <p:nvPr>
            <p:ph idx="1"/>
          </p:nvPr>
        </p:nvSpPr>
        <p:spPr>
          <a:xfrm>
            <a:off x="515112" y="2244311"/>
            <a:ext cx="11155680" cy="2357186"/>
          </a:xfrm>
        </p:spPr>
        <p:txBody>
          <a:bodyPr/>
          <a:lstStyle/>
          <a:p>
            <a:r>
              <a:rPr lang="en-US" dirty="0"/>
              <a:t>On our way to explaining cost effectiveness analysis and where to get data on costs and effects, we showed the primary focus of this class– the determination of the value of a treatment.</a:t>
            </a:r>
          </a:p>
          <a:p>
            <a:r>
              <a:rPr lang="en-US" dirty="0"/>
              <a:t>We did this by producing an estimate of the cost per statistical life (or value for a statistical life).</a:t>
            </a:r>
          </a:p>
          <a:p>
            <a:r>
              <a:rPr lang="en-US" dirty="0"/>
              <a:t>How do we know if this VSL is “Good or Not?”– The answer: </a:t>
            </a:r>
            <a:r>
              <a:rPr lang="en-US" b="1" dirty="0"/>
              <a:t>willingness to pay thresholds.</a:t>
            </a:r>
          </a:p>
          <a:p>
            <a:r>
              <a:rPr lang="en-US" dirty="0"/>
              <a:t> In general if the ICER, VSL or other ratio is below a particular willingness to pay threshold then we would say that there is value for money. </a:t>
            </a:r>
          </a:p>
          <a:p>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86378DF-79EC-4D84-1B5E-FE15BD06EE18}"/>
                  </a:ext>
                </a:extLst>
              </p:cNvPr>
              <p:cNvSpPr txBox="1"/>
              <p:nvPr/>
            </p:nvSpPr>
            <p:spPr>
              <a:xfrm>
                <a:off x="167148" y="4768391"/>
                <a:ext cx="11639533" cy="1718932"/>
              </a:xfrm>
              <a:prstGeom prst="rect">
                <a:avLst/>
              </a:prstGeom>
              <a:noFill/>
              <a:ln w="57150">
                <a:solidFill>
                  <a:schemeClr val="tx1"/>
                </a:solidFill>
              </a:ln>
            </p:spPr>
            <p:txBody>
              <a:bodyPr wrap="none" rtlCol="0">
                <a:spAutoFit/>
              </a:bodyPr>
              <a:lstStyle/>
              <a:p>
                <a:pPr/>
                <a:r>
                  <a:rPr lang="en-US" b="1" dirty="0"/>
                  <a:t>The Fundamental Rule of Cost effectiveness Analysis:</a:t>
                </a:r>
                <a:br>
                  <a:rPr lang="en-US" dirty="0"/>
                </a:br>
                <a:br>
                  <a:rPr lang="en-US" dirty="0"/>
                </a:br>
                <a:r>
                  <a:rPr lang="en-US" dirty="0"/>
                  <a:t>If the ICER computed from a particular treatment or intervention is below the cost effectiveness threshold </a:t>
                </a:r>
                <a14:m>
                  <m:oMath xmlns:m="http://schemas.openxmlformats.org/officeDocument/2006/math">
                    <m:r>
                      <a:rPr lang="en-US" b="0" i="1" smtClean="0">
                        <a:latin typeface="Cambria Math" panose="02040503050406030204" pitchFamily="18" charset="0"/>
                      </a:rPr>
                      <m:t>𝜆</m:t>
                    </m:r>
                  </m:oMath>
                </a14:m>
                <a:r>
                  <a:rPr lang="en-CA" dirty="0"/>
                  <a:t>. That is</a:t>
                </a:r>
                <a:br>
                  <a:rPr lang="en-CA" dirty="0"/>
                </a:br>
                <a14:m>
                  <m:oMathPara xmlns:m="http://schemas.openxmlformats.org/officeDocument/2006/math">
                    <m:oMath>
                      <m:f>
                        <m:fPr>
                          <m:ctrlPr>
                            <a:rPr lang="en-US" b="0" i="0" smtClean="0">
                              <a:latin typeface="Cambria Math" panose="02040503050406030204" pitchFamily="18" charset="0"/>
                            </a:rPr>
                          </m:ctrlPr>
                        </m:fPr>
                        <m:num>
                          <m:r>
                            <m:rPr>
                              <m:sty m:val="p"/>
                            </m:rPr>
                            <a:rPr lang="en-US" b="0" i="0" smtClean="0">
                              <a:latin typeface="Cambria Math" panose="02040503050406030204" pitchFamily="18" charset="0"/>
                            </a:rPr>
                            <m:t>Δ</m:t>
                          </m:r>
                          <m:r>
                            <a:rPr lang="en-US" b="0" i="1" smtClean="0">
                              <a:latin typeface="Cambria Math" panose="02040503050406030204" pitchFamily="18" charset="0"/>
                            </a:rPr>
                            <m:t>𝐶</m:t>
                          </m:r>
                        </m:num>
                        <m:den>
                          <m:r>
                            <m:rPr>
                              <m:sty m:val="p"/>
                            </m:rPr>
                            <a:rPr lang="en-US" b="0" i="0" smtClean="0">
                              <a:latin typeface="Cambria Math" panose="02040503050406030204" pitchFamily="18" charset="0"/>
                            </a:rPr>
                            <m:t>Δ</m:t>
                          </m:r>
                          <m:r>
                            <a:rPr lang="en-US" b="0" i="1" smtClean="0">
                              <a:latin typeface="Cambria Math" panose="02040503050406030204" pitchFamily="18" charset="0"/>
                            </a:rPr>
                            <m:t>𝐸</m:t>
                          </m:r>
                        </m:den>
                      </m:f>
                      <m:r>
                        <a:rPr lang="en-US" b="0" i="1" smtClean="0">
                          <a:latin typeface="Cambria Math" panose="02040503050406030204" pitchFamily="18" charset="0"/>
                        </a:rPr>
                        <m:t>≤</m:t>
                      </m:r>
                      <m:r>
                        <a:rPr lang="en-US" b="0" i="1" smtClean="0">
                          <a:latin typeface="Cambria Math" panose="02040503050406030204" pitchFamily="18" charset="0"/>
                        </a:rPr>
                        <m:t>𝜆</m:t>
                      </m:r>
                    </m:oMath>
                  </m:oMathPara>
                </a14:m>
                <a:endParaRPr lang="en-US" b="0" dirty="0"/>
              </a:p>
              <a:p>
                <a:r>
                  <a:rPr lang="en-CA" dirty="0"/>
                  <a:t>Then the treatment is said to be cost effective.</a:t>
                </a:r>
              </a:p>
            </p:txBody>
          </p:sp>
        </mc:Choice>
        <mc:Fallback xmlns="">
          <p:sp>
            <p:nvSpPr>
              <p:cNvPr id="4" name="TextBox 3">
                <a:extLst>
                  <a:ext uri="{FF2B5EF4-FFF2-40B4-BE49-F238E27FC236}">
                    <a16:creationId xmlns:a16="http://schemas.microsoft.com/office/drawing/2014/main" id="{E86378DF-79EC-4D84-1B5E-FE15BD06EE18}"/>
                  </a:ext>
                </a:extLst>
              </p:cNvPr>
              <p:cNvSpPr txBox="1">
                <a:spLocks noRot="1" noChangeAspect="1" noMove="1" noResize="1" noEditPoints="1" noAdjustHandles="1" noChangeArrowheads="1" noChangeShapeType="1" noTextEdit="1"/>
              </p:cNvSpPr>
              <p:nvPr/>
            </p:nvSpPr>
            <p:spPr>
              <a:xfrm>
                <a:off x="167148" y="4768391"/>
                <a:ext cx="11639533" cy="1718932"/>
              </a:xfrm>
              <a:prstGeom prst="rect">
                <a:avLst/>
              </a:prstGeom>
              <a:blipFill>
                <a:blip r:embed="rId2"/>
                <a:stretch>
                  <a:fillRect l="-208" t="-344" b="-3093"/>
                </a:stretch>
              </a:blipFill>
              <a:ln w="57150">
                <a:solidFill>
                  <a:schemeClr val="tx1"/>
                </a:solidFill>
              </a:ln>
            </p:spPr>
            <p:txBody>
              <a:bodyPr/>
              <a:lstStyle/>
              <a:p>
                <a:r>
                  <a:rPr lang="en-CA">
                    <a:noFill/>
                  </a:rPr>
                  <a:t> </a:t>
                </a:r>
              </a:p>
            </p:txBody>
          </p:sp>
        </mc:Fallback>
      </mc:AlternateContent>
    </p:spTree>
    <p:extLst>
      <p:ext uri="{BB962C8B-B14F-4D97-AF65-F5344CB8AC3E}">
        <p14:creationId xmlns:p14="http://schemas.microsoft.com/office/powerpoint/2010/main" val="22765131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DE7A2-5993-00CF-B648-2DA8EB84EA54}"/>
              </a:ext>
            </a:extLst>
          </p:cNvPr>
          <p:cNvSpPr>
            <a:spLocks noGrp="1"/>
          </p:cNvSpPr>
          <p:nvPr>
            <p:ph type="title"/>
          </p:nvPr>
        </p:nvSpPr>
        <p:spPr/>
        <p:txBody>
          <a:bodyPr/>
          <a:lstStyle/>
          <a:p>
            <a:r>
              <a:rPr lang="en-US" dirty="0"/>
              <a:t>What is a GOOD VSL?</a:t>
            </a:r>
            <a:endParaRPr lang="en-CA" dirty="0"/>
          </a:p>
        </p:txBody>
      </p:sp>
      <p:sp>
        <p:nvSpPr>
          <p:cNvPr id="3" name="Content Placeholder 2">
            <a:extLst>
              <a:ext uri="{FF2B5EF4-FFF2-40B4-BE49-F238E27FC236}">
                <a16:creationId xmlns:a16="http://schemas.microsoft.com/office/drawing/2014/main" id="{EABC96B5-82C2-756B-56B4-663D58FF06A8}"/>
              </a:ext>
            </a:extLst>
          </p:cNvPr>
          <p:cNvSpPr>
            <a:spLocks noGrp="1"/>
          </p:cNvSpPr>
          <p:nvPr>
            <p:ph idx="1"/>
          </p:nvPr>
        </p:nvSpPr>
        <p:spPr>
          <a:xfrm>
            <a:off x="515112" y="1978840"/>
            <a:ext cx="11155680" cy="3767328"/>
          </a:xfrm>
        </p:spPr>
        <p:txBody>
          <a:bodyPr/>
          <a:lstStyle/>
          <a:p>
            <a:r>
              <a:rPr lang="en-US" dirty="0"/>
              <a:t>VSL studies are primarily American and outside the field of health.</a:t>
            </a:r>
          </a:p>
          <a:p>
            <a:pPr lvl="1"/>
            <a:r>
              <a:rPr lang="en-CA" b="1" dirty="0"/>
              <a:t>U.S. Department of Transportation (DOT):</a:t>
            </a:r>
            <a:r>
              <a:rPr lang="en-CA" dirty="0"/>
              <a:t> Uses a central VSL of </a:t>
            </a:r>
            <a:r>
              <a:rPr lang="en-CA" b="1" dirty="0"/>
              <a:t>$14.2 million</a:t>
            </a:r>
            <a:r>
              <a:rPr lang="en-CA" dirty="0"/>
              <a:t> (evaluated using a 2025 base year) for analyzing the safety benefits of transportation infrastructure and vehicle regulations. </a:t>
            </a:r>
          </a:p>
          <a:p>
            <a:pPr lvl="1"/>
            <a:r>
              <a:rPr lang="en-CA" b="1" dirty="0"/>
              <a:t>U.S. Department of Health and Human Services (HHS):</a:t>
            </a:r>
            <a:r>
              <a:rPr lang="en-CA" dirty="0"/>
              <a:t> Employs a central VSL benchmark of </a:t>
            </a:r>
            <a:r>
              <a:rPr lang="en-CA" b="1" dirty="0"/>
              <a:t>$13.1 million</a:t>
            </a:r>
            <a:r>
              <a:rPr lang="en-CA" dirty="0"/>
              <a:t> (with sensitivity ranges typically spanning from roughly $6.1 million to $19.9 million depending on the literature and assumptions used). </a:t>
            </a:r>
          </a:p>
          <a:p>
            <a:pPr lvl="1"/>
            <a:r>
              <a:rPr lang="en-CA" b="1" dirty="0"/>
              <a:t>U.S. Environmental Protection Agency (EPA):</a:t>
            </a:r>
            <a:r>
              <a:rPr lang="en-CA" dirty="0"/>
              <a:t> Historically pioneered many of these metrics and uses comparable figures adjusted for base-year dollars (typically aligning closely with the $10M–$14M window depending on the specific regulatory impact analysis guidelines).</a:t>
            </a:r>
          </a:p>
          <a:p>
            <a:r>
              <a:rPr lang="en-CA" dirty="0"/>
              <a:t>In this example the VSL computed is well below each of these. Thus we would declare the use of GLP-1s for post cancer mortality as </a:t>
            </a:r>
            <a:r>
              <a:rPr lang="en-CA" b="1" dirty="0"/>
              <a:t>cost effective </a:t>
            </a:r>
            <a:r>
              <a:rPr lang="en-CA" dirty="0"/>
              <a:t>(through this cost benefit analysis). </a:t>
            </a:r>
          </a:p>
          <a:p>
            <a:endParaRPr lang="en-CA" dirty="0"/>
          </a:p>
        </p:txBody>
      </p:sp>
    </p:spTree>
    <p:extLst>
      <p:ext uri="{BB962C8B-B14F-4D97-AF65-F5344CB8AC3E}">
        <p14:creationId xmlns:p14="http://schemas.microsoft.com/office/powerpoint/2010/main" val="3923815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98F5A-A0FF-C45E-FADF-B6EF9BCE7CF0}"/>
              </a:ext>
            </a:extLst>
          </p:cNvPr>
          <p:cNvSpPr>
            <a:spLocks noGrp="1"/>
          </p:cNvSpPr>
          <p:nvPr>
            <p:ph type="ctrTitle"/>
          </p:nvPr>
        </p:nvSpPr>
        <p:spPr/>
        <p:txBody>
          <a:bodyPr/>
          <a:lstStyle/>
          <a:p>
            <a:r>
              <a:rPr lang="en-US" dirty="0"/>
              <a:t>Data on Effects</a:t>
            </a:r>
            <a:endParaRPr lang="en-CA" dirty="0"/>
          </a:p>
        </p:txBody>
      </p:sp>
      <p:sp>
        <p:nvSpPr>
          <p:cNvPr id="3" name="Subtitle 2">
            <a:extLst>
              <a:ext uri="{FF2B5EF4-FFF2-40B4-BE49-F238E27FC236}">
                <a16:creationId xmlns:a16="http://schemas.microsoft.com/office/drawing/2014/main" id="{7B16C951-41C2-1209-05CF-44B08EE18C5E}"/>
              </a:ext>
            </a:extLst>
          </p:cNvPr>
          <p:cNvSpPr>
            <a:spLocks noGrp="1"/>
          </p:cNvSpPr>
          <p:nvPr>
            <p:ph type="subTitle" idx="1"/>
          </p:nvPr>
        </p:nvSpPr>
        <p:spPr/>
        <p:txBody>
          <a:bodyPr/>
          <a:lstStyle/>
          <a:p>
            <a:r>
              <a:rPr lang="en-CA" dirty="0"/>
              <a:t>Clinical Indexes and the QALY</a:t>
            </a:r>
          </a:p>
        </p:txBody>
      </p:sp>
    </p:spTree>
    <p:extLst>
      <p:ext uri="{BB962C8B-B14F-4D97-AF65-F5344CB8AC3E}">
        <p14:creationId xmlns:p14="http://schemas.microsoft.com/office/powerpoint/2010/main" val="31985882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730CD-4969-2642-A43A-683078614180}"/>
              </a:ext>
            </a:extLst>
          </p:cNvPr>
          <p:cNvSpPr>
            <a:spLocks noGrp="1"/>
          </p:cNvSpPr>
          <p:nvPr>
            <p:ph type="title"/>
          </p:nvPr>
        </p:nvSpPr>
        <p:spPr/>
        <p:txBody>
          <a:bodyPr/>
          <a:lstStyle/>
          <a:p>
            <a:r>
              <a:rPr lang="en-US" dirty="0"/>
              <a:t>Cost Effectiveness Analysis and Cost Utility Analysis </a:t>
            </a:r>
            <a:endParaRPr lang="en-CA" dirty="0"/>
          </a:p>
        </p:txBody>
      </p:sp>
      <p:sp>
        <p:nvSpPr>
          <p:cNvPr id="3" name="Content Placeholder 2">
            <a:extLst>
              <a:ext uri="{FF2B5EF4-FFF2-40B4-BE49-F238E27FC236}">
                <a16:creationId xmlns:a16="http://schemas.microsoft.com/office/drawing/2014/main" id="{5F2E1E1A-668E-8CA0-089D-A4A7F796294F}"/>
              </a:ext>
            </a:extLst>
          </p:cNvPr>
          <p:cNvSpPr>
            <a:spLocks noGrp="1"/>
          </p:cNvSpPr>
          <p:nvPr>
            <p:ph idx="1"/>
          </p:nvPr>
        </p:nvSpPr>
        <p:spPr/>
        <p:txBody>
          <a:bodyPr/>
          <a:lstStyle/>
          <a:p>
            <a:r>
              <a:rPr lang="en-US" dirty="0"/>
              <a:t>Recall: This course is about valuing healthcare interventions.\</a:t>
            </a:r>
          </a:p>
          <a:p>
            <a:r>
              <a:rPr lang="en-US" dirty="0"/>
              <a:t>As such we need data on costs and effects.</a:t>
            </a:r>
          </a:p>
          <a:p>
            <a:r>
              <a:rPr lang="en-US" dirty="0"/>
              <a:t>Cost benefit analysis (for better or worse) has been relegated to fields outside of health. This is because we care about placing values on health.</a:t>
            </a:r>
          </a:p>
          <a:p>
            <a:r>
              <a:rPr lang="en-US" dirty="0"/>
              <a:t>This requires measurements of changes in health. We can either value health based on</a:t>
            </a:r>
          </a:p>
          <a:p>
            <a:pPr marL="800100" lvl="1" indent="-342900">
              <a:buFont typeface="+mj-lt"/>
              <a:buAutoNum type="arabicPeriod"/>
            </a:pPr>
            <a:r>
              <a:rPr lang="en-US" dirty="0"/>
              <a:t>Change in clinically relevant indices (Conduct a Cost Effectiveness Analysis)</a:t>
            </a:r>
          </a:p>
          <a:p>
            <a:pPr marL="800100" lvl="1" indent="-342900">
              <a:buFont typeface="+mj-lt"/>
              <a:buAutoNum type="arabicPeriod"/>
            </a:pPr>
            <a:r>
              <a:rPr lang="en-US" dirty="0"/>
              <a:t>Change in </a:t>
            </a:r>
            <a:r>
              <a:rPr lang="en-US" b="1" dirty="0"/>
              <a:t>quality of life </a:t>
            </a:r>
            <a:r>
              <a:rPr lang="en-US" dirty="0"/>
              <a:t> with a more comprehensive </a:t>
            </a:r>
            <a:r>
              <a:rPr lang="en-US" b="1" dirty="0"/>
              <a:t>Quality Adjusted Life Year </a:t>
            </a:r>
            <a:r>
              <a:rPr lang="en-US" dirty="0"/>
              <a:t> (Conduct Cost Utility Analysis CUA).</a:t>
            </a:r>
          </a:p>
        </p:txBody>
      </p:sp>
    </p:spTree>
    <p:extLst>
      <p:ext uri="{BB962C8B-B14F-4D97-AF65-F5344CB8AC3E}">
        <p14:creationId xmlns:p14="http://schemas.microsoft.com/office/powerpoint/2010/main" val="38034235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60AB1-199D-682D-9BC2-4B4A9D3F45F0}"/>
              </a:ext>
            </a:extLst>
          </p:cNvPr>
          <p:cNvSpPr>
            <a:spLocks noGrp="1"/>
          </p:cNvSpPr>
          <p:nvPr>
            <p:ph type="title"/>
          </p:nvPr>
        </p:nvSpPr>
        <p:spPr/>
        <p:txBody>
          <a:bodyPr/>
          <a:lstStyle/>
          <a:p>
            <a:r>
              <a:rPr lang="en-US" dirty="0"/>
              <a:t>Clinical Indexes</a:t>
            </a:r>
            <a:endParaRPr lang="en-CA" dirty="0"/>
          </a:p>
        </p:txBody>
      </p:sp>
      <p:sp>
        <p:nvSpPr>
          <p:cNvPr id="3" name="Content Placeholder 2">
            <a:extLst>
              <a:ext uri="{FF2B5EF4-FFF2-40B4-BE49-F238E27FC236}">
                <a16:creationId xmlns:a16="http://schemas.microsoft.com/office/drawing/2014/main" id="{B403FC8D-4F6E-BC7D-31EB-45154ABA87ED}"/>
              </a:ext>
            </a:extLst>
          </p:cNvPr>
          <p:cNvSpPr>
            <a:spLocks noGrp="1"/>
          </p:cNvSpPr>
          <p:nvPr>
            <p:ph idx="1"/>
          </p:nvPr>
        </p:nvSpPr>
        <p:spPr>
          <a:xfrm>
            <a:off x="692658" y="1959483"/>
            <a:ext cx="11155680" cy="3767328"/>
          </a:xfrm>
        </p:spPr>
        <p:txBody>
          <a:bodyPr/>
          <a:lstStyle/>
          <a:p>
            <a:r>
              <a:rPr lang="en-CA" dirty="0"/>
              <a:t>A word on clinical indexes:</a:t>
            </a:r>
          </a:p>
          <a:p>
            <a:pPr lvl="1"/>
            <a:r>
              <a:rPr lang="en-CA" dirty="0"/>
              <a:t>The use of clinical outcomes is fine for comparisons across interventions in a single patient population.</a:t>
            </a:r>
          </a:p>
          <a:p>
            <a:pPr lvl="1"/>
            <a:r>
              <a:rPr lang="en-CA" dirty="0"/>
              <a:t>However, the study’s contribution to broader decision-making is limited because it only allows for comparisons.</a:t>
            </a:r>
          </a:p>
          <a:p>
            <a:r>
              <a:rPr lang="en-CA" dirty="0"/>
              <a:t>Theres is a </a:t>
            </a:r>
            <a:r>
              <a:rPr lang="en-CA" dirty="0" err="1"/>
              <a:t>tradeoff</a:t>
            </a:r>
            <a:r>
              <a:rPr lang="en-CA" dirty="0"/>
              <a:t> between cost effectiveness analysis (which uses outcome based indexes) and cost utility analysis (which uses quality of life).</a:t>
            </a:r>
          </a:p>
          <a:p>
            <a:pPr marL="0" indent="0">
              <a:buNone/>
            </a:pPr>
            <a:r>
              <a:rPr lang="en-CA" u="sng" dirty="0"/>
              <a:t>In Clinical Environments</a:t>
            </a:r>
            <a:br>
              <a:rPr lang="en-CA" b="1" dirty="0"/>
            </a:br>
            <a:r>
              <a:rPr lang="en-CA" dirty="0"/>
              <a:t>- Analysis with Clinical Indexes may make more sense for resource allocation in a specific division.</a:t>
            </a:r>
          </a:p>
          <a:p>
            <a:pPr marL="0" indent="0">
              <a:buNone/>
            </a:pPr>
            <a:r>
              <a:rPr lang="en-CA" b="1" u="sng" dirty="0"/>
              <a:t>In the context of allocating from a global budget</a:t>
            </a:r>
            <a:br>
              <a:rPr lang="en-CA" b="1" dirty="0"/>
            </a:br>
            <a:r>
              <a:rPr lang="en-CA" dirty="0"/>
              <a:t>-Analysis with a more universal measure such as the QALY is more appropriate.</a:t>
            </a:r>
          </a:p>
        </p:txBody>
      </p:sp>
      <p:sp>
        <p:nvSpPr>
          <p:cNvPr id="4" name="TextBox 3">
            <a:extLst>
              <a:ext uri="{FF2B5EF4-FFF2-40B4-BE49-F238E27FC236}">
                <a16:creationId xmlns:a16="http://schemas.microsoft.com/office/drawing/2014/main" id="{84BBCCA2-E6A7-907A-0300-E606DF5D66FA}"/>
              </a:ext>
            </a:extLst>
          </p:cNvPr>
          <p:cNvSpPr txBox="1"/>
          <p:nvPr/>
        </p:nvSpPr>
        <p:spPr>
          <a:xfrm>
            <a:off x="971550" y="5726811"/>
            <a:ext cx="7692427" cy="646331"/>
          </a:xfrm>
          <a:prstGeom prst="rect">
            <a:avLst/>
          </a:prstGeom>
          <a:noFill/>
          <a:ln w="57150">
            <a:solidFill>
              <a:schemeClr val="tx1"/>
            </a:solidFill>
          </a:ln>
        </p:spPr>
        <p:txBody>
          <a:bodyPr wrap="none" rtlCol="0">
            <a:spAutoFit/>
          </a:bodyPr>
          <a:lstStyle/>
          <a:p>
            <a:r>
              <a:rPr lang="en-CA" dirty="0"/>
              <a:t>We will not be discussing a general theory of constructing medical indexes. </a:t>
            </a:r>
            <a:br>
              <a:rPr lang="en-CA" dirty="0"/>
            </a:br>
            <a:r>
              <a:rPr lang="en-CA" dirty="0"/>
              <a:t>However, we will use them in a context.</a:t>
            </a:r>
          </a:p>
        </p:txBody>
      </p:sp>
    </p:spTree>
    <p:extLst>
      <p:ext uri="{BB962C8B-B14F-4D97-AF65-F5344CB8AC3E}">
        <p14:creationId xmlns:p14="http://schemas.microsoft.com/office/powerpoint/2010/main" val="12888063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3EAC0-FD41-06D0-EBC3-81564C17DF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AC03E9-A397-28C0-8850-291F51BD62CE}"/>
              </a:ext>
            </a:extLst>
          </p:cNvPr>
          <p:cNvSpPr>
            <a:spLocks noGrp="1"/>
          </p:cNvSpPr>
          <p:nvPr>
            <p:ph type="title"/>
          </p:nvPr>
        </p:nvSpPr>
        <p:spPr>
          <a:xfrm>
            <a:off x="482600" y="597408"/>
            <a:ext cx="10634472" cy="1117092"/>
          </a:xfrm>
        </p:spPr>
        <p:txBody>
          <a:bodyPr>
            <a:normAutofit fontScale="90000"/>
          </a:bodyPr>
          <a:lstStyle/>
          <a:p>
            <a:r>
              <a:rPr lang="en-CA" sz="4800" dirty="0"/>
              <a:t>The comparability problem in economic evaluation</a:t>
            </a:r>
          </a:p>
        </p:txBody>
      </p:sp>
      <p:sp>
        <p:nvSpPr>
          <p:cNvPr id="3" name="Content Placeholder 2">
            <a:extLst>
              <a:ext uri="{FF2B5EF4-FFF2-40B4-BE49-F238E27FC236}">
                <a16:creationId xmlns:a16="http://schemas.microsoft.com/office/drawing/2014/main" id="{035C723D-FC79-017C-5D33-E4882D81C4F9}"/>
              </a:ext>
            </a:extLst>
          </p:cNvPr>
          <p:cNvSpPr>
            <a:spLocks noGrp="1"/>
          </p:cNvSpPr>
          <p:nvPr>
            <p:ph idx="1"/>
          </p:nvPr>
        </p:nvSpPr>
        <p:spPr>
          <a:xfrm>
            <a:off x="482600" y="1943100"/>
            <a:ext cx="10506991" cy="3936491"/>
          </a:xfrm>
        </p:spPr>
        <p:txBody>
          <a:bodyPr>
            <a:normAutofit/>
          </a:bodyPr>
          <a:lstStyle/>
          <a:p>
            <a:r>
              <a:rPr lang="en-CA" sz="2000" dirty="0"/>
              <a:t>Economic evaluation is used as a tool for evaluating the cost effectiveness of new drugs or medical interventions.</a:t>
            </a:r>
          </a:p>
          <a:p>
            <a:r>
              <a:rPr lang="en-CA" sz="2000" dirty="0"/>
              <a:t>In the context of cost effectiveness analysis which measures improvement along some medical outcome, the utilization of the computed ICER is impossible to use when comparing other treatments.</a:t>
            </a:r>
          </a:p>
          <a:p>
            <a:r>
              <a:rPr lang="en-CA" sz="2000" dirty="0"/>
              <a:t>i.e. if one treatment is valued in dollars per change in mobility score and another treatment is valued in dollars per change in blood pressure, how do we determine which treatment to fund?</a:t>
            </a:r>
          </a:p>
          <a:p>
            <a:r>
              <a:rPr lang="en-CA" sz="2000" dirty="0"/>
              <a:t>The issue with valuing the cost effectiveness of different interventions is that without a universal measure of health, it is impossible to compare and rank very different treatments. </a:t>
            </a:r>
          </a:p>
        </p:txBody>
      </p:sp>
    </p:spTree>
    <p:extLst>
      <p:ext uri="{BB962C8B-B14F-4D97-AF65-F5344CB8AC3E}">
        <p14:creationId xmlns:p14="http://schemas.microsoft.com/office/powerpoint/2010/main" val="11443157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B3CCB-FE92-5AFB-B398-04A6735C2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4EDDFA-64AB-8807-1E9B-CB24013CB2DA}"/>
              </a:ext>
            </a:extLst>
          </p:cNvPr>
          <p:cNvSpPr>
            <a:spLocks noGrp="1"/>
          </p:cNvSpPr>
          <p:nvPr>
            <p:ph type="title"/>
          </p:nvPr>
        </p:nvSpPr>
        <p:spPr>
          <a:xfrm>
            <a:off x="482600" y="597408"/>
            <a:ext cx="10634472" cy="1117092"/>
          </a:xfrm>
        </p:spPr>
        <p:txBody>
          <a:bodyPr/>
          <a:lstStyle/>
          <a:p>
            <a:r>
              <a:rPr lang="en-CA" sz="4800" dirty="0"/>
              <a:t>The Quality Adjusted Life Year</a:t>
            </a:r>
          </a:p>
        </p:txBody>
      </p:sp>
      <p:sp>
        <p:nvSpPr>
          <p:cNvPr id="3" name="Content Placeholder 2">
            <a:extLst>
              <a:ext uri="{FF2B5EF4-FFF2-40B4-BE49-F238E27FC236}">
                <a16:creationId xmlns:a16="http://schemas.microsoft.com/office/drawing/2014/main" id="{8AB73CCE-F2A6-82F6-F706-43ACC4FA810A}"/>
              </a:ext>
            </a:extLst>
          </p:cNvPr>
          <p:cNvSpPr>
            <a:spLocks noGrp="1"/>
          </p:cNvSpPr>
          <p:nvPr>
            <p:ph idx="1"/>
          </p:nvPr>
        </p:nvSpPr>
        <p:spPr>
          <a:xfrm>
            <a:off x="482600" y="1943100"/>
            <a:ext cx="10506991" cy="3936491"/>
          </a:xfrm>
        </p:spPr>
        <p:txBody>
          <a:bodyPr>
            <a:normAutofit/>
          </a:bodyPr>
          <a:lstStyle/>
          <a:p>
            <a:pPr marL="342900" indent="-342900">
              <a:buFont typeface="Wingdings" panose="05000000000000000000" pitchFamily="2" charset="2"/>
              <a:buChar char="§"/>
            </a:pPr>
            <a:r>
              <a:rPr lang="en-CA" dirty="0"/>
              <a:t>Health Economists solve this issue by using a universal Quality of Life (QoL) index which values the health outcomes in question.</a:t>
            </a:r>
          </a:p>
          <a:p>
            <a:pPr marL="342900" indent="-342900">
              <a:buFont typeface="Wingdings" panose="05000000000000000000" pitchFamily="2" charset="2"/>
              <a:buChar char="§"/>
            </a:pPr>
            <a:r>
              <a:rPr lang="en-CA" dirty="0"/>
              <a:t>The most popular Quality of Life measurement used in economic evaluation is the </a:t>
            </a:r>
            <a:r>
              <a:rPr lang="en-CA" b="1" dirty="0"/>
              <a:t>Quality Adjusted Life Year (QALY)</a:t>
            </a:r>
            <a:r>
              <a:rPr lang="en-CA" dirty="0"/>
              <a:t>.</a:t>
            </a:r>
          </a:p>
          <a:p>
            <a:pPr marL="342900" indent="-342900">
              <a:buFont typeface="Wingdings" panose="05000000000000000000" pitchFamily="2" charset="2"/>
              <a:buChar char="§"/>
            </a:pPr>
            <a:r>
              <a:rPr lang="en-CA" dirty="0"/>
              <a:t>The reason why it is powerful is because it values life based on both an </a:t>
            </a:r>
            <a:r>
              <a:rPr lang="en-CA" dirty="0" err="1"/>
              <a:t>individals</a:t>
            </a:r>
            <a:r>
              <a:rPr lang="en-CA" dirty="0"/>
              <a:t> quality of life at a particular point in time and how long the individual lives in that state.</a:t>
            </a:r>
          </a:p>
          <a:p>
            <a:pPr marL="342900" indent="-342900">
              <a:buFont typeface="Wingdings" panose="05000000000000000000" pitchFamily="2" charset="2"/>
              <a:buChar char="§"/>
            </a:pPr>
            <a:r>
              <a:rPr lang="en-CA" dirty="0"/>
              <a:t>There is the following saying about QALYs in Economic Evaluation.</a:t>
            </a:r>
            <a:br>
              <a:rPr lang="en-CA" dirty="0"/>
            </a:br>
            <a:r>
              <a:rPr lang="en-CA" b="1" i="1" dirty="0"/>
              <a:t>		“A QALY IS A QALY IS A QALY”</a:t>
            </a:r>
          </a:p>
          <a:p>
            <a:r>
              <a:rPr lang="en-CA" dirty="0"/>
              <a:t>This means that regardless of the treatment in question the QALY has the ability to make very different treatments comparable through their index.</a:t>
            </a:r>
          </a:p>
        </p:txBody>
      </p:sp>
    </p:spTree>
    <p:extLst>
      <p:ext uri="{BB962C8B-B14F-4D97-AF65-F5344CB8AC3E}">
        <p14:creationId xmlns:p14="http://schemas.microsoft.com/office/powerpoint/2010/main" val="21713452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913BF-EF40-4BFA-8851-3841D2D0C6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1020DA-FFDF-151E-67E0-BD0816A5F975}"/>
              </a:ext>
            </a:extLst>
          </p:cNvPr>
          <p:cNvSpPr>
            <a:spLocks noGrp="1"/>
          </p:cNvSpPr>
          <p:nvPr>
            <p:ph type="title"/>
          </p:nvPr>
        </p:nvSpPr>
        <p:spPr>
          <a:xfrm>
            <a:off x="482600" y="597408"/>
            <a:ext cx="10634472" cy="1117092"/>
          </a:xfrm>
        </p:spPr>
        <p:txBody>
          <a:bodyPr/>
          <a:lstStyle/>
          <a:p>
            <a:r>
              <a:rPr lang="en-CA" sz="4800" dirty="0"/>
              <a:t>Technical Properties of the QALY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B31E991-02D4-2DD0-85A0-94EACB815E05}"/>
                  </a:ext>
                </a:extLst>
              </p:cNvPr>
              <p:cNvSpPr>
                <a:spLocks noGrp="1"/>
              </p:cNvSpPr>
              <p:nvPr>
                <p:ph idx="1"/>
              </p:nvPr>
            </p:nvSpPr>
            <p:spPr>
              <a:xfrm>
                <a:off x="482600" y="1619251"/>
                <a:ext cx="11328400" cy="4327016"/>
              </a:xfrm>
            </p:spPr>
            <p:txBody>
              <a:bodyPr>
                <a:normAutofit/>
              </a:bodyPr>
              <a:lstStyle/>
              <a:p>
                <a:r>
                  <a:rPr lang="en-CA" dirty="0"/>
                  <a:t>To discuss the QALY, its better to think about it in terms of QALYs. The number of quality adjusted life years an individual in state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𝑖</m:t>
                        </m:r>
                      </m:sub>
                    </m:sSub>
                  </m:oMath>
                </a14:m>
                <a:r>
                  <a:rPr lang="en-CA" dirty="0"/>
                  <a:t> with lifespan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𝑇</m:t>
                        </m:r>
                      </m:e>
                      <m:sub>
                        <m:r>
                          <a:rPr lang="en-CA" i="1">
                            <a:latin typeface="Cambria Math" panose="02040503050406030204" pitchFamily="18" charset="0"/>
                          </a:rPr>
                          <m:t>𝑖</m:t>
                        </m:r>
                      </m:sub>
                    </m:sSub>
                  </m:oMath>
                </a14:m>
                <a:r>
                  <a:rPr lang="en-CA" dirty="0"/>
                  <a:t> has is:</a:t>
                </a:r>
                <a:br>
                  <a:rPr lang="en-CA" dirty="0"/>
                </a:br>
                <a:br>
                  <a:rPr lang="en-CA" dirty="0"/>
                </a:br>
                <a14:m>
                  <m:oMath xmlns:m="http://schemas.openxmlformats.org/officeDocument/2006/math">
                    <m:r>
                      <a:rPr lang="en-CA" i="1">
                        <a:latin typeface="Cambria Math" panose="02040503050406030204" pitchFamily="18" charset="0"/>
                      </a:rPr>
                      <m:t>𝑄𝐴𝐿𝑌𝑠</m:t>
                    </m:r>
                    <m:r>
                      <a:rPr lang="en-CA" i="1">
                        <a:latin typeface="Cambria Math" panose="02040503050406030204" pitchFamily="18" charset="0"/>
                      </a:rPr>
                      <m:t>=</m:t>
                    </m:r>
                    <m:r>
                      <a:rPr lang="en-CA" i="1">
                        <a:latin typeface="Cambria Math" panose="02040503050406030204" pitchFamily="18" charset="0"/>
                      </a:rPr>
                      <m:t>𝑈</m:t>
                    </m:r>
                    <m:d>
                      <m:dPr>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𝑖</m:t>
                            </m:r>
                          </m:sub>
                        </m:sSub>
                      </m:e>
                    </m:d>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𝑇</m:t>
                        </m:r>
                      </m:e>
                      <m:sub>
                        <m:r>
                          <a:rPr lang="en-CA" i="1">
                            <a:latin typeface="Cambria Math" panose="02040503050406030204" pitchFamily="18" charset="0"/>
                          </a:rPr>
                          <m:t>𝑖</m:t>
                        </m:r>
                      </m:sub>
                    </m:sSub>
                  </m:oMath>
                </a14:m>
                <a:br>
                  <a:rPr lang="en-CA" dirty="0"/>
                </a:br>
                <a:endParaRPr lang="en-CA" dirty="0"/>
              </a:p>
              <a:p>
                <a:endParaRPr lang="en-CA" dirty="0"/>
              </a:p>
              <a:p>
                <a:r>
                  <a:rPr lang="en-CA" dirty="0"/>
                  <a:t>When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𝑇</m:t>
                        </m:r>
                      </m:e>
                      <m:sub>
                        <m:r>
                          <a:rPr lang="en-CA" i="1">
                            <a:latin typeface="Cambria Math" panose="02040503050406030204" pitchFamily="18" charset="0"/>
                          </a:rPr>
                          <m:t>𝑖</m:t>
                        </m:r>
                      </m:sub>
                    </m:sSub>
                    <m:r>
                      <a:rPr lang="en-CA" i="1">
                        <a:latin typeface="Cambria Math" panose="02040503050406030204" pitchFamily="18" charset="0"/>
                      </a:rPr>
                      <m:t>=1</m:t>
                    </m:r>
                  </m:oMath>
                </a14:m>
                <a:r>
                  <a:rPr lang="en-CA" dirty="0"/>
                  <a:t> we define our QALY as just </a:t>
                </a:r>
                <a14:m>
                  <m:oMath xmlns:m="http://schemas.openxmlformats.org/officeDocument/2006/math">
                    <m:r>
                      <a:rPr lang="en-CA" i="1">
                        <a:latin typeface="Cambria Math" panose="02040503050406030204" pitchFamily="18" charset="0"/>
                      </a:rPr>
                      <m:t>𝑈</m:t>
                    </m:r>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𝑖</m:t>
                        </m:r>
                      </m:sub>
                    </m:sSub>
                    <m:r>
                      <a:rPr lang="en-CA" i="1">
                        <a:latin typeface="Cambria Math" panose="02040503050406030204" pitchFamily="18" charset="0"/>
                      </a:rPr>
                      <m:t>)</m:t>
                    </m:r>
                  </m:oMath>
                </a14:m>
                <a:r>
                  <a:rPr lang="en-CA" dirty="0"/>
                  <a:t> is the valuation of one year of life in state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𝑖</m:t>
                        </m:r>
                      </m:sub>
                    </m:sSub>
                    <m:r>
                      <a:rPr lang="en-CA">
                        <a:latin typeface="Cambria Math" panose="02040503050406030204" pitchFamily="18" charset="0"/>
                      </a:rPr>
                      <m:t>.</m:t>
                    </m:r>
                  </m:oMath>
                </a14:m>
                <a:endParaRPr lang="en-CA" dirty="0"/>
              </a:p>
              <a:p>
                <a:endParaRPr lang="en-CA" dirty="0"/>
              </a:p>
            </p:txBody>
          </p:sp>
        </mc:Choice>
        <mc:Fallback xmlns="">
          <p:sp>
            <p:nvSpPr>
              <p:cNvPr id="3" name="Content Placeholder 2">
                <a:extLst>
                  <a:ext uri="{FF2B5EF4-FFF2-40B4-BE49-F238E27FC236}">
                    <a16:creationId xmlns:a16="http://schemas.microsoft.com/office/drawing/2014/main" id="{DB31E991-02D4-2DD0-85A0-94EACB815E05}"/>
                  </a:ext>
                </a:extLst>
              </p:cNvPr>
              <p:cNvSpPr>
                <a:spLocks noGrp="1" noRot="1" noChangeAspect="1" noMove="1" noResize="1" noEditPoints="1" noAdjustHandles="1" noChangeArrowheads="1" noChangeShapeType="1" noTextEdit="1"/>
              </p:cNvSpPr>
              <p:nvPr>
                <p:ph idx="1"/>
              </p:nvPr>
            </p:nvSpPr>
            <p:spPr>
              <a:xfrm>
                <a:off x="482600" y="1619251"/>
                <a:ext cx="11328400" cy="4327016"/>
              </a:xfrm>
              <a:blipFill>
                <a:blip r:embed="rId2"/>
                <a:stretch>
                  <a:fillRect l="-807" t="-1128" r="-215"/>
                </a:stretch>
              </a:blipFill>
            </p:spPr>
            <p:txBody>
              <a:bodyPr/>
              <a:lstStyle/>
              <a:p>
                <a:r>
                  <a:rPr lang="en-CA">
                    <a:noFill/>
                  </a:rPr>
                  <a:t> </a:t>
                </a:r>
              </a:p>
            </p:txBody>
          </p:sp>
        </mc:Fallback>
      </mc:AlternateContent>
    </p:spTree>
    <p:extLst>
      <p:ext uri="{BB962C8B-B14F-4D97-AF65-F5344CB8AC3E}">
        <p14:creationId xmlns:p14="http://schemas.microsoft.com/office/powerpoint/2010/main" val="9613667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E9C31-F828-03E4-EE40-8E975DE9A9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85C982-FD5A-7501-65AC-C3D798B83D62}"/>
              </a:ext>
            </a:extLst>
          </p:cNvPr>
          <p:cNvSpPr>
            <a:spLocks noGrp="1"/>
          </p:cNvSpPr>
          <p:nvPr>
            <p:ph type="title"/>
          </p:nvPr>
        </p:nvSpPr>
        <p:spPr>
          <a:xfrm>
            <a:off x="482600" y="597408"/>
            <a:ext cx="10634472" cy="1117092"/>
          </a:xfrm>
        </p:spPr>
        <p:txBody>
          <a:bodyPr/>
          <a:lstStyle/>
          <a:p>
            <a:r>
              <a:rPr lang="en-CA" sz="4800" dirty="0"/>
              <a:t>Technical Properties of the QALY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7F30E9-09F0-0B9A-9E57-3936F7DAC268}"/>
                  </a:ext>
                </a:extLst>
              </p:cNvPr>
              <p:cNvSpPr>
                <a:spLocks noGrp="1"/>
              </p:cNvSpPr>
              <p:nvPr>
                <p:ph idx="1"/>
              </p:nvPr>
            </p:nvSpPr>
            <p:spPr>
              <a:xfrm>
                <a:off x="482600" y="1619251"/>
                <a:ext cx="11328400" cy="4327016"/>
              </a:xfrm>
            </p:spPr>
            <p:txBody>
              <a:bodyPr>
                <a:normAutofit/>
              </a:bodyPr>
              <a:lstStyle/>
              <a:p>
                <a:br>
                  <a:rPr lang="en-CA" dirty="0"/>
                </a:br>
                <a14:m>
                  <m:oMath xmlns:m="http://schemas.openxmlformats.org/officeDocument/2006/math">
                    <m:r>
                      <a:rPr lang="en-CA" i="1">
                        <a:latin typeface="Cambria Math" panose="02040503050406030204" pitchFamily="18" charset="0"/>
                      </a:rPr>
                      <m:t>𝑄𝐴𝐿𝑌𝑠</m:t>
                    </m:r>
                    <m:r>
                      <a:rPr lang="en-CA" i="1">
                        <a:latin typeface="Cambria Math" panose="02040503050406030204" pitchFamily="18" charset="0"/>
                      </a:rPr>
                      <m:t>=</m:t>
                    </m:r>
                    <m:r>
                      <a:rPr lang="en-CA" i="1">
                        <a:latin typeface="Cambria Math" panose="02040503050406030204" pitchFamily="18" charset="0"/>
                      </a:rPr>
                      <m:t>𝑈</m:t>
                    </m:r>
                    <m:d>
                      <m:dPr>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𝑖</m:t>
                            </m:r>
                          </m:sub>
                        </m:sSub>
                      </m:e>
                    </m:d>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𝑇</m:t>
                        </m:r>
                      </m:e>
                      <m:sub>
                        <m:r>
                          <a:rPr lang="en-CA" i="1">
                            <a:latin typeface="Cambria Math" panose="02040503050406030204" pitchFamily="18" charset="0"/>
                          </a:rPr>
                          <m:t>𝑖</m:t>
                        </m:r>
                      </m:sub>
                    </m:sSub>
                  </m:oMath>
                </a14:m>
                <a:endParaRPr lang="en-CA" dirty="0"/>
              </a:p>
              <a:p>
                <a:r>
                  <a:rPr lang="en-CA" dirty="0"/>
                  <a:t>The measurement theoretic considerations we wish to impose are the following:</a:t>
                </a:r>
              </a:p>
              <a:p>
                <a:pPr marL="857250" lvl="1" indent="-400050">
                  <a:buFont typeface="+mj-lt"/>
                  <a:buAutoNum type="romanUcPeriod"/>
                </a:pPr>
                <a:r>
                  <a:rPr lang="en-CA" i="1" dirty="0"/>
                  <a:t>Utilities from all health states are bounded on the interval of </a:t>
                </a:r>
                <a14:m>
                  <m:oMath xmlns:m="http://schemas.openxmlformats.org/officeDocument/2006/math">
                    <m:r>
                      <a:rPr lang="en-CA" i="1" dirty="0">
                        <a:latin typeface="Cambria Math" panose="02040503050406030204" pitchFamily="18" charset="0"/>
                      </a:rPr>
                      <m:t>[0,1] </m:t>
                    </m:r>
                  </m:oMath>
                </a14:m>
                <a:r>
                  <a:rPr lang="en-CA" i="1" dirty="0"/>
                  <a:t>with perfect health taking on the value of </a:t>
                </a:r>
                <a14:m>
                  <m:oMath xmlns:m="http://schemas.openxmlformats.org/officeDocument/2006/math">
                    <m:r>
                      <a:rPr lang="en-CA" i="1">
                        <a:latin typeface="Cambria Math" panose="02040503050406030204" pitchFamily="18" charset="0"/>
                      </a:rPr>
                      <m:t>1</m:t>
                    </m:r>
                  </m:oMath>
                </a14:m>
                <a:r>
                  <a:rPr lang="en-CA" i="1" dirty="0"/>
                  <a:t> and death taking on the value of zero.</a:t>
                </a:r>
              </a:p>
              <a:p>
                <a:pPr marL="857250" lvl="1" indent="-400050">
                  <a:buFont typeface="+mj-lt"/>
                  <a:buAutoNum type="romanUcPeriod"/>
                </a:pPr>
                <a:r>
                  <a:rPr lang="en-CA" i="1" dirty="0"/>
                  <a:t> Utility indexes satisfy the </a:t>
                </a:r>
                <a:r>
                  <a:rPr lang="en-CA" b="1" i="1" dirty="0"/>
                  <a:t>interval property </a:t>
                </a:r>
                <a:r>
                  <a:rPr lang="en-CA" i="1" dirty="0"/>
                  <a:t>(a health state change from 0.2 to 0.4 is viewed in the same manner as a health state change from 0.6 to 0.8).</a:t>
                </a:r>
              </a:p>
              <a:p>
                <a:pPr marL="857250" lvl="1" indent="-400050">
                  <a:buFont typeface="+mj-lt"/>
                  <a:buAutoNum type="romanUcPeriod"/>
                </a:pPr>
                <a:r>
                  <a:rPr lang="en-CA" i="1" dirty="0"/>
                  <a:t>There are no outcomes worse than death.</a:t>
                </a:r>
              </a:p>
              <a:p>
                <a:pPr marL="857250" lvl="1" indent="-400050">
                  <a:buFont typeface="+mj-lt"/>
                  <a:buAutoNum type="romanUcPeriod"/>
                </a:pPr>
                <a:r>
                  <a:rPr lang="en-CA" i="1" dirty="0"/>
                  <a:t> Individuals are </a:t>
                </a:r>
                <a:r>
                  <a:rPr lang="en-CA" b="1" i="1" dirty="0"/>
                  <a:t>Risk Neutral</a:t>
                </a:r>
                <a:r>
                  <a:rPr lang="en-CA" i="1" dirty="0"/>
                  <a:t> with respect to the length of life, i.e.  This means an individual is indifferent between living 5 years in perfect health  and facing a 50-50 gamble of living 10 years or immediate death.</a:t>
                </a:r>
              </a:p>
              <a:p>
                <a:endParaRPr lang="en-CA" dirty="0"/>
              </a:p>
              <a:p>
                <a:pPr marL="342900" indent="-342900">
                  <a:buFont typeface="Wingdings" panose="05000000000000000000" pitchFamily="2" charset="2"/>
                  <a:buChar char="§"/>
                </a:pPr>
                <a:endParaRPr lang="en-CA" dirty="0"/>
              </a:p>
            </p:txBody>
          </p:sp>
        </mc:Choice>
        <mc:Fallback xmlns="">
          <p:sp>
            <p:nvSpPr>
              <p:cNvPr id="3" name="Content Placeholder 2">
                <a:extLst>
                  <a:ext uri="{FF2B5EF4-FFF2-40B4-BE49-F238E27FC236}">
                    <a16:creationId xmlns:a16="http://schemas.microsoft.com/office/drawing/2014/main" id="{2F7F30E9-09F0-0B9A-9E57-3936F7DAC268}"/>
                  </a:ext>
                </a:extLst>
              </p:cNvPr>
              <p:cNvSpPr>
                <a:spLocks noGrp="1" noRot="1" noChangeAspect="1" noMove="1" noResize="1" noEditPoints="1" noAdjustHandles="1" noChangeArrowheads="1" noChangeShapeType="1" noTextEdit="1"/>
              </p:cNvSpPr>
              <p:nvPr>
                <p:ph idx="1"/>
              </p:nvPr>
            </p:nvSpPr>
            <p:spPr>
              <a:xfrm>
                <a:off x="482600" y="1619251"/>
                <a:ext cx="11328400" cy="4327016"/>
              </a:xfrm>
              <a:blipFill>
                <a:blip r:embed="rId2"/>
                <a:stretch>
                  <a:fillRect l="-323" t="-141"/>
                </a:stretch>
              </a:blipFill>
            </p:spPr>
            <p:txBody>
              <a:bodyPr/>
              <a:lstStyle/>
              <a:p>
                <a:r>
                  <a:rPr lang="en-CA">
                    <a:noFill/>
                  </a:rPr>
                  <a:t> </a:t>
                </a:r>
              </a:p>
            </p:txBody>
          </p:sp>
        </mc:Fallback>
      </mc:AlternateContent>
    </p:spTree>
    <p:extLst>
      <p:ext uri="{BB962C8B-B14F-4D97-AF65-F5344CB8AC3E}">
        <p14:creationId xmlns:p14="http://schemas.microsoft.com/office/powerpoint/2010/main" val="469064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B68CB-70EC-2652-9802-A6F0F3FFC3C6}"/>
              </a:ext>
            </a:extLst>
          </p:cNvPr>
          <p:cNvSpPr>
            <a:spLocks noGrp="1"/>
          </p:cNvSpPr>
          <p:nvPr>
            <p:ph type="ctrTitle"/>
          </p:nvPr>
        </p:nvSpPr>
        <p:spPr/>
        <p:txBody>
          <a:bodyPr/>
          <a:lstStyle/>
          <a:p>
            <a:r>
              <a:rPr lang="en-CA" dirty="0"/>
              <a:t>How Utilities are Measured</a:t>
            </a:r>
          </a:p>
        </p:txBody>
      </p:sp>
    </p:spTree>
    <p:extLst>
      <p:ext uri="{BB962C8B-B14F-4D97-AF65-F5344CB8AC3E}">
        <p14:creationId xmlns:p14="http://schemas.microsoft.com/office/powerpoint/2010/main" val="15167552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80502-1D08-BB30-4D2E-FFFD72F0C4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3BD059-B44F-E2DB-1801-B308B0A2937C}"/>
              </a:ext>
            </a:extLst>
          </p:cNvPr>
          <p:cNvSpPr>
            <a:spLocks noGrp="1"/>
          </p:cNvSpPr>
          <p:nvPr>
            <p:ph type="title"/>
          </p:nvPr>
        </p:nvSpPr>
        <p:spPr>
          <a:xfrm>
            <a:off x="482600" y="597408"/>
            <a:ext cx="10634472" cy="1117092"/>
          </a:xfrm>
        </p:spPr>
        <p:txBody>
          <a:bodyPr/>
          <a:lstStyle/>
          <a:p>
            <a:r>
              <a:rPr lang="en-CA" sz="4800" dirty="0"/>
              <a:t>Utility Measurement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08A0BD-627C-EE3A-71F1-2BC3FCAF9090}"/>
                  </a:ext>
                </a:extLst>
              </p:cNvPr>
              <p:cNvSpPr>
                <a:spLocks noGrp="1"/>
              </p:cNvSpPr>
              <p:nvPr>
                <p:ph idx="1"/>
              </p:nvPr>
            </p:nvSpPr>
            <p:spPr>
              <a:xfrm>
                <a:off x="482600" y="1943100"/>
                <a:ext cx="10506991" cy="3936491"/>
              </a:xfrm>
            </p:spPr>
            <p:txBody>
              <a:bodyPr>
                <a:normAutofit/>
              </a:bodyPr>
              <a:lstStyle/>
              <a:p>
                <a:pPr marL="342900" indent="-342900">
                  <a:buFont typeface="Wingdings" panose="05000000000000000000" pitchFamily="2" charset="2"/>
                  <a:buChar char="§"/>
                </a:pPr>
                <a:r>
                  <a:rPr lang="en-CA" dirty="0"/>
                  <a:t>Recall the way we define QALYs is as follows:</a:t>
                </a:r>
              </a:p>
              <a:p>
                <a:pPr marL="0" indent="0">
                  <a:buNone/>
                </a:pPr>
                <a14:m>
                  <m:oMathPara xmlns:m="http://schemas.openxmlformats.org/officeDocument/2006/math">
                    <m:oMath>
                      <m:r>
                        <a:rPr lang="en-CA" i="1">
                          <a:latin typeface="Cambria Math" panose="02040503050406030204" pitchFamily="18" charset="0"/>
                        </a:rPr>
                        <m:t>𝑄𝐴𝐿𝑌𝑠</m:t>
                      </m:r>
                      <m:r>
                        <a:rPr lang="en-CA" i="1">
                          <a:latin typeface="Cambria Math" panose="02040503050406030204" pitchFamily="18" charset="0"/>
                        </a:rPr>
                        <m:t>=</m:t>
                      </m:r>
                      <m:r>
                        <a:rPr lang="en-CA" i="1">
                          <a:latin typeface="Cambria Math" panose="02040503050406030204" pitchFamily="18" charset="0"/>
                        </a:rPr>
                        <m:t>𝑈</m:t>
                      </m:r>
                      <m:d>
                        <m:dPr>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𝑖</m:t>
                              </m:r>
                            </m:sub>
                          </m:sSub>
                        </m:e>
                      </m:d>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𝑇</m:t>
                          </m:r>
                        </m:e>
                        <m:sub>
                          <m:r>
                            <a:rPr lang="en-CA" i="1">
                              <a:latin typeface="Cambria Math" panose="02040503050406030204" pitchFamily="18" charset="0"/>
                            </a:rPr>
                            <m:t>𝑖</m:t>
                          </m:r>
                        </m:sub>
                      </m:sSub>
                    </m:oMath>
                  </m:oMathPara>
                </a14:m>
                <a:br>
                  <a:rPr lang="en-CA" dirty="0"/>
                </a:br>
                <a:endParaRPr lang="en-CA" dirty="0"/>
              </a:p>
              <a:p>
                <a:pPr marL="0" indent="0">
                  <a:buNone/>
                </a:pPr>
                <a:r>
                  <a:rPr lang="en-CA" dirty="0"/>
                  <a:t>Where </a:t>
                </a:r>
                <a14:m>
                  <m:oMath xmlns:m="http://schemas.openxmlformats.org/officeDocument/2006/math">
                    <m:r>
                      <a:rPr lang="en-CA" b="0" i="1" smtClean="0">
                        <a:latin typeface="Cambria Math" panose="02040503050406030204" pitchFamily="18" charset="0"/>
                      </a:rPr>
                      <m:t>𝑈</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r>
                      <a:rPr lang="en-CA" b="0" i="1" smtClean="0">
                        <a:latin typeface="Cambria Math" panose="02040503050406030204" pitchFamily="18" charset="0"/>
                      </a:rPr>
                      <m:t>)</m:t>
                    </m:r>
                  </m:oMath>
                </a14:m>
                <a:r>
                  <a:rPr lang="en-CA" dirty="0"/>
                  <a:t> is the utility from health status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oMath>
                </a14:m>
                <a:r>
                  <a:rPr lang="en-CA" dirty="0"/>
                  <a:t> and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𝑇</m:t>
                        </m:r>
                      </m:e>
                      <m:sub>
                        <m:r>
                          <a:rPr lang="en-CA" b="0" i="1" smtClean="0">
                            <a:latin typeface="Cambria Math" panose="02040503050406030204" pitchFamily="18" charset="0"/>
                          </a:rPr>
                          <m:t>𝑖</m:t>
                        </m:r>
                      </m:sub>
                    </m:sSub>
                  </m:oMath>
                </a14:m>
                <a:r>
                  <a:rPr lang="en-CA" dirty="0"/>
                  <a:t> is the time spent in that health status.</a:t>
                </a:r>
              </a:p>
              <a:p>
                <a:pPr marL="342900" indent="-342900">
                  <a:buFont typeface="Wingdings" panose="05000000000000000000" pitchFamily="2" charset="2"/>
                  <a:buChar char="§"/>
                </a:pPr>
                <a:r>
                  <a:rPr lang="en-CA" dirty="0"/>
                  <a:t>How is utility measured in practice?</a:t>
                </a:r>
              </a:p>
              <a:p>
                <a:pPr marL="342900" indent="-342900">
                  <a:buFont typeface="Wingdings" panose="05000000000000000000" pitchFamily="2" charset="2"/>
                  <a:buChar char="§"/>
                </a:pPr>
                <a:r>
                  <a:rPr lang="en-CA" dirty="0"/>
                  <a:t>There are three ways utility is measured:</a:t>
                </a:r>
                <a:br>
                  <a:rPr lang="en-CA" dirty="0"/>
                </a:br>
                <a:r>
                  <a:rPr lang="en-CA" dirty="0"/>
                  <a:t>1. Visual Analogue Scale (VAS)</a:t>
                </a:r>
                <a:br>
                  <a:rPr lang="en-CA" dirty="0"/>
                </a:br>
                <a:r>
                  <a:rPr lang="en-CA" dirty="0"/>
                  <a:t>2. Standard Gamble</a:t>
                </a:r>
                <a:br>
                  <a:rPr lang="en-CA" dirty="0"/>
                </a:br>
                <a:r>
                  <a:rPr lang="en-CA" dirty="0"/>
                  <a:t>3. Time Trade Off.</a:t>
                </a:r>
                <a:br>
                  <a:rPr lang="en-CA" dirty="0"/>
                </a:br>
                <a:endParaRPr lang="en-CA" dirty="0"/>
              </a:p>
            </p:txBody>
          </p:sp>
        </mc:Choice>
        <mc:Fallback xmlns="">
          <p:sp>
            <p:nvSpPr>
              <p:cNvPr id="3" name="Content Placeholder 2">
                <a:extLst>
                  <a:ext uri="{FF2B5EF4-FFF2-40B4-BE49-F238E27FC236}">
                    <a16:creationId xmlns:a16="http://schemas.microsoft.com/office/drawing/2014/main" id="{C308A0BD-627C-EE3A-71F1-2BC3FCAF9090}"/>
                  </a:ext>
                </a:extLst>
              </p:cNvPr>
              <p:cNvSpPr>
                <a:spLocks noGrp="1" noRot="1" noChangeAspect="1" noMove="1" noResize="1" noEditPoints="1" noAdjustHandles="1" noChangeArrowheads="1" noChangeShapeType="1" noTextEdit="1"/>
              </p:cNvSpPr>
              <p:nvPr>
                <p:ph idx="1"/>
              </p:nvPr>
            </p:nvSpPr>
            <p:spPr>
              <a:xfrm>
                <a:off x="482600" y="1943100"/>
                <a:ext cx="10506991" cy="3936491"/>
              </a:xfrm>
              <a:blipFill>
                <a:blip r:embed="rId2"/>
                <a:stretch>
                  <a:fillRect l="-464" t="-620"/>
                </a:stretch>
              </a:blipFill>
            </p:spPr>
            <p:txBody>
              <a:bodyPr/>
              <a:lstStyle/>
              <a:p>
                <a:r>
                  <a:rPr lang="en-CA">
                    <a:noFill/>
                  </a:rPr>
                  <a:t> </a:t>
                </a:r>
              </a:p>
            </p:txBody>
          </p:sp>
        </mc:Fallback>
      </mc:AlternateContent>
    </p:spTree>
    <p:extLst>
      <p:ext uri="{BB962C8B-B14F-4D97-AF65-F5344CB8AC3E}">
        <p14:creationId xmlns:p14="http://schemas.microsoft.com/office/powerpoint/2010/main" val="14985655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C9B7B-46FA-902C-E5DC-BFF8C19FE6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D51F1A-7D39-315D-47A1-63353F3D69AE}"/>
              </a:ext>
            </a:extLst>
          </p:cNvPr>
          <p:cNvSpPr>
            <a:spLocks noGrp="1"/>
          </p:cNvSpPr>
          <p:nvPr>
            <p:ph type="title"/>
          </p:nvPr>
        </p:nvSpPr>
        <p:spPr>
          <a:xfrm>
            <a:off x="482600" y="597408"/>
            <a:ext cx="10634472" cy="1117092"/>
          </a:xfrm>
        </p:spPr>
        <p:txBody>
          <a:bodyPr/>
          <a:lstStyle/>
          <a:p>
            <a:r>
              <a:rPr lang="en-CA" sz="4800" dirty="0"/>
              <a:t>Visual Analogue Scale</a:t>
            </a:r>
          </a:p>
        </p:txBody>
      </p:sp>
      <p:sp>
        <p:nvSpPr>
          <p:cNvPr id="3" name="Content Placeholder 2">
            <a:extLst>
              <a:ext uri="{FF2B5EF4-FFF2-40B4-BE49-F238E27FC236}">
                <a16:creationId xmlns:a16="http://schemas.microsoft.com/office/drawing/2014/main" id="{3EDD9A86-76D5-64C5-3A62-99EEAC5621C3}"/>
              </a:ext>
            </a:extLst>
          </p:cNvPr>
          <p:cNvSpPr>
            <a:spLocks noGrp="1"/>
          </p:cNvSpPr>
          <p:nvPr>
            <p:ph idx="1"/>
          </p:nvPr>
        </p:nvSpPr>
        <p:spPr>
          <a:xfrm>
            <a:off x="482600" y="1552575"/>
            <a:ext cx="10506991" cy="3936491"/>
          </a:xfrm>
        </p:spPr>
        <p:txBody>
          <a:bodyPr/>
          <a:lstStyle/>
          <a:p>
            <a:pPr marL="342900" indent="-342900">
              <a:buFont typeface="Wingdings" panose="05000000000000000000" pitchFamily="2" charset="2"/>
              <a:buChar char="§"/>
            </a:pPr>
            <a:r>
              <a:rPr lang="en-CA" dirty="0"/>
              <a:t>To employ the use of the Visual Analogue Scale, patients are simply shown a feeling thermometer and asked how to rank their quality of life.</a:t>
            </a:r>
          </a:p>
          <a:p>
            <a:pPr marL="342900" indent="-342900">
              <a:buFont typeface="Wingdings" panose="05000000000000000000" pitchFamily="2" charset="2"/>
              <a:buChar char="§"/>
            </a:pPr>
            <a:r>
              <a:rPr lang="en-CA" dirty="0"/>
              <a:t>This method is crude, but it explicitly satisfies the measurement theoretic properties required of QALYs.</a:t>
            </a:r>
          </a:p>
          <a:p>
            <a:pPr marL="342900" indent="-342900">
              <a:buFont typeface="Wingdings" panose="05000000000000000000" pitchFamily="2" charset="2"/>
              <a:buChar char="§"/>
            </a:pPr>
            <a:r>
              <a:rPr lang="en-CA" dirty="0"/>
              <a:t>Alternatively, this valuation can involve a series of questions and score on a rubric.</a:t>
            </a:r>
            <a:br>
              <a:rPr lang="en-CA" dirty="0"/>
            </a:br>
            <a:br>
              <a:rPr lang="en-CA" dirty="0"/>
            </a:br>
            <a:endParaRPr lang="en-CA" dirty="0"/>
          </a:p>
        </p:txBody>
      </p:sp>
      <p:cxnSp>
        <p:nvCxnSpPr>
          <p:cNvPr id="4" name="Straight Connector 3">
            <a:extLst>
              <a:ext uri="{FF2B5EF4-FFF2-40B4-BE49-F238E27FC236}">
                <a16:creationId xmlns:a16="http://schemas.microsoft.com/office/drawing/2014/main" id="{D702A610-F904-58FC-4283-9FB3237FDD60}"/>
              </a:ext>
            </a:extLst>
          </p:cNvPr>
          <p:cNvCxnSpPr>
            <a:cxnSpLocks/>
          </p:cNvCxnSpPr>
          <p:nvPr/>
        </p:nvCxnSpPr>
        <p:spPr>
          <a:xfrm>
            <a:off x="2224051" y="4307811"/>
            <a:ext cx="7260336"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3B9D0C3-D69E-C89C-6BDE-12723A70338C}"/>
              </a:ext>
            </a:extLst>
          </p:cNvPr>
          <p:cNvCxnSpPr/>
          <p:nvPr/>
        </p:nvCxnSpPr>
        <p:spPr>
          <a:xfrm>
            <a:off x="2224051" y="4024347"/>
            <a:ext cx="0" cy="566928"/>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5016376-C097-8FA5-83CB-FFAF2A49869F}"/>
              </a:ext>
            </a:extLst>
          </p:cNvPr>
          <p:cNvCxnSpPr/>
          <p:nvPr/>
        </p:nvCxnSpPr>
        <p:spPr>
          <a:xfrm>
            <a:off x="9484387" y="4024347"/>
            <a:ext cx="0" cy="566928"/>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5DB5B41-6733-5F4E-E0C5-A160CF5DFE0B}"/>
              </a:ext>
            </a:extLst>
          </p:cNvPr>
          <p:cNvSpPr txBox="1"/>
          <p:nvPr/>
        </p:nvSpPr>
        <p:spPr>
          <a:xfrm>
            <a:off x="1390686" y="4565736"/>
            <a:ext cx="1824666" cy="923330"/>
          </a:xfrm>
          <a:prstGeom prst="rect">
            <a:avLst/>
          </a:prstGeom>
          <a:noFill/>
        </p:spPr>
        <p:txBody>
          <a:bodyPr wrap="none" rtlCol="0">
            <a:spAutoFit/>
          </a:bodyPr>
          <a:lstStyle/>
          <a:p>
            <a:pPr algn="ctr"/>
            <a:r>
              <a:rPr lang="en-CA" dirty="0"/>
              <a:t>0 </a:t>
            </a:r>
            <a:br>
              <a:rPr lang="en-CA" dirty="0"/>
            </a:br>
            <a:r>
              <a:rPr lang="en-CA" dirty="0"/>
              <a:t>Worst Imaginable</a:t>
            </a:r>
            <a:br>
              <a:rPr lang="en-CA" dirty="0"/>
            </a:br>
            <a:r>
              <a:rPr lang="en-CA" dirty="0"/>
              <a:t> Health State</a:t>
            </a:r>
          </a:p>
        </p:txBody>
      </p:sp>
      <p:sp>
        <p:nvSpPr>
          <p:cNvPr id="8" name="TextBox 7">
            <a:extLst>
              <a:ext uri="{FF2B5EF4-FFF2-40B4-BE49-F238E27FC236}">
                <a16:creationId xmlns:a16="http://schemas.microsoft.com/office/drawing/2014/main" id="{92C44EE7-76DC-516F-A425-AE5176F032AE}"/>
              </a:ext>
            </a:extLst>
          </p:cNvPr>
          <p:cNvSpPr txBox="1"/>
          <p:nvPr/>
        </p:nvSpPr>
        <p:spPr>
          <a:xfrm>
            <a:off x="8787975" y="4718136"/>
            <a:ext cx="1526380" cy="646331"/>
          </a:xfrm>
          <a:prstGeom prst="rect">
            <a:avLst/>
          </a:prstGeom>
          <a:noFill/>
        </p:spPr>
        <p:txBody>
          <a:bodyPr wrap="none" rtlCol="0">
            <a:spAutoFit/>
          </a:bodyPr>
          <a:lstStyle/>
          <a:p>
            <a:pPr algn="ctr"/>
            <a:r>
              <a:rPr lang="en-CA" dirty="0"/>
              <a:t>100 </a:t>
            </a:r>
            <a:br>
              <a:rPr lang="en-CA" dirty="0"/>
            </a:br>
            <a:r>
              <a:rPr lang="en-CA" dirty="0"/>
              <a:t>Perfect Health</a:t>
            </a:r>
          </a:p>
        </p:txBody>
      </p:sp>
      <p:sp>
        <p:nvSpPr>
          <p:cNvPr id="10" name="TextBox 9">
            <a:extLst>
              <a:ext uri="{FF2B5EF4-FFF2-40B4-BE49-F238E27FC236}">
                <a16:creationId xmlns:a16="http://schemas.microsoft.com/office/drawing/2014/main" id="{C0AD291C-4A0B-A3B0-769E-FA70C2212C10}"/>
              </a:ext>
            </a:extLst>
          </p:cNvPr>
          <p:cNvSpPr txBox="1"/>
          <p:nvPr/>
        </p:nvSpPr>
        <p:spPr>
          <a:xfrm>
            <a:off x="758108" y="5576224"/>
            <a:ext cx="9452972" cy="646331"/>
          </a:xfrm>
          <a:prstGeom prst="rect">
            <a:avLst/>
          </a:prstGeom>
          <a:noFill/>
        </p:spPr>
        <p:txBody>
          <a:bodyPr wrap="none" rtlCol="0">
            <a:spAutoFit/>
          </a:bodyPr>
          <a:lstStyle/>
          <a:p>
            <a:r>
              <a:rPr lang="en-CA" dirty="0"/>
              <a:t>*To satisfy our measurement properties, we renormalize any score to be on the [0,1] interval</a:t>
            </a:r>
            <a:br>
              <a:rPr lang="en-CA" dirty="0"/>
            </a:br>
            <a:endParaRPr lang="en-CA" dirty="0"/>
          </a:p>
        </p:txBody>
      </p:sp>
    </p:spTree>
    <p:extLst>
      <p:ext uri="{BB962C8B-B14F-4D97-AF65-F5344CB8AC3E}">
        <p14:creationId xmlns:p14="http://schemas.microsoft.com/office/powerpoint/2010/main" val="13876052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470CF-E0FA-708E-821D-E9AC9865ED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FFBFC1-FDBA-1DC5-473D-2EFB79B075D2}"/>
              </a:ext>
            </a:extLst>
          </p:cNvPr>
          <p:cNvSpPr>
            <a:spLocks noGrp="1"/>
          </p:cNvSpPr>
          <p:nvPr>
            <p:ph type="title"/>
          </p:nvPr>
        </p:nvSpPr>
        <p:spPr>
          <a:xfrm>
            <a:off x="323849" y="721233"/>
            <a:ext cx="10634472" cy="1117092"/>
          </a:xfrm>
        </p:spPr>
        <p:txBody>
          <a:bodyPr/>
          <a:lstStyle/>
          <a:p>
            <a:r>
              <a:rPr lang="en-CA" sz="4800" dirty="0"/>
              <a:t>An Example of a VAS: the EQ-5D-5L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0CFCFAD-D106-F450-E167-A448F16CDC0C}"/>
                  </a:ext>
                </a:extLst>
              </p:cNvPr>
              <p:cNvSpPr>
                <a:spLocks noGrp="1"/>
              </p:cNvSpPr>
              <p:nvPr>
                <p:ph idx="1"/>
              </p:nvPr>
            </p:nvSpPr>
            <p:spPr>
              <a:xfrm>
                <a:off x="7461508" y="1627703"/>
                <a:ext cx="4187567" cy="4329161"/>
              </a:xfrm>
            </p:spPr>
            <p:txBody>
              <a:bodyPr/>
              <a:lstStyle/>
              <a:p>
                <a:pPr marL="342900" indent="-342900">
                  <a:buFont typeface="Wingdings" panose="05000000000000000000" pitchFamily="2" charset="2"/>
                  <a:buChar char="§"/>
                </a:pPr>
                <a:r>
                  <a:rPr lang="en-CA" dirty="0"/>
                  <a:t>The following is an example of a visual analogue scale provided to patients.</a:t>
                </a:r>
              </a:p>
              <a:p>
                <a:pPr marL="342900" indent="-342900">
                  <a:buFont typeface="Wingdings" panose="05000000000000000000" pitchFamily="2" charset="2"/>
                  <a:buChar char="§"/>
                </a:pPr>
                <a:r>
                  <a:rPr lang="en-CA" dirty="0"/>
                  <a:t>While this scale looks simple-- this tool can provide 3125 unique health state scores.</a:t>
                </a:r>
              </a:p>
              <a:p>
                <a:pPr marL="342900" indent="-342900">
                  <a:buFont typeface="Wingdings" panose="05000000000000000000" pitchFamily="2" charset="2"/>
                  <a:buChar char="§"/>
                </a:pPr>
                <a:r>
                  <a:rPr lang="en-CA" dirty="0"/>
                  <a:t>This is because:</a:t>
                </a:r>
                <a:br>
                  <a:rPr lang="en-CA" dirty="0"/>
                </a:br>
                <a14:m>
                  <m:oMath xmlns:m="http://schemas.openxmlformats.org/officeDocument/2006/math">
                    <m:r>
                      <a:rPr lang="en-CA" b="0" i="1" smtClean="0">
                        <a:latin typeface="Cambria Math" panose="02040503050406030204" pitchFamily="18" charset="0"/>
                      </a:rPr>
                      <m:t>5×5×5×5×5=3125</m:t>
                    </m:r>
                  </m:oMath>
                </a14:m>
                <a:endParaRPr lang="en-CA" dirty="0"/>
              </a:p>
            </p:txBody>
          </p:sp>
        </mc:Choice>
        <mc:Fallback xmlns="">
          <p:sp>
            <p:nvSpPr>
              <p:cNvPr id="3" name="Content Placeholder 2">
                <a:extLst>
                  <a:ext uri="{FF2B5EF4-FFF2-40B4-BE49-F238E27FC236}">
                    <a16:creationId xmlns:a16="http://schemas.microsoft.com/office/drawing/2014/main" id="{70CFCFAD-D106-F450-E167-A448F16CDC0C}"/>
                  </a:ext>
                </a:extLst>
              </p:cNvPr>
              <p:cNvSpPr>
                <a:spLocks noGrp="1" noRot="1" noChangeAspect="1" noMove="1" noResize="1" noEditPoints="1" noAdjustHandles="1" noChangeArrowheads="1" noChangeShapeType="1" noTextEdit="1"/>
              </p:cNvSpPr>
              <p:nvPr>
                <p:ph idx="1"/>
              </p:nvPr>
            </p:nvSpPr>
            <p:spPr>
              <a:xfrm>
                <a:off x="7461508" y="1627703"/>
                <a:ext cx="4187567" cy="4329161"/>
              </a:xfrm>
              <a:blipFill>
                <a:blip r:embed="rId2"/>
                <a:stretch>
                  <a:fillRect l="-873" t="-423"/>
                </a:stretch>
              </a:blipFill>
            </p:spPr>
            <p:txBody>
              <a:bodyPr/>
              <a:lstStyle/>
              <a:p>
                <a:r>
                  <a:rPr lang="en-CA">
                    <a:noFill/>
                  </a:rPr>
                  <a:t> </a:t>
                </a:r>
              </a:p>
            </p:txBody>
          </p:sp>
        </mc:Fallback>
      </mc:AlternateContent>
      <p:pic>
        <p:nvPicPr>
          <p:cNvPr id="7" name="Picture 6">
            <a:extLst>
              <a:ext uri="{FF2B5EF4-FFF2-40B4-BE49-F238E27FC236}">
                <a16:creationId xmlns:a16="http://schemas.microsoft.com/office/drawing/2014/main" id="{E7CCC8ED-372A-EF00-0D86-A93D89729A19}"/>
              </a:ext>
            </a:extLst>
          </p:cNvPr>
          <p:cNvPicPr>
            <a:picLocks noChangeAspect="1"/>
          </p:cNvPicPr>
          <p:nvPr/>
        </p:nvPicPr>
        <p:blipFill>
          <a:blip r:embed="rId3"/>
          <a:stretch>
            <a:fillRect/>
          </a:stretch>
        </p:blipFill>
        <p:spPr>
          <a:xfrm>
            <a:off x="323849" y="1384861"/>
            <a:ext cx="3638551" cy="5236609"/>
          </a:xfrm>
          <a:prstGeom prst="rect">
            <a:avLst/>
          </a:prstGeom>
        </p:spPr>
      </p:pic>
      <p:pic>
        <p:nvPicPr>
          <p:cNvPr id="9" name="Picture 8">
            <a:extLst>
              <a:ext uri="{FF2B5EF4-FFF2-40B4-BE49-F238E27FC236}">
                <a16:creationId xmlns:a16="http://schemas.microsoft.com/office/drawing/2014/main" id="{F72CFB1D-CC5E-AF83-551C-64A1E4E2F77D}"/>
              </a:ext>
            </a:extLst>
          </p:cNvPr>
          <p:cNvPicPr>
            <a:picLocks noChangeAspect="1"/>
          </p:cNvPicPr>
          <p:nvPr/>
        </p:nvPicPr>
        <p:blipFill>
          <a:blip r:embed="rId4"/>
          <a:stretch>
            <a:fillRect/>
          </a:stretch>
        </p:blipFill>
        <p:spPr>
          <a:xfrm>
            <a:off x="3962400" y="1562649"/>
            <a:ext cx="3327657" cy="4997935"/>
          </a:xfrm>
          <a:prstGeom prst="rect">
            <a:avLst/>
          </a:prstGeom>
        </p:spPr>
      </p:pic>
    </p:spTree>
    <p:extLst>
      <p:ext uri="{BB962C8B-B14F-4D97-AF65-F5344CB8AC3E}">
        <p14:creationId xmlns:p14="http://schemas.microsoft.com/office/powerpoint/2010/main" val="7105047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B8AD9-87FE-2FC8-FCD0-CBF2EFACBB33}"/>
              </a:ext>
            </a:extLst>
          </p:cNvPr>
          <p:cNvSpPr>
            <a:spLocks noGrp="1"/>
          </p:cNvSpPr>
          <p:nvPr>
            <p:ph type="title"/>
          </p:nvPr>
        </p:nvSpPr>
        <p:spPr/>
        <p:txBody>
          <a:bodyPr/>
          <a:lstStyle/>
          <a:p>
            <a:r>
              <a:rPr lang="en-CA" dirty="0"/>
              <a:t>The EQ-5D-5L Value Set for Canada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CF3C616-842A-8B26-256F-20FBEEC6D938}"/>
                  </a:ext>
                </a:extLst>
              </p:cNvPr>
              <p:cNvSpPr>
                <a:spLocks noGrp="1"/>
              </p:cNvSpPr>
              <p:nvPr>
                <p:ph idx="1"/>
              </p:nvPr>
            </p:nvSpPr>
            <p:spPr>
              <a:xfrm>
                <a:off x="515112" y="2112264"/>
                <a:ext cx="11155680" cy="3767328"/>
              </a:xfrm>
            </p:spPr>
            <p:txBody>
              <a:bodyPr/>
              <a:lstStyle/>
              <a:p>
                <a:pPr marL="0" indent="0">
                  <a:buNone/>
                </a:pPr>
                <a14:m>
                  <m:oMathPara xmlns:m="http://schemas.openxmlformats.org/officeDocument/2006/math">
                    <m:oMath>
                      <m:r>
                        <m:rPr>
                          <m:sty m:val="p"/>
                        </m:rPr>
                        <a:rPr lang="en-CA" b="0" i="0" smtClean="0">
                          <a:latin typeface="Cambria Math" panose="02040503050406030204" pitchFamily="18" charset="0"/>
                        </a:rPr>
                        <m:t>V</m:t>
                      </m:r>
                      <m:d>
                        <m:dPr>
                          <m:ctrlPr>
                            <a:rPr lang="en-CA" b="0" i="0" smtClean="0">
                              <a:latin typeface="Cambria Math" panose="02040503050406030204" pitchFamily="18" charset="0"/>
                            </a:rPr>
                          </m:ctrlPr>
                        </m:dPr>
                        <m:e>
                          <m:r>
                            <m:rPr>
                              <m:sty m:val="p"/>
                            </m:rPr>
                            <a:rPr lang="en-CA" b="0" i="0" smtClean="0">
                              <a:latin typeface="Cambria Math" panose="02040503050406030204" pitchFamily="18" charset="0"/>
                            </a:rPr>
                            <m:t>x</m:t>
                          </m:r>
                        </m:e>
                      </m:d>
                      <m:r>
                        <a:rPr lang="en-CA" b="0" i="0" smtClean="0">
                          <a:latin typeface="Cambria Math" panose="02040503050406030204" pitchFamily="18" charset="0"/>
                        </a:rPr>
                        <m:t>=1.1351−0.0389 </m:t>
                      </m:r>
                      <m:r>
                        <m:rPr>
                          <m:sty m:val="p"/>
                        </m:rPr>
                        <a:rPr lang="en-CA" b="0" i="0" smtClean="0">
                          <a:latin typeface="Cambria Math" panose="02040503050406030204" pitchFamily="18" charset="0"/>
                        </a:rPr>
                        <m:t>MO</m:t>
                      </m:r>
                      <m:r>
                        <a:rPr lang="en-CA" b="0" i="0" smtClean="0">
                          <a:latin typeface="Cambria Math" panose="02040503050406030204" pitchFamily="18" charset="0"/>
                        </a:rPr>
                        <m:t>×</m:t>
                      </m:r>
                      <m:r>
                        <m:rPr>
                          <m:sty m:val="p"/>
                        </m:rPr>
                        <a:rPr lang="en-CA" b="0" i="0" smtClean="0">
                          <a:latin typeface="Cambria Math" panose="02040503050406030204" pitchFamily="18" charset="0"/>
                        </a:rPr>
                        <m:t>Level</m:t>
                      </m:r>
                      <m:r>
                        <a:rPr lang="en-CA" b="0" i="0" smtClean="0">
                          <a:latin typeface="Cambria Math" panose="02040503050406030204" pitchFamily="18" charset="0"/>
                        </a:rPr>
                        <m:t>−0.0458 </m:t>
                      </m:r>
                      <m:r>
                        <m:rPr>
                          <m:sty m:val="p"/>
                        </m:rPr>
                        <a:rPr lang="en-CA" b="0" i="0" smtClean="0">
                          <a:latin typeface="Cambria Math" panose="02040503050406030204" pitchFamily="18" charset="0"/>
                        </a:rPr>
                        <m:t>SC</m:t>
                      </m:r>
                      <m:r>
                        <a:rPr lang="en-CA" b="0" i="0" smtClean="0">
                          <a:latin typeface="Cambria Math" panose="02040503050406030204" pitchFamily="18" charset="0"/>
                        </a:rPr>
                        <m:t>×</m:t>
                      </m:r>
                      <m:r>
                        <m:rPr>
                          <m:sty m:val="p"/>
                        </m:rPr>
                        <a:rPr lang="en-CA" b="0" i="0" smtClean="0">
                          <a:latin typeface="Cambria Math" panose="02040503050406030204" pitchFamily="18" charset="0"/>
                        </a:rPr>
                        <m:t>Level</m:t>
                      </m:r>
                      <m:r>
                        <a:rPr lang="en-CA" b="0" i="0" smtClean="0">
                          <a:latin typeface="Cambria Math" panose="02040503050406030204" pitchFamily="18" charset="0"/>
                        </a:rPr>
                        <m:t>−0.0195 </m:t>
                      </m:r>
                      <m:r>
                        <m:rPr>
                          <m:sty m:val="p"/>
                        </m:rPr>
                        <a:rPr lang="en-CA" b="0" i="0" smtClean="0">
                          <a:latin typeface="Cambria Math" panose="02040503050406030204" pitchFamily="18" charset="0"/>
                        </a:rPr>
                        <m:t>UA</m:t>
                      </m:r>
                      <m:r>
                        <a:rPr lang="en-CA" b="0" i="0" smtClean="0">
                          <a:latin typeface="Cambria Math" panose="02040503050406030204" pitchFamily="18" charset="0"/>
                        </a:rPr>
                        <m:t>×</m:t>
                      </m:r>
                      <m:r>
                        <m:rPr>
                          <m:sty m:val="p"/>
                        </m:rPr>
                        <a:rPr lang="en-CA" b="0" i="0" smtClean="0">
                          <a:latin typeface="Cambria Math" panose="02040503050406030204" pitchFamily="18" charset="0"/>
                        </a:rPr>
                        <m:t>Level</m:t>
                      </m:r>
                      <m:r>
                        <a:rPr lang="en-CA" b="0" i="0" smtClean="0">
                          <a:latin typeface="Cambria Math" panose="02040503050406030204" pitchFamily="18" charset="0"/>
                        </a:rPr>
                        <m:t>−0.0444 </m:t>
                      </m:r>
                      <m:r>
                        <m:rPr>
                          <m:sty m:val="p"/>
                        </m:rPr>
                        <a:rPr lang="en-CA" b="0" i="0" smtClean="0">
                          <a:latin typeface="Cambria Math" panose="02040503050406030204" pitchFamily="18" charset="0"/>
                        </a:rPr>
                        <m:t>PD</m:t>
                      </m:r>
                      <m:r>
                        <a:rPr lang="en-CA" b="0" i="0" smtClean="0">
                          <a:latin typeface="Cambria Math" panose="02040503050406030204" pitchFamily="18" charset="0"/>
                        </a:rPr>
                        <m:t>×</m:t>
                      </m:r>
                      <m:r>
                        <m:rPr>
                          <m:sty m:val="p"/>
                        </m:rPr>
                        <a:rPr lang="en-CA" b="0" i="0" smtClean="0">
                          <a:latin typeface="Cambria Math" panose="02040503050406030204" pitchFamily="18" charset="0"/>
                        </a:rPr>
                        <m:t>Level</m:t>
                      </m:r>
                    </m:oMath>
                    <m:oMath>
                      <m:r>
                        <a:rPr lang="en-CA" b="0" i="0" smtClean="0">
                          <a:latin typeface="Cambria Math" panose="02040503050406030204" pitchFamily="18" charset="0"/>
                        </a:rPr>
                        <m:t>             −0.0376</m:t>
                      </m:r>
                      <m:r>
                        <m:rPr>
                          <m:sty m:val="p"/>
                        </m:rPr>
                        <a:rPr lang="en-CA" b="0" i="0" smtClean="0">
                          <a:latin typeface="Cambria Math" panose="02040503050406030204" pitchFamily="18" charset="0"/>
                        </a:rPr>
                        <m:t>AD</m:t>
                      </m:r>
                      <m:r>
                        <a:rPr lang="en-CA" b="0" i="0" smtClean="0">
                          <a:latin typeface="Cambria Math" panose="02040503050406030204" pitchFamily="18" charset="0"/>
                        </a:rPr>
                        <m:t>×</m:t>
                      </m:r>
                      <m:r>
                        <m:rPr>
                          <m:sty m:val="p"/>
                        </m:rPr>
                        <a:rPr lang="en-CA" b="0" i="0" smtClean="0">
                          <a:latin typeface="Cambria Math" panose="02040503050406030204" pitchFamily="18" charset="0"/>
                        </a:rPr>
                        <m:t>Level</m:t>
                      </m:r>
                      <m:r>
                        <a:rPr lang="en-CA" b="0" i="0" smtClean="0">
                          <a:latin typeface="Cambria Math" panose="02040503050406030204" pitchFamily="18" charset="0"/>
                        </a:rPr>
                        <m:t>−0.051</m:t>
                      </m:r>
                      <m:r>
                        <m:rPr>
                          <m:sty m:val="p"/>
                        </m:rPr>
                        <a:rPr lang="en-CA" b="0" i="0" smtClean="0">
                          <a:latin typeface="Cambria Math" panose="02040503050406030204" pitchFamily="18" charset="0"/>
                        </a:rPr>
                        <m:t>M</m:t>
                      </m:r>
                      <m:sSub>
                        <m:sSubPr>
                          <m:ctrlPr>
                            <a:rPr lang="en-CA" b="0" i="0" smtClean="0">
                              <a:latin typeface="Cambria Math" panose="02040503050406030204" pitchFamily="18" charset="0"/>
                            </a:rPr>
                          </m:ctrlPr>
                        </m:sSubPr>
                        <m:e>
                          <m:r>
                            <m:rPr>
                              <m:sty m:val="p"/>
                            </m:rPr>
                            <a:rPr lang="en-CA" b="0" i="0" smtClean="0">
                              <a:latin typeface="Cambria Math" panose="02040503050406030204" pitchFamily="18" charset="0"/>
                            </a:rPr>
                            <m:t>O</m:t>
                          </m:r>
                        </m:e>
                        <m:sub>
                          <m:r>
                            <a:rPr lang="en-CA" b="0" i="0" smtClean="0">
                              <a:latin typeface="Cambria Math" panose="02040503050406030204" pitchFamily="18" charset="0"/>
                            </a:rPr>
                            <m:t>45</m:t>
                          </m:r>
                        </m:sub>
                      </m:sSub>
                      <m:r>
                        <a:rPr lang="en-CA" b="0" i="0" smtClean="0">
                          <a:latin typeface="Cambria Math" panose="02040503050406030204" pitchFamily="18" charset="0"/>
                        </a:rPr>
                        <m:t>−0.0584</m:t>
                      </m:r>
                      <m:r>
                        <m:rPr>
                          <m:sty m:val="p"/>
                        </m:rPr>
                        <a:rPr lang="en-CA" b="0" i="0" smtClean="0">
                          <a:latin typeface="Cambria Math" panose="02040503050406030204" pitchFamily="18" charset="0"/>
                        </a:rPr>
                        <m:t>S</m:t>
                      </m:r>
                      <m:sSub>
                        <m:sSubPr>
                          <m:ctrlPr>
                            <a:rPr lang="en-CA" b="0" i="0" smtClean="0">
                              <a:latin typeface="Cambria Math" panose="02040503050406030204" pitchFamily="18" charset="0"/>
                            </a:rPr>
                          </m:ctrlPr>
                        </m:sSubPr>
                        <m:e>
                          <m:r>
                            <m:rPr>
                              <m:sty m:val="p"/>
                            </m:rPr>
                            <a:rPr lang="en-CA" b="0" i="0" smtClean="0">
                              <a:latin typeface="Cambria Math" panose="02040503050406030204" pitchFamily="18" charset="0"/>
                            </a:rPr>
                            <m:t>C</m:t>
                          </m:r>
                        </m:e>
                        <m:sub>
                          <m:r>
                            <a:rPr lang="en-CA" b="0" i="0" smtClean="0">
                              <a:latin typeface="Cambria Math" panose="02040503050406030204" pitchFamily="18" charset="0"/>
                            </a:rPr>
                            <m:t>44</m:t>
                          </m:r>
                        </m:sub>
                      </m:sSub>
                      <m:r>
                        <a:rPr lang="en-CA" b="0" i="0" smtClean="0">
                          <a:latin typeface="Cambria Math" panose="02040503050406030204" pitchFamily="18" charset="0"/>
                        </a:rPr>
                        <m:t>−0.1409</m:t>
                      </m:r>
                      <m:r>
                        <m:rPr>
                          <m:sty m:val="p"/>
                        </m:rPr>
                        <a:rPr lang="en-CA" b="0" i="0" smtClean="0">
                          <a:latin typeface="Cambria Math" panose="02040503050406030204" pitchFamily="18" charset="0"/>
                        </a:rPr>
                        <m:t>P</m:t>
                      </m:r>
                      <m:sSub>
                        <m:sSubPr>
                          <m:ctrlPr>
                            <a:rPr lang="en-CA" b="0" i="0" smtClean="0">
                              <a:latin typeface="Cambria Math" panose="02040503050406030204" pitchFamily="18" charset="0"/>
                            </a:rPr>
                          </m:ctrlPr>
                        </m:sSubPr>
                        <m:e>
                          <m:r>
                            <m:rPr>
                              <m:sty m:val="p"/>
                            </m:rPr>
                            <a:rPr lang="en-CA" b="0" i="0" smtClean="0">
                              <a:latin typeface="Cambria Math" panose="02040503050406030204" pitchFamily="18" charset="0"/>
                            </a:rPr>
                            <m:t>D</m:t>
                          </m:r>
                        </m:e>
                        <m:sub>
                          <m:r>
                            <a:rPr lang="en-CA" b="0" i="0" smtClean="0">
                              <a:latin typeface="Cambria Math" panose="02040503050406030204" pitchFamily="18" charset="0"/>
                            </a:rPr>
                            <m:t>45</m:t>
                          </m:r>
                        </m:sub>
                      </m:sSub>
                      <m:r>
                        <a:rPr lang="en-CA" b="0" i="0" smtClean="0">
                          <a:latin typeface="Cambria Math" panose="02040503050406030204" pitchFamily="18" charset="0"/>
                        </a:rPr>
                        <m:t>−0.1277</m:t>
                      </m:r>
                      <m:r>
                        <m:rPr>
                          <m:sty m:val="p"/>
                        </m:rPr>
                        <a:rPr lang="en-CA" b="0" i="0" smtClean="0">
                          <a:latin typeface="Cambria Math" panose="02040503050406030204" pitchFamily="18" charset="0"/>
                        </a:rPr>
                        <m:t>A</m:t>
                      </m:r>
                      <m:sSub>
                        <m:sSubPr>
                          <m:ctrlPr>
                            <a:rPr lang="en-CA" b="0" i="0" smtClean="0">
                              <a:latin typeface="Cambria Math" panose="02040503050406030204" pitchFamily="18" charset="0"/>
                            </a:rPr>
                          </m:ctrlPr>
                        </m:sSubPr>
                        <m:e>
                          <m:r>
                            <m:rPr>
                              <m:sty m:val="p"/>
                            </m:rPr>
                            <a:rPr lang="en-CA" b="0" i="0" smtClean="0">
                              <a:latin typeface="Cambria Math" panose="02040503050406030204" pitchFamily="18" charset="0"/>
                            </a:rPr>
                            <m:t>D</m:t>
                          </m:r>
                        </m:e>
                        <m:sub>
                          <m:r>
                            <a:rPr lang="en-CA" b="0" i="0" smtClean="0">
                              <a:latin typeface="Cambria Math" panose="02040503050406030204" pitchFamily="18" charset="0"/>
                            </a:rPr>
                            <m:t>45</m:t>
                          </m:r>
                        </m:sub>
                      </m:sSub>
                      <m:r>
                        <a:rPr lang="en-CA" b="0" i="0" smtClean="0">
                          <a:latin typeface="Cambria Math" panose="02040503050406030204" pitchFamily="18" charset="0"/>
                        </a:rPr>
                        <m:t>+0.0085</m:t>
                      </m:r>
                      <m:r>
                        <m:rPr>
                          <m:sty m:val="p"/>
                        </m:rPr>
                        <a:rPr lang="en-CA" b="0" i="0" smtClean="0">
                          <a:latin typeface="Cambria Math" panose="02040503050406030204" pitchFamily="18" charset="0"/>
                        </a:rPr>
                        <m:t>Num</m:t>
                      </m:r>
                      <m:r>
                        <a:rPr lang="en-CA" b="0" i="0" smtClean="0">
                          <a:latin typeface="Cambria Math" panose="02040503050406030204" pitchFamily="18" charset="0"/>
                        </a:rPr>
                        <m:t>45</m:t>
                      </m:r>
                      <m:r>
                        <m:rPr>
                          <m:sty m:val="p"/>
                        </m:rPr>
                        <a:rPr lang="en-CA" b="0" i="0" smtClean="0">
                          <a:latin typeface="Cambria Math" panose="02040503050406030204" pitchFamily="18" charset="0"/>
                        </a:rPr>
                        <m:t>sq</m:t>
                      </m:r>
                    </m:oMath>
                  </m:oMathPara>
                </a14:m>
                <a:endParaRPr lang="en-CA" dirty="0"/>
              </a:p>
              <a:p>
                <a:pPr marL="0" indent="0">
                  <a:buNone/>
                </a:pPr>
                <a:r>
                  <a:rPr lang="en-CA" dirty="0"/>
                  <a:t>Where:</a:t>
                </a:r>
                <a:br>
                  <a:rPr lang="en-CA" dirty="0"/>
                </a:br>
                <a:br>
                  <a:rPr lang="en-CA" dirty="0"/>
                </a:br>
                <a14:m>
                  <m:oMath xmlns:m="http://schemas.openxmlformats.org/officeDocument/2006/math">
                    <m:r>
                      <a:rPr lang="en-CA" b="0" i="1" smtClean="0">
                        <a:latin typeface="Cambria Math" panose="02040503050406030204" pitchFamily="18" charset="0"/>
                      </a:rPr>
                      <m:t>𝑉</m:t>
                    </m:r>
                    <m:r>
                      <a:rPr lang="en-CA" b="0" i="1" smtClean="0">
                        <a:latin typeface="Cambria Math" panose="02040503050406030204" pitchFamily="18" charset="0"/>
                      </a:rPr>
                      <m:t>(</m:t>
                    </m:r>
                    <m:r>
                      <a:rPr lang="en-CA" b="0" i="1" smtClean="0">
                        <a:latin typeface="Cambria Math" panose="02040503050406030204" pitchFamily="18" charset="0"/>
                      </a:rPr>
                      <m:t>𝑥</m:t>
                    </m:r>
                    <m:r>
                      <a:rPr lang="en-CA" b="0" i="1" smtClean="0">
                        <a:latin typeface="Cambria Math" panose="02040503050406030204" pitchFamily="18" charset="0"/>
                      </a:rPr>
                      <m:t>)</m:t>
                    </m:r>
                  </m:oMath>
                </a14:m>
                <a:r>
                  <a:rPr lang="en-CA" dirty="0"/>
                  <a:t>: is the utility in state </a:t>
                </a:r>
                <a14:m>
                  <m:oMath xmlns:m="http://schemas.openxmlformats.org/officeDocument/2006/math">
                    <m:r>
                      <a:rPr lang="en-CA" b="0" i="1" smtClean="0">
                        <a:latin typeface="Cambria Math" panose="02040503050406030204" pitchFamily="18" charset="0"/>
                      </a:rPr>
                      <m:t>𝑥</m:t>
                    </m:r>
                  </m:oMath>
                </a14:m>
                <a:br>
                  <a:rPr lang="en-CA" dirty="0"/>
                </a:br>
                <a14:m>
                  <m:oMath xmlns:m="http://schemas.openxmlformats.org/officeDocument/2006/math">
                    <m:r>
                      <a:rPr lang="en-CA" b="0" i="1" smtClean="0">
                        <a:latin typeface="Cambria Math" panose="02040503050406030204" pitchFamily="18" charset="0"/>
                      </a:rPr>
                      <m:t>𝐿𝑒𝑣𝑒𝑙</m:t>
                    </m:r>
                  </m:oMath>
                </a14:m>
                <a:r>
                  <a:rPr lang="en-CA" dirty="0"/>
                  <a:t>: is the sum of reported EQ-5D-Levels Reported (i.e. the health state 21232 has a level of 2+1+2+3+2=10).</a:t>
                </a:r>
                <a:br>
                  <a:rPr lang="en-CA" dirty="0"/>
                </a:br>
                <a14:m>
                  <m:oMath xmlns:m="http://schemas.openxmlformats.org/officeDocument/2006/math">
                    <m:r>
                      <a:rPr lang="en-CA" b="0" i="1" smtClean="0">
                        <a:latin typeface="Cambria Math" panose="02040503050406030204" pitchFamily="18" charset="0"/>
                      </a:rPr>
                      <m:t>𝑀𝑂</m:t>
                    </m:r>
                    <m:r>
                      <a:rPr lang="en-CA" b="0" i="1" smtClean="0">
                        <a:latin typeface="Cambria Math" panose="02040503050406030204" pitchFamily="18" charset="0"/>
                      </a:rPr>
                      <m:t>:</m:t>
                    </m:r>
                  </m:oMath>
                </a14:m>
                <a:r>
                  <a:rPr lang="en-CA" dirty="0"/>
                  <a:t> Mobility Score.</a:t>
                </a:r>
                <a:br>
                  <a:rPr lang="en-CA" dirty="0"/>
                </a:br>
                <a14:m>
                  <m:oMath xmlns:m="http://schemas.openxmlformats.org/officeDocument/2006/math">
                    <m:r>
                      <a:rPr lang="en-CA" b="0" i="1" smtClean="0">
                        <a:latin typeface="Cambria Math" panose="02040503050406030204" pitchFamily="18" charset="0"/>
                      </a:rPr>
                      <m:t>𝑆𝐶</m:t>
                    </m:r>
                    <m:r>
                      <a:rPr lang="en-CA" b="0" i="1" smtClean="0">
                        <a:latin typeface="Cambria Math" panose="02040503050406030204" pitchFamily="18" charset="0"/>
                      </a:rPr>
                      <m:t>:</m:t>
                    </m:r>
                  </m:oMath>
                </a14:m>
                <a:r>
                  <a:rPr lang="en-CA" dirty="0"/>
                  <a:t>Self Care.</a:t>
                </a:r>
                <a:br>
                  <a:rPr lang="en-CA" dirty="0"/>
                </a:br>
                <a14:m>
                  <m:oMath xmlns:m="http://schemas.openxmlformats.org/officeDocument/2006/math">
                    <m:r>
                      <a:rPr lang="en-CA" b="0" i="1" smtClean="0">
                        <a:latin typeface="Cambria Math" panose="02040503050406030204" pitchFamily="18" charset="0"/>
                      </a:rPr>
                      <m:t>𝑈𝐴</m:t>
                    </m:r>
                  </m:oMath>
                </a14:m>
                <a:r>
                  <a:rPr lang="en-CA" dirty="0"/>
                  <a:t>: Usual Activities Score.</a:t>
                </a:r>
                <a:br>
                  <a:rPr lang="en-CA" dirty="0"/>
                </a:br>
                <a14:m>
                  <m:oMath xmlns:m="http://schemas.openxmlformats.org/officeDocument/2006/math">
                    <m:r>
                      <a:rPr lang="en-CA" b="0" i="1" smtClean="0">
                        <a:latin typeface="Cambria Math" panose="02040503050406030204" pitchFamily="18" charset="0"/>
                      </a:rPr>
                      <m:t>𝑃𝐷</m:t>
                    </m:r>
                    <m:r>
                      <a:rPr lang="en-CA" b="0" i="1" smtClean="0">
                        <a:latin typeface="Cambria Math" panose="02040503050406030204" pitchFamily="18" charset="0"/>
                      </a:rPr>
                      <m:t>:</m:t>
                    </m:r>
                  </m:oMath>
                </a14:m>
                <a:r>
                  <a:rPr lang="en-CA" dirty="0"/>
                  <a:t> Pain and Discomfort Score.</a:t>
                </a:r>
                <a:br>
                  <a:rPr lang="en-CA" dirty="0"/>
                </a:br>
                <a14:m>
                  <m:oMath xmlns:m="http://schemas.openxmlformats.org/officeDocument/2006/math">
                    <m:r>
                      <a:rPr lang="en-CA" b="0" i="1" smtClean="0">
                        <a:latin typeface="Cambria Math" panose="02040503050406030204" pitchFamily="18" charset="0"/>
                      </a:rPr>
                      <m:t>𝐴𝐷</m:t>
                    </m:r>
                    <m:r>
                      <a:rPr lang="en-CA" b="0" i="1" smtClean="0">
                        <a:latin typeface="Cambria Math" panose="02040503050406030204" pitchFamily="18" charset="0"/>
                      </a:rPr>
                      <m:t>:</m:t>
                    </m:r>
                  </m:oMath>
                </a14:m>
                <a:r>
                  <a:rPr lang="en-CA" dirty="0"/>
                  <a:t> Anxiety and Depression Score.</a:t>
                </a:r>
              </a:p>
            </p:txBody>
          </p:sp>
        </mc:Choice>
        <mc:Fallback xmlns="">
          <p:sp>
            <p:nvSpPr>
              <p:cNvPr id="3" name="Content Placeholder 2">
                <a:extLst>
                  <a:ext uri="{FF2B5EF4-FFF2-40B4-BE49-F238E27FC236}">
                    <a16:creationId xmlns:a16="http://schemas.microsoft.com/office/drawing/2014/main" id="{1CF3C616-842A-8B26-256F-20FBEEC6D938}"/>
                  </a:ext>
                </a:extLst>
              </p:cNvPr>
              <p:cNvSpPr>
                <a:spLocks noGrp="1" noRot="1" noChangeAspect="1" noMove="1" noResize="1" noEditPoints="1" noAdjustHandles="1" noChangeArrowheads="1" noChangeShapeType="1" noTextEdit="1"/>
              </p:cNvSpPr>
              <p:nvPr>
                <p:ph idx="1"/>
              </p:nvPr>
            </p:nvSpPr>
            <p:spPr>
              <a:xfrm>
                <a:off x="515112" y="2112264"/>
                <a:ext cx="11155680" cy="3767328"/>
              </a:xfrm>
              <a:blipFill>
                <a:blip r:embed="rId2"/>
                <a:stretch>
                  <a:fillRect l="-492"/>
                </a:stretch>
              </a:blipFill>
            </p:spPr>
            <p:txBody>
              <a:bodyPr/>
              <a:lstStyle/>
              <a:p>
                <a:r>
                  <a:rPr lang="en-CA">
                    <a:noFill/>
                  </a:rPr>
                  <a:t> </a:t>
                </a:r>
              </a:p>
            </p:txBody>
          </p:sp>
        </mc:Fallback>
      </mc:AlternateContent>
    </p:spTree>
    <p:extLst>
      <p:ext uri="{BB962C8B-B14F-4D97-AF65-F5344CB8AC3E}">
        <p14:creationId xmlns:p14="http://schemas.microsoft.com/office/powerpoint/2010/main" val="24062801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3DD05-7CC8-5911-A742-8ED1A693B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1F64E0-5C9D-3078-3893-FC10E8432E8F}"/>
              </a:ext>
            </a:extLst>
          </p:cNvPr>
          <p:cNvSpPr>
            <a:spLocks noGrp="1"/>
          </p:cNvSpPr>
          <p:nvPr>
            <p:ph type="title"/>
          </p:nvPr>
        </p:nvSpPr>
        <p:spPr>
          <a:xfrm>
            <a:off x="482600" y="597408"/>
            <a:ext cx="10634472" cy="1117092"/>
          </a:xfrm>
        </p:spPr>
        <p:txBody>
          <a:bodyPr/>
          <a:lstStyle/>
          <a:p>
            <a:r>
              <a:rPr lang="en-CA" sz="4800" dirty="0"/>
              <a:t>Standard Gamble</a:t>
            </a:r>
          </a:p>
        </p:txBody>
      </p:sp>
      <p:sp>
        <p:nvSpPr>
          <p:cNvPr id="17" name="Rectangle 16">
            <a:extLst>
              <a:ext uri="{FF2B5EF4-FFF2-40B4-BE49-F238E27FC236}">
                <a16:creationId xmlns:a16="http://schemas.microsoft.com/office/drawing/2014/main" id="{BBBB6C0B-D85B-2323-6F3E-1A4D515473F6}"/>
              </a:ext>
            </a:extLst>
          </p:cNvPr>
          <p:cNvSpPr/>
          <p:nvPr/>
        </p:nvSpPr>
        <p:spPr>
          <a:xfrm>
            <a:off x="1476756" y="4238245"/>
            <a:ext cx="448056" cy="466344"/>
          </a:xfrm>
          <a:prstGeom prst="rect">
            <a:avLst/>
          </a:prstGeom>
          <a:solidFill>
            <a:schemeClr val="accent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8" name="Straight Connector 17">
            <a:extLst>
              <a:ext uri="{FF2B5EF4-FFF2-40B4-BE49-F238E27FC236}">
                <a16:creationId xmlns:a16="http://schemas.microsoft.com/office/drawing/2014/main" id="{3DF2F8F4-6B35-0D69-D53E-73AB2CA19335}"/>
              </a:ext>
            </a:extLst>
          </p:cNvPr>
          <p:cNvCxnSpPr>
            <a:cxnSpLocks/>
            <a:stCxn id="17" idx="3"/>
            <a:endCxn id="21" idx="2"/>
          </p:cNvCxnSpPr>
          <p:nvPr/>
        </p:nvCxnSpPr>
        <p:spPr>
          <a:xfrm flipV="1">
            <a:off x="1924812" y="3319273"/>
            <a:ext cx="1723644" cy="115214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EE9D941-4DB7-ED5E-713C-6A6432F780DF}"/>
              </a:ext>
            </a:extLst>
          </p:cNvPr>
          <p:cNvCxnSpPr>
            <a:cxnSpLocks/>
            <a:stCxn id="17" idx="3"/>
          </p:cNvCxnSpPr>
          <p:nvPr/>
        </p:nvCxnSpPr>
        <p:spPr>
          <a:xfrm>
            <a:off x="1924812" y="4471417"/>
            <a:ext cx="1019556" cy="135331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0ADB380-C4B9-C1AB-8532-EE843DFD16DE}"/>
              </a:ext>
            </a:extLst>
          </p:cNvPr>
          <p:cNvCxnSpPr>
            <a:cxnSpLocks/>
          </p:cNvCxnSpPr>
          <p:nvPr/>
        </p:nvCxnSpPr>
        <p:spPr>
          <a:xfrm>
            <a:off x="2944368" y="5824729"/>
            <a:ext cx="4700016" cy="0"/>
          </a:xfrm>
          <a:prstGeom prst="line">
            <a:avLst/>
          </a:prstGeom>
          <a:ln w="57150"/>
        </p:spPr>
        <p:style>
          <a:lnRef idx="1">
            <a:schemeClr val="dk1"/>
          </a:lnRef>
          <a:fillRef idx="0">
            <a:schemeClr val="dk1"/>
          </a:fillRef>
          <a:effectRef idx="0">
            <a:schemeClr val="dk1"/>
          </a:effectRef>
          <a:fontRef idx="minor">
            <a:schemeClr val="tx1"/>
          </a:fontRef>
        </p:style>
      </p:cxnSp>
      <p:sp>
        <p:nvSpPr>
          <p:cNvPr id="21" name="Oval 20">
            <a:extLst>
              <a:ext uri="{FF2B5EF4-FFF2-40B4-BE49-F238E27FC236}">
                <a16:creationId xmlns:a16="http://schemas.microsoft.com/office/drawing/2014/main" id="{24028598-F5C4-DC3E-1E43-1CBECD0D8B90}"/>
              </a:ext>
            </a:extLst>
          </p:cNvPr>
          <p:cNvSpPr/>
          <p:nvPr/>
        </p:nvSpPr>
        <p:spPr>
          <a:xfrm>
            <a:off x="3648456" y="3032380"/>
            <a:ext cx="557784" cy="573786"/>
          </a:xfrm>
          <a:prstGeom prst="ellipse">
            <a:avLst/>
          </a:prstGeom>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Freeform: Shape 21">
            <a:extLst>
              <a:ext uri="{FF2B5EF4-FFF2-40B4-BE49-F238E27FC236}">
                <a16:creationId xmlns:a16="http://schemas.microsoft.com/office/drawing/2014/main" id="{F8557679-A846-47A2-48CB-EA391BD63D3C}"/>
              </a:ext>
            </a:extLst>
          </p:cNvPr>
          <p:cNvSpPr/>
          <p:nvPr/>
        </p:nvSpPr>
        <p:spPr>
          <a:xfrm>
            <a:off x="4206240" y="2596894"/>
            <a:ext cx="3099816" cy="713234"/>
          </a:xfrm>
          <a:custGeom>
            <a:avLst/>
            <a:gdLst>
              <a:gd name="connsiteX0" fmla="*/ 0 w 2651760"/>
              <a:gd name="connsiteY0" fmla="*/ 941832 h 941832"/>
              <a:gd name="connsiteX1" fmla="*/ 713232 w 2651760"/>
              <a:gd name="connsiteY1" fmla="*/ 27432 h 941832"/>
              <a:gd name="connsiteX2" fmla="*/ 2651760 w 2651760"/>
              <a:gd name="connsiteY2" fmla="*/ 0 h 941832"/>
            </a:gdLst>
            <a:ahLst/>
            <a:cxnLst>
              <a:cxn ang="0">
                <a:pos x="connsiteX0" y="connsiteY0"/>
              </a:cxn>
              <a:cxn ang="0">
                <a:pos x="connsiteX1" y="connsiteY1"/>
              </a:cxn>
              <a:cxn ang="0">
                <a:pos x="connsiteX2" y="connsiteY2"/>
              </a:cxn>
            </a:cxnLst>
            <a:rect l="l" t="t" r="r" b="b"/>
            <a:pathLst>
              <a:path w="2651760" h="941832">
                <a:moveTo>
                  <a:pt x="0" y="941832"/>
                </a:moveTo>
                <a:lnTo>
                  <a:pt x="713232" y="27432"/>
                </a:lnTo>
                <a:lnTo>
                  <a:pt x="2651760" y="0"/>
                </a:lnTo>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Freeform: Shape 22">
            <a:extLst>
              <a:ext uri="{FF2B5EF4-FFF2-40B4-BE49-F238E27FC236}">
                <a16:creationId xmlns:a16="http://schemas.microsoft.com/office/drawing/2014/main" id="{DD1C9A43-DA5F-6DFB-6AE3-5F8932D45344}"/>
              </a:ext>
            </a:extLst>
          </p:cNvPr>
          <p:cNvSpPr/>
          <p:nvPr/>
        </p:nvSpPr>
        <p:spPr>
          <a:xfrm flipV="1">
            <a:off x="4184904" y="3310128"/>
            <a:ext cx="3121152" cy="713234"/>
          </a:xfrm>
          <a:custGeom>
            <a:avLst/>
            <a:gdLst>
              <a:gd name="connsiteX0" fmla="*/ 0 w 2651760"/>
              <a:gd name="connsiteY0" fmla="*/ 941832 h 941832"/>
              <a:gd name="connsiteX1" fmla="*/ 713232 w 2651760"/>
              <a:gd name="connsiteY1" fmla="*/ 27432 h 941832"/>
              <a:gd name="connsiteX2" fmla="*/ 2651760 w 2651760"/>
              <a:gd name="connsiteY2" fmla="*/ 0 h 941832"/>
            </a:gdLst>
            <a:ahLst/>
            <a:cxnLst>
              <a:cxn ang="0">
                <a:pos x="connsiteX0" y="connsiteY0"/>
              </a:cxn>
              <a:cxn ang="0">
                <a:pos x="connsiteX1" y="connsiteY1"/>
              </a:cxn>
              <a:cxn ang="0">
                <a:pos x="connsiteX2" y="connsiteY2"/>
              </a:cxn>
            </a:cxnLst>
            <a:rect l="l" t="t" r="r" b="b"/>
            <a:pathLst>
              <a:path w="2651760" h="941832">
                <a:moveTo>
                  <a:pt x="0" y="941832"/>
                </a:moveTo>
                <a:lnTo>
                  <a:pt x="713232" y="27432"/>
                </a:lnTo>
                <a:lnTo>
                  <a:pt x="2651760" y="0"/>
                </a:lnTo>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TextBox 23">
            <a:extLst>
              <a:ext uri="{FF2B5EF4-FFF2-40B4-BE49-F238E27FC236}">
                <a16:creationId xmlns:a16="http://schemas.microsoft.com/office/drawing/2014/main" id="{00BDC8B5-8349-E734-189F-6D67CC218903}"/>
              </a:ext>
            </a:extLst>
          </p:cNvPr>
          <p:cNvSpPr txBox="1"/>
          <p:nvPr/>
        </p:nvSpPr>
        <p:spPr>
          <a:xfrm>
            <a:off x="5564124" y="2264140"/>
            <a:ext cx="1526380" cy="369332"/>
          </a:xfrm>
          <a:prstGeom prst="rect">
            <a:avLst/>
          </a:prstGeom>
          <a:noFill/>
        </p:spPr>
        <p:txBody>
          <a:bodyPr wrap="none" rtlCol="0">
            <a:spAutoFit/>
          </a:bodyPr>
          <a:lstStyle/>
          <a:p>
            <a:r>
              <a:rPr lang="en-CA" dirty="0"/>
              <a:t>Perfect Health</a:t>
            </a:r>
          </a:p>
        </p:txBody>
      </p:sp>
      <p:sp>
        <p:nvSpPr>
          <p:cNvPr id="25" name="TextBox 24">
            <a:extLst>
              <a:ext uri="{FF2B5EF4-FFF2-40B4-BE49-F238E27FC236}">
                <a16:creationId xmlns:a16="http://schemas.microsoft.com/office/drawing/2014/main" id="{2281516D-ED3D-0F58-65B3-3396F268EB51}"/>
              </a:ext>
            </a:extLst>
          </p:cNvPr>
          <p:cNvSpPr txBox="1"/>
          <p:nvPr/>
        </p:nvSpPr>
        <p:spPr>
          <a:xfrm>
            <a:off x="5948043" y="3654030"/>
            <a:ext cx="758541" cy="369332"/>
          </a:xfrm>
          <a:prstGeom prst="rect">
            <a:avLst/>
          </a:prstGeom>
          <a:noFill/>
        </p:spPr>
        <p:txBody>
          <a:bodyPr wrap="none" rtlCol="0">
            <a:spAutoFit/>
          </a:bodyPr>
          <a:lstStyle/>
          <a:p>
            <a:r>
              <a:rPr lang="en-CA" dirty="0"/>
              <a:t>Death</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B978437-667D-9548-AAF1-30ED91B2D290}"/>
                  </a:ext>
                </a:extLst>
              </p:cNvPr>
              <p:cNvSpPr txBox="1"/>
              <p:nvPr/>
            </p:nvSpPr>
            <p:spPr>
              <a:xfrm>
                <a:off x="7327392" y="2448806"/>
                <a:ext cx="1208216"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𝑈</m:t>
                      </m:r>
                      <m:d>
                        <m:dPr>
                          <m:ctrlPr>
                            <a:rPr lang="en-CA" b="0" i="1" smtClean="0">
                              <a:latin typeface="Cambria Math" panose="02040503050406030204" pitchFamily="18" charset="0"/>
                            </a:rPr>
                          </m:ctrlPr>
                        </m:dPr>
                        <m:e>
                          <m:acc>
                            <m:accPr>
                              <m:chr m:val="̅"/>
                              <m:ctrlPr>
                                <a:rPr lang="en-CA" b="0" i="1" smtClean="0">
                                  <a:latin typeface="Cambria Math" panose="02040503050406030204" pitchFamily="18" charset="0"/>
                                </a:rPr>
                              </m:ctrlPr>
                            </m:accPr>
                            <m:e>
                              <m:r>
                                <a:rPr lang="en-CA" b="0" i="1" smtClean="0">
                                  <a:latin typeface="Cambria Math" panose="02040503050406030204" pitchFamily="18" charset="0"/>
                                </a:rPr>
                                <m:t>𝐻</m:t>
                              </m:r>
                            </m:e>
                          </m:acc>
                        </m:e>
                      </m:d>
                      <m:r>
                        <a:rPr lang="en-CA" b="0" i="1" smtClean="0">
                          <a:latin typeface="Cambria Math" panose="02040503050406030204" pitchFamily="18" charset="0"/>
                        </a:rPr>
                        <m:t>=1</m:t>
                      </m:r>
                    </m:oMath>
                  </m:oMathPara>
                </a14:m>
                <a:endParaRPr lang="en-CA" dirty="0"/>
              </a:p>
            </p:txBody>
          </p:sp>
        </mc:Choice>
        <mc:Fallback xmlns="">
          <p:sp>
            <p:nvSpPr>
              <p:cNvPr id="26" name="TextBox 25">
                <a:extLst>
                  <a:ext uri="{FF2B5EF4-FFF2-40B4-BE49-F238E27FC236}">
                    <a16:creationId xmlns:a16="http://schemas.microsoft.com/office/drawing/2014/main" id="{EB978437-667D-9548-AAF1-30ED91B2D290}"/>
                  </a:ext>
                </a:extLst>
              </p:cNvPr>
              <p:cNvSpPr txBox="1">
                <a:spLocks noRot="1" noChangeAspect="1" noMove="1" noResize="1" noEditPoints="1" noAdjustHandles="1" noChangeArrowheads="1" noChangeShapeType="1" noTextEdit="1"/>
              </p:cNvSpPr>
              <p:nvPr/>
            </p:nvSpPr>
            <p:spPr>
              <a:xfrm>
                <a:off x="7327392" y="2448806"/>
                <a:ext cx="1208216" cy="369332"/>
              </a:xfrm>
              <a:prstGeom prst="rect">
                <a:avLst/>
              </a:prstGeom>
              <a:blipFill>
                <a:blip r:embed="rId2"/>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7B98C11-F971-5D21-CEFA-511806BD4129}"/>
                  </a:ext>
                </a:extLst>
              </p:cNvPr>
              <p:cNvSpPr txBox="1"/>
              <p:nvPr/>
            </p:nvSpPr>
            <p:spPr>
              <a:xfrm>
                <a:off x="7261507" y="3799334"/>
                <a:ext cx="1223989" cy="404983"/>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𝑈</m:t>
                      </m:r>
                      <m:d>
                        <m:dPr>
                          <m:ctrlPr>
                            <a:rPr lang="en-CA" b="0" i="1" smtClean="0">
                              <a:latin typeface="Cambria Math" panose="02040503050406030204" pitchFamily="18" charset="0"/>
                            </a:rPr>
                          </m:ctrlPr>
                        </m:dPr>
                        <m:e>
                          <m:bar>
                            <m:barPr>
                              <m:pos m:val="bot"/>
                              <m:ctrlPr>
                                <a:rPr lang="en-CA" b="0" i="1" smtClean="0">
                                  <a:latin typeface="Cambria Math" panose="02040503050406030204" pitchFamily="18" charset="0"/>
                                </a:rPr>
                              </m:ctrlPr>
                            </m:barPr>
                            <m:e>
                              <m:r>
                                <a:rPr lang="en-CA" b="0" i="1" smtClean="0">
                                  <a:latin typeface="Cambria Math" panose="02040503050406030204" pitchFamily="18" charset="0"/>
                                </a:rPr>
                                <m:t>𝐻</m:t>
                              </m:r>
                            </m:e>
                          </m:bar>
                        </m:e>
                      </m:d>
                      <m:r>
                        <a:rPr lang="en-CA" b="0" i="1" smtClean="0">
                          <a:latin typeface="Cambria Math" panose="02040503050406030204" pitchFamily="18" charset="0"/>
                        </a:rPr>
                        <m:t>=0</m:t>
                      </m:r>
                    </m:oMath>
                  </m:oMathPara>
                </a14:m>
                <a:endParaRPr lang="en-CA" dirty="0"/>
              </a:p>
            </p:txBody>
          </p:sp>
        </mc:Choice>
        <mc:Fallback xmlns="">
          <p:sp>
            <p:nvSpPr>
              <p:cNvPr id="27" name="TextBox 26">
                <a:extLst>
                  <a:ext uri="{FF2B5EF4-FFF2-40B4-BE49-F238E27FC236}">
                    <a16:creationId xmlns:a16="http://schemas.microsoft.com/office/drawing/2014/main" id="{C7B98C11-F971-5D21-CEFA-511806BD4129}"/>
                  </a:ext>
                </a:extLst>
              </p:cNvPr>
              <p:cNvSpPr txBox="1">
                <a:spLocks noRot="1" noChangeAspect="1" noMove="1" noResize="1" noEditPoints="1" noAdjustHandles="1" noChangeArrowheads="1" noChangeShapeType="1" noTextEdit="1"/>
              </p:cNvSpPr>
              <p:nvPr/>
            </p:nvSpPr>
            <p:spPr>
              <a:xfrm>
                <a:off x="7261507" y="3799334"/>
                <a:ext cx="1223989" cy="404983"/>
              </a:xfrm>
              <a:prstGeom prst="rect">
                <a:avLst/>
              </a:prstGeom>
              <a:blipFill>
                <a:blip r:embed="rId3"/>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88D15F9-F769-7A3F-8390-AF0395B9266B}"/>
                  </a:ext>
                </a:extLst>
              </p:cNvPr>
              <p:cNvSpPr txBox="1"/>
              <p:nvPr/>
            </p:nvSpPr>
            <p:spPr>
              <a:xfrm>
                <a:off x="4379976" y="2514315"/>
                <a:ext cx="379848"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𝑝</m:t>
                      </m:r>
                    </m:oMath>
                  </m:oMathPara>
                </a14:m>
                <a:endParaRPr lang="en-CA" dirty="0"/>
              </a:p>
            </p:txBody>
          </p:sp>
        </mc:Choice>
        <mc:Fallback xmlns="">
          <p:sp>
            <p:nvSpPr>
              <p:cNvPr id="28" name="TextBox 27">
                <a:extLst>
                  <a:ext uri="{FF2B5EF4-FFF2-40B4-BE49-F238E27FC236}">
                    <a16:creationId xmlns:a16="http://schemas.microsoft.com/office/drawing/2014/main" id="{988D15F9-F769-7A3F-8390-AF0395B9266B}"/>
                  </a:ext>
                </a:extLst>
              </p:cNvPr>
              <p:cNvSpPr txBox="1">
                <a:spLocks noRot="1" noChangeAspect="1" noMove="1" noResize="1" noEditPoints="1" noAdjustHandles="1" noChangeArrowheads="1" noChangeShapeType="1" noTextEdit="1"/>
              </p:cNvSpPr>
              <p:nvPr/>
            </p:nvSpPr>
            <p:spPr>
              <a:xfrm>
                <a:off x="4379976" y="2514315"/>
                <a:ext cx="379848" cy="369332"/>
              </a:xfrm>
              <a:prstGeom prst="rect">
                <a:avLst/>
              </a:prstGeom>
              <a:blipFill>
                <a:blip r:embed="rId4"/>
                <a:stretch>
                  <a:fillRect b="-983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D81D8BF-B997-E82E-4FD6-948823DFA1C4}"/>
                  </a:ext>
                </a:extLst>
              </p:cNvPr>
              <p:cNvSpPr txBox="1"/>
              <p:nvPr/>
            </p:nvSpPr>
            <p:spPr>
              <a:xfrm>
                <a:off x="4079252" y="3682249"/>
                <a:ext cx="783804"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1−</m:t>
                      </m:r>
                      <m:r>
                        <a:rPr lang="en-CA" b="0" i="1" smtClean="0">
                          <a:latin typeface="Cambria Math" panose="02040503050406030204" pitchFamily="18" charset="0"/>
                        </a:rPr>
                        <m:t>𝑝</m:t>
                      </m:r>
                    </m:oMath>
                  </m:oMathPara>
                </a14:m>
                <a:endParaRPr lang="en-CA" dirty="0"/>
              </a:p>
            </p:txBody>
          </p:sp>
        </mc:Choice>
        <mc:Fallback xmlns="">
          <p:sp>
            <p:nvSpPr>
              <p:cNvPr id="29" name="TextBox 28">
                <a:extLst>
                  <a:ext uri="{FF2B5EF4-FFF2-40B4-BE49-F238E27FC236}">
                    <a16:creationId xmlns:a16="http://schemas.microsoft.com/office/drawing/2014/main" id="{0D81D8BF-B997-E82E-4FD6-948823DFA1C4}"/>
                  </a:ext>
                </a:extLst>
              </p:cNvPr>
              <p:cNvSpPr txBox="1">
                <a:spLocks noRot="1" noChangeAspect="1" noMove="1" noResize="1" noEditPoints="1" noAdjustHandles="1" noChangeArrowheads="1" noChangeShapeType="1" noTextEdit="1"/>
              </p:cNvSpPr>
              <p:nvPr/>
            </p:nvSpPr>
            <p:spPr>
              <a:xfrm>
                <a:off x="4079252" y="3682249"/>
                <a:ext cx="783804" cy="369332"/>
              </a:xfrm>
              <a:prstGeom prst="rect">
                <a:avLst/>
              </a:prstGeom>
              <a:blipFill>
                <a:blip r:embed="rId5"/>
                <a:stretch>
                  <a:fillRect b="-983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0DEA73E-4ED7-D8C4-4065-0C7810F506B1}"/>
                  </a:ext>
                </a:extLst>
              </p:cNvPr>
              <p:cNvSpPr txBox="1"/>
              <p:nvPr/>
            </p:nvSpPr>
            <p:spPr>
              <a:xfrm>
                <a:off x="7514623" y="5665573"/>
                <a:ext cx="833754"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𝑈</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r>
                        <a:rPr lang="en-CA" b="0" i="1" smtClean="0">
                          <a:latin typeface="Cambria Math" panose="02040503050406030204" pitchFamily="18" charset="0"/>
                        </a:rPr>
                        <m:t>)</m:t>
                      </m:r>
                    </m:oMath>
                  </m:oMathPara>
                </a14:m>
                <a:endParaRPr lang="en-CA" dirty="0"/>
              </a:p>
            </p:txBody>
          </p:sp>
        </mc:Choice>
        <mc:Fallback xmlns="">
          <p:sp>
            <p:nvSpPr>
              <p:cNvPr id="30" name="TextBox 29">
                <a:extLst>
                  <a:ext uri="{FF2B5EF4-FFF2-40B4-BE49-F238E27FC236}">
                    <a16:creationId xmlns:a16="http://schemas.microsoft.com/office/drawing/2014/main" id="{D0DEA73E-4ED7-D8C4-4065-0C7810F506B1}"/>
                  </a:ext>
                </a:extLst>
              </p:cNvPr>
              <p:cNvSpPr txBox="1">
                <a:spLocks noRot="1" noChangeAspect="1" noMove="1" noResize="1" noEditPoints="1" noAdjustHandles="1" noChangeArrowheads="1" noChangeShapeType="1" noTextEdit="1"/>
              </p:cNvSpPr>
              <p:nvPr/>
            </p:nvSpPr>
            <p:spPr>
              <a:xfrm>
                <a:off x="7514623" y="5665573"/>
                <a:ext cx="833754" cy="369332"/>
              </a:xfrm>
              <a:prstGeom prst="rect">
                <a:avLst/>
              </a:prstGeom>
              <a:blipFill>
                <a:blip r:embed="rId6"/>
                <a:stretch>
                  <a:fillRect b="-1639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272F02E-357A-B48E-AF65-4EE8F7F2814B}"/>
                  </a:ext>
                </a:extLst>
              </p:cNvPr>
              <p:cNvSpPr txBox="1"/>
              <p:nvPr/>
            </p:nvSpPr>
            <p:spPr>
              <a:xfrm>
                <a:off x="4633813" y="5362315"/>
                <a:ext cx="1482393" cy="369332"/>
              </a:xfrm>
              <a:prstGeom prst="rect">
                <a:avLst/>
              </a:prstGeom>
              <a:noFill/>
            </p:spPr>
            <p:txBody>
              <a:bodyPr wrap="none" rtlCol="0">
                <a:spAutoFit/>
              </a:bodyPr>
              <a:lstStyle/>
              <a:p>
                <a:r>
                  <a:rPr lang="en-CA" dirty="0"/>
                  <a:t>Health State </a:t>
                </a:r>
                <a14:m>
                  <m:oMath xmlns:m="http://schemas.openxmlformats.org/officeDocument/2006/math">
                    <m:r>
                      <a:rPr lang="en-CA" b="0" i="1" smtClean="0">
                        <a:latin typeface="Cambria Math" panose="02040503050406030204" pitchFamily="18" charset="0"/>
                      </a:rPr>
                      <m:t>𝑖</m:t>
                    </m:r>
                  </m:oMath>
                </a14:m>
                <a:endParaRPr lang="en-CA" dirty="0"/>
              </a:p>
            </p:txBody>
          </p:sp>
        </mc:Choice>
        <mc:Fallback xmlns="">
          <p:sp>
            <p:nvSpPr>
              <p:cNvPr id="31" name="TextBox 30">
                <a:extLst>
                  <a:ext uri="{FF2B5EF4-FFF2-40B4-BE49-F238E27FC236}">
                    <a16:creationId xmlns:a16="http://schemas.microsoft.com/office/drawing/2014/main" id="{C272F02E-357A-B48E-AF65-4EE8F7F2814B}"/>
                  </a:ext>
                </a:extLst>
              </p:cNvPr>
              <p:cNvSpPr txBox="1">
                <a:spLocks noRot="1" noChangeAspect="1" noMove="1" noResize="1" noEditPoints="1" noAdjustHandles="1" noChangeArrowheads="1" noChangeShapeType="1" noTextEdit="1"/>
              </p:cNvSpPr>
              <p:nvPr/>
            </p:nvSpPr>
            <p:spPr>
              <a:xfrm>
                <a:off x="4633813" y="5362315"/>
                <a:ext cx="1482393" cy="369332"/>
              </a:xfrm>
              <a:prstGeom prst="rect">
                <a:avLst/>
              </a:prstGeom>
              <a:blipFill>
                <a:blip r:embed="rId7"/>
                <a:stretch>
                  <a:fillRect l="-3292" t="-10000" r="-5761" b="-26667"/>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71B7230-7B35-3468-7963-C15BB98A7BFC}"/>
                  </a:ext>
                </a:extLst>
              </p:cNvPr>
              <p:cNvSpPr txBox="1"/>
              <p:nvPr/>
            </p:nvSpPr>
            <p:spPr>
              <a:xfrm>
                <a:off x="8853643" y="2448806"/>
                <a:ext cx="3203121" cy="2031325"/>
              </a:xfrm>
              <a:prstGeom prst="rect">
                <a:avLst/>
              </a:prstGeom>
              <a:noFill/>
              <a:ln w="57150">
                <a:solidFill>
                  <a:schemeClr val="tx1"/>
                </a:solidFill>
              </a:ln>
            </p:spPr>
            <p:txBody>
              <a:bodyPr wrap="none" rtlCol="0">
                <a:spAutoFit/>
              </a:bodyPr>
              <a:lstStyle/>
              <a:p>
                <a:r>
                  <a:rPr lang="en-CA" dirty="0"/>
                  <a:t>We seek the value </a:t>
                </a:r>
                <a:br>
                  <a:rPr lang="en-CA" dirty="0"/>
                </a:br>
                <a:r>
                  <a:rPr lang="en-CA" dirty="0"/>
                  <a:t>of </a:t>
                </a:r>
                <a14:m>
                  <m:oMath xmlns:m="http://schemas.openxmlformats.org/officeDocument/2006/math">
                    <m:r>
                      <a:rPr lang="en-CA" b="0" i="1" smtClean="0">
                        <a:latin typeface="Cambria Math" panose="02040503050406030204" pitchFamily="18" charset="0"/>
                      </a:rPr>
                      <m:t>𝑝</m:t>
                    </m:r>
                  </m:oMath>
                </a14:m>
                <a:r>
                  <a:rPr lang="en-CA" dirty="0"/>
                  <a:t> which places our </a:t>
                </a:r>
                <a:br>
                  <a:rPr lang="en-CA" dirty="0"/>
                </a:br>
                <a:r>
                  <a:rPr lang="en-CA" dirty="0"/>
                  <a:t>survey participant indifferent</a:t>
                </a:r>
                <a:br>
                  <a:rPr lang="en-CA" dirty="0"/>
                </a:br>
                <a:r>
                  <a:rPr lang="en-CA" dirty="0"/>
                  <a:t> between the two outcomes.</a:t>
                </a:r>
                <a:br>
                  <a:rPr lang="en-CA" dirty="0"/>
                </a:br>
                <a:br>
                  <a:rPr lang="en-CA" dirty="0"/>
                </a:br>
                <a:r>
                  <a:rPr lang="en-CA" dirty="0"/>
                  <a:t>Naturally we elicit a valuation of</a:t>
                </a:r>
                <a:br>
                  <a:rPr lang="en-CA" dirty="0"/>
                </a:br>
                <a14:m>
                  <m:oMath xmlns:m="http://schemas.openxmlformats.org/officeDocument/2006/math">
                    <m:r>
                      <a:rPr lang="en-CA" b="0" i="1" smtClean="0">
                        <a:latin typeface="Cambria Math" panose="02040503050406030204" pitchFamily="18" charset="0"/>
                      </a:rPr>
                      <m:t>𝑈</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r>
                      <a:rPr lang="en-CA" b="0" i="1" smtClean="0">
                        <a:latin typeface="Cambria Math" panose="02040503050406030204" pitchFamily="18" charset="0"/>
                      </a:rPr>
                      <m:t>)</m:t>
                    </m:r>
                  </m:oMath>
                </a14:m>
                <a:r>
                  <a:rPr lang="en-CA" dirty="0"/>
                  <a:t> from the choice of </a:t>
                </a:r>
                <a14:m>
                  <m:oMath xmlns:m="http://schemas.openxmlformats.org/officeDocument/2006/math">
                    <m:r>
                      <a:rPr lang="en-CA" b="0" i="1" smtClean="0">
                        <a:latin typeface="Cambria Math" panose="02040503050406030204" pitchFamily="18" charset="0"/>
                      </a:rPr>
                      <m:t>𝑝</m:t>
                    </m:r>
                  </m:oMath>
                </a14:m>
                <a:endParaRPr lang="en-CA" dirty="0"/>
              </a:p>
            </p:txBody>
          </p:sp>
        </mc:Choice>
        <mc:Fallback xmlns="">
          <p:sp>
            <p:nvSpPr>
              <p:cNvPr id="32" name="TextBox 31">
                <a:extLst>
                  <a:ext uri="{FF2B5EF4-FFF2-40B4-BE49-F238E27FC236}">
                    <a16:creationId xmlns:a16="http://schemas.microsoft.com/office/drawing/2014/main" id="{671B7230-7B35-3468-7963-C15BB98A7BFC}"/>
                  </a:ext>
                </a:extLst>
              </p:cNvPr>
              <p:cNvSpPr txBox="1">
                <a:spLocks noRot="1" noChangeAspect="1" noMove="1" noResize="1" noEditPoints="1" noAdjustHandles="1" noChangeArrowheads="1" noChangeShapeType="1" noTextEdit="1"/>
              </p:cNvSpPr>
              <p:nvPr/>
            </p:nvSpPr>
            <p:spPr>
              <a:xfrm>
                <a:off x="8853643" y="2448806"/>
                <a:ext cx="3203121" cy="2031325"/>
              </a:xfrm>
              <a:prstGeom prst="rect">
                <a:avLst/>
              </a:prstGeom>
              <a:blipFill>
                <a:blip r:embed="rId8"/>
                <a:stretch>
                  <a:fillRect l="-748" t="-585" r="-6355" b="-2339"/>
                </a:stretch>
              </a:blipFill>
              <a:ln w="57150">
                <a:solidFill>
                  <a:schemeClr val="tx1"/>
                </a:solidFill>
              </a:ln>
            </p:spPr>
            <p:txBody>
              <a:bodyPr/>
              <a:lstStyle/>
              <a:p>
                <a:r>
                  <a:rPr lang="en-CA">
                    <a:noFill/>
                  </a:rPr>
                  <a:t> </a:t>
                </a:r>
              </a:p>
            </p:txBody>
          </p:sp>
        </mc:Fallback>
      </mc:AlternateContent>
    </p:spTree>
    <p:extLst>
      <p:ext uri="{BB962C8B-B14F-4D97-AF65-F5344CB8AC3E}">
        <p14:creationId xmlns:p14="http://schemas.microsoft.com/office/powerpoint/2010/main" val="23832067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F4F23-5142-AFAD-1B7E-D43021C74F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63392F-FA90-6506-3E99-34CAFC272359}"/>
              </a:ext>
            </a:extLst>
          </p:cNvPr>
          <p:cNvSpPr>
            <a:spLocks noGrp="1"/>
          </p:cNvSpPr>
          <p:nvPr>
            <p:ph type="title"/>
          </p:nvPr>
        </p:nvSpPr>
        <p:spPr>
          <a:xfrm>
            <a:off x="482600" y="597408"/>
            <a:ext cx="10634472" cy="1117092"/>
          </a:xfrm>
        </p:spPr>
        <p:txBody>
          <a:bodyPr/>
          <a:lstStyle/>
          <a:p>
            <a:r>
              <a:rPr lang="en-CA" sz="4800" dirty="0"/>
              <a:t>Standard Gamble Algebraically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56DDB4B-F9AC-D3B3-9BFB-9193F9DD815A}"/>
                  </a:ext>
                </a:extLst>
              </p:cNvPr>
              <p:cNvSpPr>
                <a:spLocks noGrp="1"/>
              </p:cNvSpPr>
              <p:nvPr>
                <p:ph idx="1"/>
              </p:nvPr>
            </p:nvSpPr>
            <p:spPr>
              <a:xfrm>
                <a:off x="482600" y="1885950"/>
                <a:ext cx="11177397" cy="3936491"/>
              </a:xfrm>
            </p:spPr>
            <p:txBody>
              <a:bodyPr>
                <a:normAutofit/>
              </a:bodyPr>
              <a:lstStyle/>
              <a:p>
                <a:endParaRPr lang="en-CA" dirty="0"/>
              </a:p>
              <a:p>
                <a:pPr marL="342900" indent="-342900">
                  <a:buFont typeface="Wingdings" panose="05000000000000000000" pitchFamily="2" charset="2"/>
                  <a:buChar char="§"/>
                </a:pPr>
                <a:br>
                  <a:rPr lang="en-CA" dirty="0"/>
                </a:br>
                <a14:m>
                  <m:oMath xmlns:m="http://schemas.openxmlformats.org/officeDocument/2006/math">
                    <m:r>
                      <a:rPr lang="en-CA" b="0" i="1" smtClean="0">
                        <a:latin typeface="Cambria Math" panose="02040503050406030204" pitchFamily="18" charset="0"/>
                      </a:rPr>
                      <m:t>𝑈</m:t>
                    </m:r>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e>
                    </m:d>
                    <m:r>
                      <a:rPr lang="en-CA" b="0" i="1" smtClean="0">
                        <a:latin typeface="Cambria Math" panose="02040503050406030204" pitchFamily="18" charset="0"/>
                      </a:rPr>
                      <m:t>=</m:t>
                    </m:r>
                    <m:r>
                      <a:rPr lang="en-CA" b="0" i="1" smtClean="0">
                        <a:latin typeface="Cambria Math" panose="02040503050406030204" pitchFamily="18" charset="0"/>
                      </a:rPr>
                      <m:t>𝑝𝑈</m:t>
                    </m:r>
                    <m:d>
                      <m:dPr>
                        <m:ctrlPr>
                          <a:rPr lang="en-CA" b="0" i="1" smtClean="0">
                            <a:latin typeface="Cambria Math" panose="02040503050406030204" pitchFamily="18" charset="0"/>
                          </a:rPr>
                        </m:ctrlPr>
                      </m:dPr>
                      <m:e>
                        <m:acc>
                          <m:accPr>
                            <m:chr m:val="̅"/>
                            <m:ctrlPr>
                              <a:rPr lang="en-CA" b="0" i="1" smtClean="0">
                                <a:latin typeface="Cambria Math" panose="02040503050406030204" pitchFamily="18" charset="0"/>
                              </a:rPr>
                            </m:ctrlPr>
                          </m:accPr>
                          <m:e>
                            <m:r>
                              <a:rPr lang="en-CA" b="0" i="1" smtClean="0">
                                <a:latin typeface="Cambria Math" panose="02040503050406030204" pitchFamily="18" charset="0"/>
                              </a:rPr>
                              <m:t>𝐻</m:t>
                            </m:r>
                          </m:e>
                        </m:acc>
                      </m:e>
                    </m:d>
                    <m:r>
                      <a:rPr lang="en-CA" b="0" i="1" smtClean="0">
                        <a:latin typeface="Cambria Math" panose="02040503050406030204" pitchFamily="18" charset="0"/>
                      </a:rPr>
                      <m:t>+</m:t>
                    </m:r>
                    <m:d>
                      <m:dPr>
                        <m:ctrlPr>
                          <a:rPr lang="en-CA" b="0" i="1" smtClean="0">
                            <a:latin typeface="Cambria Math" panose="02040503050406030204" pitchFamily="18" charset="0"/>
                          </a:rPr>
                        </m:ctrlPr>
                      </m:dPr>
                      <m:e>
                        <m:r>
                          <a:rPr lang="en-CA" b="0" i="1" smtClean="0">
                            <a:latin typeface="Cambria Math" panose="02040503050406030204" pitchFamily="18" charset="0"/>
                          </a:rPr>
                          <m:t>1−</m:t>
                        </m:r>
                        <m:r>
                          <a:rPr lang="en-CA" b="0" i="1" smtClean="0">
                            <a:latin typeface="Cambria Math" panose="02040503050406030204" pitchFamily="18" charset="0"/>
                          </a:rPr>
                          <m:t>𝑝</m:t>
                        </m:r>
                      </m:e>
                    </m:d>
                    <m:r>
                      <a:rPr lang="en-CA" b="0" i="1" smtClean="0">
                        <a:latin typeface="Cambria Math" panose="02040503050406030204" pitchFamily="18" charset="0"/>
                      </a:rPr>
                      <m:t>𝑈</m:t>
                    </m:r>
                    <m:d>
                      <m:dPr>
                        <m:ctrlPr>
                          <a:rPr lang="en-CA" b="0" i="1" smtClean="0">
                            <a:latin typeface="Cambria Math" panose="02040503050406030204" pitchFamily="18" charset="0"/>
                          </a:rPr>
                        </m:ctrlPr>
                      </m:dPr>
                      <m:e>
                        <m:bar>
                          <m:barPr>
                            <m:pos m:val="bot"/>
                            <m:ctrlPr>
                              <a:rPr lang="en-CA" b="0" i="1" smtClean="0">
                                <a:latin typeface="Cambria Math" panose="02040503050406030204" pitchFamily="18" charset="0"/>
                              </a:rPr>
                            </m:ctrlPr>
                          </m:barPr>
                          <m:e>
                            <m:r>
                              <a:rPr lang="en-CA" b="0" i="1" smtClean="0">
                                <a:latin typeface="Cambria Math" panose="02040503050406030204" pitchFamily="18" charset="0"/>
                              </a:rPr>
                              <m:t>𝐻</m:t>
                            </m:r>
                          </m:e>
                        </m:bar>
                      </m:e>
                    </m:d>
                  </m:oMath>
                </a14:m>
                <a:endParaRPr lang="en-CA" b="0" dirty="0"/>
              </a:p>
              <a:p>
                <a:pPr marL="342900" indent="-342900">
                  <a:buFont typeface="Wingdings" panose="05000000000000000000" pitchFamily="2" charset="2"/>
                  <a:buChar char="§"/>
                </a:pPr>
                <a:r>
                  <a:rPr lang="en-CA" dirty="0"/>
                  <a:t>We know:</a:t>
                </a:r>
                <a:br>
                  <a:rPr lang="en-CA" dirty="0"/>
                </a:br>
                <a14:m>
                  <m:oMath xmlns:m="http://schemas.openxmlformats.org/officeDocument/2006/math">
                    <m:r>
                      <a:rPr lang="en-CA" b="0" i="1" smtClean="0">
                        <a:latin typeface="Cambria Math" panose="02040503050406030204" pitchFamily="18" charset="0"/>
                      </a:rPr>
                      <m:t>𝑈</m:t>
                    </m:r>
                    <m:d>
                      <m:dPr>
                        <m:ctrlPr>
                          <a:rPr lang="en-CA" b="0" i="1" smtClean="0">
                            <a:latin typeface="Cambria Math" panose="02040503050406030204" pitchFamily="18" charset="0"/>
                          </a:rPr>
                        </m:ctrlPr>
                      </m:dPr>
                      <m:e>
                        <m:acc>
                          <m:accPr>
                            <m:chr m:val="̅"/>
                            <m:ctrlPr>
                              <a:rPr lang="en-CA" b="0" i="1" smtClean="0">
                                <a:latin typeface="Cambria Math" panose="02040503050406030204" pitchFamily="18" charset="0"/>
                              </a:rPr>
                            </m:ctrlPr>
                          </m:accPr>
                          <m:e>
                            <m:r>
                              <a:rPr lang="en-CA" b="0" i="1" smtClean="0">
                                <a:latin typeface="Cambria Math" panose="02040503050406030204" pitchFamily="18" charset="0"/>
                              </a:rPr>
                              <m:t>𝐻</m:t>
                            </m:r>
                          </m:e>
                        </m:acc>
                      </m:e>
                    </m:d>
                    <m:r>
                      <a:rPr lang="en-CA" b="0" i="1" smtClean="0">
                        <a:latin typeface="Cambria Math" panose="02040503050406030204" pitchFamily="18" charset="0"/>
                      </a:rPr>
                      <m:t>=1</m:t>
                    </m:r>
                  </m:oMath>
                </a14:m>
                <a:br>
                  <a:rPr lang="en-CA" dirty="0"/>
                </a:br>
                <a14:m>
                  <m:oMath xmlns:m="http://schemas.openxmlformats.org/officeDocument/2006/math">
                    <m:r>
                      <a:rPr lang="en-CA" b="0" i="1" smtClean="0">
                        <a:latin typeface="Cambria Math" panose="02040503050406030204" pitchFamily="18" charset="0"/>
                      </a:rPr>
                      <m:t>𝑈</m:t>
                    </m:r>
                    <m:d>
                      <m:dPr>
                        <m:ctrlPr>
                          <a:rPr lang="en-CA" b="0" i="1" smtClean="0">
                            <a:latin typeface="Cambria Math" panose="02040503050406030204" pitchFamily="18" charset="0"/>
                          </a:rPr>
                        </m:ctrlPr>
                      </m:dPr>
                      <m:e>
                        <m:bar>
                          <m:barPr>
                            <m:pos m:val="bot"/>
                            <m:ctrlPr>
                              <a:rPr lang="en-CA" b="0" i="1" smtClean="0">
                                <a:latin typeface="Cambria Math" panose="02040503050406030204" pitchFamily="18" charset="0"/>
                              </a:rPr>
                            </m:ctrlPr>
                          </m:barPr>
                          <m:e>
                            <m:r>
                              <a:rPr lang="en-CA" b="0" i="1" smtClean="0">
                                <a:latin typeface="Cambria Math" panose="02040503050406030204" pitchFamily="18" charset="0"/>
                              </a:rPr>
                              <m:t>𝐻</m:t>
                            </m:r>
                          </m:e>
                        </m:bar>
                      </m:e>
                    </m:d>
                    <m:r>
                      <a:rPr lang="en-CA" b="0" i="1" smtClean="0">
                        <a:latin typeface="Cambria Math" panose="02040503050406030204" pitchFamily="18" charset="0"/>
                      </a:rPr>
                      <m:t>=0</m:t>
                    </m:r>
                  </m:oMath>
                </a14:m>
                <a:endParaRPr lang="en-CA" b="0" dirty="0"/>
              </a:p>
              <a:p>
                <a:pPr marL="342900" indent="-342900">
                  <a:buFont typeface="Wingdings" panose="05000000000000000000" pitchFamily="2" charset="2"/>
                  <a:buChar char="§"/>
                </a:pPr>
                <a:r>
                  <a:rPr lang="en-CA" dirty="0"/>
                  <a:t>This gives us:</a:t>
                </a:r>
                <a:endParaRPr lang="en-CA" b="0" dirty="0"/>
              </a:p>
              <a:p>
                <a14:m>
                  <m:oMath xmlns:m="http://schemas.openxmlformats.org/officeDocument/2006/math">
                    <m:r>
                      <a:rPr lang="en-CA" i="1">
                        <a:latin typeface="Cambria Math" panose="02040503050406030204" pitchFamily="18" charset="0"/>
                      </a:rPr>
                      <m:t>𝑈</m:t>
                    </m:r>
                    <m:d>
                      <m:dPr>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𝑖</m:t>
                            </m:r>
                          </m:sub>
                        </m:sSub>
                      </m:e>
                    </m:d>
                    <m:r>
                      <a:rPr lang="en-CA" i="1">
                        <a:latin typeface="Cambria Math" panose="02040503050406030204" pitchFamily="18" charset="0"/>
                      </a:rPr>
                      <m:t>=</m:t>
                    </m:r>
                    <m:r>
                      <a:rPr lang="en-CA" i="1">
                        <a:latin typeface="Cambria Math" panose="02040503050406030204" pitchFamily="18" charset="0"/>
                      </a:rPr>
                      <m:t>𝑝</m:t>
                    </m:r>
                  </m:oMath>
                </a14:m>
                <a:endParaRPr lang="en-CA" dirty="0"/>
              </a:p>
            </p:txBody>
          </p:sp>
        </mc:Choice>
        <mc:Fallback xmlns="">
          <p:sp>
            <p:nvSpPr>
              <p:cNvPr id="3" name="Content Placeholder 2">
                <a:extLst>
                  <a:ext uri="{FF2B5EF4-FFF2-40B4-BE49-F238E27FC236}">
                    <a16:creationId xmlns:a16="http://schemas.microsoft.com/office/drawing/2014/main" id="{B56DDB4B-F9AC-D3B3-9BFB-9193F9DD815A}"/>
                  </a:ext>
                </a:extLst>
              </p:cNvPr>
              <p:cNvSpPr>
                <a:spLocks noGrp="1" noRot="1" noChangeAspect="1" noMove="1" noResize="1" noEditPoints="1" noAdjustHandles="1" noChangeArrowheads="1" noChangeShapeType="1" noTextEdit="1"/>
              </p:cNvSpPr>
              <p:nvPr>
                <p:ph idx="1"/>
              </p:nvPr>
            </p:nvSpPr>
            <p:spPr>
              <a:xfrm>
                <a:off x="482600" y="1885950"/>
                <a:ext cx="11177397" cy="3936491"/>
              </a:xfrm>
              <a:blipFill>
                <a:blip r:embed="rId2"/>
                <a:stretch>
                  <a:fillRect l="-709"/>
                </a:stretch>
              </a:blipFill>
            </p:spPr>
            <p:txBody>
              <a:bodyPr/>
              <a:lstStyle/>
              <a:p>
                <a:r>
                  <a:rPr lang="en-CA">
                    <a:noFill/>
                  </a:rPr>
                  <a:t> </a:t>
                </a:r>
              </a:p>
            </p:txBody>
          </p:sp>
        </mc:Fallback>
      </mc:AlternateContent>
    </p:spTree>
    <p:extLst>
      <p:ext uri="{BB962C8B-B14F-4D97-AF65-F5344CB8AC3E}">
        <p14:creationId xmlns:p14="http://schemas.microsoft.com/office/powerpoint/2010/main" val="39747554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17F97-9BDD-DB29-4CCF-69C641D1DD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403E7-0CB1-6248-B308-5931FAB96812}"/>
              </a:ext>
            </a:extLst>
          </p:cNvPr>
          <p:cNvSpPr>
            <a:spLocks noGrp="1"/>
          </p:cNvSpPr>
          <p:nvPr>
            <p:ph type="title"/>
          </p:nvPr>
        </p:nvSpPr>
        <p:spPr>
          <a:xfrm>
            <a:off x="482600" y="597408"/>
            <a:ext cx="10634472" cy="1117092"/>
          </a:xfrm>
        </p:spPr>
        <p:txBody>
          <a:bodyPr>
            <a:normAutofit fontScale="90000"/>
          </a:bodyPr>
          <a:lstStyle/>
          <a:p>
            <a:r>
              <a:rPr lang="en-CA" sz="4800" dirty="0"/>
              <a:t>Standard Gamble Algebraically: Back Pain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4B5D806-7AC7-A072-0113-BD02100D9788}"/>
                  </a:ext>
                </a:extLst>
              </p:cNvPr>
              <p:cNvSpPr>
                <a:spLocks noGrp="1"/>
              </p:cNvSpPr>
              <p:nvPr>
                <p:ph idx="1"/>
              </p:nvPr>
            </p:nvSpPr>
            <p:spPr>
              <a:xfrm>
                <a:off x="482600" y="1885950"/>
                <a:ext cx="11177397" cy="3936491"/>
              </a:xfrm>
            </p:spPr>
            <p:txBody>
              <a:bodyPr>
                <a:normAutofit/>
              </a:bodyPr>
              <a:lstStyle/>
              <a:p>
                <a:endParaRPr lang="en-CA" dirty="0"/>
              </a:p>
              <a:p>
                <a:pPr marL="342900" indent="-342900">
                  <a:buFont typeface="Wingdings" panose="05000000000000000000" pitchFamily="2" charset="2"/>
                  <a:buChar char="§"/>
                </a:pPr>
                <a:br>
                  <a:rPr lang="en-CA" dirty="0"/>
                </a:br>
                <a14:m>
                  <m:oMath xmlns:m="http://schemas.openxmlformats.org/officeDocument/2006/math">
                    <m:r>
                      <a:rPr lang="en-CA" b="0" i="1" smtClean="0">
                        <a:latin typeface="Cambria Math" panose="02040503050406030204" pitchFamily="18" charset="0"/>
                      </a:rPr>
                      <m:t>𝑈</m:t>
                    </m:r>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e>
                    </m:d>
                    <m:r>
                      <a:rPr lang="en-CA" b="0" i="1" smtClean="0">
                        <a:latin typeface="Cambria Math" panose="02040503050406030204" pitchFamily="18" charset="0"/>
                      </a:rPr>
                      <m:t>=</m:t>
                    </m:r>
                    <m:r>
                      <a:rPr lang="en-CA" b="0" i="1" smtClean="0">
                        <a:latin typeface="Cambria Math" panose="02040503050406030204" pitchFamily="18" charset="0"/>
                      </a:rPr>
                      <m:t>𝑝𝑈</m:t>
                    </m:r>
                    <m:d>
                      <m:dPr>
                        <m:ctrlPr>
                          <a:rPr lang="en-CA" b="0" i="1" smtClean="0">
                            <a:latin typeface="Cambria Math" panose="02040503050406030204" pitchFamily="18" charset="0"/>
                          </a:rPr>
                        </m:ctrlPr>
                      </m:dPr>
                      <m:e>
                        <m:acc>
                          <m:accPr>
                            <m:chr m:val="̅"/>
                            <m:ctrlPr>
                              <a:rPr lang="en-CA" b="0" i="1" smtClean="0">
                                <a:latin typeface="Cambria Math" panose="02040503050406030204" pitchFamily="18" charset="0"/>
                              </a:rPr>
                            </m:ctrlPr>
                          </m:accPr>
                          <m:e>
                            <m:r>
                              <a:rPr lang="en-CA" b="0" i="1" smtClean="0">
                                <a:latin typeface="Cambria Math" panose="02040503050406030204" pitchFamily="18" charset="0"/>
                              </a:rPr>
                              <m:t>𝐻</m:t>
                            </m:r>
                          </m:e>
                        </m:acc>
                      </m:e>
                    </m:d>
                    <m:r>
                      <a:rPr lang="en-CA" b="0" i="1" smtClean="0">
                        <a:latin typeface="Cambria Math" panose="02040503050406030204" pitchFamily="18" charset="0"/>
                      </a:rPr>
                      <m:t>+</m:t>
                    </m:r>
                    <m:d>
                      <m:dPr>
                        <m:ctrlPr>
                          <a:rPr lang="en-CA" b="0" i="1" smtClean="0">
                            <a:latin typeface="Cambria Math" panose="02040503050406030204" pitchFamily="18" charset="0"/>
                          </a:rPr>
                        </m:ctrlPr>
                      </m:dPr>
                      <m:e>
                        <m:r>
                          <a:rPr lang="en-CA" b="0" i="1" smtClean="0">
                            <a:latin typeface="Cambria Math" panose="02040503050406030204" pitchFamily="18" charset="0"/>
                          </a:rPr>
                          <m:t>1−</m:t>
                        </m:r>
                        <m:r>
                          <a:rPr lang="en-CA" b="0" i="1" smtClean="0">
                            <a:latin typeface="Cambria Math" panose="02040503050406030204" pitchFamily="18" charset="0"/>
                          </a:rPr>
                          <m:t>𝑝</m:t>
                        </m:r>
                      </m:e>
                    </m:d>
                    <m:r>
                      <a:rPr lang="en-CA" b="0" i="1" smtClean="0">
                        <a:latin typeface="Cambria Math" panose="02040503050406030204" pitchFamily="18" charset="0"/>
                      </a:rPr>
                      <m:t>𝑈</m:t>
                    </m:r>
                    <m:d>
                      <m:dPr>
                        <m:ctrlPr>
                          <a:rPr lang="en-CA" b="0" i="1" smtClean="0">
                            <a:latin typeface="Cambria Math" panose="02040503050406030204" pitchFamily="18" charset="0"/>
                          </a:rPr>
                        </m:ctrlPr>
                      </m:dPr>
                      <m:e>
                        <m:bar>
                          <m:barPr>
                            <m:pos m:val="bot"/>
                            <m:ctrlPr>
                              <a:rPr lang="en-CA" b="0" i="1" smtClean="0">
                                <a:latin typeface="Cambria Math" panose="02040503050406030204" pitchFamily="18" charset="0"/>
                              </a:rPr>
                            </m:ctrlPr>
                          </m:barPr>
                          <m:e>
                            <m:r>
                              <a:rPr lang="en-CA" b="0" i="1" smtClean="0">
                                <a:latin typeface="Cambria Math" panose="02040503050406030204" pitchFamily="18" charset="0"/>
                              </a:rPr>
                              <m:t>𝐻</m:t>
                            </m:r>
                          </m:e>
                        </m:bar>
                      </m:e>
                    </m:d>
                  </m:oMath>
                </a14:m>
                <a:endParaRPr lang="en-CA" b="0" dirty="0"/>
              </a:p>
              <a:p>
                <a:pPr marL="342900" indent="-342900">
                  <a:buFont typeface="Wingdings" panose="05000000000000000000" pitchFamily="2" charset="2"/>
                  <a:buChar char="§"/>
                </a:pPr>
                <a:r>
                  <a:rPr lang="en-CA" dirty="0"/>
                  <a:t>We know:</a:t>
                </a:r>
                <a:br>
                  <a:rPr lang="en-CA" dirty="0"/>
                </a:br>
                <a14:m>
                  <m:oMath xmlns:m="http://schemas.openxmlformats.org/officeDocument/2006/math">
                    <m:r>
                      <a:rPr lang="en-CA" b="0" i="1" smtClean="0">
                        <a:latin typeface="Cambria Math" panose="02040503050406030204" pitchFamily="18" charset="0"/>
                      </a:rPr>
                      <m:t>𝑈</m:t>
                    </m:r>
                    <m:d>
                      <m:dPr>
                        <m:ctrlPr>
                          <a:rPr lang="en-CA" b="0" i="1" smtClean="0">
                            <a:latin typeface="Cambria Math" panose="02040503050406030204" pitchFamily="18" charset="0"/>
                          </a:rPr>
                        </m:ctrlPr>
                      </m:dPr>
                      <m:e>
                        <m:acc>
                          <m:accPr>
                            <m:chr m:val="̅"/>
                            <m:ctrlPr>
                              <a:rPr lang="en-CA" b="0" i="1" smtClean="0">
                                <a:latin typeface="Cambria Math" panose="02040503050406030204" pitchFamily="18" charset="0"/>
                              </a:rPr>
                            </m:ctrlPr>
                          </m:accPr>
                          <m:e>
                            <m:r>
                              <a:rPr lang="en-CA" b="0" i="1" smtClean="0">
                                <a:latin typeface="Cambria Math" panose="02040503050406030204" pitchFamily="18" charset="0"/>
                              </a:rPr>
                              <m:t>𝐻</m:t>
                            </m:r>
                          </m:e>
                        </m:acc>
                      </m:e>
                    </m:d>
                    <m:r>
                      <a:rPr lang="en-CA" b="0" i="1" smtClean="0">
                        <a:latin typeface="Cambria Math" panose="02040503050406030204" pitchFamily="18" charset="0"/>
                      </a:rPr>
                      <m:t>=1</m:t>
                    </m:r>
                  </m:oMath>
                </a14:m>
                <a:br>
                  <a:rPr lang="en-CA" dirty="0"/>
                </a:br>
                <a14:m>
                  <m:oMath xmlns:m="http://schemas.openxmlformats.org/officeDocument/2006/math">
                    <m:r>
                      <a:rPr lang="en-CA" b="0" i="1" smtClean="0">
                        <a:latin typeface="Cambria Math" panose="02040503050406030204" pitchFamily="18" charset="0"/>
                      </a:rPr>
                      <m:t>𝑈</m:t>
                    </m:r>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𝐵𝑃</m:t>
                            </m:r>
                          </m:sub>
                        </m:sSub>
                      </m:e>
                    </m:d>
                    <m:r>
                      <a:rPr lang="en-CA" b="0" i="1" smtClean="0">
                        <a:latin typeface="Cambria Math" panose="02040503050406030204" pitchFamily="18" charset="0"/>
                      </a:rPr>
                      <m:t>=0.7</m:t>
                    </m:r>
                  </m:oMath>
                </a14:m>
                <a:endParaRPr lang="en-CA" b="0" dirty="0"/>
              </a:p>
              <a:p>
                <a:pPr marL="342900" indent="-342900">
                  <a:buFont typeface="Wingdings" panose="05000000000000000000" pitchFamily="2" charset="2"/>
                  <a:buChar char="§"/>
                </a:pPr>
                <a:r>
                  <a:rPr lang="en-CA" dirty="0"/>
                  <a:t>This gives us:</a:t>
                </a:r>
                <a:endParaRPr lang="en-CA" b="0" dirty="0"/>
              </a:p>
              <a:p>
                <a14:m>
                  <m:oMath xmlns:m="http://schemas.openxmlformats.org/officeDocument/2006/math">
                    <m:r>
                      <a:rPr lang="en-CA" i="1">
                        <a:latin typeface="Cambria Math" panose="02040503050406030204" pitchFamily="18" charset="0"/>
                      </a:rPr>
                      <m:t>𝑈</m:t>
                    </m:r>
                    <m:d>
                      <m:dPr>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𝑖</m:t>
                            </m:r>
                          </m:sub>
                        </m:sSub>
                      </m:e>
                    </m:d>
                    <m:r>
                      <a:rPr lang="en-CA" i="1">
                        <a:latin typeface="Cambria Math" panose="02040503050406030204" pitchFamily="18" charset="0"/>
                      </a:rPr>
                      <m:t>=</m:t>
                    </m:r>
                    <m:r>
                      <a:rPr lang="en-CA" b="0" i="1" smtClean="0">
                        <a:latin typeface="Cambria Math" panose="02040503050406030204" pitchFamily="18" charset="0"/>
                      </a:rPr>
                      <m:t>𝑝</m:t>
                    </m:r>
                    <m:r>
                      <a:rPr lang="en-CA" b="0" i="1" smtClean="0">
                        <a:latin typeface="Cambria Math" panose="02040503050406030204" pitchFamily="18" charset="0"/>
                      </a:rPr>
                      <m:t>+</m:t>
                    </m:r>
                    <m:d>
                      <m:dPr>
                        <m:ctrlPr>
                          <a:rPr lang="en-CA" b="0" i="1" smtClean="0">
                            <a:latin typeface="Cambria Math" panose="02040503050406030204" pitchFamily="18" charset="0"/>
                          </a:rPr>
                        </m:ctrlPr>
                      </m:dPr>
                      <m:e>
                        <m:r>
                          <a:rPr lang="en-CA" b="0" i="1" smtClean="0">
                            <a:latin typeface="Cambria Math" panose="02040503050406030204" pitchFamily="18" charset="0"/>
                          </a:rPr>
                          <m:t>1−</m:t>
                        </m:r>
                        <m:r>
                          <a:rPr lang="en-CA" b="0" i="1" smtClean="0">
                            <a:latin typeface="Cambria Math" panose="02040503050406030204" pitchFamily="18" charset="0"/>
                          </a:rPr>
                          <m:t>𝑝</m:t>
                        </m:r>
                      </m:e>
                    </m:d>
                    <m:r>
                      <a:rPr lang="en-CA" b="0" i="1" smtClean="0">
                        <a:latin typeface="Cambria Math" panose="02040503050406030204" pitchFamily="18" charset="0"/>
                      </a:rPr>
                      <m:t>0.7</m:t>
                    </m:r>
                  </m:oMath>
                </a14:m>
                <a:br>
                  <a:rPr lang="en-CA" b="0" i="1">
                    <a:latin typeface="Cambria Math" panose="02040503050406030204" pitchFamily="18" charset="0"/>
                  </a:rPr>
                </a:br>
                <a14:m>
                  <m:oMath xmlns:m="http://schemas.openxmlformats.org/officeDocument/2006/math">
                    <m:r>
                      <a:rPr lang="en-CA" b="0" i="1" smtClean="0">
                        <a:latin typeface="Cambria Math" panose="02040503050406030204" pitchFamily="18" charset="0"/>
                      </a:rPr>
                      <m:t>𝑈</m:t>
                    </m:r>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e>
                    </m:d>
                    <m:r>
                      <a:rPr lang="en-CA" b="0" i="1" smtClean="0">
                        <a:latin typeface="Cambria Math" panose="02040503050406030204" pitchFamily="18" charset="0"/>
                      </a:rPr>
                      <m:t>=</m:t>
                    </m:r>
                    <m:r>
                      <a:rPr lang="en-CA" b="0" i="1" smtClean="0">
                        <a:latin typeface="Cambria Math" panose="02040503050406030204" pitchFamily="18" charset="0"/>
                      </a:rPr>
                      <m:t>𝑝</m:t>
                    </m:r>
                    <m:r>
                      <a:rPr lang="en-CA" b="0" i="1" smtClean="0">
                        <a:latin typeface="Cambria Math" panose="02040503050406030204" pitchFamily="18" charset="0"/>
                      </a:rPr>
                      <m:t>+0.7−</m:t>
                    </m:r>
                    <m:r>
                      <a:rPr lang="en-CA" b="0" i="1" smtClean="0">
                        <a:latin typeface="Cambria Math" panose="02040503050406030204" pitchFamily="18" charset="0"/>
                      </a:rPr>
                      <m:t>𝑝</m:t>
                    </m:r>
                    <m:r>
                      <a:rPr lang="en-CA" b="0" i="1" smtClean="0">
                        <a:latin typeface="Cambria Math" panose="02040503050406030204" pitchFamily="18" charset="0"/>
                      </a:rPr>
                      <m:t>0.7</m:t>
                    </m:r>
                  </m:oMath>
                </a14:m>
                <a:br>
                  <a:rPr lang="en-CA" b="0" i="1">
                    <a:latin typeface="Cambria Math" panose="02040503050406030204" pitchFamily="18" charset="0"/>
                  </a:rPr>
                </a:br>
                <a14:m>
                  <m:oMath xmlns:m="http://schemas.openxmlformats.org/officeDocument/2006/math">
                    <m:r>
                      <a:rPr lang="en-CA" b="0" i="1" smtClean="0">
                        <a:latin typeface="Cambria Math" panose="02040503050406030204" pitchFamily="18" charset="0"/>
                      </a:rPr>
                      <m:t>𝑈</m:t>
                    </m:r>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e>
                    </m:d>
                    <m:r>
                      <a:rPr lang="en-CA" b="0" i="1" smtClean="0">
                        <a:latin typeface="Cambria Math" panose="02040503050406030204" pitchFamily="18" charset="0"/>
                      </a:rPr>
                      <m:t>=0.3</m:t>
                    </m:r>
                    <m:r>
                      <a:rPr lang="en-CA" b="0" i="1" smtClean="0">
                        <a:latin typeface="Cambria Math" panose="02040503050406030204" pitchFamily="18" charset="0"/>
                      </a:rPr>
                      <m:t>𝑝</m:t>
                    </m:r>
                    <m:r>
                      <a:rPr lang="en-CA" b="0" i="1" smtClean="0">
                        <a:latin typeface="Cambria Math" panose="02040503050406030204" pitchFamily="18" charset="0"/>
                      </a:rPr>
                      <m:t>+0.7</m:t>
                    </m:r>
                  </m:oMath>
                </a14:m>
                <a:endParaRPr lang="en-CA" dirty="0"/>
              </a:p>
            </p:txBody>
          </p:sp>
        </mc:Choice>
        <mc:Fallback xmlns="">
          <p:sp>
            <p:nvSpPr>
              <p:cNvPr id="3" name="Content Placeholder 2">
                <a:extLst>
                  <a:ext uri="{FF2B5EF4-FFF2-40B4-BE49-F238E27FC236}">
                    <a16:creationId xmlns:a16="http://schemas.microsoft.com/office/drawing/2014/main" id="{44B5D806-7AC7-A072-0113-BD02100D9788}"/>
                  </a:ext>
                </a:extLst>
              </p:cNvPr>
              <p:cNvSpPr>
                <a:spLocks noGrp="1" noRot="1" noChangeAspect="1" noMove="1" noResize="1" noEditPoints="1" noAdjustHandles="1" noChangeArrowheads="1" noChangeShapeType="1" noTextEdit="1"/>
              </p:cNvSpPr>
              <p:nvPr>
                <p:ph idx="1"/>
              </p:nvPr>
            </p:nvSpPr>
            <p:spPr>
              <a:xfrm>
                <a:off x="482600" y="1885950"/>
                <a:ext cx="11177397" cy="3936491"/>
              </a:xfrm>
              <a:blipFill>
                <a:blip r:embed="rId2"/>
                <a:stretch>
                  <a:fillRect l="-327"/>
                </a:stretch>
              </a:blipFill>
            </p:spPr>
            <p:txBody>
              <a:bodyPr/>
              <a:lstStyle/>
              <a:p>
                <a:r>
                  <a:rPr lang="en-CA">
                    <a:noFill/>
                  </a:rPr>
                  <a:t> </a:t>
                </a:r>
              </a:p>
            </p:txBody>
          </p:sp>
        </mc:Fallback>
      </mc:AlternateContent>
    </p:spTree>
    <p:extLst>
      <p:ext uri="{BB962C8B-B14F-4D97-AF65-F5344CB8AC3E}">
        <p14:creationId xmlns:p14="http://schemas.microsoft.com/office/powerpoint/2010/main" val="6650069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9BFCF-C877-CC10-10CA-6455B0717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BC707F-FD03-91BD-531C-A6D3D6C117B7}"/>
              </a:ext>
            </a:extLst>
          </p:cNvPr>
          <p:cNvSpPr>
            <a:spLocks noGrp="1"/>
          </p:cNvSpPr>
          <p:nvPr>
            <p:ph type="title"/>
          </p:nvPr>
        </p:nvSpPr>
        <p:spPr>
          <a:xfrm>
            <a:off x="482600" y="597408"/>
            <a:ext cx="10634472" cy="1117092"/>
          </a:xfrm>
        </p:spPr>
        <p:txBody>
          <a:bodyPr/>
          <a:lstStyle/>
          <a:p>
            <a:r>
              <a:rPr lang="en-CA" sz="4800" dirty="0"/>
              <a:t>Standard Gamble: without death</a:t>
            </a:r>
          </a:p>
        </p:txBody>
      </p:sp>
      <p:sp>
        <p:nvSpPr>
          <p:cNvPr id="4" name="Rectangle 3">
            <a:extLst>
              <a:ext uri="{FF2B5EF4-FFF2-40B4-BE49-F238E27FC236}">
                <a16:creationId xmlns:a16="http://schemas.microsoft.com/office/drawing/2014/main" id="{B317CA80-8A3D-4865-044E-DDAE3D451054}"/>
              </a:ext>
            </a:extLst>
          </p:cNvPr>
          <p:cNvSpPr/>
          <p:nvPr/>
        </p:nvSpPr>
        <p:spPr>
          <a:xfrm>
            <a:off x="1476756" y="4238245"/>
            <a:ext cx="448056" cy="466344"/>
          </a:xfrm>
          <a:prstGeom prst="rect">
            <a:avLst/>
          </a:prstGeom>
          <a:solidFill>
            <a:schemeClr val="accent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5" name="Straight Connector 4">
            <a:extLst>
              <a:ext uri="{FF2B5EF4-FFF2-40B4-BE49-F238E27FC236}">
                <a16:creationId xmlns:a16="http://schemas.microsoft.com/office/drawing/2014/main" id="{1611532E-C206-184D-860B-C6AE4E1C0D92}"/>
              </a:ext>
            </a:extLst>
          </p:cNvPr>
          <p:cNvCxnSpPr>
            <a:cxnSpLocks/>
            <a:stCxn id="4" idx="3"/>
            <a:endCxn id="8" idx="2"/>
          </p:cNvCxnSpPr>
          <p:nvPr/>
        </p:nvCxnSpPr>
        <p:spPr>
          <a:xfrm flipV="1">
            <a:off x="1924812" y="3319273"/>
            <a:ext cx="1723644" cy="115214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5E8CDAF-C6D5-22BD-1E45-834E9672A72B}"/>
              </a:ext>
            </a:extLst>
          </p:cNvPr>
          <p:cNvCxnSpPr>
            <a:cxnSpLocks/>
            <a:stCxn id="4" idx="3"/>
          </p:cNvCxnSpPr>
          <p:nvPr/>
        </p:nvCxnSpPr>
        <p:spPr>
          <a:xfrm>
            <a:off x="1924812" y="4471417"/>
            <a:ext cx="1019556" cy="135331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2ABD555-CF5D-A71F-0F34-C9EEA984AA90}"/>
              </a:ext>
            </a:extLst>
          </p:cNvPr>
          <p:cNvCxnSpPr>
            <a:cxnSpLocks/>
          </p:cNvCxnSpPr>
          <p:nvPr/>
        </p:nvCxnSpPr>
        <p:spPr>
          <a:xfrm>
            <a:off x="2944368" y="5824729"/>
            <a:ext cx="4700016" cy="0"/>
          </a:xfrm>
          <a:prstGeom prst="line">
            <a:avLst/>
          </a:prstGeom>
          <a:ln w="57150"/>
        </p:spPr>
        <p:style>
          <a:lnRef idx="1">
            <a:schemeClr val="dk1"/>
          </a:lnRef>
          <a:fillRef idx="0">
            <a:schemeClr val="dk1"/>
          </a:fillRef>
          <a:effectRef idx="0">
            <a:schemeClr val="dk1"/>
          </a:effectRef>
          <a:fontRef idx="minor">
            <a:schemeClr val="tx1"/>
          </a:fontRef>
        </p:style>
      </p:cxnSp>
      <p:sp>
        <p:nvSpPr>
          <p:cNvPr id="8" name="Oval 7">
            <a:extLst>
              <a:ext uri="{FF2B5EF4-FFF2-40B4-BE49-F238E27FC236}">
                <a16:creationId xmlns:a16="http://schemas.microsoft.com/office/drawing/2014/main" id="{377E5763-E2A1-AC62-503F-C091AB5CE60E}"/>
              </a:ext>
            </a:extLst>
          </p:cNvPr>
          <p:cNvSpPr/>
          <p:nvPr/>
        </p:nvSpPr>
        <p:spPr>
          <a:xfrm>
            <a:off x="3648456" y="3032380"/>
            <a:ext cx="557784" cy="573786"/>
          </a:xfrm>
          <a:prstGeom prst="ellipse">
            <a:avLst/>
          </a:prstGeom>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Freeform: Shape 8">
            <a:extLst>
              <a:ext uri="{FF2B5EF4-FFF2-40B4-BE49-F238E27FC236}">
                <a16:creationId xmlns:a16="http://schemas.microsoft.com/office/drawing/2014/main" id="{13783DD6-A884-06D8-48B7-2214E3125568}"/>
              </a:ext>
            </a:extLst>
          </p:cNvPr>
          <p:cNvSpPr/>
          <p:nvPr/>
        </p:nvSpPr>
        <p:spPr>
          <a:xfrm>
            <a:off x="4206240" y="2615184"/>
            <a:ext cx="3099816" cy="713234"/>
          </a:xfrm>
          <a:custGeom>
            <a:avLst/>
            <a:gdLst>
              <a:gd name="connsiteX0" fmla="*/ 0 w 2651760"/>
              <a:gd name="connsiteY0" fmla="*/ 941832 h 941832"/>
              <a:gd name="connsiteX1" fmla="*/ 713232 w 2651760"/>
              <a:gd name="connsiteY1" fmla="*/ 27432 h 941832"/>
              <a:gd name="connsiteX2" fmla="*/ 2651760 w 2651760"/>
              <a:gd name="connsiteY2" fmla="*/ 0 h 941832"/>
            </a:gdLst>
            <a:ahLst/>
            <a:cxnLst>
              <a:cxn ang="0">
                <a:pos x="connsiteX0" y="connsiteY0"/>
              </a:cxn>
              <a:cxn ang="0">
                <a:pos x="connsiteX1" y="connsiteY1"/>
              </a:cxn>
              <a:cxn ang="0">
                <a:pos x="connsiteX2" y="connsiteY2"/>
              </a:cxn>
            </a:cxnLst>
            <a:rect l="l" t="t" r="r" b="b"/>
            <a:pathLst>
              <a:path w="2651760" h="941832">
                <a:moveTo>
                  <a:pt x="0" y="941832"/>
                </a:moveTo>
                <a:lnTo>
                  <a:pt x="713232" y="27432"/>
                </a:lnTo>
                <a:lnTo>
                  <a:pt x="2651760" y="0"/>
                </a:lnTo>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Freeform: Shape 9">
            <a:extLst>
              <a:ext uri="{FF2B5EF4-FFF2-40B4-BE49-F238E27FC236}">
                <a16:creationId xmlns:a16="http://schemas.microsoft.com/office/drawing/2014/main" id="{8D008B9E-2F7E-FA32-4E94-E21FD07249E2}"/>
              </a:ext>
            </a:extLst>
          </p:cNvPr>
          <p:cNvSpPr/>
          <p:nvPr/>
        </p:nvSpPr>
        <p:spPr>
          <a:xfrm flipV="1">
            <a:off x="4184904" y="3310128"/>
            <a:ext cx="3121152" cy="713234"/>
          </a:xfrm>
          <a:custGeom>
            <a:avLst/>
            <a:gdLst>
              <a:gd name="connsiteX0" fmla="*/ 0 w 2651760"/>
              <a:gd name="connsiteY0" fmla="*/ 941832 h 941832"/>
              <a:gd name="connsiteX1" fmla="*/ 713232 w 2651760"/>
              <a:gd name="connsiteY1" fmla="*/ 27432 h 941832"/>
              <a:gd name="connsiteX2" fmla="*/ 2651760 w 2651760"/>
              <a:gd name="connsiteY2" fmla="*/ 0 h 941832"/>
            </a:gdLst>
            <a:ahLst/>
            <a:cxnLst>
              <a:cxn ang="0">
                <a:pos x="connsiteX0" y="connsiteY0"/>
              </a:cxn>
              <a:cxn ang="0">
                <a:pos x="connsiteX1" y="connsiteY1"/>
              </a:cxn>
              <a:cxn ang="0">
                <a:pos x="connsiteX2" y="connsiteY2"/>
              </a:cxn>
            </a:cxnLst>
            <a:rect l="l" t="t" r="r" b="b"/>
            <a:pathLst>
              <a:path w="2651760" h="941832">
                <a:moveTo>
                  <a:pt x="0" y="941832"/>
                </a:moveTo>
                <a:lnTo>
                  <a:pt x="713232" y="27432"/>
                </a:lnTo>
                <a:lnTo>
                  <a:pt x="2651760" y="0"/>
                </a:lnTo>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TextBox 10">
            <a:extLst>
              <a:ext uri="{FF2B5EF4-FFF2-40B4-BE49-F238E27FC236}">
                <a16:creationId xmlns:a16="http://schemas.microsoft.com/office/drawing/2014/main" id="{872FE70E-F55C-9667-FA9B-A932BB1C2977}"/>
              </a:ext>
            </a:extLst>
          </p:cNvPr>
          <p:cNvSpPr txBox="1"/>
          <p:nvPr/>
        </p:nvSpPr>
        <p:spPr>
          <a:xfrm>
            <a:off x="5564124" y="2264140"/>
            <a:ext cx="1526380" cy="369332"/>
          </a:xfrm>
          <a:prstGeom prst="rect">
            <a:avLst/>
          </a:prstGeom>
          <a:noFill/>
        </p:spPr>
        <p:txBody>
          <a:bodyPr wrap="none" rtlCol="0">
            <a:spAutoFit/>
          </a:bodyPr>
          <a:lstStyle/>
          <a:p>
            <a:r>
              <a:rPr lang="en-CA" dirty="0"/>
              <a:t>Perfect Health</a:t>
            </a:r>
          </a:p>
        </p:txBody>
      </p:sp>
      <p:sp>
        <p:nvSpPr>
          <p:cNvPr id="12" name="TextBox 11">
            <a:extLst>
              <a:ext uri="{FF2B5EF4-FFF2-40B4-BE49-F238E27FC236}">
                <a16:creationId xmlns:a16="http://schemas.microsoft.com/office/drawing/2014/main" id="{99E7548C-EDFC-E758-A468-A9B1B26B709B}"/>
              </a:ext>
            </a:extLst>
          </p:cNvPr>
          <p:cNvSpPr txBox="1"/>
          <p:nvPr/>
        </p:nvSpPr>
        <p:spPr>
          <a:xfrm>
            <a:off x="5357657" y="3597021"/>
            <a:ext cx="1939313" cy="369332"/>
          </a:xfrm>
          <a:prstGeom prst="rect">
            <a:avLst/>
          </a:prstGeom>
          <a:noFill/>
        </p:spPr>
        <p:txBody>
          <a:bodyPr wrap="none" rtlCol="0">
            <a:spAutoFit/>
          </a:bodyPr>
          <a:lstStyle/>
          <a:p>
            <a:r>
              <a:rPr lang="en-CA" dirty="0"/>
              <a:t>Life with Back Pain</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FC40017-E731-BCB9-A23F-9FAB6647714D}"/>
                  </a:ext>
                </a:extLst>
              </p:cNvPr>
              <p:cNvSpPr txBox="1"/>
              <p:nvPr/>
            </p:nvSpPr>
            <p:spPr>
              <a:xfrm>
                <a:off x="7327392" y="2448806"/>
                <a:ext cx="1208216"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𝑈</m:t>
                      </m:r>
                      <m:d>
                        <m:dPr>
                          <m:ctrlPr>
                            <a:rPr lang="en-CA" b="0" i="1" smtClean="0">
                              <a:latin typeface="Cambria Math" panose="02040503050406030204" pitchFamily="18" charset="0"/>
                            </a:rPr>
                          </m:ctrlPr>
                        </m:dPr>
                        <m:e>
                          <m:acc>
                            <m:accPr>
                              <m:chr m:val="̅"/>
                              <m:ctrlPr>
                                <a:rPr lang="en-CA" b="0" i="1" smtClean="0">
                                  <a:latin typeface="Cambria Math" panose="02040503050406030204" pitchFamily="18" charset="0"/>
                                </a:rPr>
                              </m:ctrlPr>
                            </m:accPr>
                            <m:e>
                              <m:r>
                                <a:rPr lang="en-CA" b="0" i="1" smtClean="0">
                                  <a:latin typeface="Cambria Math" panose="02040503050406030204" pitchFamily="18" charset="0"/>
                                </a:rPr>
                                <m:t>𝐻</m:t>
                              </m:r>
                            </m:e>
                          </m:acc>
                        </m:e>
                      </m:d>
                      <m:r>
                        <a:rPr lang="en-CA" b="0" i="1" smtClean="0">
                          <a:latin typeface="Cambria Math" panose="02040503050406030204" pitchFamily="18" charset="0"/>
                        </a:rPr>
                        <m:t>=1</m:t>
                      </m:r>
                    </m:oMath>
                  </m:oMathPara>
                </a14:m>
                <a:endParaRPr lang="en-CA" dirty="0"/>
              </a:p>
            </p:txBody>
          </p:sp>
        </mc:Choice>
        <mc:Fallback xmlns="">
          <p:sp>
            <p:nvSpPr>
              <p:cNvPr id="13" name="TextBox 12">
                <a:extLst>
                  <a:ext uri="{FF2B5EF4-FFF2-40B4-BE49-F238E27FC236}">
                    <a16:creationId xmlns:a16="http://schemas.microsoft.com/office/drawing/2014/main" id="{5FC40017-E731-BCB9-A23F-9FAB6647714D}"/>
                  </a:ext>
                </a:extLst>
              </p:cNvPr>
              <p:cNvSpPr txBox="1">
                <a:spLocks noRot="1" noChangeAspect="1" noMove="1" noResize="1" noEditPoints="1" noAdjustHandles="1" noChangeArrowheads="1" noChangeShapeType="1" noTextEdit="1"/>
              </p:cNvSpPr>
              <p:nvPr/>
            </p:nvSpPr>
            <p:spPr>
              <a:xfrm>
                <a:off x="7327392" y="2448806"/>
                <a:ext cx="1208216" cy="369332"/>
              </a:xfrm>
              <a:prstGeom prst="rect">
                <a:avLst/>
              </a:prstGeom>
              <a:blipFill>
                <a:blip r:embed="rId2"/>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9204414-6F3F-1E17-DD90-F8C2DB11F10C}"/>
                  </a:ext>
                </a:extLst>
              </p:cNvPr>
              <p:cNvSpPr txBox="1"/>
              <p:nvPr/>
            </p:nvSpPr>
            <p:spPr>
              <a:xfrm>
                <a:off x="7261507" y="3799334"/>
                <a:ext cx="1400319" cy="404983"/>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𝑈</m:t>
                      </m:r>
                      <m:d>
                        <m:dPr>
                          <m:ctrlPr>
                            <a:rPr lang="en-CA" b="0" i="1" smtClean="0">
                              <a:latin typeface="Cambria Math" panose="02040503050406030204" pitchFamily="18" charset="0"/>
                            </a:rPr>
                          </m:ctrlPr>
                        </m:dPr>
                        <m:e>
                          <m:acc>
                            <m:accPr>
                              <m:chr m:val="̃"/>
                              <m:ctrlPr>
                                <a:rPr lang="en-CA" b="0" i="1" smtClean="0">
                                  <a:latin typeface="Cambria Math" panose="02040503050406030204" pitchFamily="18" charset="0"/>
                                </a:rPr>
                              </m:ctrlPr>
                            </m:accPr>
                            <m:e>
                              <m:r>
                                <a:rPr lang="en-CA" b="0" i="1" smtClean="0">
                                  <a:latin typeface="Cambria Math" panose="02040503050406030204" pitchFamily="18" charset="0"/>
                                </a:rPr>
                                <m:t>𝐻</m:t>
                              </m:r>
                            </m:e>
                          </m:acc>
                        </m:e>
                      </m:d>
                      <m:r>
                        <a:rPr lang="en-CA" b="0" i="1" smtClean="0">
                          <a:latin typeface="Cambria Math" panose="02040503050406030204" pitchFamily="18" charset="0"/>
                        </a:rPr>
                        <m:t>=0.7</m:t>
                      </m:r>
                    </m:oMath>
                  </m:oMathPara>
                </a14:m>
                <a:endParaRPr lang="en-CA" dirty="0"/>
              </a:p>
            </p:txBody>
          </p:sp>
        </mc:Choice>
        <mc:Fallback xmlns="">
          <p:sp>
            <p:nvSpPr>
              <p:cNvPr id="14" name="TextBox 13">
                <a:extLst>
                  <a:ext uri="{FF2B5EF4-FFF2-40B4-BE49-F238E27FC236}">
                    <a16:creationId xmlns:a16="http://schemas.microsoft.com/office/drawing/2014/main" id="{89204414-6F3F-1E17-DD90-F8C2DB11F10C}"/>
                  </a:ext>
                </a:extLst>
              </p:cNvPr>
              <p:cNvSpPr txBox="1">
                <a:spLocks noRot="1" noChangeAspect="1" noMove="1" noResize="1" noEditPoints="1" noAdjustHandles="1" noChangeArrowheads="1" noChangeShapeType="1" noTextEdit="1"/>
              </p:cNvSpPr>
              <p:nvPr/>
            </p:nvSpPr>
            <p:spPr>
              <a:xfrm>
                <a:off x="7261507" y="3799334"/>
                <a:ext cx="1400319" cy="404983"/>
              </a:xfrm>
              <a:prstGeom prst="rect">
                <a:avLst/>
              </a:prstGeom>
              <a:blipFill>
                <a:blip r:embed="rId3"/>
                <a:stretch>
                  <a:fillRect t="-4478"/>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D81A205-6939-1B91-419D-C4AD88826E04}"/>
                  </a:ext>
                </a:extLst>
              </p:cNvPr>
              <p:cNvSpPr txBox="1"/>
              <p:nvPr/>
            </p:nvSpPr>
            <p:spPr>
              <a:xfrm>
                <a:off x="4379976" y="2514315"/>
                <a:ext cx="379848"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𝑝</m:t>
                      </m:r>
                    </m:oMath>
                  </m:oMathPara>
                </a14:m>
                <a:endParaRPr lang="en-CA" dirty="0"/>
              </a:p>
            </p:txBody>
          </p:sp>
        </mc:Choice>
        <mc:Fallback xmlns="">
          <p:sp>
            <p:nvSpPr>
              <p:cNvPr id="15" name="TextBox 14">
                <a:extLst>
                  <a:ext uri="{FF2B5EF4-FFF2-40B4-BE49-F238E27FC236}">
                    <a16:creationId xmlns:a16="http://schemas.microsoft.com/office/drawing/2014/main" id="{0D81A205-6939-1B91-419D-C4AD88826E04}"/>
                  </a:ext>
                </a:extLst>
              </p:cNvPr>
              <p:cNvSpPr txBox="1">
                <a:spLocks noRot="1" noChangeAspect="1" noMove="1" noResize="1" noEditPoints="1" noAdjustHandles="1" noChangeArrowheads="1" noChangeShapeType="1" noTextEdit="1"/>
              </p:cNvSpPr>
              <p:nvPr/>
            </p:nvSpPr>
            <p:spPr>
              <a:xfrm>
                <a:off x="4379976" y="2514315"/>
                <a:ext cx="379848" cy="369332"/>
              </a:xfrm>
              <a:prstGeom prst="rect">
                <a:avLst/>
              </a:prstGeom>
              <a:blipFill>
                <a:blip r:embed="rId4"/>
                <a:stretch>
                  <a:fillRect b="-983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01156D1-1AAF-2790-7EE2-B2AD59321ABF}"/>
                  </a:ext>
                </a:extLst>
              </p:cNvPr>
              <p:cNvSpPr txBox="1"/>
              <p:nvPr/>
            </p:nvSpPr>
            <p:spPr>
              <a:xfrm>
                <a:off x="4079252" y="3682249"/>
                <a:ext cx="783804"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1−</m:t>
                      </m:r>
                      <m:r>
                        <a:rPr lang="en-CA" b="0" i="1" smtClean="0">
                          <a:latin typeface="Cambria Math" panose="02040503050406030204" pitchFamily="18" charset="0"/>
                        </a:rPr>
                        <m:t>𝑝</m:t>
                      </m:r>
                    </m:oMath>
                  </m:oMathPara>
                </a14:m>
                <a:endParaRPr lang="en-CA" dirty="0"/>
              </a:p>
            </p:txBody>
          </p:sp>
        </mc:Choice>
        <mc:Fallback xmlns="">
          <p:sp>
            <p:nvSpPr>
              <p:cNvPr id="16" name="TextBox 15">
                <a:extLst>
                  <a:ext uri="{FF2B5EF4-FFF2-40B4-BE49-F238E27FC236}">
                    <a16:creationId xmlns:a16="http://schemas.microsoft.com/office/drawing/2014/main" id="{F01156D1-1AAF-2790-7EE2-B2AD59321ABF}"/>
                  </a:ext>
                </a:extLst>
              </p:cNvPr>
              <p:cNvSpPr txBox="1">
                <a:spLocks noRot="1" noChangeAspect="1" noMove="1" noResize="1" noEditPoints="1" noAdjustHandles="1" noChangeArrowheads="1" noChangeShapeType="1" noTextEdit="1"/>
              </p:cNvSpPr>
              <p:nvPr/>
            </p:nvSpPr>
            <p:spPr>
              <a:xfrm>
                <a:off x="4079252" y="3682249"/>
                <a:ext cx="783804" cy="369332"/>
              </a:xfrm>
              <a:prstGeom prst="rect">
                <a:avLst/>
              </a:prstGeom>
              <a:blipFill>
                <a:blip r:embed="rId5"/>
                <a:stretch>
                  <a:fillRect b="-983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3CA160F-F8C0-40F0-0157-5B08DA65CD72}"/>
                  </a:ext>
                </a:extLst>
              </p:cNvPr>
              <p:cNvSpPr txBox="1"/>
              <p:nvPr/>
            </p:nvSpPr>
            <p:spPr>
              <a:xfrm>
                <a:off x="7514623" y="5665573"/>
                <a:ext cx="833754"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𝑈</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r>
                        <a:rPr lang="en-CA" b="0" i="1" smtClean="0">
                          <a:latin typeface="Cambria Math" panose="02040503050406030204" pitchFamily="18" charset="0"/>
                        </a:rPr>
                        <m:t>)</m:t>
                      </m:r>
                    </m:oMath>
                  </m:oMathPara>
                </a14:m>
                <a:endParaRPr lang="en-CA" dirty="0"/>
              </a:p>
            </p:txBody>
          </p:sp>
        </mc:Choice>
        <mc:Fallback xmlns="">
          <p:sp>
            <p:nvSpPr>
              <p:cNvPr id="17" name="TextBox 16">
                <a:extLst>
                  <a:ext uri="{FF2B5EF4-FFF2-40B4-BE49-F238E27FC236}">
                    <a16:creationId xmlns:a16="http://schemas.microsoft.com/office/drawing/2014/main" id="{53CA160F-F8C0-40F0-0157-5B08DA65CD72}"/>
                  </a:ext>
                </a:extLst>
              </p:cNvPr>
              <p:cNvSpPr txBox="1">
                <a:spLocks noRot="1" noChangeAspect="1" noMove="1" noResize="1" noEditPoints="1" noAdjustHandles="1" noChangeArrowheads="1" noChangeShapeType="1" noTextEdit="1"/>
              </p:cNvSpPr>
              <p:nvPr/>
            </p:nvSpPr>
            <p:spPr>
              <a:xfrm>
                <a:off x="7514623" y="5665573"/>
                <a:ext cx="833754" cy="369332"/>
              </a:xfrm>
              <a:prstGeom prst="rect">
                <a:avLst/>
              </a:prstGeom>
              <a:blipFill>
                <a:blip r:embed="rId6"/>
                <a:stretch>
                  <a:fillRect b="-1639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D7833CF-1D97-6951-7B97-47CCA7D8CAF3}"/>
                  </a:ext>
                </a:extLst>
              </p:cNvPr>
              <p:cNvSpPr txBox="1"/>
              <p:nvPr/>
            </p:nvSpPr>
            <p:spPr>
              <a:xfrm>
                <a:off x="4633813" y="5362315"/>
                <a:ext cx="1482393" cy="369332"/>
              </a:xfrm>
              <a:prstGeom prst="rect">
                <a:avLst/>
              </a:prstGeom>
              <a:noFill/>
            </p:spPr>
            <p:txBody>
              <a:bodyPr wrap="none" rtlCol="0">
                <a:spAutoFit/>
              </a:bodyPr>
              <a:lstStyle/>
              <a:p>
                <a:r>
                  <a:rPr lang="en-CA" dirty="0"/>
                  <a:t>Health State </a:t>
                </a:r>
                <a14:m>
                  <m:oMath xmlns:m="http://schemas.openxmlformats.org/officeDocument/2006/math">
                    <m:r>
                      <a:rPr lang="en-CA" b="0" i="1" smtClean="0">
                        <a:latin typeface="Cambria Math" panose="02040503050406030204" pitchFamily="18" charset="0"/>
                      </a:rPr>
                      <m:t>𝑖</m:t>
                    </m:r>
                  </m:oMath>
                </a14:m>
                <a:endParaRPr lang="en-CA" dirty="0"/>
              </a:p>
            </p:txBody>
          </p:sp>
        </mc:Choice>
        <mc:Fallback xmlns="">
          <p:sp>
            <p:nvSpPr>
              <p:cNvPr id="18" name="TextBox 17">
                <a:extLst>
                  <a:ext uri="{FF2B5EF4-FFF2-40B4-BE49-F238E27FC236}">
                    <a16:creationId xmlns:a16="http://schemas.microsoft.com/office/drawing/2014/main" id="{1D7833CF-1D97-6951-7B97-47CCA7D8CAF3}"/>
                  </a:ext>
                </a:extLst>
              </p:cNvPr>
              <p:cNvSpPr txBox="1">
                <a:spLocks noRot="1" noChangeAspect="1" noMove="1" noResize="1" noEditPoints="1" noAdjustHandles="1" noChangeArrowheads="1" noChangeShapeType="1" noTextEdit="1"/>
              </p:cNvSpPr>
              <p:nvPr/>
            </p:nvSpPr>
            <p:spPr>
              <a:xfrm>
                <a:off x="4633813" y="5362315"/>
                <a:ext cx="1482393" cy="369332"/>
              </a:xfrm>
              <a:prstGeom prst="rect">
                <a:avLst/>
              </a:prstGeom>
              <a:blipFill>
                <a:blip r:embed="rId7"/>
                <a:stretch>
                  <a:fillRect l="-3292" t="-10000" r="-5761" b="-26667"/>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A6C8955-7DA6-DA19-8E94-07A0F707712D}"/>
                  </a:ext>
                </a:extLst>
              </p:cNvPr>
              <p:cNvSpPr txBox="1"/>
              <p:nvPr/>
            </p:nvSpPr>
            <p:spPr>
              <a:xfrm>
                <a:off x="8994354" y="2514315"/>
                <a:ext cx="2691002" cy="1200329"/>
              </a:xfrm>
              <a:prstGeom prst="rect">
                <a:avLst/>
              </a:prstGeom>
              <a:noFill/>
              <a:ln w="57150">
                <a:solidFill>
                  <a:schemeClr val="tx1"/>
                </a:solidFill>
              </a:ln>
            </p:spPr>
            <p:txBody>
              <a:bodyPr wrap="square" rtlCol="0">
                <a:spAutoFit/>
              </a:bodyPr>
              <a:lstStyle/>
              <a:p>
                <a:r>
                  <a:rPr lang="en-CA" dirty="0"/>
                  <a:t>In this case whatever utilities we will measure for  </a:t>
                </a:r>
                <a14:m>
                  <m:oMath xmlns:m="http://schemas.openxmlformats.org/officeDocument/2006/math">
                    <m:r>
                      <a:rPr lang="en-CA" b="0" i="1" smtClean="0">
                        <a:latin typeface="Cambria Math" panose="02040503050406030204" pitchFamily="18" charset="0"/>
                      </a:rPr>
                      <m:t>𝑈</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r>
                      <a:rPr lang="en-CA" b="0" i="1" smtClean="0">
                        <a:latin typeface="Cambria Math" panose="02040503050406030204" pitchFamily="18" charset="0"/>
                      </a:rPr>
                      <m:t>)</m:t>
                    </m:r>
                  </m:oMath>
                </a14:m>
                <a:r>
                  <a:rPr lang="en-CA" dirty="0"/>
                  <a:t> will be on the interval of </a:t>
                </a:r>
                <a14:m>
                  <m:oMath xmlns:m="http://schemas.openxmlformats.org/officeDocument/2006/math">
                    <m:d>
                      <m:dPr>
                        <m:begChr m:val="["/>
                        <m:endChr m:val="]"/>
                        <m:ctrlPr>
                          <a:rPr lang="en-CA" b="0" i="1" smtClean="0">
                            <a:latin typeface="Cambria Math" panose="02040503050406030204" pitchFamily="18" charset="0"/>
                          </a:rPr>
                        </m:ctrlPr>
                      </m:dPr>
                      <m:e>
                        <m:r>
                          <a:rPr lang="en-CA" b="0" i="1" smtClean="0">
                            <a:latin typeface="Cambria Math" panose="02040503050406030204" pitchFamily="18" charset="0"/>
                          </a:rPr>
                          <m:t>0.7,1</m:t>
                        </m:r>
                      </m:e>
                    </m:d>
                    <m:r>
                      <a:rPr lang="en-CA" b="0" i="0" smtClean="0">
                        <a:latin typeface="Cambria Math" panose="02040503050406030204" pitchFamily="18" charset="0"/>
                      </a:rPr>
                      <m:t>.</m:t>
                    </m:r>
                  </m:oMath>
                </a14:m>
                <a:r>
                  <a:rPr lang="en-CA" dirty="0"/>
                  <a:t> </a:t>
                </a:r>
              </a:p>
            </p:txBody>
          </p:sp>
        </mc:Choice>
        <mc:Fallback xmlns="">
          <p:sp>
            <p:nvSpPr>
              <p:cNvPr id="19" name="TextBox 18">
                <a:extLst>
                  <a:ext uri="{FF2B5EF4-FFF2-40B4-BE49-F238E27FC236}">
                    <a16:creationId xmlns:a16="http://schemas.microsoft.com/office/drawing/2014/main" id="{7A6C8955-7DA6-DA19-8E94-07A0F707712D}"/>
                  </a:ext>
                </a:extLst>
              </p:cNvPr>
              <p:cNvSpPr txBox="1">
                <a:spLocks noRot="1" noChangeAspect="1" noMove="1" noResize="1" noEditPoints="1" noAdjustHandles="1" noChangeArrowheads="1" noChangeShapeType="1" noTextEdit="1"/>
              </p:cNvSpPr>
              <p:nvPr/>
            </p:nvSpPr>
            <p:spPr>
              <a:xfrm>
                <a:off x="8994354" y="2514315"/>
                <a:ext cx="2691002" cy="1200329"/>
              </a:xfrm>
              <a:prstGeom prst="rect">
                <a:avLst/>
              </a:prstGeom>
              <a:blipFill>
                <a:blip r:embed="rId8"/>
                <a:stretch>
                  <a:fillRect l="-887" t="-485" b="-4369"/>
                </a:stretch>
              </a:blipFill>
              <a:ln w="57150">
                <a:solidFill>
                  <a:schemeClr val="tx1"/>
                </a:solidFill>
              </a:ln>
            </p:spPr>
            <p:txBody>
              <a:bodyPr/>
              <a:lstStyle/>
              <a:p>
                <a:r>
                  <a:rPr lang="en-CA">
                    <a:noFill/>
                  </a:rPr>
                  <a:t> </a:t>
                </a:r>
              </a:p>
            </p:txBody>
          </p:sp>
        </mc:Fallback>
      </mc:AlternateContent>
    </p:spTree>
    <p:extLst>
      <p:ext uri="{BB962C8B-B14F-4D97-AF65-F5344CB8AC3E}">
        <p14:creationId xmlns:p14="http://schemas.microsoft.com/office/powerpoint/2010/main" val="37698627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7FD62-DDF8-8907-5F4E-BFBCE00B2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71B697-E7F1-FD04-CC4A-FDB12E692280}"/>
              </a:ext>
            </a:extLst>
          </p:cNvPr>
          <p:cNvSpPr>
            <a:spLocks noGrp="1"/>
          </p:cNvSpPr>
          <p:nvPr>
            <p:ph type="title"/>
          </p:nvPr>
        </p:nvSpPr>
        <p:spPr>
          <a:xfrm>
            <a:off x="482600" y="597408"/>
            <a:ext cx="10634472" cy="1117092"/>
          </a:xfrm>
        </p:spPr>
        <p:txBody>
          <a:bodyPr/>
          <a:lstStyle/>
          <a:p>
            <a:r>
              <a:rPr lang="en-CA" sz="4800" dirty="0"/>
              <a:t>Time Trade Off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8EE7D96-24F1-DDA4-2ED2-0CC9BB700961}"/>
                  </a:ext>
                </a:extLst>
              </p:cNvPr>
              <p:cNvSpPr>
                <a:spLocks noGrp="1"/>
              </p:cNvSpPr>
              <p:nvPr>
                <p:ph idx="1"/>
              </p:nvPr>
            </p:nvSpPr>
            <p:spPr>
              <a:xfrm>
                <a:off x="482600" y="1885950"/>
                <a:ext cx="11177397" cy="3936491"/>
              </a:xfrm>
            </p:spPr>
            <p:txBody>
              <a:bodyPr>
                <a:normAutofit/>
              </a:bodyPr>
              <a:lstStyle/>
              <a:p>
                <a:r>
                  <a:rPr lang="en-CA" dirty="0"/>
                  <a:t>The way the time trade off way of valuing health involves the determination of how many years of life in perfect health is equivalent to N many years in the health state of interest.</a:t>
                </a:r>
              </a:p>
              <a:p>
                <a:endParaRPr lang="en-CA" dirty="0"/>
              </a:p>
              <a:p>
                <a:r>
                  <a:rPr lang="en-CA" dirty="0"/>
                  <a:t>Example: “How many years of perfect health is equivalent to 20 years with a liver condition”</a:t>
                </a:r>
              </a:p>
              <a:p>
                <a14:m>
                  <m:oMath xmlns:m="http://schemas.openxmlformats.org/officeDocument/2006/math">
                    <m:r>
                      <a:rPr lang="en-CA" i="1">
                        <a:latin typeface="Cambria Math" panose="02040503050406030204" pitchFamily="18" charset="0"/>
                      </a:rPr>
                      <m:t>𝑈</m:t>
                    </m:r>
                    <m:d>
                      <m:dPr>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𝐿𝐶</m:t>
                            </m:r>
                          </m:sub>
                        </m:sSub>
                      </m:e>
                    </m:d>
                    <m:r>
                      <a:rPr lang="en-CA" i="1">
                        <a:latin typeface="Cambria Math" panose="02040503050406030204" pitchFamily="18" charset="0"/>
                      </a:rPr>
                      <m:t>×20=</m:t>
                    </m:r>
                    <m:r>
                      <a:rPr lang="en-CA" i="1">
                        <a:latin typeface="Cambria Math" panose="02040503050406030204" pitchFamily="18" charset="0"/>
                      </a:rPr>
                      <m:t>𝑈</m:t>
                    </m:r>
                    <m:d>
                      <m:dPr>
                        <m:ctrlPr>
                          <a:rPr lang="en-CA" i="1">
                            <a:latin typeface="Cambria Math" panose="02040503050406030204" pitchFamily="18" charset="0"/>
                          </a:rPr>
                        </m:ctrlPr>
                      </m:dPr>
                      <m:e>
                        <m:acc>
                          <m:accPr>
                            <m:chr m:val="̅"/>
                            <m:ctrlPr>
                              <a:rPr lang="en-CA" i="1">
                                <a:latin typeface="Cambria Math" panose="02040503050406030204" pitchFamily="18" charset="0"/>
                              </a:rPr>
                            </m:ctrlPr>
                          </m:accPr>
                          <m:e>
                            <m:r>
                              <a:rPr lang="en-CA" i="1">
                                <a:latin typeface="Cambria Math" panose="02040503050406030204" pitchFamily="18" charset="0"/>
                              </a:rPr>
                              <m:t>𝐻</m:t>
                            </m:r>
                          </m:e>
                        </m:acc>
                      </m:e>
                    </m:d>
                    <m:r>
                      <a:rPr lang="en-CA" i="1">
                        <a:latin typeface="Cambria Math" panose="02040503050406030204" pitchFamily="18" charset="0"/>
                      </a:rPr>
                      <m:t>×</m:t>
                    </m:r>
                    <m:r>
                      <a:rPr lang="en-CA" i="1">
                        <a:latin typeface="Cambria Math" panose="02040503050406030204" pitchFamily="18" charset="0"/>
                      </a:rPr>
                      <m:t>𝑌</m:t>
                    </m:r>
                  </m:oMath>
                </a14:m>
                <a:endParaRPr lang="en-CA" dirty="0"/>
              </a:p>
              <a:p>
                <a:r>
                  <a:rPr lang="en-CA" dirty="0"/>
                  <a:t>Noting that </a:t>
                </a:r>
                <a14:m>
                  <m:oMath xmlns:m="http://schemas.openxmlformats.org/officeDocument/2006/math">
                    <m:r>
                      <a:rPr lang="en-CA" i="1">
                        <a:latin typeface="Cambria Math" panose="02040503050406030204" pitchFamily="18" charset="0"/>
                      </a:rPr>
                      <m:t>𝑈</m:t>
                    </m:r>
                    <m:d>
                      <m:dPr>
                        <m:ctrlPr>
                          <a:rPr lang="en-CA" i="1">
                            <a:latin typeface="Cambria Math" panose="02040503050406030204" pitchFamily="18" charset="0"/>
                          </a:rPr>
                        </m:ctrlPr>
                      </m:dPr>
                      <m:e>
                        <m:acc>
                          <m:accPr>
                            <m:chr m:val="̅"/>
                            <m:ctrlPr>
                              <a:rPr lang="en-CA" i="1">
                                <a:latin typeface="Cambria Math" panose="02040503050406030204" pitchFamily="18" charset="0"/>
                              </a:rPr>
                            </m:ctrlPr>
                          </m:accPr>
                          <m:e>
                            <m:r>
                              <a:rPr lang="en-CA" i="1">
                                <a:latin typeface="Cambria Math" panose="02040503050406030204" pitchFamily="18" charset="0"/>
                              </a:rPr>
                              <m:t>𝐻</m:t>
                            </m:r>
                          </m:e>
                        </m:acc>
                      </m:e>
                    </m:d>
                    <m:r>
                      <a:rPr lang="en-CA" i="1">
                        <a:latin typeface="Cambria Math" panose="02040503050406030204" pitchFamily="18" charset="0"/>
                      </a:rPr>
                      <m:t>=1</m:t>
                    </m:r>
                  </m:oMath>
                </a14:m>
                <a:r>
                  <a:rPr lang="en-CA" dirty="0"/>
                  <a:t> we write:</a:t>
                </a:r>
              </a:p>
              <a:p>
                <a:br>
                  <a:rPr lang="en-CA" dirty="0"/>
                </a:br>
                <a14:m>
                  <m:oMath xmlns:m="http://schemas.openxmlformats.org/officeDocument/2006/math">
                    <m:r>
                      <a:rPr lang="en-CA" i="1">
                        <a:latin typeface="Cambria Math" panose="02040503050406030204" pitchFamily="18" charset="0"/>
                      </a:rPr>
                      <m:t>𝑈</m:t>
                    </m:r>
                    <m:d>
                      <m:dPr>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𝐿𝐶</m:t>
                            </m:r>
                          </m:sub>
                        </m:sSub>
                      </m:e>
                    </m:d>
                    <m:r>
                      <a:rPr lang="en-CA" i="1">
                        <a:latin typeface="Cambria Math" panose="02040503050406030204" pitchFamily="18" charset="0"/>
                      </a:rPr>
                      <m:t>=</m:t>
                    </m:r>
                    <m:f>
                      <m:fPr>
                        <m:ctrlPr>
                          <a:rPr lang="en-CA" i="1">
                            <a:latin typeface="Cambria Math" panose="02040503050406030204" pitchFamily="18" charset="0"/>
                          </a:rPr>
                        </m:ctrlPr>
                      </m:fPr>
                      <m:num>
                        <m:r>
                          <a:rPr lang="en-CA" i="1">
                            <a:latin typeface="Cambria Math" panose="02040503050406030204" pitchFamily="18" charset="0"/>
                          </a:rPr>
                          <m:t>𝑌</m:t>
                        </m:r>
                      </m:num>
                      <m:den>
                        <m:r>
                          <a:rPr lang="en-CA" i="1">
                            <a:latin typeface="Cambria Math" panose="02040503050406030204" pitchFamily="18" charset="0"/>
                          </a:rPr>
                          <m:t>20</m:t>
                        </m:r>
                      </m:den>
                    </m:f>
                  </m:oMath>
                </a14:m>
                <a:endParaRPr lang="en-CA" dirty="0"/>
              </a:p>
              <a:p>
                <a:pPr marL="342900" indent="-342900">
                  <a:buFont typeface="Wingdings" panose="05000000000000000000" pitchFamily="2" charset="2"/>
                  <a:buChar char="§"/>
                </a:pPr>
                <a:endParaRPr lang="en-CA" dirty="0"/>
              </a:p>
            </p:txBody>
          </p:sp>
        </mc:Choice>
        <mc:Fallback xmlns="">
          <p:sp>
            <p:nvSpPr>
              <p:cNvPr id="3" name="Content Placeholder 2">
                <a:extLst>
                  <a:ext uri="{FF2B5EF4-FFF2-40B4-BE49-F238E27FC236}">
                    <a16:creationId xmlns:a16="http://schemas.microsoft.com/office/drawing/2014/main" id="{48EE7D96-24F1-DDA4-2ED2-0CC9BB700961}"/>
                  </a:ext>
                </a:extLst>
              </p:cNvPr>
              <p:cNvSpPr>
                <a:spLocks noGrp="1" noRot="1" noChangeAspect="1" noMove="1" noResize="1" noEditPoints="1" noAdjustHandles="1" noChangeArrowheads="1" noChangeShapeType="1" noTextEdit="1"/>
              </p:cNvSpPr>
              <p:nvPr>
                <p:ph idx="1"/>
              </p:nvPr>
            </p:nvSpPr>
            <p:spPr>
              <a:xfrm>
                <a:off x="482600" y="1885950"/>
                <a:ext cx="11177397" cy="3936491"/>
              </a:xfrm>
              <a:blipFill>
                <a:blip r:embed="rId2"/>
                <a:stretch>
                  <a:fillRect l="-327" t="-464"/>
                </a:stretch>
              </a:blipFill>
            </p:spPr>
            <p:txBody>
              <a:bodyPr/>
              <a:lstStyle/>
              <a:p>
                <a:r>
                  <a:rPr lang="en-CA">
                    <a:noFill/>
                  </a:rPr>
                  <a:t> </a:t>
                </a:r>
              </a:p>
            </p:txBody>
          </p:sp>
        </mc:Fallback>
      </mc:AlternateContent>
    </p:spTree>
    <p:extLst>
      <p:ext uri="{BB962C8B-B14F-4D97-AF65-F5344CB8AC3E}">
        <p14:creationId xmlns:p14="http://schemas.microsoft.com/office/powerpoint/2010/main" val="31866613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EC91A-3D5E-84CB-B138-77546B6C09B7}"/>
              </a:ext>
            </a:extLst>
          </p:cNvPr>
          <p:cNvSpPr>
            <a:spLocks noGrp="1"/>
          </p:cNvSpPr>
          <p:nvPr>
            <p:ph type="ctrTitle"/>
          </p:nvPr>
        </p:nvSpPr>
        <p:spPr/>
        <p:txBody>
          <a:bodyPr/>
          <a:lstStyle/>
          <a:p>
            <a:r>
              <a:rPr lang="en-CA" dirty="0"/>
              <a:t>Databases for Utilities</a:t>
            </a:r>
          </a:p>
        </p:txBody>
      </p:sp>
    </p:spTree>
    <p:extLst>
      <p:ext uri="{BB962C8B-B14F-4D97-AF65-F5344CB8AC3E}">
        <p14:creationId xmlns:p14="http://schemas.microsoft.com/office/powerpoint/2010/main" val="34379926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44A57-375A-6709-9374-0459C56CF85C}"/>
              </a:ext>
            </a:extLst>
          </p:cNvPr>
          <p:cNvSpPr>
            <a:spLocks noGrp="1"/>
          </p:cNvSpPr>
          <p:nvPr>
            <p:ph type="title"/>
          </p:nvPr>
        </p:nvSpPr>
        <p:spPr>
          <a:xfrm>
            <a:off x="518160" y="940308"/>
            <a:ext cx="11155680" cy="1463040"/>
          </a:xfrm>
        </p:spPr>
        <p:txBody>
          <a:bodyPr/>
          <a:lstStyle/>
          <a:p>
            <a:r>
              <a:rPr lang="en-CA" dirty="0"/>
              <a:t>Databases for Utilities</a:t>
            </a:r>
          </a:p>
        </p:txBody>
      </p:sp>
      <p:sp>
        <p:nvSpPr>
          <p:cNvPr id="3" name="Content Placeholder 2">
            <a:extLst>
              <a:ext uri="{FF2B5EF4-FFF2-40B4-BE49-F238E27FC236}">
                <a16:creationId xmlns:a16="http://schemas.microsoft.com/office/drawing/2014/main" id="{EC49E8A9-6603-73D7-CCEA-20A4A8850C1F}"/>
              </a:ext>
            </a:extLst>
          </p:cNvPr>
          <p:cNvSpPr>
            <a:spLocks noGrp="1"/>
          </p:cNvSpPr>
          <p:nvPr>
            <p:ph idx="1"/>
          </p:nvPr>
        </p:nvSpPr>
        <p:spPr>
          <a:xfrm>
            <a:off x="584835" y="1959483"/>
            <a:ext cx="11155680" cy="3767328"/>
          </a:xfrm>
        </p:spPr>
        <p:txBody>
          <a:bodyPr/>
          <a:lstStyle/>
          <a:p>
            <a:r>
              <a:rPr lang="en-CA" dirty="0"/>
              <a:t>Two of the most accessible databases for finding information on utilities. These are: </a:t>
            </a:r>
          </a:p>
          <a:p>
            <a:pPr marL="800100" lvl="1" indent="-342900">
              <a:buFont typeface="+mj-lt"/>
              <a:buAutoNum type="arabicPeriod"/>
            </a:pPr>
            <a:r>
              <a:rPr lang="en-CA" dirty="0"/>
              <a:t>The </a:t>
            </a:r>
            <a:r>
              <a:rPr lang="en-CA" dirty="0">
                <a:hlinkClick r:id="rId2"/>
              </a:rPr>
              <a:t>CEA Registry </a:t>
            </a:r>
            <a:r>
              <a:rPr lang="en-CA" dirty="0"/>
              <a:t>from the Tufts Center for Evaluation of Risk in Health.</a:t>
            </a:r>
          </a:p>
          <a:p>
            <a:pPr marL="800100" lvl="1" indent="-342900">
              <a:buFont typeface="+mj-lt"/>
              <a:buAutoNum type="arabicPeriod"/>
            </a:pPr>
            <a:r>
              <a:rPr lang="en-CA" dirty="0"/>
              <a:t>The </a:t>
            </a:r>
            <a:r>
              <a:rPr lang="en-CA" dirty="0">
                <a:hlinkClick r:id="rId3"/>
              </a:rPr>
              <a:t>PEDE Database </a:t>
            </a:r>
            <a:r>
              <a:rPr lang="en-CA" dirty="0"/>
              <a:t>from SickKids Hospital (specific to pediatrics interventions).</a:t>
            </a:r>
          </a:p>
          <a:p>
            <a:r>
              <a:rPr lang="en-CA" dirty="0"/>
              <a:t>While it's possible to search the literature directly,  these sources make accessing data on utilities easier.</a:t>
            </a:r>
          </a:p>
          <a:p>
            <a:r>
              <a:rPr lang="en-CA" dirty="0"/>
              <a:t>In the case of the model free analysis suppose we are interested in the risk of encountering a particular health state?</a:t>
            </a:r>
          </a:p>
          <a:p>
            <a:pPr marL="0" indent="0">
              <a:buNone/>
            </a:pPr>
            <a:endParaRPr lang="en-CA" dirty="0"/>
          </a:p>
          <a:p>
            <a:endParaRPr lang="en-CA" dirty="0"/>
          </a:p>
          <a:p>
            <a:endParaRPr lang="en-CA" dirty="0"/>
          </a:p>
        </p:txBody>
      </p:sp>
    </p:spTree>
    <p:extLst>
      <p:ext uri="{BB962C8B-B14F-4D97-AF65-F5344CB8AC3E}">
        <p14:creationId xmlns:p14="http://schemas.microsoft.com/office/powerpoint/2010/main" val="17565368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89BD4-2284-85F8-12B1-EBF0D1CAFB58}"/>
              </a:ext>
            </a:extLst>
          </p:cNvPr>
          <p:cNvSpPr>
            <a:spLocks noGrp="1"/>
          </p:cNvSpPr>
          <p:nvPr>
            <p:ph type="title"/>
          </p:nvPr>
        </p:nvSpPr>
        <p:spPr/>
        <p:txBody>
          <a:bodyPr/>
          <a:lstStyle/>
          <a:p>
            <a:r>
              <a:rPr lang="en-CA" dirty="0"/>
              <a:t>The Model Free Analysis</a:t>
            </a:r>
          </a:p>
        </p:txBody>
      </p:sp>
      <p:pic>
        <p:nvPicPr>
          <p:cNvPr id="5" name="Picture 4">
            <a:extLst>
              <a:ext uri="{FF2B5EF4-FFF2-40B4-BE49-F238E27FC236}">
                <a16:creationId xmlns:a16="http://schemas.microsoft.com/office/drawing/2014/main" id="{37D2511E-FA6B-94E5-A52F-18EC841FC825}"/>
              </a:ext>
            </a:extLst>
          </p:cNvPr>
          <p:cNvPicPr>
            <a:picLocks noChangeAspect="1"/>
          </p:cNvPicPr>
          <p:nvPr/>
        </p:nvPicPr>
        <p:blipFill>
          <a:blip r:embed="rId2"/>
          <a:stretch>
            <a:fillRect/>
          </a:stretch>
        </p:blipFill>
        <p:spPr>
          <a:xfrm>
            <a:off x="325814" y="1805028"/>
            <a:ext cx="6617911" cy="4805321"/>
          </a:xfrm>
          <a:prstGeom prst="rect">
            <a:avLst/>
          </a:prstGeom>
        </p:spPr>
      </p:pic>
      <p:sp>
        <p:nvSpPr>
          <p:cNvPr id="6" name="TextBox 5">
            <a:extLst>
              <a:ext uri="{FF2B5EF4-FFF2-40B4-BE49-F238E27FC236}">
                <a16:creationId xmlns:a16="http://schemas.microsoft.com/office/drawing/2014/main" id="{8617B74E-29F4-32C1-4EEF-3863924BD18C}"/>
              </a:ext>
            </a:extLst>
          </p:cNvPr>
          <p:cNvSpPr txBox="1"/>
          <p:nvPr/>
        </p:nvSpPr>
        <p:spPr>
          <a:xfrm>
            <a:off x="7820025" y="2276475"/>
            <a:ext cx="4085542" cy="646331"/>
          </a:xfrm>
          <a:prstGeom prst="rect">
            <a:avLst/>
          </a:prstGeom>
          <a:noFill/>
        </p:spPr>
        <p:txBody>
          <a:bodyPr wrap="none" rtlCol="0">
            <a:spAutoFit/>
          </a:bodyPr>
          <a:lstStyle/>
          <a:p>
            <a:r>
              <a:rPr lang="en-CA" dirty="0"/>
              <a:t>Consider this secondary outcome from</a:t>
            </a:r>
            <a:br>
              <a:rPr lang="en-CA" dirty="0"/>
            </a:br>
            <a:r>
              <a:rPr lang="en-CA" dirty="0"/>
              <a:t>our clinical trial</a:t>
            </a:r>
          </a:p>
        </p:txBody>
      </p:sp>
    </p:spTree>
    <p:extLst>
      <p:ext uri="{BB962C8B-B14F-4D97-AF65-F5344CB8AC3E}">
        <p14:creationId xmlns:p14="http://schemas.microsoft.com/office/powerpoint/2010/main" val="25101251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C5947-E002-49D7-80CA-A83089CD72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E85A1-8F25-08EC-A113-37E0AA69CAC5}"/>
              </a:ext>
            </a:extLst>
          </p:cNvPr>
          <p:cNvSpPr>
            <a:spLocks noGrp="1"/>
          </p:cNvSpPr>
          <p:nvPr>
            <p:ph type="title"/>
          </p:nvPr>
        </p:nvSpPr>
        <p:spPr>
          <a:xfrm>
            <a:off x="518160" y="1024574"/>
            <a:ext cx="11155680" cy="1463040"/>
          </a:xfrm>
        </p:spPr>
        <p:txBody>
          <a:bodyPr/>
          <a:lstStyle/>
          <a:p>
            <a:r>
              <a:rPr lang="en-CA" dirty="0"/>
              <a:t>The Model Free Analysis</a:t>
            </a:r>
          </a:p>
        </p:txBody>
      </p:sp>
      <p:pic>
        <p:nvPicPr>
          <p:cNvPr id="5" name="Picture 4">
            <a:extLst>
              <a:ext uri="{FF2B5EF4-FFF2-40B4-BE49-F238E27FC236}">
                <a16:creationId xmlns:a16="http://schemas.microsoft.com/office/drawing/2014/main" id="{3EC2445A-E793-1143-2098-4D9C3B6E0D03}"/>
              </a:ext>
            </a:extLst>
          </p:cNvPr>
          <p:cNvPicPr>
            <a:picLocks noChangeAspect="1"/>
          </p:cNvPicPr>
          <p:nvPr/>
        </p:nvPicPr>
        <p:blipFill>
          <a:blip r:embed="rId2"/>
          <a:stretch>
            <a:fillRect/>
          </a:stretch>
        </p:blipFill>
        <p:spPr>
          <a:xfrm>
            <a:off x="325814" y="1805028"/>
            <a:ext cx="6617911" cy="4805321"/>
          </a:xfrm>
          <a:prstGeom prst="rect">
            <a:avLst/>
          </a:prstGeom>
        </p:spPr>
      </p:pic>
      <p:sp>
        <p:nvSpPr>
          <p:cNvPr id="6" name="TextBox 5">
            <a:extLst>
              <a:ext uri="{FF2B5EF4-FFF2-40B4-BE49-F238E27FC236}">
                <a16:creationId xmlns:a16="http://schemas.microsoft.com/office/drawing/2014/main" id="{33C6F938-1C10-AD2F-65FA-FFAC2B175DD0}"/>
              </a:ext>
            </a:extLst>
          </p:cNvPr>
          <p:cNvSpPr txBox="1"/>
          <p:nvPr/>
        </p:nvSpPr>
        <p:spPr>
          <a:xfrm>
            <a:off x="7710619" y="2002950"/>
            <a:ext cx="3963221" cy="1754326"/>
          </a:xfrm>
          <a:prstGeom prst="rect">
            <a:avLst/>
          </a:prstGeom>
          <a:noFill/>
        </p:spPr>
        <p:txBody>
          <a:bodyPr wrap="square" rtlCol="0">
            <a:spAutoFit/>
          </a:bodyPr>
          <a:lstStyle/>
          <a:p>
            <a:r>
              <a:rPr lang="en-CA" b="1" dirty="0"/>
              <a:t>This is the health state of interest.</a:t>
            </a:r>
          </a:p>
          <a:p>
            <a:endParaRPr lang="en-CA" b="1" dirty="0"/>
          </a:p>
          <a:p>
            <a:r>
              <a:rPr lang="en-CA" b="1" dirty="0"/>
              <a:t>(We are ignoring these for now because we are ignoring the structure of the clinical</a:t>
            </a:r>
            <a:br>
              <a:rPr lang="en-CA" b="1" dirty="0"/>
            </a:br>
            <a:r>
              <a:rPr lang="en-CA" b="1" dirty="0"/>
              <a:t>pathway).</a:t>
            </a:r>
          </a:p>
        </p:txBody>
      </p:sp>
      <p:cxnSp>
        <p:nvCxnSpPr>
          <p:cNvPr id="12" name="Straight Arrow Connector 11">
            <a:extLst>
              <a:ext uri="{FF2B5EF4-FFF2-40B4-BE49-F238E27FC236}">
                <a16:creationId xmlns:a16="http://schemas.microsoft.com/office/drawing/2014/main" id="{A578BFFF-6214-CDAA-2E7B-F6683D5E9212}"/>
              </a:ext>
            </a:extLst>
          </p:cNvPr>
          <p:cNvCxnSpPr>
            <a:cxnSpLocks/>
          </p:cNvCxnSpPr>
          <p:nvPr/>
        </p:nvCxnSpPr>
        <p:spPr>
          <a:xfrm flipH="1">
            <a:off x="5848350" y="3905250"/>
            <a:ext cx="2438400" cy="158115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8AD6B91C-5266-8A42-77FD-82C1336A5766}"/>
              </a:ext>
            </a:extLst>
          </p:cNvPr>
          <p:cNvCxnSpPr>
            <a:cxnSpLocks/>
          </p:cNvCxnSpPr>
          <p:nvPr/>
        </p:nvCxnSpPr>
        <p:spPr>
          <a:xfrm flipH="1">
            <a:off x="3352800" y="3190875"/>
            <a:ext cx="4457700" cy="2340013"/>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B14BACE6-45D4-C0A0-8147-4A013D5FE066}"/>
              </a:ext>
            </a:extLst>
          </p:cNvPr>
          <p:cNvCxnSpPr>
            <a:cxnSpLocks/>
          </p:cNvCxnSpPr>
          <p:nvPr/>
        </p:nvCxnSpPr>
        <p:spPr>
          <a:xfrm flipH="1">
            <a:off x="2628900" y="2176155"/>
            <a:ext cx="4978790"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18039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9E516-B585-5930-D8B1-D65B35D3E2F0}"/>
              </a:ext>
            </a:extLst>
          </p:cNvPr>
          <p:cNvSpPr>
            <a:spLocks noGrp="1"/>
          </p:cNvSpPr>
          <p:nvPr>
            <p:ph type="title"/>
          </p:nvPr>
        </p:nvSpPr>
        <p:spPr/>
        <p:txBody>
          <a:bodyPr/>
          <a:lstStyle/>
          <a:p>
            <a:r>
              <a:rPr lang="en-CA" dirty="0"/>
              <a:t>Refining Search Results</a:t>
            </a:r>
          </a:p>
        </p:txBody>
      </p:sp>
      <p:pic>
        <p:nvPicPr>
          <p:cNvPr id="5" name="Picture 4">
            <a:extLst>
              <a:ext uri="{FF2B5EF4-FFF2-40B4-BE49-F238E27FC236}">
                <a16:creationId xmlns:a16="http://schemas.microsoft.com/office/drawing/2014/main" id="{A0ED68BE-E79F-7B03-0CA2-624EF27B738F}"/>
              </a:ext>
            </a:extLst>
          </p:cNvPr>
          <p:cNvPicPr>
            <a:picLocks noChangeAspect="1"/>
          </p:cNvPicPr>
          <p:nvPr/>
        </p:nvPicPr>
        <p:blipFill>
          <a:blip r:embed="rId2"/>
          <a:srcRect r="27979"/>
          <a:stretch>
            <a:fillRect/>
          </a:stretch>
        </p:blipFill>
        <p:spPr>
          <a:xfrm>
            <a:off x="645033" y="1958971"/>
            <a:ext cx="5222367" cy="1733682"/>
          </a:xfrm>
          <a:prstGeom prst="rect">
            <a:avLst/>
          </a:prstGeom>
        </p:spPr>
      </p:pic>
      <p:pic>
        <p:nvPicPr>
          <p:cNvPr id="7" name="Picture 6">
            <a:extLst>
              <a:ext uri="{FF2B5EF4-FFF2-40B4-BE49-F238E27FC236}">
                <a16:creationId xmlns:a16="http://schemas.microsoft.com/office/drawing/2014/main" id="{42A8B760-7E35-B614-96FD-430DD5855363}"/>
              </a:ext>
            </a:extLst>
          </p:cNvPr>
          <p:cNvPicPr>
            <a:picLocks noChangeAspect="1"/>
          </p:cNvPicPr>
          <p:nvPr/>
        </p:nvPicPr>
        <p:blipFill>
          <a:blip r:embed="rId3"/>
          <a:stretch>
            <a:fillRect/>
          </a:stretch>
        </p:blipFill>
        <p:spPr>
          <a:xfrm>
            <a:off x="752477" y="3997453"/>
            <a:ext cx="3886198" cy="1605755"/>
          </a:xfrm>
          <a:prstGeom prst="rect">
            <a:avLst/>
          </a:prstGeom>
        </p:spPr>
      </p:pic>
      <p:sp>
        <p:nvSpPr>
          <p:cNvPr id="8" name="TextBox 7">
            <a:extLst>
              <a:ext uri="{FF2B5EF4-FFF2-40B4-BE49-F238E27FC236}">
                <a16:creationId xmlns:a16="http://schemas.microsoft.com/office/drawing/2014/main" id="{81AE5321-1CF7-EA7E-D58A-B26B86220388}"/>
              </a:ext>
            </a:extLst>
          </p:cNvPr>
          <p:cNvSpPr txBox="1"/>
          <p:nvPr/>
        </p:nvSpPr>
        <p:spPr>
          <a:xfrm>
            <a:off x="6819900" y="2215325"/>
            <a:ext cx="4156394" cy="1477328"/>
          </a:xfrm>
          <a:prstGeom prst="rect">
            <a:avLst/>
          </a:prstGeom>
          <a:noFill/>
        </p:spPr>
        <p:txBody>
          <a:bodyPr wrap="none" rtlCol="0">
            <a:spAutoFit/>
          </a:bodyPr>
          <a:lstStyle/>
          <a:p>
            <a:r>
              <a:rPr lang="en-CA" dirty="0"/>
              <a:t>The more general your search the more</a:t>
            </a:r>
            <a:br>
              <a:rPr lang="en-CA" dirty="0"/>
            </a:br>
            <a:r>
              <a:rPr lang="en-CA" dirty="0"/>
              <a:t>utilities we will get.</a:t>
            </a:r>
            <a:br>
              <a:rPr lang="en-CA" dirty="0"/>
            </a:br>
            <a:br>
              <a:rPr lang="en-CA" dirty="0"/>
            </a:br>
            <a:r>
              <a:rPr lang="en-CA" dirty="0"/>
              <a:t>However, you need to be careful as</a:t>
            </a:r>
          </a:p>
          <a:p>
            <a:r>
              <a:rPr lang="en-CA" dirty="0"/>
              <a:t>Some search results may not be fruitful.</a:t>
            </a:r>
          </a:p>
        </p:txBody>
      </p:sp>
    </p:spTree>
    <p:extLst>
      <p:ext uri="{BB962C8B-B14F-4D97-AF65-F5344CB8AC3E}">
        <p14:creationId xmlns:p14="http://schemas.microsoft.com/office/powerpoint/2010/main" val="36482650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59869-70A4-36F5-7BDB-017BDBDDF2D2}"/>
              </a:ext>
            </a:extLst>
          </p:cNvPr>
          <p:cNvSpPr>
            <a:spLocks noGrp="1"/>
          </p:cNvSpPr>
          <p:nvPr>
            <p:ph type="title"/>
          </p:nvPr>
        </p:nvSpPr>
        <p:spPr/>
        <p:txBody>
          <a:bodyPr/>
          <a:lstStyle/>
          <a:p>
            <a:r>
              <a:rPr lang="en-CA" dirty="0"/>
              <a:t>Final Remarks about Searching for Inputs</a:t>
            </a:r>
          </a:p>
        </p:txBody>
      </p:sp>
      <p:sp>
        <p:nvSpPr>
          <p:cNvPr id="3" name="Content Placeholder 2">
            <a:extLst>
              <a:ext uri="{FF2B5EF4-FFF2-40B4-BE49-F238E27FC236}">
                <a16:creationId xmlns:a16="http://schemas.microsoft.com/office/drawing/2014/main" id="{33168B13-57EC-56A5-3F5E-C36BA0E2ACC2}"/>
              </a:ext>
            </a:extLst>
          </p:cNvPr>
          <p:cNvSpPr>
            <a:spLocks noGrp="1"/>
          </p:cNvSpPr>
          <p:nvPr>
            <p:ph idx="1"/>
          </p:nvPr>
        </p:nvSpPr>
        <p:spPr>
          <a:xfrm>
            <a:off x="521208" y="2578608"/>
            <a:ext cx="11155680" cy="2345817"/>
          </a:xfrm>
        </p:spPr>
        <p:txBody>
          <a:bodyPr/>
          <a:lstStyle/>
          <a:p>
            <a:r>
              <a:rPr lang="en-CA" dirty="0"/>
              <a:t>In absence of physician-level data for the exact medical intervention, we will always be working with estimates.</a:t>
            </a:r>
          </a:p>
          <a:p>
            <a:r>
              <a:rPr lang="en-CA" dirty="0"/>
              <a:t>Our job is to provide good ones.</a:t>
            </a:r>
          </a:p>
          <a:p>
            <a:r>
              <a:rPr lang="en-CA" dirty="0"/>
              <a:t>In fact, this is a line of attack for critiquing an article (i.e. are the inputs employed accurate? How are the baseline utilities calibrated?)</a:t>
            </a:r>
          </a:p>
          <a:p>
            <a:r>
              <a:rPr lang="en-CA" dirty="0"/>
              <a:t>If you are using a secondary data source be sure to cite it.</a:t>
            </a:r>
          </a:p>
          <a:p>
            <a:endParaRPr lang="en-CA" dirty="0"/>
          </a:p>
        </p:txBody>
      </p:sp>
      <p:sp>
        <p:nvSpPr>
          <p:cNvPr id="4" name="TextBox 3">
            <a:extLst>
              <a:ext uri="{FF2B5EF4-FFF2-40B4-BE49-F238E27FC236}">
                <a16:creationId xmlns:a16="http://schemas.microsoft.com/office/drawing/2014/main" id="{9D84286D-E998-6AAD-DF7B-102C3CF56ADE}"/>
              </a:ext>
            </a:extLst>
          </p:cNvPr>
          <p:cNvSpPr txBox="1"/>
          <p:nvPr/>
        </p:nvSpPr>
        <p:spPr>
          <a:xfrm flipH="1">
            <a:off x="2505074" y="5431917"/>
            <a:ext cx="6467475" cy="646331"/>
          </a:xfrm>
          <a:prstGeom prst="rect">
            <a:avLst/>
          </a:prstGeom>
          <a:noFill/>
          <a:ln w="76200">
            <a:solidFill>
              <a:schemeClr val="tx1"/>
            </a:solidFill>
          </a:ln>
        </p:spPr>
        <p:txBody>
          <a:bodyPr wrap="square" rtlCol="0">
            <a:spAutoFit/>
          </a:bodyPr>
          <a:lstStyle/>
          <a:p>
            <a:pPr algn="ctr"/>
            <a:r>
              <a:rPr lang="en-CA" b="1" dirty="0"/>
              <a:t>NEXT CLASS WE WILL DISCUSS HOW TO BUILD MODELS </a:t>
            </a:r>
            <a:br>
              <a:rPr lang="en-CA" b="1" dirty="0"/>
            </a:br>
            <a:r>
              <a:rPr lang="en-CA" b="1" dirty="0"/>
              <a:t>(STARTING WITH DECISION TREES)</a:t>
            </a:r>
          </a:p>
        </p:txBody>
      </p:sp>
    </p:spTree>
    <p:extLst>
      <p:ext uri="{BB962C8B-B14F-4D97-AF65-F5344CB8AC3E}">
        <p14:creationId xmlns:p14="http://schemas.microsoft.com/office/powerpoint/2010/main" val="4242749479"/>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4246</TotalTime>
  <Words>3929</Words>
  <Application>Microsoft Office PowerPoint</Application>
  <PresentationFormat>Widescreen</PresentationFormat>
  <Paragraphs>331</Paragraphs>
  <Slides>54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Aptos</vt:lpstr>
      <vt:lpstr>Arial</vt:lpstr>
      <vt:lpstr>Bierstadt</vt:lpstr>
      <vt:lpstr>Cambria Math</vt:lpstr>
      <vt:lpstr>Wingdings</vt:lpstr>
      <vt:lpstr>GestaltVTI</vt:lpstr>
      <vt:lpstr>Advanced Topics in Economic Evaluation and Healthcare</vt:lpstr>
      <vt:lpstr>Lecture Overview</vt:lpstr>
      <vt:lpstr>Searching the Literature</vt:lpstr>
      <vt:lpstr>Review: Economic Evaluation and The Life Cycle of a Drug</vt:lpstr>
      <vt:lpstr>Review: Economic Evaluation and The Life Cycle of a Drug</vt:lpstr>
      <vt:lpstr>REVIEW: A “Model Free” Approach to Cost Effectiveness Analysis</vt:lpstr>
      <vt:lpstr>REVIEW: A “Model Free” Approach to Cost Effectiveness Analysis</vt:lpstr>
      <vt:lpstr>The Challenge: Reading Medical Literature as a Non-Clinician– What we are looking for.</vt:lpstr>
      <vt:lpstr>Where to find literature</vt:lpstr>
      <vt:lpstr>Example: a first cut at a “model free” cost effectiveness analysis</vt:lpstr>
      <vt:lpstr>Example: a first cut at a “model free” cost effectiveness analysis</vt:lpstr>
      <vt:lpstr>REVIEW: A “Model Free” Approach to Cost Effectiveness Analysis</vt:lpstr>
      <vt:lpstr>REVIEW: A “Model Free” Approach to Cost Effectiveness Analysis</vt:lpstr>
      <vt:lpstr>REVIEW: A “Model Free” Approach to Cost Effectiveness Analysis</vt:lpstr>
      <vt:lpstr>REVIEW: A “Model Free” Approach to Cost Effectiveness Analysis</vt:lpstr>
      <vt:lpstr>What is holding us back in our “Model Free” Cost effectiveness analysis</vt:lpstr>
      <vt:lpstr>What is holding us back in our “Model Free” Cost effectiveness analysis</vt:lpstr>
      <vt:lpstr>Data on Costs</vt:lpstr>
      <vt:lpstr>Facts about Costs over the lifecycle</vt:lpstr>
      <vt:lpstr>Some Data Sources on Costs</vt:lpstr>
      <vt:lpstr>The CIHI Patient Cost Calculator</vt:lpstr>
      <vt:lpstr>The CIHI Patient Cost Calculator</vt:lpstr>
      <vt:lpstr>Ontario’s Drug Formulary Search</vt:lpstr>
      <vt:lpstr>Ontario’s Drug Formulary Search</vt:lpstr>
      <vt:lpstr>Ontario’s Drug Formulary Search</vt:lpstr>
      <vt:lpstr>Revising the Cost Effectiveness Analysis</vt:lpstr>
      <vt:lpstr>Revising the Cost Effectiveness Analysis</vt:lpstr>
      <vt:lpstr>Revising the Cost Effectiveness Analysis</vt:lpstr>
      <vt:lpstr>Revising the Cost Effectiveness Analysis</vt:lpstr>
      <vt:lpstr>We computed the VSL. Now what?</vt:lpstr>
      <vt:lpstr>What is a GOOD VSL?</vt:lpstr>
      <vt:lpstr>Data on Effects</vt:lpstr>
      <vt:lpstr>Cost Effectiveness Analysis and Cost Utility Analysis </vt:lpstr>
      <vt:lpstr>Clinical Indexes</vt:lpstr>
      <vt:lpstr>The comparability problem in economic evaluation</vt:lpstr>
      <vt:lpstr>The Quality Adjusted Life Year</vt:lpstr>
      <vt:lpstr>Technical Properties of the QALY</vt:lpstr>
      <vt:lpstr>Technical Properties of the QALY</vt:lpstr>
      <vt:lpstr>How Utilities are Measured</vt:lpstr>
      <vt:lpstr>Utility Measurement</vt:lpstr>
      <vt:lpstr>Visual Analogue Scale</vt:lpstr>
      <vt:lpstr>An Example of a VAS: the EQ-5D-5L</vt:lpstr>
      <vt:lpstr>The EQ-5D-5L Value Set for Canada</vt:lpstr>
      <vt:lpstr>Standard Gamble</vt:lpstr>
      <vt:lpstr>Standard Gamble Algebraically</vt:lpstr>
      <vt:lpstr>Standard Gamble Algebraically: Back Pain Example</vt:lpstr>
      <vt:lpstr>Standard Gamble: without death</vt:lpstr>
      <vt:lpstr>Time Trade Off</vt:lpstr>
      <vt:lpstr>Databases for Utilities</vt:lpstr>
      <vt:lpstr>Databases for Utilities</vt:lpstr>
      <vt:lpstr>The Model Free Analysis</vt:lpstr>
      <vt:lpstr>The Model Free Analysis</vt:lpstr>
      <vt:lpstr>Refining Search Results</vt:lpstr>
      <vt:lpstr>Final Remarks about Searching for Inputs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Smith</dc:creator>
  <cp:lastModifiedBy>Jacob Smith</cp:lastModifiedBy>
  <cp:revision>26</cp:revision>
  <dcterms:created xsi:type="dcterms:W3CDTF">2026-08-17T03:21:10Z</dcterms:created>
  <dcterms:modified xsi:type="dcterms:W3CDTF">2026-09-16T03:22:50Z</dcterms:modified>
</cp:coreProperties>
</file>