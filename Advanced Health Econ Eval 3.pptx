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39"/>
  </p:notesMasterIdLst>
  <p:sldIdLst>
    <p:sldId id="256" r:id="rId2"/>
    <p:sldId id="257" r:id="rId3"/>
    <p:sldId id="294" r:id="rId4"/>
    <p:sldId id="307" r:id="rId5"/>
    <p:sldId id="308" r:id="rId6"/>
    <p:sldId id="313" r:id="rId7"/>
    <p:sldId id="260" r:id="rId8"/>
    <p:sldId id="298" r:id="rId9"/>
    <p:sldId id="296" r:id="rId10"/>
    <p:sldId id="297" r:id="rId11"/>
    <p:sldId id="259" r:id="rId12"/>
    <p:sldId id="295" r:id="rId13"/>
    <p:sldId id="300" r:id="rId14"/>
    <p:sldId id="299" r:id="rId15"/>
    <p:sldId id="302" r:id="rId16"/>
    <p:sldId id="303" r:id="rId17"/>
    <p:sldId id="304" r:id="rId18"/>
    <p:sldId id="306" r:id="rId19"/>
    <p:sldId id="305" r:id="rId20"/>
    <p:sldId id="309" r:id="rId21"/>
    <p:sldId id="310" r:id="rId22"/>
    <p:sldId id="258" r:id="rId23"/>
    <p:sldId id="314" r:id="rId24"/>
    <p:sldId id="312" r:id="rId25"/>
    <p:sldId id="261" r:id="rId26"/>
    <p:sldId id="315" r:id="rId27"/>
    <p:sldId id="317" r:id="rId28"/>
    <p:sldId id="318" r:id="rId29"/>
    <p:sldId id="320" r:id="rId30"/>
    <p:sldId id="321" r:id="rId31"/>
    <p:sldId id="322" r:id="rId32"/>
    <p:sldId id="325" r:id="rId33"/>
    <p:sldId id="326" r:id="rId34"/>
    <p:sldId id="327" r:id="rId35"/>
    <p:sldId id="328" r:id="rId36"/>
    <p:sldId id="331" r:id="rId37"/>
    <p:sldId id="33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163" autoAdjust="0"/>
  </p:normalViewPr>
  <p:slideViewPr>
    <p:cSldViewPr snapToGrid="0">
      <p:cViewPr varScale="1">
        <p:scale>
          <a:sx n="101" d="100"/>
          <a:sy n="101" d="100"/>
        </p:scale>
        <p:origin x="2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85F2B-9DB3-46C6-BD28-BD611964EFEF}" type="datetimeFigureOut">
              <a:rPr lang="en-CA" smtClean="0"/>
              <a:t>2026-09-21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760D0-8468-434B-992C-0B7D2D9301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413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760D0-8468-434B-992C-0B7D2D93019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7182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72E83-8AF2-E5FF-4D2E-C91E9516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76CF1-C587-2C97-29D0-FC23900FE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82DF4-2A08-7C5A-07E6-C72108B4C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1406-8B2E-B76F-8D1C-6FD7B55C8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760D0-8468-434B-992C-0B7D2D93019E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374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2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8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6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2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8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8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5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5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70" r:id="rId6"/>
    <p:sldLayoutId id="2147483775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7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4.png"/><Relationship Id="rId10" Type="http://schemas.openxmlformats.org/officeDocument/2006/relationships/image" Target="../media/image15.png"/><Relationship Id="rId4" Type="http://schemas.openxmlformats.org/officeDocument/2006/relationships/image" Target="../media/image22.png"/><Relationship Id="rId9" Type="http://schemas.openxmlformats.org/officeDocument/2006/relationships/image" Target="../media/image14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30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30.png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240.png"/><Relationship Id="rId9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7.png"/><Relationship Id="rId3" Type="http://schemas.openxmlformats.org/officeDocument/2006/relationships/image" Target="../media/image230.png"/><Relationship Id="rId7" Type="http://schemas.openxmlformats.org/officeDocument/2006/relationships/image" Target="../media/image35.png"/><Relationship Id="rId12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45.png"/><Relationship Id="rId5" Type="http://schemas.openxmlformats.org/officeDocument/2006/relationships/image" Target="../media/image43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240.png"/><Relationship Id="rId9" Type="http://schemas.openxmlformats.org/officeDocument/2006/relationships/image" Target="../media/image37.png"/><Relationship Id="rId1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35.png"/><Relationship Id="rId12" Type="http://schemas.openxmlformats.org/officeDocument/2006/relationships/image" Target="../media/image55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45.png"/><Relationship Id="rId5" Type="http://schemas.openxmlformats.org/officeDocument/2006/relationships/image" Target="../media/image54.png"/><Relationship Id="rId15" Type="http://schemas.openxmlformats.org/officeDocument/2006/relationships/image" Target="../media/image58.png"/><Relationship Id="rId10" Type="http://schemas.openxmlformats.org/officeDocument/2006/relationships/image" Target="../media/image44.png"/><Relationship Id="rId4" Type="http://schemas.openxmlformats.org/officeDocument/2006/relationships/image" Target="../media/image53.png"/><Relationship Id="rId9" Type="http://schemas.openxmlformats.org/officeDocument/2006/relationships/image" Target="../media/image37.png"/><Relationship Id="rId1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35.png"/><Relationship Id="rId12" Type="http://schemas.openxmlformats.org/officeDocument/2006/relationships/image" Target="../media/image55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45.png"/><Relationship Id="rId5" Type="http://schemas.openxmlformats.org/officeDocument/2006/relationships/image" Target="../media/image54.png"/><Relationship Id="rId15" Type="http://schemas.openxmlformats.org/officeDocument/2006/relationships/image" Target="../media/image58.png"/><Relationship Id="rId10" Type="http://schemas.openxmlformats.org/officeDocument/2006/relationships/image" Target="../media/image44.png"/><Relationship Id="rId4" Type="http://schemas.openxmlformats.org/officeDocument/2006/relationships/image" Target="../media/image53.png"/><Relationship Id="rId9" Type="http://schemas.openxmlformats.org/officeDocument/2006/relationships/image" Target="../media/image37.png"/><Relationship Id="rId1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13863-F928-09F7-33F8-93C103CEA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Advanced Topics in Economic Evaluation and Healthcare</a:t>
            </a:r>
            <a:endParaRPr lang="en-CA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4B19C-1926-B464-1194-E2E07EBD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dirty="0"/>
              <a:t>Lecture #3: Decision Tree Models</a:t>
            </a:r>
            <a:endParaRPr lang="en-CA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ogo Request Form - McMaster Brand">
            <a:extLst>
              <a:ext uri="{FF2B5EF4-FFF2-40B4-BE49-F238E27FC236}">
                <a16:creationId xmlns:a16="http://schemas.microsoft.com/office/drawing/2014/main" id="{9B664600-1FAC-3307-6550-FD235344C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625" y="5679630"/>
            <a:ext cx="5192171" cy="10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0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99E3-1F2A-1B0A-B8F0-5B3BAE3B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Overview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A6D4B-9CE9-D639-6C88-AA260321B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lecture we will discuss.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What a decision tree model is.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How decision trees are representations of expected value equations.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The Design and Style of a Decision Tree Model.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Using Decision Trees to Represent Possible Clinical Pathways.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Using Decision Tree Models to Compute ICERs.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Building a Decision Tree “Backwards” from an Expected Value Equation.</a:t>
            </a:r>
          </a:p>
          <a:p>
            <a:r>
              <a:rPr lang="en-US" dirty="0"/>
              <a:t>By the end of this lecture, it is hoped that you will have the tools to read and build your own decision tree models based </a:t>
            </a:r>
            <a:r>
              <a:rPr lang="en-US"/>
              <a:t>on theory.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784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03EB-515C-4457-8E1B-DF71E4F6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03504"/>
            <a:ext cx="11155680" cy="1463040"/>
          </a:xfrm>
        </p:spPr>
        <p:txBody>
          <a:bodyPr/>
          <a:lstStyle/>
          <a:p>
            <a:r>
              <a:rPr lang="en-CA" dirty="0"/>
              <a:t>What is a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98AA3-A36C-4A36-B018-DA90EA655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414145"/>
            <a:ext cx="9768840" cy="4840351"/>
          </a:xfrm>
        </p:spPr>
        <p:txBody>
          <a:bodyPr>
            <a:noAutofit/>
          </a:bodyPr>
          <a:lstStyle/>
          <a:p>
            <a:r>
              <a:rPr lang="en-CA" sz="2400" dirty="0"/>
              <a:t>A Decision Tree is a tool for evaluating alternatives when a single action must be made at the cost of the others. </a:t>
            </a:r>
            <a:br>
              <a:rPr lang="en-CA" sz="2400" dirty="0"/>
            </a:br>
            <a:br>
              <a:rPr lang="en-CA" sz="2400" dirty="0"/>
            </a:br>
            <a:endParaRPr lang="en-CA" sz="2400" dirty="0"/>
          </a:p>
          <a:p>
            <a:r>
              <a:rPr lang="en-CA" sz="2400" dirty="0"/>
              <a:t>Decision Trees are used as a way of drawing clinical pathways and evaluating alternative treatments for patients. They are mostly used investment in new drugs, health technology or programs which are patient centered.</a:t>
            </a:r>
          </a:p>
          <a:p>
            <a:pPr marL="0" indent="0">
              <a:buNone/>
            </a:pPr>
            <a:endParaRPr lang="en-CA" sz="2400" dirty="0"/>
          </a:p>
          <a:p>
            <a:r>
              <a:rPr lang="en-CA" sz="2400" b="1" dirty="0"/>
              <a:t>Formally: They are Graphic Representation of a Choice over Possible Expected Values.</a:t>
            </a:r>
          </a:p>
        </p:txBody>
      </p:sp>
    </p:spTree>
    <p:extLst>
      <p:ext uri="{BB962C8B-B14F-4D97-AF65-F5344CB8AC3E}">
        <p14:creationId xmlns:p14="http://schemas.microsoft.com/office/powerpoint/2010/main" val="26929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19"/>
    </mc:Choice>
    <mc:Fallback xmlns="">
      <p:transition spd="slow" advTm="5791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C3639-D007-A5FD-0200-47BD1137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96A57-10D9-1432-15D5-00D79C18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24" y="546559"/>
            <a:ext cx="11465744" cy="1117092"/>
          </a:xfrm>
        </p:spPr>
        <p:txBody>
          <a:bodyPr>
            <a:noAutofit/>
          </a:bodyPr>
          <a:lstStyle/>
          <a:p>
            <a:r>
              <a:rPr lang="en-US" sz="3000" dirty="0"/>
              <a:t>Decision Trees as a Visualization of a Choice over Expected Value</a:t>
            </a:r>
            <a:endParaRPr lang="en-CA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2269-2E23-7E27-2AC5-D1F4C8077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437345"/>
            <a:ext cx="10444933" cy="195258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Decision trees are graphical representations of expected value equations. </a:t>
            </a:r>
          </a:p>
          <a:p>
            <a:pPr marL="0" indent="0">
              <a:buNone/>
            </a:pPr>
            <a:r>
              <a:rPr lang="en-US" dirty="0"/>
              <a:t>Example: Suppose a doctor can treat a sick patient with two different drugs.</a:t>
            </a:r>
          </a:p>
          <a:p>
            <a:pPr>
              <a:buFontTx/>
              <a:buChar char="-"/>
            </a:pPr>
            <a:r>
              <a:rPr lang="en-US" dirty="0"/>
              <a:t>Drug A has a 50% chance of curing the patient with no side effects a 20% chance of curing the patient with side effects and a 30% chance of doing nothing. </a:t>
            </a:r>
          </a:p>
          <a:p>
            <a:pPr>
              <a:buFontTx/>
              <a:buChar char="-"/>
            </a:pPr>
            <a:r>
              <a:rPr lang="en-US" dirty="0"/>
              <a:t>Drug B has a 80% chance of curing the patient with side effects and 20% chance of doing nothing</a:t>
            </a:r>
            <a:endParaRPr lang="en-CA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0B391AA-E5C8-5B52-75EF-64ED7AC65A83}"/>
              </a:ext>
            </a:extLst>
          </p:cNvPr>
          <p:cNvSpPr/>
          <p:nvPr/>
        </p:nvSpPr>
        <p:spPr>
          <a:xfrm>
            <a:off x="1958109" y="4045527"/>
            <a:ext cx="434109" cy="443346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7290406-E4E9-D18E-438C-7966E3D0A0B1}"/>
              </a:ext>
            </a:extLst>
          </p:cNvPr>
          <p:cNvSpPr/>
          <p:nvPr/>
        </p:nvSpPr>
        <p:spPr>
          <a:xfrm>
            <a:off x="2041236" y="5357091"/>
            <a:ext cx="434109" cy="443346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9E207A2-55B7-3240-2AC1-A3367E7DDE6D}"/>
              </a:ext>
            </a:extLst>
          </p:cNvPr>
          <p:cNvCxnSpPr>
            <a:cxnSpLocks/>
            <a:stCxn id="48" idx="6"/>
          </p:cNvCxnSpPr>
          <p:nvPr/>
        </p:nvCxnSpPr>
        <p:spPr>
          <a:xfrm flipV="1">
            <a:off x="2392218" y="3493912"/>
            <a:ext cx="1435989" cy="7732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B712ED5-C9D2-EF02-B8F7-8208D537F653}"/>
              </a:ext>
            </a:extLst>
          </p:cNvPr>
          <p:cNvCxnSpPr>
            <a:cxnSpLocks/>
            <a:stCxn id="48" idx="6"/>
          </p:cNvCxnSpPr>
          <p:nvPr/>
        </p:nvCxnSpPr>
        <p:spPr>
          <a:xfrm flipV="1">
            <a:off x="2392218" y="4263911"/>
            <a:ext cx="1533237" cy="32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351CE4A-DF4D-E41F-AB0B-D97567697C5D}"/>
              </a:ext>
            </a:extLst>
          </p:cNvPr>
          <p:cNvCxnSpPr>
            <a:cxnSpLocks/>
            <a:stCxn id="48" idx="6"/>
          </p:cNvCxnSpPr>
          <p:nvPr/>
        </p:nvCxnSpPr>
        <p:spPr>
          <a:xfrm>
            <a:off x="2392218" y="4267200"/>
            <a:ext cx="1533237" cy="4433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F2C822A-D510-8E80-2E13-C2526452E9C0}"/>
              </a:ext>
            </a:extLst>
          </p:cNvPr>
          <p:cNvCxnSpPr>
            <a:cxnSpLocks/>
            <a:stCxn id="52" idx="6"/>
          </p:cNvCxnSpPr>
          <p:nvPr/>
        </p:nvCxnSpPr>
        <p:spPr>
          <a:xfrm flipV="1">
            <a:off x="2475345" y="5179003"/>
            <a:ext cx="1450110" cy="3997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5EBDA81-6C8B-3DB8-9B39-7E9CA3721CB0}"/>
              </a:ext>
            </a:extLst>
          </p:cNvPr>
          <p:cNvCxnSpPr>
            <a:cxnSpLocks/>
            <a:stCxn id="52" idx="6"/>
          </p:cNvCxnSpPr>
          <p:nvPr/>
        </p:nvCxnSpPr>
        <p:spPr>
          <a:xfrm>
            <a:off x="2475345" y="5578764"/>
            <a:ext cx="1450110" cy="5004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FE14259-AD3C-1D82-DC02-4B55DB13035F}"/>
              </a:ext>
            </a:extLst>
          </p:cNvPr>
          <p:cNvSpPr txBox="1"/>
          <p:nvPr/>
        </p:nvSpPr>
        <p:spPr>
          <a:xfrm>
            <a:off x="3860801" y="3320143"/>
            <a:ext cx="2553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Cured + No Side Effects</a:t>
            </a:r>
            <a:endParaRPr lang="en-CA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88381A-F9B5-CA39-E301-F7D5CF058A7B}"/>
              </a:ext>
            </a:extLst>
          </p:cNvPr>
          <p:cNvSpPr txBox="1"/>
          <p:nvPr/>
        </p:nvSpPr>
        <p:spPr>
          <a:xfrm>
            <a:off x="3860801" y="4020416"/>
            <a:ext cx="2210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Cured + Side Effects</a:t>
            </a:r>
            <a:endParaRPr lang="en-CA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527DF33-7CBF-F126-1A57-9C0335C20826}"/>
              </a:ext>
            </a:extLst>
          </p:cNvPr>
          <p:cNvSpPr txBox="1"/>
          <p:nvPr/>
        </p:nvSpPr>
        <p:spPr>
          <a:xfrm>
            <a:off x="3907834" y="447982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Nothing</a:t>
            </a:r>
            <a:endParaRPr lang="en-CA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29469D-9A27-AE1F-7124-2A68C7DFEFD8}"/>
              </a:ext>
            </a:extLst>
          </p:cNvPr>
          <p:cNvSpPr txBox="1"/>
          <p:nvPr/>
        </p:nvSpPr>
        <p:spPr>
          <a:xfrm>
            <a:off x="3860801" y="4964184"/>
            <a:ext cx="2210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Cured + Side Effects</a:t>
            </a:r>
            <a:endParaRPr lang="en-CA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91E044-3DEE-93B1-57D5-0B723A92BD38}"/>
              </a:ext>
            </a:extLst>
          </p:cNvPr>
          <p:cNvSpPr txBox="1"/>
          <p:nvPr/>
        </p:nvSpPr>
        <p:spPr>
          <a:xfrm>
            <a:off x="3853656" y="588450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Nothing</a:t>
            </a:r>
            <a:endParaRPr lang="en-CA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0B6952-8E8D-DD90-9457-C715D6A6374C}"/>
              </a:ext>
            </a:extLst>
          </p:cNvPr>
          <p:cNvSpPr txBox="1"/>
          <p:nvPr/>
        </p:nvSpPr>
        <p:spPr>
          <a:xfrm>
            <a:off x="2630594" y="340310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  <a:endParaRPr lang="en-CA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368E1A4-CA40-067B-05C1-209D5975720C}"/>
              </a:ext>
            </a:extLst>
          </p:cNvPr>
          <p:cNvSpPr txBox="1"/>
          <p:nvPr/>
        </p:nvSpPr>
        <p:spPr>
          <a:xfrm>
            <a:off x="3137921" y="382403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  <a:endParaRPr lang="en-CA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40E1405-1DEB-B251-AB8A-5FAA944E6B6F}"/>
              </a:ext>
            </a:extLst>
          </p:cNvPr>
          <p:cNvSpPr txBox="1"/>
          <p:nvPr/>
        </p:nvSpPr>
        <p:spPr>
          <a:xfrm>
            <a:off x="2910217" y="450393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  <a:endParaRPr lang="en-CA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87AED9B-D9C8-A205-6B47-282A6E8F0BEF}"/>
              </a:ext>
            </a:extLst>
          </p:cNvPr>
          <p:cNvSpPr txBox="1"/>
          <p:nvPr/>
        </p:nvSpPr>
        <p:spPr>
          <a:xfrm>
            <a:off x="2720782" y="501628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  <a:endParaRPr lang="en-CA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5511F4E-E64C-FF1D-0780-E00A454320DC}"/>
              </a:ext>
            </a:extLst>
          </p:cNvPr>
          <p:cNvSpPr txBox="1"/>
          <p:nvPr/>
        </p:nvSpPr>
        <p:spPr>
          <a:xfrm>
            <a:off x="2670498" y="578537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  <a:endParaRPr lang="en-CA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5B92D37-7C5E-7EEC-A3F3-3D82ACECBB68}"/>
              </a:ext>
            </a:extLst>
          </p:cNvPr>
          <p:cNvSpPr/>
          <p:nvPr/>
        </p:nvSpPr>
        <p:spPr>
          <a:xfrm>
            <a:off x="360218" y="4784436"/>
            <a:ext cx="479618" cy="46181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D89804C-D336-6A0A-F1DE-480FA6634A2C}"/>
              </a:ext>
            </a:extLst>
          </p:cNvPr>
          <p:cNvCxnSpPr>
            <a:cxnSpLocks/>
            <a:stCxn id="95" idx="3"/>
            <a:endCxn id="48" idx="2"/>
          </p:cNvCxnSpPr>
          <p:nvPr/>
        </p:nvCxnSpPr>
        <p:spPr>
          <a:xfrm flipV="1">
            <a:off x="839836" y="4267200"/>
            <a:ext cx="1118273" cy="7481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FDBDE12-BC51-0FB0-E868-BF1BDF00E5CA}"/>
              </a:ext>
            </a:extLst>
          </p:cNvPr>
          <p:cNvCxnSpPr>
            <a:cxnSpLocks/>
            <a:stCxn id="95" idx="3"/>
            <a:endCxn id="52" idx="2"/>
          </p:cNvCxnSpPr>
          <p:nvPr/>
        </p:nvCxnSpPr>
        <p:spPr>
          <a:xfrm>
            <a:off x="839836" y="5015346"/>
            <a:ext cx="1201400" cy="5634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AD078EF-792E-F552-4D96-8B9D240345FC}"/>
              </a:ext>
            </a:extLst>
          </p:cNvPr>
          <p:cNvSpPr txBox="1"/>
          <p:nvPr/>
        </p:nvSpPr>
        <p:spPr>
          <a:xfrm>
            <a:off x="876291" y="3990110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Drug A</a:t>
            </a:r>
            <a:endParaRPr lang="en-CA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0426CE9-DB87-ABC4-8D66-BEE45509B294}"/>
              </a:ext>
            </a:extLst>
          </p:cNvPr>
          <p:cNvSpPr txBox="1"/>
          <p:nvPr/>
        </p:nvSpPr>
        <p:spPr>
          <a:xfrm>
            <a:off x="756218" y="544034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Drug B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059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71EE-02AF-721F-8BE7-5169AD80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89B763FE-50B0-4168-B9D6-ED35603FA9FD}"/>
              </a:ext>
            </a:extLst>
          </p:cNvPr>
          <p:cNvSpPr/>
          <p:nvPr/>
        </p:nvSpPr>
        <p:spPr>
          <a:xfrm>
            <a:off x="1958109" y="4045527"/>
            <a:ext cx="434109" cy="443346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2FCF83B-DBA5-0A87-2E8C-CD06CD30DA90}"/>
              </a:ext>
            </a:extLst>
          </p:cNvPr>
          <p:cNvSpPr/>
          <p:nvPr/>
        </p:nvSpPr>
        <p:spPr>
          <a:xfrm>
            <a:off x="2041236" y="5357091"/>
            <a:ext cx="434109" cy="443346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54369C2-CDC4-020B-2D15-862A28531EE5}"/>
              </a:ext>
            </a:extLst>
          </p:cNvPr>
          <p:cNvCxnSpPr>
            <a:cxnSpLocks/>
            <a:stCxn id="48" idx="6"/>
          </p:cNvCxnSpPr>
          <p:nvPr/>
        </p:nvCxnSpPr>
        <p:spPr>
          <a:xfrm flipV="1">
            <a:off x="2392218" y="3493912"/>
            <a:ext cx="1435989" cy="7732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6A5A9E3-ACD9-5D48-C1B3-BB395463C6A3}"/>
              </a:ext>
            </a:extLst>
          </p:cNvPr>
          <p:cNvCxnSpPr>
            <a:cxnSpLocks/>
            <a:stCxn id="48" idx="6"/>
          </p:cNvCxnSpPr>
          <p:nvPr/>
        </p:nvCxnSpPr>
        <p:spPr>
          <a:xfrm flipV="1">
            <a:off x="2392218" y="4263911"/>
            <a:ext cx="1533237" cy="32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37D35B1-17BD-1905-AA74-50898257810A}"/>
              </a:ext>
            </a:extLst>
          </p:cNvPr>
          <p:cNvCxnSpPr>
            <a:cxnSpLocks/>
            <a:stCxn id="48" idx="6"/>
          </p:cNvCxnSpPr>
          <p:nvPr/>
        </p:nvCxnSpPr>
        <p:spPr>
          <a:xfrm>
            <a:off x="2392218" y="4267200"/>
            <a:ext cx="1533237" cy="4433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D837974-EA34-B962-CC03-389980781FF7}"/>
              </a:ext>
            </a:extLst>
          </p:cNvPr>
          <p:cNvCxnSpPr>
            <a:cxnSpLocks/>
            <a:stCxn id="52" idx="6"/>
          </p:cNvCxnSpPr>
          <p:nvPr/>
        </p:nvCxnSpPr>
        <p:spPr>
          <a:xfrm flipV="1">
            <a:off x="2475345" y="5179003"/>
            <a:ext cx="1450110" cy="3997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FE973DC-FBDB-55F7-3010-3DEAE90DB803}"/>
              </a:ext>
            </a:extLst>
          </p:cNvPr>
          <p:cNvCxnSpPr>
            <a:cxnSpLocks/>
            <a:stCxn id="52" idx="6"/>
          </p:cNvCxnSpPr>
          <p:nvPr/>
        </p:nvCxnSpPr>
        <p:spPr>
          <a:xfrm>
            <a:off x="2475345" y="5578764"/>
            <a:ext cx="1450110" cy="5004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834CA8F-0E05-03DD-E285-5215523F4202}"/>
              </a:ext>
            </a:extLst>
          </p:cNvPr>
          <p:cNvSpPr txBox="1"/>
          <p:nvPr/>
        </p:nvSpPr>
        <p:spPr>
          <a:xfrm>
            <a:off x="3860801" y="3320143"/>
            <a:ext cx="2553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Cured + No Side Effects</a:t>
            </a:r>
            <a:endParaRPr lang="en-CA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81E9A1E-D250-168A-B774-D611387C34EA}"/>
              </a:ext>
            </a:extLst>
          </p:cNvPr>
          <p:cNvSpPr txBox="1"/>
          <p:nvPr/>
        </p:nvSpPr>
        <p:spPr>
          <a:xfrm>
            <a:off x="3860801" y="4020416"/>
            <a:ext cx="2210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Cured + Side Effects</a:t>
            </a:r>
            <a:endParaRPr lang="en-CA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75EAA2-1768-8121-D182-C92BC4ABCC69}"/>
              </a:ext>
            </a:extLst>
          </p:cNvPr>
          <p:cNvSpPr txBox="1"/>
          <p:nvPr/>
        </p:nvSpPr>
        <p:spPr>
          <a:xfrm>
            <a:off x="3907834" y="447982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Nothing</a:t>
            </a:r>
            <a:endParaRPr lang="en-CA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138377-E8C4-1BF5-990A-D135107120D2}"/>
              </a:ext>
            </a:extLst>
          </p:cNvPr>
          <p:cNvSpPr txBox="1"/>
          <p:nvPr/>
        </p:nvSpPr>
        <p:spPr>
          <a:xfrm>
            <a:off x="3860801" y="4964184"/>
            <a:ext cx="2210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Cured + Side Effects</a:t>
            </a:r>
            <a:endParaRPr lang="en-CA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AA007C5-0156-4615-BA27-62BBC28FC71C}"/>
              </a:ext>
            </a:extLst>
          </p:cNvPr>
          <p:cNvSpPr txBox="1"/>
          <p:nvPr/>
        </p:nvSpPr>
        <p:spPr>
          <a:xfrm>
            <a:off x="3853656" y="588450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Nothing</a:t>
            </a:r>
            <a:endParaRPr lang="en-CA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25583D9-E0DB-DD51-9BD0-52DAB27A2296}"/>
              </a:ext>
            </a:extLst>
          </p:cNvPr>
          <p:cNvSpPr txBox="1"/>
          <p:nvPr/>
        </p:nvSpPr>
        <p:spPr>
          <a:xfrm>
            <a:off x="2630594" y="340310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  <a:endParaRPr lang="en-CA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2AF6323-3C3B-ECC4-BB70-D33CFE761CE4}"/>
              </a:ext>
            </a:extLst>
          </p:cNvPr>
          <p:cNvSpPr txBox="1"/>
          <p:nvPr/>
        </p:nvSpPr>
        <p:spPr>
          <a:xfrm>
            <a:off x="3137921" y="382403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  <a:endParaRPr lang="en-CA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24662C8-C6DE-CD7E-87DD-F3264C6E0A15}"/>
              </a:ext>
            </a:extLst>
          </p:cNvPr>
          <p:cNvSpPr txBox="1"/>
          <p:nvPr/>
        </p:nvSpPr>
        <p:spPr>
          <a:xfrm>
            <a:off x="2910217" y="450393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  <a:endParaRPr lang="en-CA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DC9BA72-EAEC-6E8B-94F1-5D7B23B310DC}"/>
              </a:ext>
            </a:extLst>
          </p:cNvPr>
          <p:cNvSpPr txBox="1"/>
          <p:nvPr/>
        </p:nvSpPr>
        <p:spPr>
          <a:xfrm>
            <a:off x="2720782" y="501628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  <a:endParaRPr lang="en-CA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AFDF254-E4BF-CC0D-D913-4BE427459E3A}"/>
              </a:ext>
            </a:extLst>
          </p:cNvPr>
          <p:cNvSpPr txBox="1"/>
          <p:nvPr/>
        </p:nvSpPr>
        <p:spPr>
          <a:xfrm>
            <a:off x="2670498" y="578537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129BC9C-896E-FC3A-56D2-0DA37B5B7A7D}"/>
                  </a:ext>
                </a:extLst>
              </p:cNvPr>
              <p:cNvSpPr txBox="1"/>
              <p:nvPr/>
            </p:nvSpPr>
            <p:spPr>
              <a:xfrm>
                <a:off x="6594344" y="3805444"/>
                <a:ext cx="4613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𝑁𝑆𝐸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𝑆𝐸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129BC9C-896E-FC3A-56D2-0DA37B5B7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344" y="3805444"/>
                <a:ext cx="461318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BE73E6E-A2E6-56DB-2A7F-513D2C4CC122}"/>
                  </a:ext>
                </a:extLst>
              </p:cNvPr>
              <p:cNvSpPr txBox="1"/>
              <p:nvPr/>
            </p:nvSpPr>
            <p:spPr>
              <a:xfrm>
                <a:off x="6678776" y="5600710"/>
                <a:ext cx="32508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𝑆𝐸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BE73E6E-A2E6-56DB-2A7F-513D2C4CC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776" y="5600710"/>
                <a:ext cx="325089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ight Brace 93">
            <a:extLst>
              <a:ext uri="{FF2B5EF4-FFF2-40B4-BE49-F238E27FC236}">
                <a16:creationId xmlns:a16="http://schemas.microsoft.com/office/drawing/2014/main" id="{4F81D7F4-C0D7-A823-D281-F40CCFB70D24}"/>
              </a:ext>
            </a:extLst>
          </p:cNvPr>
          <p:cNvSpPr/>
          <p:nvPr/>
        </p:nvSpPr>
        <p:spPr>
          <a:xfrm>
            <a:off x="6172460" y="3168526"/>
            <a:ext cx="416818" cy="1542020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98664E1-CFBD-9945-087B-DC8D4F8A22AC}"/>
              </a:ext>
            </a:extLst>
          </p:cNvPr>
          <p:cNvSpPr/>
          <p:nvPr/>
        </p:nvSpPr>
        <p:spPr>
          <a:xfrm>
            <a:off x="360218" y="4784436"/>
            <a:ext cx="479618" cy="46181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53EC2ED-24B2-2D79-35E3-B110A01C0A24}"/>
              </a:ext>
            </a:extLst>
          </p:cNvPr>
          <p:cNvCxnSpPr>
            <a:cxnSpLocks/>
            <a:stCxn id="95" idx="3"/>
            <a:endCxn id="48" idx="2"/>
          </p:cNvCxnSpPr>
          <p:nvPr/>
        </p:nvCxnSpPr>
        <p:spPr>
          <a:xfrm flipV="1">
            <a:off x="839836" y="4267200"/>
            <a:ext cx="1118273" cy="7481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1929CA4-59E0-55A7-4021-B716DF545F9D}"/>
              </a:ext>
            </a:extLst>
          </p:cNvPr>
          <p:cNvCxnSpPr>
            <a:cxnSpLocks/>
            <a:stCxn id="95" idx="3"/>
            <a:endCxn id="52" idx="2"/>
          </p:cNvCxnSpPr>
          <p:nvPr/>
        </p:nvCxnSpPr>
        <p:spPr>
          <a:xfrm>
            <a:off x="839836" y="5015346"/>
            <a:ext cx="1201400" cy="5634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DD4F6D2A-2E47-42A0-7B83-8D527BD5A9B0}"/>
              </a:ext>
            </a:extLst>
          </p:cNvPr>
          <p:cNvSpPr txBox="1"/>
          <p:nvPr/>
        </p:nvSpPr>
        <p:spPr>
          <a:xfrm>
            <a:off x="876291" y="3990110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Drug A</a:t>
            </a:r>
            <a:endParaRPr lang="en-CA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D5AD8DA-83F2-6BB0-EB4C-6252E665FF88}"/>
              </a:ext>
            </a:extLst>
          </p:cNvPr>
          <p:cNvSpPr txBox="1"/>
          <p:nvPr/>
        </p:nvSpPr>
        <p:spPr>
          <a:xfrm>
            <a:off x="756218" y="544034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Drug B</a:t>
            </a:r>
            <a:endParaRPr lang="en-CA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C4141B62-05F9-DD63-8033-3D34DB785B8E}"/>
              </a:ext>
            </a:extLst>
          </p:cNvPr>
          <p:cNvSpPr/>
          <p:nvPr/>
        </p:nvSpPr>
        <p:spPr>
          <a:xfrm>
            <a:off x="6166618" y="4970755"/>
            <a:ext cx="416818" cy="1542020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71D0BF-FD7C-B2AE-C856-E932ACF5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24" y="546559"/>
            <a:ext cx="11465744" cy="1117092"/>
          </a:xfrm>
        </p:spPr>
        <p:txBody>
          <a:bodyPr>
            <a:noAutofit/>
          </a:bodyPr>
          <a:lstStyle/>
          <a:p>
            <a:r>
              <a:rPr lang="en-US" sz="3000" dirty="0"/>
              <a:t>Decision Trees as a Visualization of a Choice over Expected Value</a:t>
            </a:r>
            <a:endParaRPr lang="en-CA" sz="3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2006234-0026-03F4-F12B-A1C7081A0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437345"/>
            <a:ext cx="10444933" cy="195258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Decision trees are graphical representations of expected value equations. </a:t>
            </a:r>
          </a:p>
          <a:p>
            <a:pPr marL="0" indent="0">
              <a:buNone/>
            </a:pPr>
            <a:r>
              <a:rPr lang="en-US" dirty="0" err="1"/>
              <a:t>Example:Suppose</a:t>
            </a:r>
            <a:r>
              <a:rPr lang="en-US" dirty="0"/>
              <a:t> a doctor can treat a sick patient with two different drugs.</a:t>
            </a:r>
          </a:p>
          <a:p>
            <a:pPr>
              <a:buFontTx/>
              <a:buChar char="-"/>
            </a:pPr>
            <a:r>
              <a:rPr lang="en-US" dirty="0"/>
              <a:t>Drug A has a 50% chance of curing the patient with no side effects a 20% chance of curing the patient with side effects and a 30% chance of doing nothing. </a:t>
            </a:r>
          </a:p>
          <a:p>
            <a:pPr>
              <a:buFontTx/>
              <a:buChar char="-"/>
            </a:pPr>
            <a:r>
              <a:rPr lang="en-US" dirty="0"/>
              <a:t>Drug B has a 80% chance of curing the patient with side effects and 20% chance of doing nothing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1008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C329-3643-A9C3-8F01-FCD3E0C8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10456FAE-9FB9-D1A2-3E97-9CADB1198E67}"/>
              </a:ext>
            </a:extLst>
          </p:cNvPr>
          <p:cNvSpPr/>
          <p:nvPr/>
        </p:nvSpPr>
        <p:spPr>
          <a:xfrm>
            <a:off x="1958109" y="4045527"/>
            <a:ext cx="434109" cy="443346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1A4938-B491-EF6B-F3C7-33E2FEA3FF16}"/>
              </a:ext>
            </a:extLst>
          </p:cNvPr>
          <p:cNvSpPr/>
          <p:nvPr/>
        </p:nvSpPr>
        <p:spPr>
          <a:xfrm>
            <a:off x="2041236" y="5357091"/>
            <a:ext cx="434109" cy="443346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B7E55F0-4154-4A77-83E5-2203196852CE}"/>
              </a:ext>
            </a:extLst>
          </p:cNvPr>
          <p:cNvCxnSpPr>
            <a:cxnSpLocks/>
            <a:stCxn id="48" idx="6"/>
          </p:cNvCxnSpPr>
          <p:nvPr/>
        </p:nvCxnSpPr>
        <p:spPr>
          <a:xfrm flipV="1">
            <a:off x="2392218" y="3493912"/>
            <a:ext cx="1435989" cy="7732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37A9348-406E-0BA9-D7AC-729CC4B163C5}"/>
              </a:ext>
            </a:extLst>
          </p:cNvPr>
          <p:cNvCxnSpPr>
            <a:cxnSpLocks/>
            <a:stCxn id="48" idx="6"/>
          </p:cNvCxnSpPr>
          <p:nvPr/>
        </p:nvCxnSpPr>
        <p:spPr>
          <a:xfrm flipV="1">
            <a:off x="2392218" y="4263911"/>
            <a:ext cx="1533237" cy="32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D00B281-8D0E-09A2-9FB8-59A6F7808210}"/>
              </a:ext>
            </a:extLst>
          </p:cNvPr>
          <p:cNvCxnSpPr>
            <a:cxnSpLocks/>
            <a:stCxn id="48" idx="6"/>
          </p:cNvCxnSpPr>
          <p:nvPr/>
        </p:nvCxnSpPr>
        <p:spPr>
          <a:xfrm>
            <a:off x="2392218" y="4267200"/>
            <a:ext cx="1533237" cy="4433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ED242FB-AC13-9B99-3569-A72956778C6B}"/>
              </a:ext>
            </a:extLst>
          </p:cNvPr>
          <p:cNvCxnSpPr>
            <a:cxnSpLocks/>
            <a:stCxn id="52" idx="6"/>
          </p:cNvCxnSpPr>
          <p:nvPr/>
        </p:nvCxnSpPr>
        <p:spPr>
          <a:xfrm flipV="1">
            <a:off x="2475345" y="5179003"/>
            <a:ext cx="1450110" cy="3997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C78AA84-47E9-63DC-FBBB-0D00883212DA}"/>
              </a:ext>
            </a:extLst>
          </p:cNvPr>
          <p:cNvCxnSpPr>
            <a:cxnSpLocks/>
            <a:stCxn id="52" idx="6"/>
          </p:cNvCxnSpPr>
          <p:nvPr/>
        </p:nvCxnSpPr>
        <p:spPr>
          <a:xfrm>
            <a:off x="2475345" y="5578764"/>
            <a:ext cx="1450110" cy="5004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0C61A119-C12B-AEEB-5399-D9006BD5F8B0}"/>
              </a:ext>
            </a:extLst>
          </p:cNvPr>
          <p:cNvSpPr txBox="1"/>
          <p:nvPr/>
        </p:nvSpPr>
        <p:spPr>
          <a:xfrm>
            <a:off x="3860801" y="3320143"/>
            <a:ext cx="2553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Cured + No Side Effects</a:t>
            </a:r>
            <a:endParaRPr lang="en-CA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EB5A39D-5E8F-2397-EBBB-089309096F59}"/>
              </a:ext>
            </a:extLst>
          </p:cNvPr>
          <p:cNvSpPr txBox="1"/>
          <p:nvPr/>
        </p:nvSpPr>
        <p:spPr>
          <a:xfrm>
            <a:off x="3860801" y="4020416"/>
            <a:ext cx="2210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Cured + Side Effects</a:t>
            </a:r>
            <a:endParaRPr lang="en-CA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0F7F968-489B-7EC0-22C9-17D1335B1780}"/>
              </a:ext>
            </a:extLst>
          </p:cNvPr>
          <p:cNvSpPr txBox="1"/>
          <p:nvPr/>
        </p:nvSpPr>
        <p:spPr>
          <a:xfrm>
            <a:off x="3907834" y="447982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Nothing</a:t>
            </a:r>
            <a:endParaRPr lang="en-CA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B6A0533-83DB-3528-636B-695DBEFAE838}"/>
              </a:ext>
            </a:extLst>
          </p:cNvPr>
          <p:cNvSpPr txBox="1"/>
          <p:nvPr/>
        </p:nvSpPr>
        <p:spPr>
          <a:xfrm>
            <a:off x="3860801" y="4964184"/>
            <a:ext cx="2210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Cured + Side Effects</a:t>
            </a:r>
            <a:endParaRPr lang="en-CA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DB70DA9-5A60-0344-EE52-D7722AC8DCD9}"/>
              </a:ext>
            </a:extLst>
          </p:cNvPr>
          <p:cNvSpPr txBox="1"/>
          <p:nvPr/>
        </p:nvSpPr>
        <p:spPr>
          <a:xfrm>
            <a:off x="3853656" y="588450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Nothing</a:t>
            </a:r>
            <a:endParaRPr lang="en-CA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D920BB-BD66-2306-F046-B62ACEF8376E}"/>
              </a:ext>
            </a:extLst>
          </p:cNvPr>
          <p:cNvSpPr txBox="1"/>
          <p:nvPr/>
        </p:nvSpPr>
        <p:spPr>
          <a:xfrm>
            <a:off x="2630594" y="340310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  <a:endParaRPr lang="en-CA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76825F-02DA-7CAA-2395-69011CEEB151}"/>
              </a:ext>
            </a:extLst>
          </p:cNvPr>
          <p:cNvSpPr txBox="1"/>
          <p:nvPr/>
        </p:nvSpPr>
        <p:spPr>
          <a:xfrm>
            <a:off x="3137921" y="382403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  <a:endParaRPr lang="en-CA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8EA807-B383-24FD-AFD2-0DDFEC67A6DE}"/>
              </a:ext>
            </a:extLst>
          </p:cNvPr>
          <p:cNvSpPr txBox="1"/>
          <p:nvPr/>
        </p:nvSpPr>
        <p:spPr>
          <a:xfrm>
            <a:off x="2910217" y="450393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  <a:endParaRPr lang="en-CA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347D0A2-274D-9AEE-88E3-13C0BAA0138D}"/>
              </a:ext>
            </a:extLst>
          </p:cNvPr>
          <p:cNvSpPr txBox="1"/>
          <p:nvPr/>
        </p:nvSpPr>
        <p:spPr>
          <a:xfrm>
            <a:off x="2720782" y="501628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  <a:endParaRPr lang="en-CA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3E31ECB-CEA3-370D-2DC6-5720AA5D97D0}"/>
              </a:ext>
            </a:extLst>
          </p:cNvPr>
          <p:cNvSpPr txBox="1"/>
          <p:nvPr/>
        </p:nvSpPr>
        <p:spPr>
          <a:xfrm>
            <a:off x="2670498" y="578537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CD3D414-463A-69DF-C1ED-C852861F599E}"/>
                  </a:ext>
                </a:extLst>
              </p:cNvPr>
              <p:cNvSpPr txBox="1"/>
              <p:nvPr/>
            </p:nvSpPr>
            <p:spPr>
              <a:xfrm>
                <a:off x="6594344" y="3805444"/>
                <a:ext cx="4613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𝑁𝑆𝐸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𝑆𝐸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129BC9C-896E-FC3A-56D2-0DA37B5B7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344" y="3805444"/>
                <a:ext cx="461318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D5EFAC5-5063-4FC9-79C1-6EF3ACE1E2E7}"/>
                  </a:ext>
                </a:extLst>
              </p:cNvPr>
              <p:cNvSpPr txBox="1"/>
              <p:nvPr/>
            </p:nvSpPr>
            <p:spPr>
              <a:xfrm>
                <a:off x="6678776" y="5600710"/>
                <a:ext cx="32508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𝑆𝐸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𝑆𝑖𝑐𝑘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BE73E6E-A2E6-56DB-2A7F-513D2C4CC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776" y="5600710"/>
                <a:ext cx="325089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ight Brace 93">
            <a:extLst>
              <a:ext uri="{FF2B5EF4-FFF2-40B4-BE49-F238E27FC236}">
                <a16:creationId xmlns:a16="http://schemas.microsoft.com/office/drawing/2014/main" id="{F13AAFD6-F604-F821-7D3B-E9FDC1B02921}"/>
              </a:ext>
            </a:extLst>
          </p:cNvPr>
          <p:cNvSpPr/>
          <p:nvPr/>
        </p:nvSpPr>
        <p:spPr>
          <a:xfrm>
            <a:off x="6172460" y="3168526"/>
            <a:ext cx="416818" cy="1542020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EF83AD8-A50B-6CC0-A554-6806A6EA65D3}"/>
              </a:ext>
            </a:extLst>
          </p:cNvPr>
          <p:cNvSpPr/>
          <p:nvPr/>
        </p:nvSpPr>
        <p:spPr>
          <a:xfrm>
            <a:off x="360218" y="4784436"/>
            <a:ext cx="479618" cy="46181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EB02446-5048-0014-AD0E-D6F40C033CBB}"/>
              </a:ext>
            </a:extLst>
          </p:cNvPr>
          <p:cNvCxnSpPr>
            <a:cxnSpLocks/>
            <a:stCxn id="95" idx="3"/>
            <a:endCxn id="48" idx="2"/>
          </p:cNvCxnSpPr>
          <p:nvPr/>
        </p:nvCxnSpPr>
        <p:spPr>
          <a:xfrm flipV="1">
            <a:off x="839836" y="4267200"/>
            <a:ext cx="1118273" cy="7481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79BA286-F584-BFBB-321C-10B960E55974}"/>
              </a:ext>
            </a:extLst>
          </p:cNvPr>
          <p:cNvCxnSpPr>
            <a:cxnSpLocks/>
            <a:stCxn id="95" idx="3"/>
            <a:endCxn id="52" idx="2"/>
          </p:cNvCxnSpPr>
          <p:nvPr/>
        </p:nvCxnSpPr>
        <p:spPr>
          <a:xfrm>
            <a:off x="839836" y="5015346"/>
            <a:ext cx="1201400" cy="5634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674ED260-645F-1988-1BB7-4A683379C630}"/>
              </a:ext>
            </a:extLst>
          </p:cNvPr>
          <p:cNvSpPr txBox="1"/>
          <p:nvPr/>
        </p:nvSpPr>
        <p:spPr>
          <a:xfrm>
            <a:off x="876291" y="3990110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Drug A</a:t>
            </a:r>
            <a:endParaRPr lang="en-CA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EA3469A-3992-283F-1E59-E8B5234FAC05}"/>
              </a:ext>
            </a:extLst>
          </p:cNvPr>
          <p:cNvSpPr txBox="1"/>
          <p:nvPr/>
        </p:nvSpPr>
        <p:spPr>
          <a:xfrm>
            <a:off x="756218" y="544034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Drug B</a:t>
            </a:r>
            <a:endParaRPr lang="en-CA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8AFF0A1C-3C45-5919-3E7F-E1B0FAA5C560}"/>
              </a:ext>
            </a:extLst>
          </p:cNvPr>
          <p:cNvSpPr/>
          <p:nvPr/>
        </p:nvSpPr>
        <p:spPr>
          <a:xfrm>
            <a:off x="6166618" y="4970755"/>
            <a:ext cx="416818" cy="1542020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393BA3B-A50D-D19F-0297-A6889FB2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24" y="546559"/>
            <a:ext cx="11465744" cy="1117092"/>
          </a:xfrm>
        </p:spPr>
        <p:txBody>
          <a:bodyPr>
            <a:noAutofit/>
          </a:bodyPr>
          <a:lstStyle/>
          <a:p>
            <a:r>
              <a:rPr lang="en-US" sz="3000" dirty="0"/>
              <a:t>Decision Trees as a Visualization of a Choice over Expected Value</a:t>
            </a:r>
            <a:endParaRPr lang="en-CA" sz="3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CAABFF-7FAC-EC97-FEB8-ECEB772F8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437345"/>
            <a:ext cx="10444933" cy="195258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Decision trees are graphical representations of expected value equations. </a:t>
            </a:r>
          </a:p>
          <a:p>
            <a:pPr marL="0" indent="0">
              <a:buNone/>
            </a:pPr>
            <a:r>
              <a:rPr lang="en-US" dirty="0" err="1"/>
              <a:t>Example:Suppose</a:t>
            </a:r>
            <a:r>
              <a:rPr lang="en-US" dirty="0"/>
              <a:t> a doctor can treat a sick patient with two different drugs.</a:t>
            </a:r>
          </a:p>
          <a:p>
            <a:pPr>
              <a:buFontTx/>
              <a:buChar char="-"/>
            </a:pPr>
            <a:r>
              <a:rPr lang="en-US" dirty="0"/>
              <a:t>Drug A has a 50% chance of curing the patient with no side effects a 20% chance of curing the patient with side effects and a 30% chance of doing nothing. </a:t>
            </a:r>
          </a:p>
          <a:p>
            <a:pPr>
              <a:buFontTx/>
              <a:buChar char="-"/>
            </a:pPr>
            <a:r>
              <a:rPr lang="en-US" dirty="0"/>
              <a:t>Drug B has a 80% chance of curing the patient with side effects and 20% chance of doing nothing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437037-1A70-E352-BB7C-DCCCB5C0FDBD}"/>
                  </a:ext>
                </a:extLst>
              </p:cNvPr>
              <p:cNvSpPr txBox="1"/>
              <p:nvPr/>
            </p:nvSpPr>
            <p:spPr>
              <a:xfrm>
                <a:off x="7372425" y="4293749"/>
                <a:ext cx="3764841" cy="1306961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br>
                  <a:rPr lang="en-CA" dirty="0"/>
                </a:br>
                <a:br>
                  <a:rPr lang="en-CA" dirty="0"/>
                </a:br>
                <a:r>
                  <a:rPr lang="en-CA" b="1" dirty="0"/>
                  <a:t>Choose the argument which produces the maximum value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437037-1A70-E352-BB7C-DCCCB5C0F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425" y="4293749"/>
                <a:ext cx="3764841" cy="1306961"/>
              </a:xfrm>
              <a:prstGeom prst="rect">
                <a:avLst/>
              </a:prstGeom>
              <a:blipFill>
                <a:blip r:embed="rId5"/>
                <a:stretch>
                  <a:fillRect l="-638" b="-4018"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8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27AA0-90BF-4224-9A29-E3A930DB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49" y="578911"/>
            <a:ext cx="11155680" cy="1463040"/>
          </a:xfrm>
        </p:spPr>
        <p:txBody>
          <a:bodyPr/>
          <a:lstStyle/>
          <a:p>
            <a:r>
              <a:rPr lang="en-CA" dirty="0"/>
              <a:t>A Style Guide for a Decision Tree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44D791-7506-484E-8D93-136EA0207706}"/>
              </a:ext>
            </a:extLst>
          </p:cNvPr>
          <p:cNvSpPr/>
          <p:nvPr/>
        </p:nvSpPr>
        <p:spPr>
          <a:xfrm>
            <a:off x="1253491" y="3987851"/>
            <a:ext cx="475488" cy="43354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124280-1B70-482E-8ECA-4DC039FB743A}"/>
              </a:ext>
            </a:extLst>
          </p:cNvPr>
          <p:cNvCxnSpPr>
            <a:cxnSpLocks/>
            <a:stCxn id="6" idx="3"/>
            <a:endCxn id="12" idx="2"/>
          </p:cNvCxnSpPr>
          <p:nvPr/>
        </p:nvCxnSpPr>
        <p:spPr>
          <a:xfrm flipV="1">
            <a:off x="1728979" y="2965289"/>
            <a:ext cx="1922525" cy="12393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02F23E-FCD6-478E-AB65-355097F60155}"/>
              </a:ext>
            </a:extLst>
          </p:cNvPr>
          <p:cNvCxnSpPr>
            <a:cxnSpLocks/>
            <a:stCxn id="6" idx="3"/>
            <a:endCxn id="33" idx="2"/>
          </p:cNvCxnSpPr>
          <p:nvPr/>
        </p:nvCxnSpPr>
        <p:spPr>
          <a:xfrm>
            <a:off x="1728979" y="4204624"/>
            <a:ext cx="1794509" cy="9523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2B4D58C8-2D1A-458D-A90A-4DF2DCBDE3C8}"/>
              </a:ext>
            </a:extLst>
          </p:cNvPr>
          <p:cNvSpPr/>
          <p:nvPr/>
        </p:nvSpPr>
        <p:spPr>
          <a:xfrm>
            <a:off x="3651504" y="2669998"/>
            <a:ext cx="612648" cy="59058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E76289-405F-4009-A88D-6BC02A2B5C94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4264152" y="2139057"/>
            <a:ext cx="1804269" cy="82623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40310A-8181-4F06-AD86-A7B41B916D2B}"/>
              </a:ext>
            </a:extLst>
          </p:cNvPr>
          <p:cNvCxnSpPr>
            <a:cxnSpLocks/>
          </p:cNvCxnSpPr>
          <p:nvPr/>
        </p:nvCxnSpPr>
        <p:spPr>
          <a:xfrm>
            <a:off x="4279392" y="2971227"/>
            <a:ext cx="1859429" cy="48180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99CBBED2-0C28-4071-9D4E-0EBFC7BF8CA3}"/>
              </a:ext>
            </a:extLst>
          </p:cNvPr>
          <p:cNvSpPr/>
          <p:nvPr/>
        </p:nvSpPr>
        <p:spPr>
          <a:xfrm>
            <a:off x="3523488" y="4861716"/>
            <a:ext cx="612648" cy="59058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A96C542-BAD9-4715-9241-B0A9DD3E0ED4}"/>
              </a:ext>
            </a:extLst>
          </p:cNvPr>
          <p:cNvCxnSpPr>
            <a:cxnSpLocks/>
            <a:stCxn id="33" idx="6"/>
          </p:cNvCxnSpPr>
          <p:nvPr/>
        </p:nvCxnSpPr>
        <p:spPr>
          <a:xfrm flipV="1">
            <a:off x="4136136" y="4268827"/>
            <a:ext cx="1624584" cy="88818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0EC1910-EAC9-4BFC-BFC4-BA5E56291EED}"/>
              </a:ext>
            </a:extLst>
          </p:cNvPr>
          <p:cNvCxnSpPr>
            <a:cxnSpLocks/>
            <a:stCxn id="33" idx="6"/>
            <a:endCxn id="39" idx="1"/>
          </p:cNvCxnSpPr>
          <p:nvPr/>
        </p:nvCxnSpPr>
        <p:spPr>
          <a:xfrm>
            <a:off x="4136136" y="5157007"/>
            <a:ext cx="1722120" cy="74771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539CA6D-93F3-4753-843F-30E19D7D8659}"/>
              </a:ext>
            </a:extLst>
          </p:cNvPr>
          <p:cNvSpPr/>
          <p:nvPr/>
        </p:nvSpPr>
        <p:spPr>
          <a:xfrm>
            <a:off x="5858256" y="5687948"/>
            <a:ext cx="475488" cy="43354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D2895FD-CDA5-428C-B778-730D12248FA9}"/>
              </a:ext>
            </a:extLst>
          </p:cNvPr>
          <p:cNvCxnSpPr>
            <a:cxnSpLocks/>
            <a:stCxn id="39" idx="3"/>
            <a:endCxn id="70" idx="0"/>
          </p:cNvCxnSpPr>
          <p:nvPr/>
        </p:nvCxnSpPr>
        <p:spPr>
          <a:xfrm flipV="1">
            <a:off x="6333744" y="5858532"/>
            <a:ext cx="2608734" cy="4618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40C0B8F-86B0-4DBD-9AC1-BC2F46E6EC95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5738223" y="4270444"/>
            <a:ext cx="3204254" cy="3790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FC87C5F-1F5C-4493-A7AC-197DCEFD819D}"/>
              </a:ext>
            </a:extLst>
          </p:cNvPr>
          <p:cNvCxnSpPr>
            <a:cxnSpLocks/>
          </p:cNvCxnSpPr>
          <p:nvPr/>
        </p:nvCxnSpPr>
        <p:spPr>
          <a:xfrm flipV="1">
            <a:off x="6096000" y="3434725"/>
            <a:ext cx="2895247" cy="355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D4128B6-E7F3-4E67-B3EF-33E7D3B7D26F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6047232" y="2139057"/>
            <a:ext cx="289524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12995448-DAD0-48BD-9879-85A4A625382C}"/>
              </a:ext>
            </a:extLst>
          </p:cNvPr>
          <p:cNvSpPr/>
          <p:nvPr/>
        </p:nvSpPr>
        <p:spPr>
          <a:xfrm rot="16200000">
            <a:off x="8896592" y="1864115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EA0542BC-C0CA-4623-8643-18E92BCFB5BB}"/>
              </a:ext>
            </a:extLst>
          </p:cNvPr>
          <p:cNvSpPr/>
          <p:nvPr/>
        </p:nvSpPr>
        <p:spPr>
          <a:xfrm rot="16200000">
            <a:off x="8945362" y="3161558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D43AEB59-1DD4-4887-B4C4-FCA11D2A6384}"/>
              </a:ext>
            </a:extLst>
          </p:cNvPr>
          <p:cNvSpPr/>
          <p:nvPr/>
        </p:nvSpPr>
        <p:spPr>
          <a:xfrm rot="16200000">
            <a:off x="8896591" y="4033407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5B45B6D7-F8E1-4161-BA2C-9A4B6E230FC3}"/>
              </a:ext>
            </a:extLst>
          </p:cNvPr>
          <p:cNvSpPr/>
          <p:nvPr/>
        </p:nvSpPr>
        <p:spPr>
          <a:xfrm rot="16200000">
            <a:off x="8896592" y="5583590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53A467-AD7E-404E-A943-B293240219D9}"/>
              </a:ext>
            </a:extLst>
          </p:cNvPr>
          <p:cNvSpPr txBox="1"/>
          <p:nvPr/>
        </p:nvSpPr>
        <p:spPr>
          <a:xfrm>
            <a:off x="1728979" y="4914406"/>
            <a:ext cx="148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Treatment B</a:t>
            </a:r>
            <a:br>
              <a:rPr lang="en-CA" dirty="0"/>
            </a:br>
            <a:r>
              <a:rPr lang="en-CA" dirty="0"/>
              <a:t>Upfront Cost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A95D00F-97D7-48C9-BED5-749BBD3D8BAB}"/>
              </a:ext>
            </a:extLst>
          </p:cNvPr>
          <p:cNvSpPr txBox="1"/>
          <p:nvPr/>
        </p:nvSpPr>
        <p:spPr>
          <a:xfrm>
            <a:off x="1521606" y="2806700"/>
            <a:ext cx="146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Treatment A</a:t>
            </a:r>
            <a:br>
              <a:rPr lang="en-CA" dirty="0"/>
            </a:br>
            <a:r>
              <a:rPr lang="en-CA" dirty="0"/>
              <a:t>Upfront Cost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B78F758-F0B2-4F5A-A9A1-8C7C64CA206D}"/>
              </a:ext>
            </a:extLst>
          </p:cNvPr>
          <p:cNvSpPr txBox="1"/>
          <p:nvPr/>
        </p:nvSpPr>
        <p:spPr>
          <a:xfrm>
            <a:off x="4787746" y="2148569"/>
            <a:ext cx="9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Pr</a:t>
            </a:r>
            <a:r>
              <a:rPr lang="en-CA" dirty="0"/>
              <a:t>(A)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A51B589-45CA-4AC3-A856-1D0D90566AAA}"/>
              </a:ext>
            </a:extLst>
          </p:cNvPr>
          <p:cNvSpPr txBox="1"/>
          <p:nvPr/>
        </p:nvSpPr>
        <p:spPr>
          <a:xfrm>
            <a:off x="4895129" y="3363818"/>
            <a:ext cx="93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1-Pr(A)</a:t>
            </a:r>
          </a:p>
          <a:p>
            <a:endParaRPr lang="en-CA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F809A49-8D80-4DE2-AD65-D20A8EB4BAB4}"/>
              </a:ext>
            </a:extLst>
          </p:cNvPr>
          <p:cNvSpPr txBox="1"/>
          <p:nvPr/>
        </p:nvSpPr>
        <p:spPr>
          <a:xfrm>
            <a:off x="4442105" y="4236731"/>
            <a:ext cx="9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Pr</a:t>
            </a:r>
            <a:r>
              <a:rPr lang="en-CA" dirty="0"/>
              <a:t>(B)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076AC82-3A79-40D1-88D6-A9C2E419B5D9}"/>
              </a:ext>
            </a:extLst>
          </p:cNvPr>
          <p:cNvSpPr txBox="1"/>
          <p:nvPr/>
        </p:nvSpPr>
        <p:spPr>
          <a:xfrm>
            <a:off x="4385127" y="5551673"/>
            <a:ext cx="93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1-Pr(B)</a:t>
            </a:r>
          </a:p>
          <a:p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4C55C49-5C31-49B1-84E6-D7C3CF4A81B2}"/>
                  </a:ext>
                </a:extLst>
              </p:cNvPr>
              <p:cNvSpPr txBox="1"/>
              <p:nvPr/>
            </p:nvSpPr>
            <p:spPr>
              <a:xfrm>
                <a:off x="5908929" y="6121494"/>
                <a:ext cx="374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4C55C49-5C31-49B1-84E6-D7C3CF4A8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929" y="6121494"/>
                <a:ext cx="3741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F54A910-8BDB-4C51-BFA3-27764A27973D}"/>
                  </a:ext>
                </a:extLst>
              </p:cNvPr>
              <p:cNvSpPr txBox="1"/>
              <p:nvPr/>
            </p:nvSpPr>
            <p:spPr>
              <a:xfrm>
                <a:off x="9551163" y="1930098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F54A910-8BDB-4C51-BFA3-27764A279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163" y="1930098"/>
                <a:ext cx="5498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A599291-7960-4D00-881D-49271588DF60}"/>
                  </a:ext>
                </a:extLst>
              </p:cNvPr>
              <p:cNvSpPr txBox="1"/>
              <p:nvPr/>
            </p:nvSpPr>
            <p:spPr>
              <a:xfrm>
                <a:off x="9666898" y="3233002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A599291-7960-4D00-881D-49271588D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898" y="3233002"/>
                <a:ext cx="5498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B7D5A7C-5791-4C4C-B58F-341122A2794B}"/>
                  </a:ext>
                </a:extLst>
              </p:cNvPr>
              <p:cNvSpPr txBox="1"/>
              <p:nvPr/>
            </p:nvSpPr>
            <p:spPr>
              <a:xfrm>
                <a:off x="9666898" y="4177366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B7D5A7C-5791-4C4C-B58F-341122A27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898" y="4177366"/>
                <a:ext cx="5498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E5FFFD1-C578-425E-A58C-B0D643586530}"/>
                  </a:ext>
                </a:extLst>
              </p:cNvPr>
              <p:cNvSpPr txBox="1"/>
              <p:nvPr/>
            </p:nvSpPr>
            <p:spPr>
              <a:xfrm>
                <a:off x="9587595" y="5717009"/>
                <a:ext cx="1344668" cy="375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E5FFFD1-C578-425E-A58C-B0D643586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595" y="5717009"/>
                <a:ext cx="1344668" cy="375424"/>
              </a:xfrm>
              <a:prstGeom prst="rect">
                <a:avLst/>
              </a:prstGeom>
              <a:blipFill>
                <a:blip r:embed="rId8"/>
                <a:stretch>
                  <a:fillRect r="-1454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05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518"/>
    </mc:Choice>
    <mc:Fallback xmlns="">
      <p:transition spd="slow" advTm="7651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69B62-425A-34C2-5439-DFF61227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C326-ABD9-5A9C-E915-6076A224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49" y="578911"/>
            <a:ext cx="11155680" cy="1463040"/>
          </a:xfrm>
        </p:spPr>
        <p:txBody>
          <a:bodyPr/>
          <a:lstStyle/>
          <a:p>
            <a:r>
              <a:rPr lang="en-CA" dirty="0"/>
              <a:t>A Style Guide for a Decision Tree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7E4AC-702C-279E-35E2-98DA2C5B84B5}"/>
              </a:ext>
            </a:extLst>
          </p:cNvPr>
          <p:cNvSpPr/>
          <p:nvPr/>
        </p:nvSpPr>
        <p:spPr>
          <a:xfrm>
            <a:off x="1253491" y="3987851"/>
            <a:ext cx="475488" cy="43354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87A84E-9AE1-AC00-352E-D072890C7FFE}"/>
              </a:ext>
            </a:extLst>
          </p:cNvPr>
          <p:cNvCxnSpPr>
            <a:cxnSpLocks/>
            <a:stCxn id="6" idx="3"/>
            <a:endCxn id="12" idx="2"/>
          </p:cNvCxnSpPr>
          <p:nvPr/>
        </p:nvCxnSpPr>
        <p:spPr>
          <a:xfrm flipV="1">
            <a:off x="1728979" y="2965289"/>
            <a:ext cx="1922525" cy="12393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519944-7B23-7ED1-0055-35C9300A5784}"/>
              </a:ext>
            </a:extLst>
          </p:cNvPr>
          <p:cNvCxnSpPr>
            <a:cxnSpLocks/>
            <a:stCxn id="6" idx="3"/>
            <a:endCxn id="33" idx="2"/>
          </p:cNvCxnSpPr>
          <p:nvPr/>
        </p:nvCxnSpPr>
        <p:spPr>
          <a:xfrm>
            <a:off x="1728979" y="4204624"/>
            <a:ext cx="1794509" cy="9523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CB37896-1723-C890-5C67-FFBC325AFB7C}"/>
              </a:ext>
            </a:extLst>
          </p:cNvPr>
          <p:cNvSpPr/>
          <p:nvPr/>
        </p:nvSpPr>
        <p:spPr>
          <a:xfrm>
            <a:off x="3651504" y="2669998"/>
            <a:ext cx="612648" cy="59058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09D01A-6967-0842-89B0-D8678339AC0E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4264152" y="2139057"/>
            <a:ext cx="1804269" cy="82623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DA954C-6940-6E80-7E1A-4BD0F99E3E4D}"/>
              </a:ext>
            </a:extLst>
          </p:cNvPr>
          <p:cNvCxnSpPr>
            <a:cxnSpLocks/>
          </p:cNvCxnSpPr>
          <p:nvPr/>
        </p:nvCxnSpPr>
        <p:spPr>
          <a:xfrm>
            <a:off x="4279392" y="2971227"/>
            <a:ext cx="1859429" cy="48180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10AE1188-48DD-92F1-0832-7C726F2A683C}"/>
              </a:ext>
            </a:extLst>
          </p:cNvPr>
          <p:cNvSpPr/>
          <p:nvPr/>
        </p:nvSpPr>
        <p:spPr>
          <a:xfrm>
            <a:off x="3523488" y="4861716"/>
            <a:ext cx="612648" cy="59058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19A2AE7-EE22-DCB5-F33F-132A7DC31E8B}"/>
              </a:ext>
            </a:extLst>
          </p:cNvPr>
          <p:cNvCxnSpPr>
            <a:cxnSpLocks/>
            <a:stCxn id="33" idx="6"/>
          </p:cNvCxnSpPr>
          <p:nvPr/>
        </p:nvCxnSpPr>
        <p:spPr>
          <a:xfrm flipV="1">
            <a:off x="4136136" y="4268827"/>
            <a:ext cx="1624584" cy="88818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0A2011-41BA-1F17-45D9-0466B348A92D}"/>
              </a:ext>
            </a:extLst>
          </p:cNvPr>
          <p:cNvCxnSpPr>
            <a:cxnSpLocks/>
            <a:stCxn id="33" idx="6"/>
            <a:endCxn id="39" idx="1"/>
          </p:cNvCxnSpPr>
          <p:nvPr/>
        </p:nvCxnSpPr>
        <p:spPr>
          <a:xfrm>
            <a:off x="4136136" y="5157007"/>
            <a:ext cx="1722120" cy="74771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4786C40-C9DA-4DD3-6228-E90DFE44D826}"/>
              </a:ext>
            </a:extLst>
          </p:cNvPr>
          <p:cNvSpPr/>
          <p:nvPr/>
        </p:nvSpPr>
        <p:spPr>
          <a:xfrm>
            <a:off x="5858256" y="5687948"/>
            <a:ext cx="475488" cy="43354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857C0B9-485E-2AE3-DE1F-EA6904288307}"/>
              </a:ext>
            </a:extLst>
          </p:cNvPr>
          <p:cNvCxnSpPr>
            <a:cxnSpLocks/>
            <a:stCxn id="39" idx="3"/>
            <a:endCxn id="70" idx="0"/>
          </p:cNvCxnSpPr>
          <p:nvPr/>
        </p:nvCxnSpPr>
        <p:spPr>
          <a:xfrm flipV="1">
            <a:off x="6333744" y="5858532"/>
            <a:ext cx="2608734" cy="4618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C9EF669-20C0-81F8-8F56-04F2AD8D59B2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5738223" y="4270444"/>
            <a:ext cx="3204254" cy="3790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EFFE199-053F-D643-29A3-F074F6323B9A}"/>
              </a:ext>
            </a:extLst>
          </p:cNvPr>
          <p:cNvCxnSpPr>
            <a:cxnSpLocks/>
          </p:cNvCxnSpPr>
          <p:nvPr/>
        </p:nvCxnSpPr>
        <p:spPr>
          <a:xfrm flipV="1">
            <a:off x="6096000" y="3434725"/>
            <a:ext cx="2895247" cy="355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93C41A8-399F-2371-01B7-68EEA79CBD33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6047232" y="2139057"/>
            <a:ext cx="289524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68C424EF-3A64-B497-40E9-5951CF21C37D}"/>
              </a:ext>
            </a:extLst>
          </p:cNvPr>
          <p:cNvSpPr/>
          <p:nvPr/>
        </p:nvSpPr>
        <p:spPr>
          <a:xfrm rot="16200000">
            <a:off x="8896592" y="1864115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5E8037C8-070A-F563-4A85-4DDC38D1DDE1}"/>
              </a:ext>
            </a:extLst>
          </p:cNvPr>
          <p:cNvSpPr/>
          <p:nvPr/>
        </p:nvSpPr>
        <p:spPr>
          <a:xfrm rot="16200000">
            <a:off x="8945362" y="3161558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53A3BB8D-64FA-7D01-4E57-8D500E3DC49A}"/>
              </a:ext>
            </a:extLst>
          </p:cNvPr>
          <p:cNvSpPr/>
          <p:nvPr/>
        </p:nvSpPr>
        <p:spPr>
          <a:xfrm rot="16200000">
            <a:off x="8896591" y="4033407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C2905B51-C80A-A460-777E-228194A42D38}"/>
              </a:ext>
            </a:extLst>
          </p:cNvPr>
          <p:cNvSpPr/>
          <p:nvPr/>
        </p:nvSpPr>
        <p:spPr>
          <a:xfrm rot="16200000">
            <a:off x="8896592" y="5583590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9A12BFC-1B7E-282C-7B7A-757570492D46}"/>
              </a:ext>
            </a:extLst>
          </p:cNvPr>
          <p:cNvSpPr txBox="1"/>
          <p:nvPr/>
        </p:nvSpPr>
        <p:spPr>
          <a:xfrm>
            <a:off x="1728979" y="4914406"/>
            <a:ext cx="148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Treatment B</a:t>
            </a:r>
            <a:br>
              <a:rPr lang="en-CA" dirty="0"/>
            </a:br>
            <a:r>
              <a:rPr lang="en-CA" dirty="0"/>
              <a:t>Upfront Cost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C8D7B9-93C2-9A45-ED2B-20B8D3B49743}"/>
              </a:ext>
            </a:extLst>
          </p:cNvPr>
          <p:cNvSpPr txBox="1"/>
          <p:nvPr/>
        </p:nvSpPr>
        <p:spPr>
          <a:xfrm>
            <a:off x="1521606" y="2806700"/>
            <a:ext cx="146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Treatment A</a:t>
            </a:r>
            <a:br>
              <a:rPr lang="en-CA" dirty="0"/>
            </a:br>
            <a:r>
              <a:rPr lang="en-CA" dirty="0"/>
              <a:t>Upfront Cost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45783A-7C95-CC01-E3F5-F9DC9C5326DC}"/>
              </a:ext>
            </a:extLst>
          </p:cNvPr>
          <p:cNvSpPr txBox="1"/>
          <p:nvPr/>
        </p:nvSpPr>
        <p:spPr>
          <a:xfrm>
            <a:off x="4787746" y="2148569"/>
            <a:ext cx="9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Pr</a:t>
            </a:r>
            <a:r>
              <a:rPr lang="en-CA" dirty="0"/>
              <a:t>(A)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3E8DB8-8CDE-95DF-0A44-D2AB9C8F7202}"/>
              </a:ext>
            </a:extLst>
          </p:cNvPr>
          <p:cNvSpPr txBox="1"/>
          <p:nvPr/>
        </p:nvSpPr>
        <p:spPr>
          <a:xfrm>
            <a:off x="4895129" y="3363818"/>
            <a:ext cx="93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1-Pr(A)</a:t>
            </a:r>
          </a:p>
          <a:p>
            <a:endParaRPr lang="en-CA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474150-D237-1AC0-FBDB-1970A9A0BD72}"/>
              </a:ext>
            </a:extLst>
          </p:cNvPr>
          <p:cNvSpPr txBox="1"/>
          <p:nvPr/>
        </p:nvSpPr>
        <p:spPr>
          <a:xfrm>
            <a:off x="4442105" y="4236731"/>
            <a:ext cx="9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Pr</a:t>
            </a:r>
            <a:r>
              <a:rPr lang="en-CA" dirty="0"/>
              <a:t>(B)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3E831E-A6EF-9A7A-1BE0-F9EF95F352FF}"/>
              </a:ext>
            </a:extLst>
          </p:cNvPr>
          <p:cNvSpPr txBox="1"/>
          <p:nvPr/>
        </p:nvSpPr>
        <p:spPr>
          <a:xfrm>
            <a:off x="4385127" y="5551673"/>
            <a:ext cx="93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1-Pr(B)</a:t>
            </a:r>
          </a:p>
          <a:p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A4CAF65-5CEA-955F-9B45-E9F5E23F2E88}"/>
                  </a:ext>
                </a:extLst>
              </p:cNvPr>
              <p:cNvSpPr txBox="1"/>
              <p:nvPr/>
            </p:nvSpPr>
            <p:spPr>
              <a:xfrm>
                <a:off x="5908929" y="6121494"/>
                <a:ext cx="374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4C55C49-5C31-49B1-84E6-D7C3CF4A8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929" y="6121494"/>
                <a:ext cx="3741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8384B02-7381-308E-4A96-41371F199B46}"/>
                  </a:ext>
                </a:extLst>
              </p:cNvPr>
              <p:cNvSpPr txBox="1"/>
              <p:nvPr/>
            </p:nvSpPr>
            <p:spPr>
              <a:xfrm>
                <a:off x="9551163" y="1930098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F54A910-8BDB-4C51-BFA3-27764A279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163" y="1930098"/>
                <a:ext cx="5498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4FA170E-9466-D2AB-AC8A-C0D6A33DF01D}"/>
                  </a:ext>
                </a:extLst>
              </p:cNvPr>
              <p:cNvSpPr txBox="1"/>
              <p:nvPr/>
            </p:nvSpPr>
            <p:spPr>
              <a:xfrm>
                <a:off x="9666898" y="3233002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A599291-7960-4D00-881D-49271588D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898" y="3233002"/>
                <a:ext cx="5498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828A31A-8B94-C05B-28FE-CCFE3B2272E3}"/>
                  </a:ext>
                </a:extLst>
              </p:cNvPr>
              <p:cNvSpPr txBox="1"/>
              <p:nvPr/>
            </p:nvSpPr>
            <p:spPr>
              <a:xfrm>
                <a:off x="9666898" y="4177366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B7D5A7C-5791-4C4C-B58F-341122A27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898" y="4177366"/>
                <a:ext cx="5498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FA0F3F-35EE-7145-1C7A-ABD02B6E02EC}"/>
                  </a:ext>
                </a:extLst>
              </p:cNvPr>
              <p:cNvSpPr txBox="1"/>
              <p:nvPr/>
            </p:nvSpPr>
            <p:spPr>
              <a:xfrm>
                <a:off x="9587595" y="5717009"/>
                <a:ext cx="1344668" cy="375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E5FFFD1-C578-425E-A58C-B0D643586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595" y="5717009"/>
                <a:ext cx="1344668" cy="375424"/>
              </a:xfrm>
              <a:prstGeom prst="rect">
                <a:avLst/>
              </a:prstGeom>
              <a:blipFill>
                <a:blip r:embed="rId8"/>
                <a:stretch>
                  <a:fillRect r="-1454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97ED2AD-1900-1D6C-ED97-732B716B00C5}"/>
              </a:ext>
            </a:extLst>
          </p:cNvPr>
          <p:cNvSpPr txBox="1"/>
          <p:nvPr/>
        </p:nvSpPr>
        <p:spPr>
          <a:xfrm>
            <a:off x="318299" y="1447167"/>
            <a:ext cx="5401159" cy="64633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C00000"/>
                </a:solidFill>
              </a:rPr>
              <a:t>Decision Nodes are square and occur at the Start</a:t>
            </a:r>
            <a:br>
              <a:rPr lang="en-CA" b="1" dirty="0">
                <a:solidFill>
                  <a:srgbClr val="C00000"/>
                </a:solidFill>
              </a:rPr>
            </a:br>
            <a:r>
              <a:rPr lang="en-CA" b="1" dirty="0">
                <a:solidFill>
                  <a:srgbClr val="C00000"/>
                </a:solidFill>
              </a:rPr>
              <a:t>of the Tree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209919-B3D5-E2A6-C882-99ED43E212D4}"/>
              </a:ext>
            </a:extLst>
          </p:cNvPr>
          <p:cNvSpPr txBox="1"/>
          <p:nvPr/>
        </p:nvSpPr>
        <p:spPr>
          <a:xfrm>
            <a:off x="5055107" y="4787872"/>
            <a:ext cx="5996642" cy="64633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C00000"/>
                </a:solidFill>
              </a:rPr>
              <a:t>If there’s another decision along the tree then there is</a:t>
            </a:r>
            <a:br>
              <a:rPr lang="en-CA" b="1" dirty="0">
                <a:solidFill>
                  <a:srgbClr val="C00000"/>
                </a:solidFill>
              </a:rPr>
            </a:br>
            <a:r>
              <a:rPr lang="en-CA" b="1" dirty="0">
                <a:solidFill>
                  <a:srgbClr val="C00000"/>
                </a:solidFill>
              </a:rPr>
              <a:t>only one branch. Otherwise the tree is not well defined</a:t>
            </a:r>
          </a:p>
        </p:txBody>
      </p:sp>
    </p:spTree>
    <p:extLst>
      <p:ext uri="{BB962C8B-B14F-4D97-AF65-F5344CB8AC3E}">
        <p14:creationId xmlns:p14="http://schemas.microsoft.com/office/powerpoint/2010/main" val="278477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518"/>
    </mc:Choice>
    <mc:Fallback xmlns="">
      <p:transition spd="slow" advTm="7651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0EB17-991C-2F6E-F093-11417A61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8032-D832-DD99-6DCB-BBB41D7C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49" y="578911"/>
            <a:ext cx="11155680" cy="1463040"/>
          </a:xfrm>
        </p:spPr>
        <p:txBody>
          <a:bodyPr/>
          <a:lstStyle/>
          <a:p>
            <a:r>
              <a:rPr lang="en-CA" dirty="0"/>
              <a:t>A Style Guide for a Decision Tree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046818-45BE-AAED-435A-0A344F736E3C}"/>
              </a:ext>
            </a:extLst>
          </p:cNvPr>
          <p:cNvSpPr/>
          <p:nvPr/>
        </p:nvSpPr>
        <p:spPr>
          <a:xfrm>
            <a:off x="1253491" y="3987851"/>
            <a:ext cx="475488" cy="43354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5A9D92-B56E-70C5-45E6-D21822F309FA}"/>
              </a:ext>
            </a:extLst>
          </p:cNvPr>
          <p:cNvCxnSpPr>
            <a:cxnSpLocks/>
            <a:stCxn id="6" idx="3"/>
            <a:endCxn id="12" idx="2"/>
          </p:cNvCxnSpPr>
          <p:nvPr/>
        </p:nvCxnSpPr>
        <p:spPr>
          <a:xfrm flipV="1">
            <a:off x="1728979" y="2965289"/>
            <a:ext cx="1922525" cy="12393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3E3F56-0EB8-96CF-F299-642D4E7DC81D}"/>
              </a:ext>
            </a:extLst>
          </p:cNvPr>
          <p:cNvCxnSpPr>
            <a:cxnSpLocks/>
            <a:stCxn id="6" idx="3"/>
            <a:endCxn id="33" idx="2"/>
          </p:cNvCxnSpPr>
          <p:nvPr/>
        </p:nvCxnSpPr>
        <p:spPr>
          <a:xfrm>
            <a:off x="1728979" y="4204624"/>
            <a:ext cx="1794509" cy="9523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22674A-B6A5-5BFC-C2BF-E9F1784C7688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4264152" y="2139057"/>
            <a:ext cx="1804269" cy="82623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BC053C-E44E-E89C-5A7D-199A279286FC}"/>
              </a:ext>
            </a:extLst>
          </p:cNvPr>
          <p:cNvCxnSpPr>
            <a:cxnSpLocks/>
          </p:cNvCxnSpPr>
          <p:nvPr/>
        </p:nvCxnSpPr>
        <p:spPr>
          <a:xfrm>
            <a:off x="4279392" y="2971227"/>
            <a:ext cx="1859429" cy="48180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EE8FFA0-1D1B-9E73-E9BD-31D88F118020}"/>
              </a:ext>
            </a:extLst>
          </p:cNvPr>
          <p:cNvCxnSpPr>
            <a:cxnSpLocks/>
            <a:stCxn id="33" idx="6"/>
          </p:cNvCxnSpPr>
          <p:nvPr/>
        </p:nvCxnSpPr>
        <p:spPr>
          <a:xfrm flipV="1">
            <a:off x="4136136" y="4268827"/>
            <a:ext cx="1624584" cy="88818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D2F0812-7D3A-714D-256C-EB1374EF3AA1}"/>
              </a:ext>
            </a:extLst>
          </p:cNvPr>
          <p:cNvCxnSpPr>
            <a:cxnSpLocks/>
            <a:stCxn id="33" idx="6"/>
            <a:endCxn id="39" idx="1"/>
          </p:cNvCxnSpPr>
          <p:nvPr/>
        </p:nvCxnSpPr>
        <p:spPr>
          <a:xfrm>
            <a:off x="4136136" y="5157007"/>
            <a:ext cx="1722120" cy="74771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D4A97BB-A994-57DE-9F17-F9ED72B762B9}"/>
              </a:ext>
            </a:extLst>
          </p:cNvPr>
          <p:cNvSpPr/>
          <p:nvPr/>
        </p:nvSpPr>
        <p:spPr>
          <a:xfrm>
            <a:off x="5858256" y="5687948"/>
            <a:ext cx="475488" cy="43354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44C1E6F-6E0A-CEA6-1704-9A1323D0BCC3}"/>
              </a:ext>
            </a:extLst>
          </p:cNvPr>
          <p:cNvCxnSpPr>
            <a:cxnSpLocks/>
            <a:stCxn id="39" idx="3"/>
            <a:endCxn id="70" idx="0"/>
          </p:cNvCxnSpPr>
          <p:nvPr/>
        </p:nvCxnSpPr>
        <p:spPr>
          <a:xfrm flipV="1">
            <a:off x="6333744" y="5858532"/>
            <a:ext cx="2608734" cy="4618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FDA691B-1353-2C6B-D5E2-F695DF980212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5738223" y="4270444"/>
            <a:ext cx="3204254" cy="3790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459F58-C9D0-7B2B-A8B0-D8940090F793}"/>
              </a:ext>
            </a:extLst>
          </p:cNvPr>
          <p:cNvCxnSpPr>
            <a:cxnSpLocks/>
          </p:cNvCxnSpPr>
          <p:nvPr/>
        </p:nvCxnSpPr>
        <p:spPr>
          <a:xfrm flipV="1">
            <a:off x="6096000" y="3434725"/>
            <a:ext cx="2895247" cy="355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149B3CA-0C07-8F2B-8A3A-5CE83F1ECB50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6047232" y="2139057"/>
            <a:ext cx="289524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F66AD87E-AE06-66C3-D81B-950CD2BC3C71}"/>
              </a:ext>
            </a:extLst>
          </p:cNvPr>
          <p:cNvSpPr/>
          <p:nvPr/>
        </p:nvSpPr>
        <p:spPr>
          <a:xfrm rot="16200000">
            <a:off x="8896592" y="1864115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58C5276E-D0C8-C108-4D4F-D50CF43860BB}"/>
              </a:ext>
            </a:extLst>
          </p:cNvPr>
          <p:cNvSpPr/>
          <p:nvPr/>
        </p:nvSpPr>
        <p:spPr>
          <a:xfrm rot="16200000">
            <a:off x="8945362" y="3161558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C919196D-1692-44E3-DA37-D4F69616D3EA}"/>
              </a:ext>
            </a:extLst>
          </p:cNvPr>
          <p:cNvSpPr/>
          <p:nvPr/>
        </p:nvSpPr>
        <p:spPr>
          <a:xfrm rot="16200000">
            <a:off x="8896591" y="4033407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EB3EC379-1776-4CD8-3EC6-3817340E65B9}"/>
              </a:ext>
            </a:extLst>
          </p:cNvPr>
          <p:cNvSpPr/>
          <p:nvPr/>
        </p:nvSpPr>
        <p:spPr>
          <a:xfrm rot="16200000">
            <a:off x="8896592" y="5583590"/>
            <a:ext cx="641654" cy="549883"/>
          </a:xfrm>
          <a:prstGeom prst="triangle">
            <a:avLst/>
          </a:prstGeom>
          <a:noFill/>
          <a:ln w="571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5B4F13A-82A9-DE69-3D84-9B5E290FABF3}"/>
              </a:ext>
            </a:extLst>
          </p:cNvPr>
          <p:cNvSpPr txBox="1"/>
          <p:nvPr/>
        </p:nvSpPr>
        <p:spPr>
          <a:xfrm>
            <a:off x="1728979" y="4914406"/>
            <a:ext cx="148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Treatment B</a:t>
            </a:r>
            <a:br>
              <a:rPr lang="en-CA" dirty="0"/>
            </a:br>
            <a:r>
              <a:rPr lang="en-CA" dirty="0"/>
              <a:t>Upfront Cost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CC4BB03-D552-0AD0-868E-BE7C5A5A5F6A}"/>
              </a:ext>
            </a:extLst>
          </p:cNvPr>
          <p:cNvSpPr txBox="1"/>
          <p:nvPr/>
        </p:nvSpPr>
        <p:spPr>
          <a:xfrm>
            <a:off x="1521606" y="2806700"/>
            <a:ext cx="146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Treatment A</a:t>
            </a:r>
            <a:br>
              <a:rPr lang="en-CA" dirty="0"/>
            </a:br>
            <a:r>
              <a:rPr lang="en-CA" dirty="0"/>
              <a:t>Upfront Cost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1DB050-ECE8-1D7F-4647-9E42558B78A5}"/>
              </a:ext>
            </a:extLst>
          </p:cNvPr>
          <p:cNvSpPr txBox="1"/>
          <p:nvPr/>
        </p:nvSpPr>
        <p:spPr>
          <a:xfrm>
            <a:off x="4787746" y="2148569"/>
            <a:ext cx="9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Pr</a:t>
            </a:r>
            <a:r>
              <a:rPr lang="en-CA" dirty="0"/>
              <a:t>(A)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2204A2C-E0A1-67CA-20D6-E79EC0B20150}"/>
              </a:ext>
            </a:extLst>
          </p:cNvPr>
          <p:cNvSpPr txBox="1"/>
          <p:nvPr/>
        </p:nvSpPr>
        <p:spPr>
          <a:xfrm>
            <a:off x="4895129" y="3363818"/>
            <a:ext cx="93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1-Pr(A)</a:t>
            </a:r>
          </a:p>
          <a:p>
            <a:endParaRPr lang="en-CA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ED06953-57EE-75FB-A0AD-1132ACF49835}"/>
              </a:ext>
            </a:extLst>
          </p:cNvPr>
          <p:cNvSpPr txBox="1"/>
          <p:nvPr/>
        </p:nvSpPr>
        <p:spPr>
          <a:xfrm>
            <a:off x="4442105" y="4236731"/>
            <a:ext cx="9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Pr</a:t>
            </a:r>
            <a:r>
              <a:rPr lang="en-CA" dirty="0"/>
              <a:t>(B)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B01AC0-AC30-AEF3-8FF1-DDD4838BEF33}"/>
              </a:ext>
            </a:extLst>
          </p:cNvPr>
          <p:cNvSpPr txBox="1"/>
          <p:nvPr/>
        </p:nvSpPr>
        <p:spPr>
          <a:xfrm>
            <a:off x="4385127" y="5551673"/>
            <a:ext cx="93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1-Pr(B)</a:t>
            </a:r>
          </a:p>
          <a:p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4F1F35F-1589-2423-DC04-F3D5CFE86D1D}"/>
                  </a:ext>
                </a:extLst>
              </p:cNvPr>
              <p:cNvSpPr txBox="1"/>
              <p:nvPr/>
            </p:nvSpPr>
            <p:spPr>
              <a:xfrm>
                <a:off x="5908929" y="6121494"/>
                <a:ext cx="374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4C55C49-5C31-49B1-84E6-D7C3CF4A8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929" y="6121494"/>
                <a:ext cx="3741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E08A256-84B5-CC44-3F9B-94F7CD2211AB}"/>
                  </a:ext>
                </a:extLst>
              </p:cNvPr>
              <p:cNvSpPr txBox="1"/>
              <p:nvPr/>
            </p:nvSpPr>
            <p:spPr>
              <a:xfrm>
                <a:off x="9551163" y="1930098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F54A910-8BDB-4C51-BFA3-27764A279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163" y="1930098"/>
                <a:ext cx="5498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2953FE4-91A7-CAFA-F32E-E74A41D8C7F8}"/>
                  </a:ext>
                </a:extLst>
              </p:cNvPr>
              <p:cNvSpPr txBox="1"/>
              <p:nvPr/>
            </p:nvSpPr>
            <p:spPr>
              <a:xfrm>
                <a:off x="9666898" y="3233002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A599291-7960-4D00-881D-49271588D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898" y="3233002"/>
                <a:ext cx="5498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5D62DC3-6900-A9E8-D5E3-3E1D990B920B}"/>
                  </a:ext>
                </a:extLst>
              </p:cNvPr>
              <p:cNvSpPr txBox="1"/>
              <p:nvPr/>
            </p:nvSpPr>
            <p:spPr>
              <a:xfrm>
                <a:off x="9666898" y="4177366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B7D5A7C-5791-4C4C-B58F-341122A27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898" y="4177366"/>
                <a:ext cx="5498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E07E18D-ACBC-08CA-3E52-0554DC967EDD}"/>
                  </a:ext>
                </a:extLst>
              </p:cNvPr>
              <p:cNvSpPr txBox="1"/>
              <p:nvPr/>
            </p:nvSpPr>
            <p:spPr>
              <a:xfrm>
                <a:off x="9587595" y="5717009"/>
                <a:ext cx="1344668" cy="375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E5FFFD1-C578-425E-A58C-B0D643586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595" y="5717009"/>
                <a:ext cx="1344668" cy="375424"/>
              </a:xfrm>
              <a:prstGeom prst="rect">
                <a:avLst/>
              </a:prstGeom>
              <a:blipFill>
                <a:blip r:embed="rId8"/>
                <a:stretch>
                  <a:fillRect r="-1454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F9FC6F7D-512A-4253-4290-78C7F126ED8B}"/>
              </a:ext>
            </a:extLst>
          </p:cNvPr>
          <p:cNvSpPr/>
          <p:nvPr/>
        </p:nvSpPr>
        <p:spPr>
          <a:xfrm>
            <a:off x="3651504" y="2669998"/>
            <a:ext cx="612648" cy="590582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8498DE0-6DC4-8D18-C6E5-7421CEB42B5F}"/>
              </a:ext>
            </a:extLst>
          </p:cNvPr>
          <p:cNvSpPr/>
          <p:nvPr/>
        </p:nvSpPr>
        <p:spPr>
          <a:xfrm>
            <a:off x="3523488" y="4861716"/>
            <a:ext cx="612648" cy="590582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700BA7-2DFA-68A6-DFEC-E5BD1384D638}"/>
              </a:ext>
            </a:extLst>
          </p:cNvPr>
          <p:cNvSpPr txBox="1"/>
          <p:nvPr/>
        </p:nvSpPr>
        <p:spPr>
          <a:xfrm>
            <a:off x="395073" y="1625549"/>
            <a:ext cx="4322273" cy="64633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C00000"/>
                </a:solidFill>
              </a:rPr>
              <a:t>Chance Nodes (whenever there's</a:t>
            </a:r>
            <a:br>
              <a:rPr lang="en-CA" b="1" dirty="0">
                <a:solidFill>
                  <a:srgbClr val="C00000"/>
                </a:solidFill>
              </a:rPr>
            </a:br>
            <a:r>
              <a:rPr lang="en-CA" b="1" dirty="0">
                <a:solidFill>
                  <a:srgbClr val="C00000"/>
                </a:solidFill>
              </a:rPr>
              <a:t>uncertainty over outcomes) are Circles</a:t>
            </a:r>
          </a:p>
        </p:txBody>
      </p:sp>
    </p:spTree>
    <p:extLst>
      <p:ext uri="{BB962C8B-B14F-4D97-AF65-F5344CB8AC3E}">
        <p14:creationId xmlns:p14="http://schemas.microsoft.com/office/powerpoint/2010/main" val="244689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518"/>
    </mc:Choice>
    <mc:Fallback xmlns="">
      <p:transition spd="slow" advTm="7651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4821E-7865-AFEF-E439-F1CC2D94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6E53-7349-B0B5-13DD-2DA9B247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49" y="578911"/>
            <a:ext cx="11155680" cy="1463040"/>
          </a:xfrm>
        </p:spPr>
        <p:txBody>
          <a:bodyPr/>
          <a:lstStyle/>
          <a:p>
            <a:r>
              <a:rPr lang="en-CA" dirty="0"/>
              <a:t>A Style Guide for a Decision Tree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2E45BF-BC83-2435-F6D2-1DF69A8D0C33}"/>
              </a:ext>
            </a:extLst>
          </p:cNvPr>
          <p:cNvSpPr/>
          <p:nvPr/>
        </p:nvSpPr>
        <p:spPr>
          <a:xfrm>
            <a:off x="1253491" y="3987851"/>
            <a:ext cx="475488" cy="43354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830D89-08AC-7CD8-2C05-AE352DC0865F}"/>
              </a:ext>
            </a:extLst>
          </p:cNvPr>
          <p:cNvCxnSpPr>
            <a:cxnSpLocks/>
            <a:stCxn id="6" idx="3"/>
            <a:endCxn id="12" idx="2"/>
          </p:cNvCxnSpPr>
          <p:nvPr/>
        </p:nvCxnSpPr>
        <p:spPr>
          <a:xfrm flipV="1">
            <a:off x="1728979" y="2965289"/>
            <a:ext cx="1922525" cy="12393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BBF8F9-B348-50FF-7AA1-3A5BEB27EB92}"/>
              </a:ext>
            </a:extLst>
          </p:cNvPr>
          <p:cNvCxnSpPr>
            <a:cxnSpLocks/>
            <a:stCxn id="6" idx="3"/>
            <a:endCxn id="33" idx="2"/>
          </p:cNvCxnSpPr>
          <p:nvPr/>
        </p:nvCxnSpPr>
        <p:spPr>
          <a:xfrm>
            <a:off x="1728979" y="4204624"/>
            <a:ext cx="1794509" cy="9523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CD04931-30F2-D7F6-72FA-05B7E3315551}"/>
              </a:ext>
            </a:extLst>
          </p:cNvPr>
          <p:cNvSpPr/>
          <p:nvPr/>
        </p:nvSpPr>
        <p:spPr>
          <a:xfrm>
            <a:off x="3651504" y="2669998"/>
            <a:ext cx="612648" cy="59058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66445E-B0DA-FD0E-AB81-498BCE97CAD9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4264152" y="2139057"/>
            <a:ext cx="1804269" cy="82623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F5D250-6C70-1BE0-5787-E1C3F6FC5F93}"/>
              </a:ext>
            </a:extLst>
          </p:cNvPr>
          <p:cNvCxnSpPr>
            <a:cxnSpLocks/>
          </p:cNvCxnSpPr>
          <p:nvPr/>
        </p:nvCxnSpPr>
        <p:spPr>
          <a:xfrm>
            <a:off x="4279392" y="2971227"/>
            <a:ext cx="1859429" cy="48180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E686A42-D93F-D6F0-6FA2-F43945BB4E57}"/>
              </a:ext>
            </a:extLst>
          </p:cNvPr>
          <p:cNvSpPr/>
          <p:nvPr/>
        </p:nvSpPr>
        <p:spPr>
          <a:xfrm>
            <a:off x="3523488" y="4861716"/>
            <a:ext cx="612648" cy="59058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4F9D4BD-BC36-3C42-9EDE-FEA5BCD6F094}"/>
              </a:ext>
            </a:extLst>
          </p:cNvPr>
          <p:cNvCxnSpPr>
            <a:cxnSpLocks/>
            <a:stCxn id="33" idx="6"/>
          </p:cNvCxnSpPr>
          <p:nvPr/>
        </p:nvCxnSpPr>
        <p:spPr>
          <a:xfrm flipV="1">
            <a:off x="4136136" y="4268827"/>
            <a:ext cx="1624584" cy="88818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27AE21-C621-1192-1BEA-5C2E8EC7686B}"/>
              </a:ext>
            </a:extLst>
          </p:cNvPr>
          <p:cNvCxnSpPr>
            <a:cxnSpLocks/>
            <a:stCxn id="33" idx="6"/>
            <a:endCxn id="39" idx="1"/>
          </p:cNvCxnSpPr>
          <p:nvPr/>
        </p:nvCxnSpPr>
        <p:spPr>
          <a:xfrm>
            <a:off x="4136136" y="5157007"/>
            <a:ext cx="1722120" cy="74771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6B0BB32-EA11-9A24-B4C8-EED8D6AD7220}"/>
              </a:ext>
            </a:extLst>
          </p:cNvPr>
          <p:cNvSpPr/>
          <p:nvPr/>
        </p:nvSpPr>
        <p:spPr>
          <a:xfrm>
            <a:off x="5858256" y="5687948"/>
            <a:ext cx="475488" cy="43354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595AB29-8E99-6998-AC98-1D9A7798B867}"/>
              </a:ext>
            </a:extLst>
          </p:cNvPr>
          <p:cNvCxnSpPr>
            <a:cxnSpLocks/>
            <a:stCxn id="39" idx="3"/>
            <a:endCxn id="70" idx="0"/>
          </p:cNvCxnSpPr>
          <p:nvPr/>
        </p:nvCxnSpPr>
        <p:spPr>
          <a:xfrm flipV="1">
            <a:off x="6333744" y="5858532"/>
            <a:ext cx="2608734" cy="4618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9D828A3-9A28-12D2-6DA7-95DEB4B6FCC2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5738223" y="4270444"/>
            <a:ext cx="3204254" cy="3790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E3204E4-436D-1451-8576-A5D7DF1DA54F}"/>
              </a:ext>
            </a:extLst>
          </p:cNvPr>
          <p:cNvCxnSpPr>
            <a:cxnSpLocks/>
          </p:cNvCxnSpPr>
          <p:nvPr/>
        </p:nvCxnSpPr>
        <p:spPr>
          <a:xfrm flipV="1">
            <a:off x="6096000" y="3434725"/>
            <a:ext cx="2895247" cy="355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4C598C3-0ACA-C53B-6F45-EDF813BF5044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6047232" y="2139057"/>
            <a:ext cx="289524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E7959D66-5064-C72B-A6BD-F1AC52F400D9}"/>
              </a:ext>
            </a:extLst>
          </p:cNvPr>
          <p:cNvSpPr/>
          <p:nvPr/>
        </p:nvSpPr>
        <p:spPr>
          <a:xfrm rot="16200000">
            <a:off x="8896592" y="1864115"/>
            <a:ext cx="641654" cy="549883"/>
          </a:xfrm>
          <a:prstGeom prst="triangl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FCEB5D93-414D-261A-5585-0A7034013418}"/>
              </a:ext>
            </a:extLst>
          </p:cNvPr>
          <p:cNvSpPr/>
          <p:nvPr/>
        </p:nvSpPr>
        <p:spPr>
          <a:xfrm rot="16200000">
            <a:off x="8945362" y="3161558"/>
            <a:ext cx="641654" cy="549883"/>
          </a:xfrm>
          <a:prstGeom prst="triangl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C22EE85-121A-9129-ED83-B994484F21E4}"/>
              </a:ext>
            </a:extLst>
          </p:cNvPr>
          <p:cNvSpPr/>
          <p:nvPr/>
        </p:nvSpPr>
        <p:spPr>
          <a:xfrm rot="16200000">
            <a:off x="8896591" y="4033407"/>
            <a:ext cx="641654" cy="549883"/>
          </a:xfrm>
          <a:prstGeom prst="triangl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C4626A32-9909-5D62-B895-E71EBEBEED78}"/>
              </a:ext>
            </a:extLst>
          </p:cNvPr>
          <p:cNvSpPr/>
          <p:nvPr/>
        </p:nvSpPr>
        <p:spPr>
          <a:xfrm rot="16200000">
            <a:off x="8896592" y="5583590"/>
            <a:ext cx="641654" cy="549883"/>
          </a:xfrm>
          <a:prstGeom prst="triangl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654296-F0C0-252E-D1F3-48C7856E6F6D}"/>
              </a:ext>
            </a:extLst>
          </p:cNvPr>
          <p:cNvSpPr txBox="1"/>
          <p:nvPr/>
        </p:nvSpPr>
        <p:spPr>
          <a:xfrm>
            <a:off x="1728979" y="4914406"/>
            <a:ext cx="148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Treatment B</a:t>
            </a:r>
            <a:br>
              <a:rPr lang="en-CA" dirty="0"/>
            </a:br>
            <a:r>
              <a:rPr lang="en-CA" dirty="0"/>
              <a:t>Upfront Cost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218EF6B-9D10-E8B7-CED2-8D67B7F3E704}"/>
              </a:ext>
            </a:extLst>
          </p:cNvPr>
          <p:cNvSpPr txBox="1"/>
          <p:nvPr/>
        </p:nvSpPr>
        <p:spPr>
          <a:xfrm>
            <a:off x="1521606" y="2806700"/>
            <a:ext cx="146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Treatment A</a:t>
            </a:r>
            <a:br>
              <a:rPr lang="en-CA" dirty="0"/>
            </a:br>
            <a:r>
              <a:rPr lang="en-CA" dirty="0"/>
              <a:t>Upfront Cost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2B7DC00-8389-6FB2-6AC1-CF51F8A6C806}"/>
              </a:ext>
            </a:extLst>
          </p:cNvPr>
          <p:cNvSpPr txBox="1"/>
          <p:nvPr/>
        </p:nvSpPr>
        <p:spPr>
          <a:xfrm>
            <a:off x="4787746" y="2148569"/>
            <a:ext cx="9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Pr</a:t>
            </a:r>
            <a:r>
              <a:rPr lang="en-CA" dirty="0"/>
              <a:t>(A)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E38882-339F-42A1-6A3A-425BFAFE0062}"/>
              </a:ext>
            </a:extLst>
          </p:cNvPr>
          <p:cNvSpPr txBox="1"/>
          <p:nvPr/>
        </p:nvSpPr>
        <p:spPr>
          <a:xfrm>
            <a:off x="4895129" y="3363818"/>
            <a:ext cx="93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1-Pr(A)</a:t>
            </a:r>
          </a:p>
          <a:p>
            <a:endParaRPr lang="en-CA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3106F8-6215-C572-CB4F-2BD00AA1D7F4}"/>
              </a:ext>
            </a:extLst>
          </p:cNvPr>
          <p:cNvSpPr txBox="1"/>
          <p:nvPr/>
        </p:nvSpPr>
        <p:spPr>
          <a:xfrm>
            <a:off x="4442105" y="4236731"/>
            <a:ext cx="93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Pr</a:t>
            </a:r>
            <a:r>
              <a:rPr lang="en-CA" dirty="0"/>
              <a:t>(B)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4119AC-923E-ECBE-CF71-203AB93481AC}"/>
              </a:ext>
            </a:extLst>
          </p:cNvPr>
          <p:cNvSpPr txBox="1"/>
          <p:nvPr/>
        </p:nvSpPr>
        <p:spPr>
          <a:xfrm>
            <a:off x="4385127" y="5551673"/>
            <a:ext cx="93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1-Pr(B)</a:t>
            </a:r>
          </a:p>
          <a:p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EA2882F-E819-44AF-7A17-DD47EFE1BC58}"/>
                  </a:ext>
                </a:extLst>
              </p:cNvPr>
              <p:cNvSpPr txBox="1"/>
              <p:nvPr/>
            </p:nvSpPr>
            <p:spPr>
              <a:xfrm>
                <a:off x="5908929" y="6121494"/>
                <a:ext cx="374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4C55C49-5C31-49B1-84E6-D7C3CF4A8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929" y="6121494"/>
                <a:ext cx="3741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5D4D713-78D0-F881-8503-C4135C875D69}"/>
                  </a:ext>
                </a:extLst>
              </p:cNvPr>
              <p:cNvSpPr txBox="1"/>
              <p:nvPr/>
            </p:nvSpPr>
            <p:spPr>
              <a:xfrm>
                <a:off x="9551163" y="1930098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F54A910-8BDB-4C51-BFA3-27764A279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163" y="1930098"/>
                <a:ext cx="5498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BA3D28E-D5B0-4621-287A-D71F773560E7}"/>
                  </a:ext>
                </a:extLst>
              </p:cNvPr>
              <p:cNvSpPr txBox="1"/>
              <p:nvPr/>
            </p:nvSpPr>
            <p:spPr>
              <a:xfrm>
                <a:off x="9666898" y="3233002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A599291-7960-4D00-881D-49271588D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898" y="3233002"/>
                <a:ext cx="5498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6617471-444C-525D-A8D4-61DA8878CCED}"/>
                  </a:ext>
                </a:extLst>
              </p:cNvPr>
              <p:cNvSpPr txBox="1"/>
              <p:nvPr/>
            </p:nvSpPr>
            <p:spPr>
              <a:xfrm>
                <a:off x="9666898" y="4177366"/>
                <a:ext cx="549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B7D5A7C-5791-4C4C-B58F-341122A27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898" y="4177366"/>
                <a:ext cx="5498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461BC08-41B2-0619-5609-AF41D56A331F}"/>
                  </a:ext>
                </a:extLst>
              </p:cNvPr>
              <p:cNvSpPr txBox="1"/>
              <p:nvPr/>
            </p:nvSpPr>
            <p:spPr>
              <a:xfrm>
                <a:off x="9587595" y="5717009"/>
                <a:ext cx="1344668" cy="375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E5FFFD1-C578-425E-A58C-B0D643586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595" y="5717009"/>
                <a:ext cx="1344668" cy="375424"/>
              </a:xfrm>
              <a:prstGeom prst="rect">
                <a:avLst/>
              </a:prstGeom>
              <a:blipFill>
                <a:blip r:embed="rId8"/>
                <a:stretch>
                  <a:fillRect r="-1454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A554773-3E80-5E5B-ED4D-EE379118768C}"/>
              </a:ext>
            </a:extLst>
          </p:cNvPr>
          <p:cNvSpPr txBox="1"/>
          <p:nvPr/>
        </p:nvSpPr>
        <p:spPr>
          <a:xfrm>
            <a:off x="592716" y="1561998"/>
            <a:ext cx="4213846" cy="64633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C00000"/>
                </a:solidFill>
              </a:rPr>
              <a:t>Terminal Nodes where total costs</a:t>
            </a:r>
            <a:br>
              <a:rPr lang="en-CA" b="1" dirty="0">
                <a:solidFill>
                  <a:srgbClr val="C00000"/>
                </a:solidFill>
              </a:rPr>
            </a:br>
            <a:r>
              <a:rPr lang="en-CA" b="1" dirty="0">
                <a:solidFill>
                  <a:srgbClr val="C00000"/>
                </a:solidFill>
              </a:rPr>
              <a:t>and benefits are realized are Triangles</a:t>
            </a:r>
          </a:p>
        </p:txBody>
      </p:sp>
    </p:spTree>
    <p:extLst>
      <p:ext uri="{BB962C8B-B14F-4D97-AF65-F5344CB8AC3E}">
        <p14:creationId xmlns:p14="http://schemas.microsoft.com/office/powerpoint/2010/main" val="327596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518"/>
    </mc:Choice>
    <mc:Fallback xmlns="">
      <p:transition spd="slow" advTm="7651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20D9-95AD-4822-89CD-1A0FA2B0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Some Rules for Decision Trees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5EB1F-5935-4D05-B0E2-E1E07CBEB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terms of a “Theory of Decision Trees” there's not a lot to know (there are no real theorems to be cognizant of which are novel).</a:t>
            </a:r>
          </a:p>
          <a:p>
            <a:r>
              <a:rPr lang="en-CA" u="sng" dirty="0"/>
              <a:t>Rule #1:</a:t>
            </a:r>
            <a:r>
              <a:rPr lang="en-CA" dirty="0"/>
              <a:t> Decision Nodes Should not come after chance nodes if an initial decision has already been made (Best Response Principle).</a:t>
            </a:r>
          </a:p>
          <a:p>
            <a:r>
              <a:rPr lang="en-CA" u="sng" dirty="0"/>
              <a:t>Rule #2:</a:t>
            </a:r>
            <a:r>
              <a:rPr lang="en-CA" dirty="0"/>
              <a:t> If a chance node occurs before the a time when an initial decision must be made and the state of the world is observable a decision is not made until this uncertainty is resolved. </a:t>
            </a:r>
            <a:r>
              <a:rPr lang="en-CA" b="1" dirty="0"/>
              <a:t>(Kreps’ Fundamental Rule for Decision Trees)</a:t>
            </a:r>
          </a:p>
        </p:txBody>
      </p:sp>
    </p:spTree>
    <p:extLst>
      <p:ext uri="{BB962C8B-B14F-4D97-AF65-F5344CB8AC3E}">
        <p14:creationId xmlns:p14="http://schemas.microsoft.com/office/powerpoint/2010/main" val="159030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616"/>
    </mc:Choice>
    <mc:Fallback xmlns="">
      <p:transition spd="slow" advTm="7361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6500-51B4-2D3B-F1FC-2EACFF53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Example of a Drawn Clinical Pathway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14EBF-FC6F-3B2F-9DF9-3EF2957E1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709928"/>
            <a:ext cx="96964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55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9232-96C4-6F48-5A5B-AF2B7A07D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GIVE YOUR BEST ATTEMPT AT DRAWING THE TREE!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40E2B-6E55-D247-AE6A-204AF39160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(No looking!)</a:t>
            </a:r>
          </a:p>
        </p:txBody>
      </p:sp>
    </p:spTree>
    <p:extLst>
      <p:ext uri="{BB962C8B-B14F-4D97-AF65-F5344CB8AC3E}">
        <p14:creationId xmlns:p14="http://schemas.microsoft.com/office/powerpoint/2010/main" val="2479345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1090A1-39FB-83D7-7B9A-515DBDA99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991" y="839613"/>
            <a:ext cx="8664087" cy="54734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E18B1F-CAC2-0D45-65F3-4CD9886F9B08}"/>
              </a:ext>
            </a:extLst>
          </p:cNvPr>
          <p:cNvSpPr txBox="1"/>
          <p:nvPr/>
        </p:nvSpPr>
        <p:spPr>
          <a:xfrm>
            <a:off x="914400" y="433633"/>
            <a:ext cx="138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answer:</a:t>
            </a:r>
          </a:p>
        </p:txBody>
      </p:sp>
    </p:spTree>
    <p:extLst>
      <p:ext uri="{BB962C8B-B14F-4D97-AF65-F5344CB8AC3E}">
        <p14:creationId xmlns:p14="http://schemas.microsoft.com/office/powerpoint/2010/main" val="2622705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7EB5-AA8E-9CBA-FE75-D97043D54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Computing ICERs from Decision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4A86E-5EBB-3682-2506-484CF95C37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1809974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6DD14-2E54-48B8-8B18-FA931C1E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051" y="629972"/>
            <a:ext cx="11155680" cy="1463040"/>
          </a:xfrm>
        </p:spPr>
        <p:txBody>
          <a:bodyPr/>
          <a:lstStyle/>
          <a:p>
            <a:r>
              <a:rPr lang="en-CA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D00EA-7AEF-4367-97AC-4D366AA6E8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7032" y="1412805"/>
                <a:ext cx="9649968" cy="96463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CA" b="1" dirty="0"/>
                  <a:t>Suppose the case of an healthcare organization which is deciding whether to carry a new drug that is said to be effective in treating headaches compared to the current generic prescribed. The possible clinical pathways for treating a headache is given below. If the cost effectiveness threshold is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𝟓𝟎𝟎</m:t>
                    </m:r>
                  </m:oMath>
                </a14:m>
                <a:r>
                  <a:rPr lang="en-CA" b="1" dirty="0"/>
                  <a:t> should the drug be funded or not?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D00EA-7AEF-4367-97AC-4D366AA6E8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7032" y="1412805"/>
                <a:ext cx="9649968" cy="964633"/>
              </a:xfrm>
              <a:blipFill>
                <a:blip r:embed="rId2"/>
                <a:stretch>
                  <a:fillRect l="-253" t="-3165" r="-379" b="-189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D651958-7486-47EB-9CFC-702753E40227}"/>
              </a:ext>
            </a:extLst>
          </p:cNvPr>
          <p:cNvSpPr/>
          <p:nvPr/>
        </p:nvSpPr>
        <p:spPr>
          <a:xfrm>
            <a:off x="1499616" y="3992150"/>
            <a:ext cx="475488" cy="4335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8F5454-EE72-437E-9C38-01256D464B39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 flipV="1">
            <a:off x="1975104" y="3614563"/>
            <a:ext cx="1549821" cy="5943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EBC742-EAA4-422F-90D1-D39100C9173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975104" y="4208923"/>
            <a:ext cx="1307592" cy="9117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A916C4B-8225-44AB-9820-B83B3829B8B7}"/>
              </a:ext>
            </a:extLst>
          </p:cNvPr>
          <p:cNvSpPr/>
          <p:nvPr/>
        </p:nvSpPr>
        <p:spPr>
          <a:xfrm>
            <a:off x="3524925" y="3319272"/>
            <a:ext cx="612648" cy="59058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3F0789-F60C-42D4-815A-41BA49BC01DB}"/>
              </a:ext>
            </a:extLst>
          </p:cNvPr>
          <p:cNvCxnSpPr>
            <a:cxnSpLocks/>
            <a:stCxn id="7" idx="6"/>
            <a:endCxn id="10" idx="0"/>
          </p:cNvCxnSpPr>
          <p:nvPr/>
        </p:nvCxnSpPr>
        <p:spPr>
          <a:xfrm flipV="1">
            <a:off x="4137573" y="2696931"/>
            <a:ext cx="2683499" cy="91763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B3335-F6AB-4CF0-B5E6-CC29FBA8444E}"/>
              </a:ext>
            </a:extLst>
          </p:cNvPr>
          <p:cNvCxnSpPr>
            <a:cxnSpLocks/>
            <a:stCxn id="7" idx="6"/>
            <a:endCxn id="11" idx="0"/>
          </p:cNvCxnSpPr>
          <p:nvPr/>
        </p:nvCxnSpPr>
        <p:spPr>
          <a:xfrm>
            <a:off x="4137573" y="3614563"/>
            <a:ext cx="2683498" cy="1243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6BC199A-C058-4B4B-8EA5-7045C8F9184A}"/>
              </a:ext>
            </a:extLst>
          </p:cNvPr>
          <p:cNvSpPr/>
          <p:nvPr/>
        </p:nvSpPr>
        <p:spPr>
          <a:xfrm rot="16200000">
            <a:off x="6764564" y="2433947"/>
            <a:ext cx="649111" cy="536095"/>
          </a:xfrm>
          <a:prstGeom prst="triangle">
            <a:avLst>
              <a:gd name="adj" fmla="val 5078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08597B1-4E82-4347-9EAF-1F67556887BE}"/>
              </a:ext>
            </a:extLst>
          </p:cNvPr>
          <p:cNvSpPr/>
          <p:nvPr/>
        </p:nvSpPr>
        <p:spPr>
          <a:xfrm rot="16200000">
            <a:off x="6764563" y="3475928"/>
            <a:ext cx="649111" cy="536095"/>
          </a:xfrm>
          <a:prstGeom prst="triangle">
            <a:avLst>
              <a:gd name="adj" fmla="val 5078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5A195B-5FCD-4527-9C88-4A105BB881A6}"/>
              </a:ext>
            </a:extLst>
          </p:cNvPr>
          <p:cNvCxnSpPr>
            <a:cxnSpLocks/>
            <a:endCxn id="13" idx="0"/>
          </p:cNvCxnSpPr>
          <p:nvPr/>
        </p:nvCxnSpPr>
        <p:spPr>
          <a:xfrm flipV="1">
            <a:off x="3282696" y="5115576"/>
            <a:ext cx="3538376" cy="5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D00B1C0-1D43-4847-8EC3-669A8E244EF0}"/>
              </a:ext>
            </a:extLst>
          </p:cNvPr>
          <p:cNvSpPr/>
          <p:nvPr/>
        </p:nvSpPr>
        <p:spPr>
          <a:xfrm rot="16200000">
            <a:off x="6764564" y="4852592"/>
            <a:ext cx="649111" cy="536095"/>
          </a:xfrm>
          <a:prstGeom prst="triangle">
            <a:avLst>
              <a:gd name="adj" fmla="val 5078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328CC-E793-47CD-AD01-D38093E761DC}"/>
              </a:ext>
            </a:extLst>
          </p:cNvPr>
          <p:cNvSpPr txBox="1"/>
          <p:nvPr/>
        </p:nvSpPr>
        <p:spPr>
          <a:xfrm>
            <a:off x="1961423" y="3229246"/>
            <a:ext cx="1119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New Drug</a:t>
            </a:r>
            <a:br>
              <a:rPr lang="en-CA" dirty="0"/>
            </a:br>
            <a:r>
              <a:rPr lang="en-CA" dirty="0"/>
              <a:t>Cost: 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FDAA568-3E1B-4E4F-A49A-5E24AD52B6C7}"/>
                  </a:ext>
                </a:extLst>
              </p:cNvPr>
              <p:cNvSpPr txBox="1"/>
              <p:nvPr/>
            </p:nvSpPr>
            <p:spPr>
              <a:xfrm>
                <a:off x="4379448" y="2485320"/>
                <a:ext cx="14538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CA" dirty="0"/>
                  <a:t>   Effective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CA" i="1" dirty="0" smtClean="0">
                          <a:latin typeface="Cambria Math" panose="02040503050406030204" pitchFamily="18" charset="0"/>
                        </a:rPr>
                        <m:t>)=0.9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FDAA568-3E1B-4E4F-A49A-5E24AD52B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448" y="2485320"/>
                <a:ext cx="1453896" cy="646331"/>
              </a:xfrm>
              <a:prstGeom prst="rect">
                <a:avLst/>
              </a:prstGeom>
              <a:blipFill>
                <a:blip r:embed="rId5"/>
                <a:stretch>
                  <a:fillRect t="-5660" b="-660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D2B04CE-9D7C-4067-A2AB-5A22C8D864A2}"/>
              </a:ext>
            </a:extLst>
          </p:cNvPr>
          <p:cNvSpPr txBox="1"/>
          <p:nvPr/>
        </p:nvSpPr>
        <p:spPr>
          <a:xfrm>
            <a:off x="2054352" y="4972491"/>
            <a:ext cx="1453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Standard</a:t>
            </a:r>
            <a:br>
              <a:rPr lang="en-CA" dirty="0"/>
            </a:br>
            <a:r>
              <a:rPr lang="en-CA" dirty="0"/>
              <a:t>Care</a:t>
            </a:r>
            <a:br>
              <a:rPr lang="en-CA" dirty="0"/>
            </a:br>
            <a:r>
              <a:rPr lang="en-CA" dirty="0"/>
              <a:t>Cost:10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A69EAD-5A53-4E56-953D-E7AA3EC5E6C0}"/>
                  </a:ext>
                </a:extLst>
              </p:cNvPr>
              <p:cNvSpPr txBox="1"/>
              <p:nvPr/>
            </p:nvSpPr>
            <p:spPr>
              <a:xfrm>
                <a:off x="4460969" y="3717031"/>
                <a:ext cx="181992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CA" dirty="0"/>
                  <a:t>Not Effective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CA" b="0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1A69EAD-5A53-4E56-953D-E7AA3EC5E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969" y="3717031"/>
                <a:ext cx="1819922" cy="923330"/>
              </a:xfrm>
              <a:prstGeom prst="rect">
                <a:avLst/>
              </a:prstGeom>
              <a:blipFill>
                <a:blip r:embed="rId6"/>
                <a:stretch>
                  <a:fillRect l="-3020" t="-397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618536C-D636-4DB0-9F5D-056D6CD70254}"/>
              </a:ext>
            </a:extLst>
          </p:cNvPr>
          <p:cNvSpPr txBox="1"/>
          <p:nvPr/>
        </p:nvSpPr>
        <p:spPr>
          <a:xfrm>
            <a:off x="7511754" y="4972491"/>
            <a:ext cx="209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QALY Gained: 0.9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65F224-435F-417E-ABEB-A14A96175442}"/>
              </a:ext>
            </a:extLst>
          </p:cNvPr>
          <p:cNvSpPr txBox="1"/>
          <p:nvPr/>
        </p:nvSpPr>
        <p:spPr>
          <a:xfrm>
            <a:off x="7511754" y="3561138"/>
            <a:ext cx="2004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QALY Gained: 0.85</a:t>
            </a:r>
          </a:p>
          <a:p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FF8D18-C315-455E-908D-382DE8A0A1E4}"/>
              </a:ext>
            </a:extLst>
          </p:cNvPr>
          <p:cNvSpPr txBox="1"/>
          <p:nvPr/>
        </p:nvSpPr>
        <p:spPr>
          <a:xfrm>
            <a:off x="7433720" y="2454256"/>
            <a:ext cx="200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QALY Gained: 0.95</a:t>
            </a:r>
          </a:p>
        </p:txBody>
      </p:sp>
    </p:spTree>
    <p:extLst>
      <p:ext uri="{BB962C8B-B14F-4D97-AF65-F5344CB8AC3E}">
        <p14:creationId xmlns:p14="http://schemas.microsoft.com/office/powerpoint/2010/main" val="61927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190"/>
    </mc:Choice>
    <mc:Fallback xmlns="">
      <p:transition spd="slow" advTm="6319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E655-534C-42C8-814B-99A9F5EB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Solve This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529AB-D1D4-463F-A7F0-F6A5EB3CB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600" dirty="0"/>
              <a:t>Step 1: Calculate Expected Payoffs of Each Decision.</a:t>
            </a:r>
            <a:br>
              <a:rPr lang="en-CA" sz="2600" dirty="0"/>
            </a:br>
            <a:br>
              <a:rPr lang="en-CA" sz="2600" dirty="0"/>
            </a:br>
            <a:r>
              <a:rPr lang="en-CA" sz="2600" dirty="0"/>
              <a:t>Step 2: Calculate ICER.</a:t>
            </a:r>
            <a:br>
              <a:rPr lang="en-CA" sz="2600" dirty="0"/>
            </a:br>
            <a:br>
              <a:rPr lang="en-CA" sz="2600" dirty="0"/>
            </a:br>
            <a:r>
              <a:rPr lang="en-CA" sz="2600" dirty="0"/>
              <a:t>Step 3: Compare to Threshold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199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22"/>
    </mc:Choice>
    <mc:Fallback xmlns="">
      <p:transition spd="slow" advTm="962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8F3A-EA8B-FF19-CEE3-42C49615C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5CE86-60F6-2644-C92D-65E8AB14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Preforming the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CEDC8-63B8-036F-B7A1-8DC5BEB8A7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5213" y="1709928"/>
                <a:ext cx="10823448" cy="4768787"/>
              </a:xfrm>
            </p:spPr>
            <p:txBody>
              <a:bodyPr>
                <a:normAutofit/>
              </a:bodyPr>
              <a:lstStyle/>
              <a:p>
                <a:r>
                  <a:rPr lang="en-CA" sz="2600" u="sng" dirty="0"/>
                  <a:t>Step 1: Calculate Expected Payoffs of Each Decision</a:t>
                </a:r>
                <a:r>
                  <a:rPr lang="en-CA" sz="2600" dirty="0"/>
                  <a:t>.</a:t>
                </a:r>
                <a:br>
                  <a:rPr lang="en-CA" sz="2600" dirty="0"/>
                </a:br>
                <a:br>
                  <a:rPr lang="en-CA" sz="2600" dirty="0"/>
                </a:br>
                <a14:m>
                  <m:oMath xmlns:m="http://schemas.openxmlformats.org/officeDocument/2006/math"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𝑁𝑒𝑤</m:t>
                        </m:r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𝐷𝑟𝑢𝑔</m:t>
                        </m:r>
                      </m:e>
                    </m:d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2600" b="0" i="0" smtClean="0">
                        <a:latin typeface="Cambria Math" panose="02040503050406030204" pitchFamily="18" charset="0"/>
                      </a:rPr>
                      <m:t>Effective</m:t>
                    </m:r>
                    <m:r>
                      <a:rPr lang="en-CA" sz="2600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26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b="0" i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CA" sz="2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a:rPr lang="en-CA" sz="2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2600" b="0" i="0" smtClean="0">
                        <a:latin typeface="Cambria Math" panose="02040503050406030204" pitchFamily="18" charset="0"/>
                      </a:rPr>
                      <m:t>Not</m:t>
                    </m:r>
                    <m:r>
                      <a:rPr lang="en-CA" sz="2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2600" b="0" i="0" smtClean="0">
                        <a:latin typeface="Cambria Math" panose="02040503050406030204" pitchFamily="18" charset="0"/>
                      </a:rPr>
                      <m:t>Effective</m:t>
                    </m:r>
                    <m:r>
                      <a:rPr lang="en-CA" sz="2600" b="0" i="0" smtClean="0">
                        <a:latin typeface="Cambria Math" panose="02040503050406030204" pitchFamily="18" charset="0"/>
                      </a:rPr>
                      <m:t>=0.94</m:t>
                    </m:r>
                  </m:oMath>
                </a14:m>
                <a:br>
                  <a:rPr lang="en-CA" sz="2600" b="0" dirty="0"/>
                </a:br>
                <a14:m>
                  <m:oMath xmlns:m="http://schemas.openxmlformats.org/officeDocument/2006/math"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𝑆𝑡𝑎𝑛𝑑𝑎𝑟𝑑</m:t>
                        </m:r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𝐶𝑎𝑟𝑒</m:t>
                        </m:r>
                      </m:e>
                    </m:d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600" b="0" i="0" smtClean="0"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endParaRPr lang="en-CA" sz="2600" b="0" dirty="0"/>
              </a:p>
              <a:p>
                <a:pPr marL="0" indent="0">
                  <a:buNone/>
                </a:pPr>
                <a:endParaRPr lang="en-CA" sz="2600" dirty="0"/>
              </a:p>
              <a:p>
                <a:pPr marL="0" indent="0">
                  <a:buNone/>
                </a:pPr>
                <a:endParaRPr lang="en-CA" sz="2600" b="0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CEDC8-63B8-036F-B7A1-8DC5BEB8A7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5213" y="1709928"/>
                <a:ext cx="10823448" cy="4768787"/>
              </a:xfrm>
              <a:blipFill>
                <a:blip r:embed="rId2"/>
                <a:stretch>
                  <a:fillRect l="-845" t="-89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87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12"/>
    </mc:Choice>
    <mc:Fallback xmlns="">
      <p:transition spd="slow" advTm="2411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76715-91FC-F273-863D-55478ADC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32B39-C0AC-E3C6-809A-9840C7143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Preforming the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4643A4-A396-7C94-B8D7-FF669E4B7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5213" y="1709928"/>
                <a:ext cx="10823448" cy="4768787"/>
              </a:xfrm>
            </p:spPr>
            <p:txBody>
              <a:bodyPr>
                <a:normAutofit/>
              </a:bodyPr>
              <a:lstStyle/>
              <a:p>
                <a:r>
                  <a:rPr lang="en-CA" sz="2600" u="sng" dirty="0"/>
                  <a:t>Step 1: Calculate Expected Payoffs of Each Decision</a:t>
                </a:r>
                <a:r>
                  <a:rPr lang="en-CA" sz="2600" dirty="0"/>
                  <a:t>.</a:t>
                </a:r>
                <a:br>
                  <a:rPr lang="en-CA" sz="2600" dirty="0"/>
                </a:br>
                <a:br>
                  <a:rPr lang="en-CA" sz="2600" dirty="0"/>
                </a:br>
                <a14:m>
                  <m:oMath xmlns:m="http://schemas.openxmlformats.org/officeDocument/2006/math"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𝑁𝑒𝑤</m:t>
                        </m:r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𝐷𝑟𝑢𝑔</m:t>
                        </m:r>
                      </m:e>
                    </m:d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2600" b="0" i="0" smtClean="0">
                        <a:latin typeface="Cambria Math" panose="02040503050406030204" pitchFamily="18" charset="0"/>
                      </a:rPr>
                      <m:t>Effective</m:t>
                    </m:r>
                    <m:r>
                      <a:rPr lang="en-CA" sz="2600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26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b="0" i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CA" sz="2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a:rPr lang="en-CA" sz="2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2600" b="0" i="0" smtClean="0">
                        <a:latin typeface="Cambria Math" panose="02040503050406030204" pitchFamily="18" charset="0"/>
                      </a:rPr>
                      <m:t>Not</m:t>
                    </m:r>
                    <m:r>
                      <a:rPr lang="en-CA" sz="2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2600" b="0" i="0" smtClean="0">
                        <a:latin typeface="Cambria Math" panose="02040503050406030204" pitchFamily="18" charset="0"/>
                      </a:rPr>
                      <m:t>Effective</m:t>
                    </m:r>
                    <m:r>
                      <a:rPr lang="en-CA" sz="2600" b="0" i="0" smtClean="0">
                        <a:latin typeface="Cambria Math" panose="02040503050406030204" pitchFamily="18" charset="0"/>
                      </a:rPr>
                      <m:t>=0.94</m:t>
                    </m:r>
                  </m:oMath>
                </a14:m>
                <a:br>
                  <a:rPr lang="en-CA" sz="2600" b="0" dirty="0"/>
                </a:br>
                <a14:m>
                  <m:oMath xmlns:m="http://schemas.openxmlformats.org/officeDocument/2006/math"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𝑆𝑡𝑎𝑛𝑑𝑎𝑟𝑑</m:t>
                        </m:r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𝐶𝑎𝑟𝑒</m:t>
                        </m:r>
                      </m:e>
                    </m:d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600" b="0" i="0" smtClean="0"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endParaRPr lang="en-CA" sz="2600" b="0" dirty="0"/>
              </a:p>
              <a:p>
                <a:pPr marL="0" indent="0">
                  <a:buNone/>
                </a:pPr>
                <a:endParaRPr lang="en-CA" sz="2600" dirty="0"/>
              </a:p>
              <a:p>
                <a:pPr marL="0" indent="0">
                  <a:buNone/>
                </a:pPr>
                <a:endParaRPr lang="en-CA" sz="2600" b="0" dirty="0"/>
              </a:p>
              <a:p>
                <a:r>
                  <a:rPr lang="en-CA" sz="2600" u="sng" dirty="0"/>
                  <a:t>Step 2: Calculate ICER.</a:t>
                </a:r>
                <a:br>
                  <a:rPr lang="en-CA" sz="2600" u="sng" dirty="0"/>
                </a:br>
                <a14:m>
                  <m:oMath xmlns:m="http://schemas.openxmlformats.org/officeDocument/2006/math"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𝐼𝐶𝐸𝑅</m:t>
                    </m:r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CA" sz="2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20−10</m:t>
                        </m:r>
                      </m:num>
                      <m:den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0.94−0.9</m:t>
                        </m:r>
                      </m:den>
                    </m:f>
                    <m:r>
                      <a:rPr lang="en-CA" sz="26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en-CA" sz="2600" b="0" i="0" smtClean="0"/>
                      <m:t>250</m:t>
                    </m:r>
                  </m:oMath>
                </a14:m>
                <a:endParaRPr lang="en-CA" sz="2600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4643A4-A396-7C94-B8D7-FF669E4B7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5213" y="1709928"/>
                <a:ext cx="10823448" cy="4768787"/>
              </a:xfrm>
              <a:blipFill>
                <a:blip r:embed="rId2"/>
                <a:stretch>
                  <a:fillRect l="-845" t="-89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00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12"/>
    </mc:Choice>
    <mc:Fallback xmlns="">
      <p:transition spd="slow" advTm="2411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816B3-5D45-AC43-FE43-DD564F46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7477-B580-EC34-D175-B32EB918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Preforming the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1C5F0C-FFCA-662E-23A1-2E9D3B7781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5213" y="1709928"/>
                <a:ext cx="10823448" cy="4768787"/>
              </a:xfrm>
            </p:spPr>
            <p:txBody>
              <a:bodyPr>
                <a:normAutofit/>
              </a:bodyPr>
              <a:lstStyle/>
              <a:p>
                <a:r>
                  <a:rPr lang="en-CA" sz="2600" u="sng" dirty="0"/>
                  <a:t>Step 3: Compare to Threshold</a:t>
                </a:r>
                <a:r>
                  <a:rPr lang="en-CA" sz="2800" u="sng" dirty="0"/>
                  <a:t>.</a:t>
                </a:r>
                <a:br>
                  <a:rPr lang="en-CA" sz="2800" u="sng" dirty="0"/>
                </a:br>
                <a:r>
                  <a:rPr lang="en-CA" sz="2800" i="1" dirty="0"/>
                  <a:t>The computed ICER from this analysis is 250 Dollars per QALY. This is below the willingness to pay threshold of </a:t>
                </a:r>
                <a14:m>
                  <m:oMath xmlns:m="http://schemas.openxmlformats.org/officeDocument/2006/math"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=500</m:t>
                    </m:r>
                  </m:oMath>
                </a14:m>
                <a:r>
                  <a:rPr lang="en-CA" sz="2600" dirty="0"/>
                  <a:t>.</a:t>
                </a:r>
              </a:p>
              <a:p>
                <a:endParaRPr lang="en-CA" sz="2600" dirty="0"/>
              </a:p>
              <a:p>
                <a:pPr marL="0" indent="0">
                  <a:buNone/>
                </a:pPr>
                <a:r>
                  <a:rPr lang="en-CA" sz="2600" dirty="0"/>
                  <a:t>	</a:t>
                </a:r>
                <a:r>
                  <a:rPr lang="en-CA" sz="2600" i="1" u="sng" dirty="0"/>
                  <a:t>The New Drug is Therefore Cost Effective.</a:t>
                </a:r>
                <a14:m>
                  <m:oMath xmlns:m="http://schemas.openxmlformats.org/officeDocument/2006/math">
                    <m:r>
                      <a:rPr lang="en-CA" sz="26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CA" sz="26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1C5F0C-FFCA-662E-23A1-2E9D3B778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5213" y="1709928"/>
                <a:ext cx="10823448" cy="4768787"/>
              </a:xfrm>
              <a:blipFill>
                <a:blip r:embed="rId2"/>
                <a:stretch>
                  <a:fillRect l="-845" t="-102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30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12"/>
    </mc:Choice>
    <mc:Fallback xmlns="">
      <p:transition spd="slow" advTm="2411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445A0-7BDD-89F0-9BC0-65B1FC66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A6E6-DF23-62EF-62D3-573526C1A6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Computing ICERs from Decision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294A-2C5B-0991-DE81-D6B69D066D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314662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F620-1C7B-449F-A977-DE584393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1014F0-C646-4777-95E6-415EF1F8A472}"/>
              </a:ext>
            </a:extLst>
          </p:cNvPr>
          <p:cNvSpPr/>
          <p:nvPr/>
        </p:nvSpPr>
        <p:spPr>
          <a:xfrm>
            <a:off x="511515" y="4003604"/>
            <a:ext cx="475488" cy="4335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39D38B-9662-4361-BD29-5A513E93E4AB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 flipV="1">
            <a:off x="987003" y="3321757"/>
            <a:ext cx="1950774" cy="89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F6F7D0-ED60-48F0-9EEA-A27ED85E5CE6}"/>
              </a:ext>
            </a:extLst>
          </p:cNvPr>
          <p:cNvCxnSpPr>
            <a:cxnSpLocks/>
            <a:stCxn id="4" idx="3"/>
            <a:endCxn id="10" idx="2"/>
          </p:cNvCxnSpPr>
          <p:nvPr/>
        </p:nvCxnSpPr>
        <p:spPr>
          <a:xfrm>
            <a:off x="987003" y="4220377"/>
            <a:ext cx="2021815" cy="10336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16A1F12-97CD-49A5-ACCB-B69F1F8056BD}"/>
              </a:ext>
            </a:extLst>
          </p:cNvPr>
          <p:cNvSpPr/>
          <p:nvPr/>
        </p:nvSpPr>
        <p:spPr>
          <a:xfrm>
            <a:off x="2937777" y="3026466"/>
            <a:ext cx="612648" cy="59058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899986-3395-4439-8818-17DA22884AC4}"/>
              </a:ext>
            </a:extLst>
          </p:cNvPr>
          <p:cNvCxnSpPr>
            <a:cxnSpLocks/>
            <a:stCxn id="7" idx="6"/>
            <a:endCxn id="39" idx="1"/>
          </p:cNvCxnSpPr>
          <p:nvPr/>
        </p:nvCxnSpPr>
        <p:spPr>
          <a:xfrm flipV="1">
            <a:off x="3550425" y="2390910"/>
            <a:ext cx="795746" cy="93084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0A2404-31AE-4F82-B159-C9CE7D05278A}"/>
              </a:ext>
            </a:extLst>
          </p:cNvPr>
          <p:cNvCxnSpPr>
            <a:cxnSpLocks/>
            <a:stCxn id="7" idx="6"/>
            <a:endCxn id="33" idx="0"/>
          </p:cNvCxnSpPr>
          <p:nvPr/>
        </p:nvCxnSpPr>
        <p:spPr>
          <a:xfrm>
            <a:off x="3550425" y="3321757"/>
            <a:ext cx="2344700" cy="43468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A7B6054-C72B-468C-9273-2262C458CBBD}"/>
              </a:ext>
            </a:extLst>
          </p:cNvPr>
          <p:cNvSpPr/>
          <p:nvPr/>
        </p:nvSpPr>
        <p:spPr>
          <a:xfrm>
            <a:off x="3008818" y="4958700"/>
            <a:ext cx="612648" cy="59058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EDDFA3-7992-4E72-962D-B4291CD8EAB9}"/>
              </a:ext>
            </a:extLst>
          </p:cNvPr>
          <p:cNvCxnSpPr>
            <a:cxnSpLocks/>
            <a:stCxn id="10" idx="6"/>
            <a:endCxn id="36" idx="0"/>
          </p:cNvCxnSpPr>
          <p:nvPr/>
        </p:nvCxnSpPr>
        <p:spPr>
          <a:xfrm flipV="1">
            <a:off x="3621466" y="4673441"/>
            <a:ext cx="2273659" cy="5805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2DCF5E-4842-4AC3-A7DD-938F9222071C}"/>
              </a:ext>
            </a:extLst>
          </p:cNvPr>
          <p:cNvCxnSpPr>
            <a:cxnSpLocks/>
            <a:stCxn id="10" idx="6"/>
            <a:endCxn id="38" idx="0"/>
          </p:cNvCxnSpPr>
          <p:nvPr/>
        </p:nvCxnSpPr>
        <p:spPr>
          <a:xfrm>
            <a:off x="3621466" y="5253991"/>
            <a:ext cx="2273659" cy="32295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F0DB0B7-BFDC-4F85-A9C9-DD43F5AFD837}"/>
              </a:ext>
            </a:extLst>
          </p:cNvPr>
          <p:cNvSpPr/>
          <p:nvPr/>
        </p:nvSpPr>
        <p:spPr>
          <a:xfrm>
            <a:off x="5829810" y="2112002"/>
            <a:ext cx="612648" cy="59058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0FA9208-7DC0-4F8B-B117-3E8B968502CA}"/>
              </a:ext>
            </a:extLst>
          </p:cNvPr>
          <p:cNvCxnSpPr>
            <a:cxnSpLocks/>
            <a:stCxn id="25" idx="6"/>
            <a:endCxn id="28" idx="0"/>
          </p:cNvCxnSpPr>
          <p:nvPr/>
        </p:nvCxnSpPr>
        <p:spPr>
          <a:xfrm flipV="1">
            <a:off x="6442458" y="2184530"/>
            <a:ext cx="1283523" cy="22276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D1F034-C2BB-446E-90A1-E46B4FF5A36D}"/>
              </a:ext>
            </a:extLst>
          </p:cNvPr>
          <p:cNvCxnSpPr>
            <a:cxnSpLocks/>
            <a:stCxn id="25" idx="6"/>
            <a:endCxn id="29" idx="0"/>
          </p:cNvCxnSpPr>
          <p:nvPr/>
        </p:nvCxnSpPr>
        <p:spPr>
          <a:xfrm>
            <a:off x="6442458" y="2407293"/>
            <a:ext cx="1280679" cy="5848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FDCA650-C320-4D37-A3DE-CC1A2C40478E}"/>
              </a:ext>
            </a:extLst>
          </p:cNvPr>
          <p:cNvSpPr/>
          <p:nvPr/>
        </p:nvSpPr>
        <p:spPr>
          <a:xfrm rot="16200000">
            <a:off x="7669473" y="1921546"/>
            <a:ext cx="649111" cy="536095"/>
          </a:xfrm>
          <a:prstGeom prst="triangle">
            <a:avLst>
              <a:gd name="adj" fmla="val 5078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2B0737D4-861C-4C93-AD91-04C30E4BA3C6}"/>
              </a:ext>
            </a:extLst>
          </p:cNvPr>
          <p:cNvSpPr/>
          <p:nvPr/>
        </p:nvSpPr>
        <p:spPr>
          <a:xfrm rot="16200000">
            <a:off x="7666629" y="2729154"/>
            <a:ext cx="649111" cy="536095"/>
          </a:xfrm>
          <a:prstGeom prst="triangle">
            <a:avLst>
              <a:gd name="adj" fmla="val 5078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0CD07E1C-D3BE-4413-BF17-27E7C693A2DD}"/>
              </a:ext>
            </a:extLst>
          </p:cNvPr>
          <p:cNvSpPr/>
          <p:nvPr/>
        </p:nvSpPr>
        <p:spPr>
          <a:xfrm rot="16200000">
            <a:off x="5838617" y="3493462"/>
            <a:ext cx="649111" cy="536095"/>
          </a:xfrm>
          <a:prstGeom prst="triangle">
            <a:avLst>
              <a:gd name="adj" fmla="val 5078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8CDB62BC-5DDD-4C48-BFDF-AD61ED7AFAB4}"/>
              </a:ext>
            </a:extLst>
          </p:cNvPr>
          <p:cNvSpPr/>
          <p:nvPr/>
        </p:nvSpPr>
        <p:spPr>
          <a:xfrm rot="16200000">
            <a:off x="5838617" y="4410457"/>
            <a:ext cx="649111" cy="536095"/>
          </a:xfrm>
          <a:prstGeom prst="triangle">
            <a:avLst>
              <a:gd name="adj" fmla="val 5078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AD027630-0ADD-4F3A-A473-B3C9BCA9DCDE}"/>
              </a:ext>
            </a:extLst>
          </p:cNvPr>
          <p:cNvSpPr/>
          <p:nvPr/>
        </p:nvSpPr>
        <p:spPr>
          <a:xfrm rot="16200000">
            <a:off x="5838617" y="5313959"/>
            <a:ext cx="649111" cy="536095"/>
          </a:xfrm>
          <a:prstGeom prst="triangle">
            <a:avLst>
              <a:gd name="adj" fmla="val 5078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3CF1B5-E1CC-4EBB-905A-0AA514E8D12C}"/>
              </a:ext>
            </a:extLst>
          </p:cNvPr>
          <p:cNvSpPr txBox="1"/>
          <p:nvPr/>
        </p:nvSpPr>
        <p:spPr>
          <a:xfrm>
            <a:off x="1487986" y="2676513"/>
            <a:ext cx="1611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New Radiation </a:t>
            </a:r>
            <a:br>
              <a:rPr lang="en-CA" dirty="0"/>
            </a:br>
            <a:r>
              <a:rPr lang="en-CA" dirty="0"/>
              <a:t>Therapy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053109-AEAE-452C-9E3E-CDF1621C1D28}"/>
              </a:ext>
            </a:extLst>
          </p:cNvPr>
          <p:cNvSpPr txBox="1"/>
          <p:nvPr/>
        </p:nvSpPr>
        <p:spPr>
          <a:xfrm>
            <a:off x="1531596" y="5175318"/>
            <a:ext cx="910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Surgical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9EB9ACA-3039-4AAF-B620-5801A312AAA6}"/>
                  </a:ext>
                </a:extLst>
              </p:cNvPr>
              <p:cNvSpPr txBox="1"/>
              <p:nvPr/>
            </p:nvSpPr>
            <p:spPr>
              <a:xfrm>
                <a:off x="4393536" y="4243982"/>
                <a:ext cx="138263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CA" dirty="0"/>
                  <a:t>    Survives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9EB9ACA-3039-4AAF-B620-5801A312A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536" y="4243982"/>
                <a:ext cx="1382638" cy="646331"/>
              </a:xfrm>
              <a:prstGeom prst="rect">
                <a:avLst/>
              </a:prstGeom>
              <a:blipFill>
                <a:blip r:embed="rId4"/>
                <a:stretch>
                  <a:fillRect t="-4717" b="-377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C340BDB-F433-4869-AA92-6E0E0B7C6BAA}"/>
                  </a:ext>
                </a:extLst>
              </p:cNvPr>
              <p:cNvSpPr txBox="1"/>
              <p:nvPr/>
            </p:nvSpPr>
            <p:spPr>
              <a:xfrm>
                <a:off x="4649539" y="5544650"/>
                <a:ext cx="164733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CA" dirty="0"/>
                  <a:t>Death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C340BDB-F433-4869-AA92-6E0E0B7C6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39" y="5544650"/>
                <a:ext cx="1647337" cy="646331"/>
              </a:xfrm>
              <a:prstGeom prst="rect">
                <a:avLst/>
              </a:prstGeom>
              <a:blipFill>
                <a:blip r:embed="rId5"/>
                <a:stretch>
                  <a:fillRect l="-3333" t="-5660" b="-283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6EE59D-8FDB-41E9-9D96-8376A1B2B70F}"/>
                  </a:ext>
                </a:extLst>
              </p:cNvPr>
              <p:cNvSpPr txBox="1"/>
              <p:nvPr/>
            </p:nvSpPr>
            <p:spPr>
              <a:xfrm>
                <a:off x="6173218" y="2675426"/>
                <a:ext cx="16211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CA" dirty="0"/>
                  <a:t>Death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6EE59D-8FDB-41E9-9D96-8376A1B2B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218" y="2675426"/>
                <a:ext cx="1621142" cy="646331"/>
              </a:xfrm>
              <a:prstGeom prst="rect">
                <a:avLst/>
              </a:prstGeom>
              <a:blipFill>
                <a:blip r:embed="rId6"/>
                <a:stretch>
                  <a:fillRect l="-3383" t="-566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9CC30D5-9AFC-41CB-ADA2-2C12EFED12C0}"/>
                  </a:ext>
                </a:extLst>
              </p:cNvPr>
              <p:cNvSpPr txBox="1"/>
              <p:nvPr/>
            </p:nvSpPr>
            <p:spPr>
              <a:xfrm>
                <a:off x="6551862" y="1497567"/>
                <a:ext cx="1382638" cy="646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CA" dirty="0"/>
                  <a:t>Survives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br>
                  <a:rPr lang="en-CA" dirty="0"/>
                </a:br>
                <a:endParaRPr lang="en-CA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9CC30D5-9AFC-41CB-ADA2-2C12EFED1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862" y="1497567"/>
                <a:ext cx="1382638" cy="646395"/>
              </a:xfrm>
              <a:prstGeom prst="rect">
                <a:avLst/>
              </a:prstGeom>
              <a:blipFill>
                <a:blip r:embed="rId7"/>
                <a:stretch>
                  <a:fillRect l="-3965" t="-566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51CDAE4-6E70-4B50-B962-098E3B17BBA4}"/>
                  </a:ext>
                </a:extLst>
              </p:cNvPr>
              <p:cNvSpPr txBox="1"/>
              <p:nvPr/>
            </p:nvSpPr>
            <p:spPr>
              <a:xfrm>
                <a:off x="3701184" y="1514766"/>
                <a:ext cx="24239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Side Effects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br>
                  <a:rPr lang="en-CA" dirty="0"/>
                </a:br>
                <a:r>
                  <a:rPr lang="en-CA" dirty="0"/>
                  <a:t>          cost:200</a:t>
                </a: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51CDAE4-6E70-4B50-B962-098E3B17B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184" y="1514766"/>
                <a:ext cx="2423988" cy="646331"/>
              </a:xfrm>
              <a:prstGeom prst="rect">
                <a:avLst/>
              </a:prstGeom>
              <a:blipFill>
                <a:blip r:embed="rId8"/>
                <a:stretch>
                  <a:fillRect l="-2010" t="-4673" b="-1308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A1AF29D-942B-4484-A9FD-1485ADA1432A}"/>
                  </a:ext>
                </a:extLst>
              </p:cNvPr>
              <p:cNvSpPr txBox="1"/>
              <p:nvPr/>
            </p:nvSpPr>
            <p:spPr>
              <a:xfrm>
                <a:off x="3700941" y="3447468"/>
                <a:ext cx="158904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CA" dirty="0"/>
                  <a:t>No Side Effects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A1AF29D-942B-4484-A9FD-1485ADA14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941" y="3447468"/>
                <a:ext cx="1589049" cy="923330"/>
              </a:xfrm>
              <a:prstGeom prst="rect">
                <a:avLst/>
              </a:prstGeom>
              <a:blipFill>
                <a:blip r:embed="rId9"/>
                <a:stretch>
                  <a:fillRect l="-3065" t="-3974" b="-198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C13AC4D-3847-44FD-A995-3C2806EB5951}"/>
              </a:ext>
            </a:extLst>
          </p:cNvPr>
          <p:cNvSpPr txBox="1"/>
          <p:nvPr/>
        </p:nvSpPr>
        <p:spPr>
          <a:xfrm>
            <a:off x="1307650" y="3283097"/>
            <a:ext cx="156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Cost:1000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217D26-02C2-465E-B383-6D2AA5F699D7}"/>
              </a:ext>
            </a:extLst>
          </p:cNvPr>
          <p:cNvSpPr txBox="1"/>
          <p:nvPr/>
        </p:nvSpPr>
        <p:spPr>
          <a:xfrm>
            <a:off x="1586986" y="5546425"/>
            <a:ext cx="1382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Cost:1400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FA541-E013-4BAA-B00D-5ED1439C6F23}"/>
              </a:ext>
            </a:extLst>
          </p:cNvPr>
          <p:cNvSpPr txBox="1"/>
          <p:nvPr/>
        </p:nvSpPr>
        <p:spPr>
          <a:xfrm>
            <a:off x="8305682" y="1905586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0.9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4D6717-3422-45E9-81E2-686910734D6D}"/>
              </a:ext>
            </a:extLst>
          </p:cNvPr>
          <p:cNvSpPr txBox="1"/>
          <p:nvPr/>
        </p:nvSpPr>
        <p:spPr>
          <a:xfrm>
            <a:off x="6539600" y="3545993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6076B1-1E22-4199-B829-CBCB2CBA4557}"/>
              </a:ext>
            </a:extLst>
          </p:cNvPr>
          <p:cNvSpPr txBox="1"/>
          <p:nvPr/>
        </p:nvSpPr>
        <p:spPr>
          <a:xfrm>
            <a:off x="8407008" y="2886135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6BA8C2-17E3-4DFD-A547-B0045A2FED1A}"/>
              </a:ext>
            </a:extLst>
          </p:cNvPr>
          <p:cNvSpPr txBox="1"/>
          <p:nvPr/>
        </p:nvSpPr>
        <p:spPr>
          <a:xfrm>
            <a:off x="6672970" y="5406445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195055-64E3-4584-A1CD-A5076C56F09E}"/>
              </a:ext>
            </a:extLst>
          </p:cNvPr>
          <p:cNvSpPr txBox="1"/>
          <p:nvPr/>
        </p:nvSpPr>
        <p:spPr>
          <a:xfrm>
            <a:off x="6672970" y="4632952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E2593F-A570-43BB-85B6-1C452B735ADF}"/>
                  </a:ext>
                </a:extLst>
              </p:cNvPr>
              <p:cNvSpPr txBox="1"/>
              <p:nvPr/>
            </p:nvSpPr>
            <p:spPr>
              <a:xfrm>
                <a:off x="9172248" y="1527048"/>
                <a:ext cx="2545944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Suppose we are considering whether to invest in a new radiation therapy for treating cancerous tumors. The baseline treatment we are considering it against is a surgical option. QALYs are at Terminal Nodes.</a:t>
                </a:r>
                <a:br>
                  <a:rPr lang="en-CA" dirty="0"/>
                </a:br>
                <a:br>
                  <a:rPr lang="en-CA" dirty="0"/>
                </a:br>
                <a:r>
                  <a:rPr lang="en-CA" dirty="0"/>
                  <a:t>If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CA" dirty="0"/>
                  <a:t> is our treatment cost effective?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E2593F-A570-43BB-85B6-1C452B735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248" y="1527048"/>
                <a:ext cx="2545944" cy="3693319"/>
              </a:xfrm>
              <a:prstGeom prst="rect">
                <a:avLst/>
              </a:prstGeom>
              <a:blipFill>
                <a:blip r:embed="rId10"/>
                <a:stretch>
                  <a:fillRect l="-2158" t="-992" r="-2158" b="-1652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DFF7BE15-45C7-4CE8-A8C5-90FD2D275646}"/>
              </a:ext>
            </a:extLst>
          </p:cNvPr>
          <p:cNvSpPr/>
          <p:nvPr/>
        </p:nvSpPr>
        <p:spPr>
          <a:xfrm>
            <a:off x="4346171" y="2174137"/>
            <a:ext cx="475488" cy="4335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D90DD6-654F-434F-8480-727F5EE21806}"/>
              </a:ext>
            </a:extLst>
          </p:cNvPr>
          <p:cNvCxnSpPr>
            <a:cxnSpLocks/>
            <a:stCxn id="25" idx="2"/>
            <a:endCxn id="39" idx="3"/>
          </p:cNvCxnSpPr>
          <p:nvPr/>
        </p:nvCxnSpPr>
        <p:spPr>
          <a:xfrm flipH="1" flipV="1">
            <a:off x="4821659" y="2390910"/>
            <a:ext cx="1008151" cy="1638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6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915"/>
    </mc:Choice>
    <mc:Fallback xmlns="">
      <p:transition spd="slow" advTm="63915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77569-B466-1846-69B6-D6EC15C6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BBA5-E1CA-2BD2-5822-1AD261B3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Solve This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04CFF-9FA3-6276-05B3-996B8F9D9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600" dirty="0"/>
              <a:t>Step 1: Calculate Expected Payoffs of Each Decision.</a:t>
            </a:r>
            <a:br>
              <a:rPr lang="en-CA" sz="2600" dirty="0"/>
            </a:br>
            <a:br>
              <a:rPr lang="en-CA" sz="2600" dirty="0"/>
            </a:br>
            <a:r>
              <a:rPr lang="en-CA" sz="2600" dirty="0"/>
              <a:t>Step 2: Calculate ICER.</a:t>
            </a:r>
            <a:br>
              <a:rPr lang="en-CA" sz="2600" dirty="0"/>
            </a:br>
            <a:br>
              <a:rPr lang="en-CA" sz="2600" dirty="0"/>
            </a:br>
            <a:r>
              <a:rPr lang="en-CA" sz="2600" dirty="0"/>
              <a:t>Step 3: Compare to Threshold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958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22"/>
    </mc:Choice>
    <mc:Fallback xmlns="">
      <p:transition spd="slow" advTm="962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F620-1C7B-449F-A977-DE584393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Solving the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DF382-F990-4B4F-9FE1-9B64E7E4AD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A" sz="1800" u="sng" dirty="0"/>
                  <a:t>Step 1: Calculate Expected Payoffs of Each Decision and Expected Costs</a:t>
                </a:r>
                <a:br>
                  <a:rPr lang="en-CA" sz="1800" u="sng" dirty="0"/>
                </a:b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𝑁𝑒𝑤𝑅</m:t>
                            </m:r>
                          </m:e>
                        </m:d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𝑆𝑢𝑟𝑣𝑖𝑣𝑒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𝑁𝑜𝑆𝑢𝑟𝑣𝑖𝑣𝑒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]+</m:t>
                    </m:r>
                    <m:d>
                      <m:d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𝑆𝐸𝐷𝑒𝑎𝑡ℎ</m:t>
                    </m:r>
                  </m:oMath>
                </a14:m>
                <a:br>
                  <a:rPr lang="en-CA" sz="1800" b="0" dirty="0"/>
                </a:b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𝑆𝑢𝑟𝑔𝑖𝑐𝑎𝑙</m:t>
                            </m:r>
                          </m:e>
                        </m:d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𝑞𝑆𝑢𝑟𝑣𝑖𝑣𝑒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𝐷𝑒𝑎𝑡ℎ</m:t>
                    </m:r>
                  </m:oMath>
                </a14:m>
                <a:br>
                  <a:rPr lang="en-CA" sz="1800" dirty="0"/>
                </a:br>
                <a14:m>
                  <m:oMath xmlns:m="http://schemas.openxmlformats.org/officeDocument/2006/math">
                    <m:r>
                      <a:rPr lang="en-CA" sz="1800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𝑁𝑒𝑤𝑅</m:t>
                            </m:r>
                          </m:e>
                        </m:d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=1000+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×200</m:t>
                    </m:r>
                  </m:oMath>
                </a14:m>
                <a:br>
                  <a:rPr lang="en-CA" sz="18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𝑆𝑢𝑟𝑔𝑖𝑐𝑎𝑙</m:t>
                            </m:r>
                          </m:e>
                        </m:d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=1400</m:t>
                    </m:r>
                  </m:oMath>
                </a14:m>
                <a:endParaRPr lang="en-CA" sz="1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DF382-F990-4B4F-9FE1-9B64E7E4A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75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481"/>
    </mc:Choice>
    <mc:Fallback xmlns="">
      <p:transition spd="slow" advTm="5548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F620-1C7B-449F-A977-DE584393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Solving the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DF382-F990-4B4F-9FE1-9B64E7E4AD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A" sz="1800" u="sng" dirty="0"/>
                  <a:t>Step 1: Calculate Expected Payoffs of Each Decision and Expected Costs</a:t>
                </a:r>
                <a:br>
                  <a:rPr lang="en-CA" sz="1800" u="sng" dirty="0"/>
                </a:b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𝑁𝑒𝑤𝑅</m:t>
                            </m:r>
                          </m:e>
                        </m:d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𝑆𝑢𝑟𝑣𝑖𝑣𝑒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𝑁𝑜𝑆𝑢𝑟𝑣𝑖𝑣𝑒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]+</m:t>
                    </m:r>
                    <m:d>
                      <m:d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𝑆𝐸𝐷𝑒𝑎𝑡ℎ</m:t>
                    </m:r>
                  </m:oMath>
                </a14:m>
                <a:br>
                  <a:rPr lang="en-CA" sz="1800" b="0" dirty="0"/>
                </a:b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𝑆𝑢𝑟𝑔𝑖𝑐𝑎𝑙</m:t>
                            </m:r>
                          </m:e>
                        </m:d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𝑞𝑆𝑢𝑟𝑣𝑖𝑣𝑒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𝐷𝑒𝑎𝑡ℎ</m:t>
                    </m:r>
                  </m:oMath>
                </a14:m>
                <a:br>
                  <a:rPr lang="en-CA" sz="1800" dirty="0"/>
                </a:br>
                <a14:m>
                  <m:oMath xmlns:m="http://schemas.openxmlformats.org/officeDocument/2006/math">
                    <m:r>
                      <a:rPr lang="en-CA" sz="1800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𝑁𝑒𝑤𝑅</m:t>
                            </m:r>
                          </m:e>
                        </m:d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=1000+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×200</m:t>
                    </m:r>
                  </m:oMath>
                </a14:m>
                <a:br>
                  <a:rPr lang="en-CA" sz="18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𝑆𝑢𝑟𝑔𝑖𝑐𝑎𝑙</m:t>
                            </m:r>
                          </m:e>
                        </m:d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=1400</m:t>
                    </m:r>
                  </m:oMath>
                </a14:m>
                <a:endParaRPr lang="en-CA" sz="1800" b="0" i="1" dirty="0">
                  <a:latin typeface="Cambria Math" panose="02040503050406030204" pitchFamily="18" charset="0"/>
                </a:endParaRPr>
              </a:p>
              <a:p>
                <a:r>
                  <a:rPr lang="en-CA" sz="1800" u="sng" dirty="0"/>
                  <a:t>Step 2: Calculate ICER.</a:t>
                </a:r>
                <a:br>
                  <a:rPr lang="en-CA" sz="1800" dirty="0"/>
                </a:b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𝐼𝐶𝐸𝑅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CA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𝑁𝑒𝑤𝑅</m:t>
                                </m:r>
                              </m:e>
                            </m:d>
                          </m:e>
                        </m:d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CA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𝑆𝑢𝑟𝑔𝑖𝑐𝑎𝑙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n-CA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𝑁𝑒𝑤𝑅</m:t>
                                </m:r>
                              </m:e>
                            </m:d>
                          </m:e>
                        </m:d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n-CA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1800" i="1">
                                    <a:latin typeface="Cambria Math" panose="02040503050406030204" pitchFamily="18" charset="0"/>
                                  </a:rPr>
                                  <m:t>𝑆𝑢𝑟𝑔𝑖𝑐𝑎𝑙</m:t>
                                </m:r>
                              </m:e>
                            </m:d>
                          </m:e>
                        </m:d>
                      </m:den>
                    </m:f>
                  </m:oMath>
                </a14:m>
                <a:br>
                  <a:rPr lang="en-CA" sz="1800" b="0" dirty="0"/>
                </a:br>
                <a:br>
                  <a:rPr lang="en-CA" sz="1800" b="0" dirty="0"/>
                </a:b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𝐼𝐶𝐸𝑅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1180−1400</m:t>
                        </m:r>
                      </m:num>
                      <m:den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0.7695−0.95</m:t>
                        </m:r>
                      </m:den>
                    </m:f>
                    <m:r>
                      <a:rPr lang="en-CA" sz="1800" i="1">
                        <a:latin typeface="Cambria Math" panose="02040503050406030204" pitchFamily="18" charset="0"/>
                      </a:rPr>
                      <m:t>≈1218.8365</m:t>
                    </m:r>
                  </m:oMath>
                </a14:m>
                <a:endParaRPr lang="en-CA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DF382-F990-4B4F-9FE1-9B64E7E4A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22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90"/>
    </mc:Choice>
    <mc:Fallback xmlns="">
      <p:transition spd="slow" advTm="3189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8CE41-B093-118C-C649-576CF4FED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18D9A-1722-5EF3-B9B1-709E5092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Solving the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304B3C-497D-DB4C-EF5C-6F1487C336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A" u="sng" dirty="0"/>
                  <a:t>Step 3: Compare to Threshold</a:t>
                </a:r>
              </a:p>
              <a:p>
                <a:pPr marL="0" indent="0">
                  <a:buNone/>
                </a:pPr>
                <a:r>
                  <a:rPr lang="en-CA" i="1" dirty="0"/>
                  <a:t>The computed ICER from this analysis is ~1218 Dollars per QALY. This is above the willingness to pay threshold of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CA" dirty="0"/>
                  <a:t>.</a:t>
                </a:r>
              </a:p>
              <a:p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	</a:t>
                </a:r>
                <a:r>
                  <a:rPr lang="en-CA" i="1" u="sng" dirty="0"/>
                  <a:t>The New Radiation Treatment is Therefore NOT Cost Effective.</a:t>
                </a:r>
                <a14:m>
                  <m:oMath xmlns:m="http://schemas.openxmlformats.org/officeDocument/2006/math">
                    <m:r>
                      <a:rPr lang="en-CA" i="1" u="sn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CA" u="sng" dirty="0"/>
              </a:p>
              <a:p>
                <a:pPr marL="0" indent="0">
                  <a:buNone/>
                </a:pPr>
                <a:endParaRPr lang="en-CA" sz="18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304B3C-497D-DB4C-EF5C-6F1487C336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2" t="-4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95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90"/>
    </mc:Choice>
    <mc:Fallback xmlns="">
      <p:transition spd="slow" advTm="3189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0683-DADD-2C18-0CE8-4C9E06721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Drawing Decision Trees from Expected Value Equations</a:t>
            </a:r>
          </a:p>
        </p:txBody>
      </p:sp>
    </p:spTree>
    <p:extLst>
      <p:ext uri="{BB962C8B-B14F-4D97-AF65-F5344CB8AC3E}">
        <p14:creationId xmlns:p14="http://schemas.microsoft.com/office/powerpoint/2010/main" val="2417516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42DEA-BBEF-7F74-4E41-E42914C37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B84B-E202-902D-ECBF-BA3C7C14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Example of Working backwards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5B03CA-11B8-3DFA-F9A0-037694189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To really drive the point home about how expected value equations represent decision trees lets try drawing the underling decision tree for the following problem.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CA" b="0" i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CA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lim>
                            </m:limLow>
                          </m:fName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func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CA" b="0" dirty="0"/>
              </a:p>
              <a:p>
                <a:r>
                  <a:rPr lang="en-CA" dirty="0"/>
                  <a:t>Where: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CA" b="0" dirty="0"/>
                </a:br>
                <a:br>
                  <a:rPr lang="en-CA" b="0" dirty="0"/>
                </a:br>
                <a:endParaRPr lang="en-CA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5B03CA-11B8-3DFA-F9A0-037694189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411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85290-C9A9-23B6-B39A-B839266E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7B8A-8992-7620-6745-54D19020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017656"/>
            <a:ext cx="11155680" cy="1463040"/>
          </a:xfrm>
        </p:spPr>
        <p:txBody>
          <a:bodyPr/>
          <a:lstStyle/>
          <a:p>
            <a:r>
              <a:rPr lang="en-CA" dirty="0"/>
              <a:t>Building the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FB5591-BB7B-A715-599E-B273A8B1BA6A}"/>
                  </a:ext>
                </a:extLst>
              </p:cNvPr>
              <p:cNvSpPr txBox="1"/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func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CA" sz="1400" dirty="0"/>
              </a:p>
              <a:p>
                <a:r>
                  <a:rPr lang="en-CA" sz="1400" dirty="0"/>
                  <a:t>Where:</a:t>
                </a:r>
                <a:br>
                  <a:rPr lang="en-CA" sz="1400" dirty="0"/>
                </a:b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CA" sz="1400" dirty="0"/>
                </a:br>
                <a:br>
                  <a:rPr lang="en-CA" sz="1400" dirty="0"/>
                </a:br>
                <a:endParaRPr lang="en-CA" sz="1400" dirty="0"/>
              </a:p>
              <a:p>
                <a:pPr marL="0" indent="0">
                  <a:buNone/>
                </a:pP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FB5591-BB7B-A715-599E-B273A8B1B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830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3D44-036D-E70D-B156-8B59BDEB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859E-5BC7-8638-4757-286A6A56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017656"/>
            <a:ext cx="11155680" cy="1463040"/>
          </a:xfrm>
        </p:spPr>
        <p:txBody>
          <a:bodyPr/>
          <a:lstStyle/>
          <a:p>
            <a:r>
              <a:rPr lang="en-CA" dirty="0"/>
              <a:t>Building the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A9F4CB-15C4-7E80-C43B-A9235999CEA2}"/>
              </a:ext>
            </a:extLst>
          </p:cNvPr>
          <p:cNvSpPr/>
          <p:nvPr/>
        </p:nvSpPr>
        <p:spPr>
          <a:xfrm>
            <a:off x="722376" y="3904488"/>
            <a:ext cx="502920" cy="53949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F765DB-CE1A-6A42-F08A-C689B16A7DE1}"/>
                  </a:ext>
                </a:extLst>
              </p:cNvPr>
              <p:cNvSpPr txBox="1"/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14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CA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CA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CA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CA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func>
                          <m:r>
                            <a:rPr lang="en-CA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CA" sz="1400" dirty="0">
                  <a:solidFill>
                    <a:srgbClr val="C00000"/>
                  </a:solidFill>
                </a:endParaRPr>
              </a:p>
              <a:p>
                <a:r>
                  <a:rPr lang="en-CA" sz="1400" dirty="0">
                    <a:solidFill>
                      <a:schemeClr val="tx1"/>
                    </a:solidFill>
                  </a:rPr>
                  <a:t>Where:</a:t>
                </a:r>
                <a:br>
                  <a:rPr lang="en-CA" sz="1400" dirty="0">
                    <a:solidFill>
                      <a:schemeClr val="tx1"/>
                    </a:solidFill>
                  </a:rPr>
                </a:br>
                <a:r>
                  <a:rPr lang="en-CA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CA" sz="1400" dirty="0">
                    <a:solidFill>
                      <a:schemeClr val="tx1"/>
                    </a:solidFill>
                  </a:rPr>
                </a:br>
                <a:br>
                  <a:rPr lang="en-CA" sz="1400" dirty="0">
                    <a:solidFill>
                      <a:schemeClr val="tx1"/>
                    </a:solidFill>
                  </a:rPr>
                </a:br>
                <a:endParaRPr lang="en-CA" sz="1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CA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F765DB-CE1A-6A42-F08A-C689B16A7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A7B8858-9512-01A7-3811-24E32E6AE526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225296" y="2894076"/>
            <a:ext cx="996696" cy="128016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5F3977-F3F2-FA3A-996B-9909D44B33A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225296" y="4174236"/>
            <a:ext cx="859536" cy="1298448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8888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3855-5E38-F823-6066-3CC8B6B8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24E3A-1111-1344-5C86-692618E6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017656"/>
            <a:ext cx="11155680" cy="1463040"/>
          </a:xfrm>
        </p:spPr>
        <p:txBody>
          <a:bodyPr/>
          <a:lstStyle/>
          <a:p>
            <a:r>
              <a:rPr lang="en-CA" dirty="0"/>
              <a:t>Building the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179F1-5D52-D2E5-DCDD-38379C45BC73}"/>
              </a:ext>
            </a:extLst>
          </p:cNvPr>
          <p:cNvSpPr/>
          <p:nvPr/>
        </p:nvSpPr>
        <p:spPr>
          <a:xfrm>
            <a:off x="722376" y="3904488"/>
            <a:ext cx="502920" cy="53949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7EDC0-0DC7-5A61-9C05-E92CA3982F73}"/>
                  </a:ext>
                </a:extLst>
              </p:cNvPr>
              <p:cNvSpPr txBox="1"/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func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CA" sz="1400" dirty="0"/>
              </a:p>
              <a:p>
                <a:r>
                  <a:rPr lang="en-CA" sz="1400" dirty="0"/>
                  <a:t>Where:</a:t>
                </a:r>
                <a:br>
                  <a:rPr lang="en-CA" sz="1400" dirty="0"/>
                </a:b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CA" sz="1400" dirty="0"/>
                </a:br>
                <a:br>
                  <a:rPr lang="en-CA" sz="1400" dirty="0"/>
                </a:br>
                <a:endParaRPr lang="en-CA" sz="1400" dirty="0"/>
              </a:p>
              <a:p>
                <a:pPr marL="0" indent="0">
                  <a:buNone/>
                </a:pP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7EDC0-0DC7-5A61-9C05-E92CA3982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2226F9-7F05-ECB7-1911-25BB1410743F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225296" y="2894076"/>
            <a:ext cx="996696" cy="12801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77F21B-67F3-4338-D38A-83727807BF86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225296" y="4174236"/>
            <a:ext cx="859536" cy="1298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9DDC6-6167-C30E-02EF-1F09C033EAA3}"/>
                  </a:ext>
                </a:extLst>
              </p:cNvPr>
              <p:cNvSpPr txBox="1"/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9DDC6-6167-C30E-02EF-1F09C033E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1E79E5-60B3-3064-D202-47B568087EAC}"/>
                  </a:ext>
                </a:extLst>
              </p:cNvPr>
              <p:cNvSpPr txBox="1"/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1E79E5-60B3-3064-D202-47B568087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26445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0FA2-D77C-C501-9825-907E40E5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FC1B-E797-330E-927A-D5ECCB369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017656"/>
            <a:ext cx="11155680" cy="1463040"/>
          </a:xfrm>
        </p:spPr>
        <p:txBody>
          <a:bodyPr/>
          <a:lstStyle/>
          <a:p>
            <a:r>
              <a:rPr lang="en-CA" dirty="0"/>
              <a:t>Building the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76F9CA-D784-1104-3F85-7AF7D4152958}"/>
              </a:ext>
            </a:extLst>
          </p:cNvPr>
          <p:cNvSpPr/>
          <p:nvPr/>
        </p:nvSpPr>
        <p:spPr>
          <a:xfrm>
            <a:off x="722376" y="3904488"/>
            <a:ext cx="502920" cy="53949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2712E8-4021-982F-08D1-CCCCA957E2AB}"/>
                  </a:ext>
                </a:extLst>
              </p:cNvPr>
              <p:cNvSpPr txBox="1"/>
              <p:nvPr/>
            </p:nvSpPr>
            <p:spPr>
              <a:xfrm>
                <a:off x="6454140" y="758394"/>
                <a:ext cx="5369052" cy="1514069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func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CA" sz="1400" dirty="0"/>
              </a:p>
              <a:p>
                <a:r>
                  <a:rPr lang="en-CA" sz="1400" dirty="0"/>
                  <a:t>Where:</a:t>
                </a:r>
                <a:br>
                  <a:rPr lang="en-CA" sz="1400" dirty="0"/>
                </a:b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CA" sz="1400" dirty="0"/>
                </a:br>
                <a:br>
                  <a:rPr lang="en-CA" sz="1400" dirty="0"/>
                </a:br>
                <a:endParaRPr lang="en-CA" sz="1400" dirty="0"/>
              </a:p>
              <a:p>
                <a:pPr marL="0" indent="0">
                  <a:buNone/>
                </a:pP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2712E8-4021-982F-08D1-CCCCA957E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140" y="758394"/>
                <a:ext cx="5369052" cy="15140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10E5A4-7AAA-EB75-7296-E625EB73D6B5}"/>
              </a:ext>
            </a:extLst>
          </p:cNvPr>
          <p:cNvCxnSpPr>
            <a:cxnSpLocks/>
            <a:stCxn id="3" idx="3"/>
            <a:endCxn id="14" idx="2"/>
          </p:cNvCxnSpPr>
          <p:nvPr/>
        </p:nvCxnSpPr>
        <p:spPr>
          <a:xfrm flipV="1">
            <a:off x="1225296" y="2894076"/>
            <a:ext cx="996696" cy="12801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14093B-D0DD-128A-680A-DBEBE02C939F}"/>
              </a:ext>
            </a:extLst>
          </p:cNvPr>
          <p:cNvCxnSpPr>
            <a:cxnSpLocks/>
            <a:stCxn id="3" idx="3"/>
            <a:endCxn id="17" idx="2"/>
          </p:cNvCxnSpPr>
          <p:nvPr/>
        </p:nvCxnSpPr>
        <p:spPr>
          <a:xfrm>
            <a:off x="1225296" y="4174236"/>
            <a:ext cx="859536" cy="1298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7900C70-9F7B-04A4-C5EF-C9CA5E581FDD}"/>
              </a:ext>
            </a:extLst>
          </p:cNvPr>
          <p:cNvSpPr/>
          <p:nvPr/>
        </p:nvSpPr>
        <p:spPr>
          <a:xfrm>
            <a:off x="2221992" y="2679192"/>
            <a:ext cx="502920" cy="429768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9E32F9-9E3A-6F23-47C1-3519A5BD0B69}"/>
              </a:ext>
            </a:extLst>
          </p:cNvPr>
          <p:cNvSpPr/>
          <p:nvPr/>
        </p:nvSpPr>
        <p:spPr>
          <a:xfrm>
            <a:off x="2084832" y="5257800"/>
            <a:ext cx="502920" cy="429768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6F02422-F4FA-82B9-49AA-30E1CA6D3EBA}"/>
              </a:ext>
            </a:extLst>
          </p:cNvPr>
          <p:cNvSpPr/>
          <p:nvPr/>
        </p:nvSpPr>
        <p:spPr>
          <a:xfrm>
            <a:off x="2734056" y="2395728"/>
            <a:ext cx="2532888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103CD0B-0227-172E-6005-83463B1EF0C9}"/>
              </a:ext>
            </a:extLst>
          </p:cNvPr>
          <p:cNvSpPr/>
          <p:nvPr/>
        </p:nvSpPr>
        <p:spPr>
          <a:xfrm flipV="1">
            <a:off x="2743200" y="2866644"/>
            <a:ext cx="2523744" cy="672084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7B50A18-F479-C091-71CD-C86E6325ED59}"/>
              </a:ext>
            </a:extLst>
          </p:cNvPr>
          <p:cNvSpPr/>
          <p:nvPr/>
        </p:nvSpPr>
        <p:spPr>
          <a:xfrm flipV="1">
            <a:off x="2587752" y="5472684"/>
            <a:ext cx="267919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14ACB03-E947-EFE3-56B3-8249AF4890ED}"/>
              </a:ext>
            </a:extLst>
          </p:cNvPr>
          <p:cNvSpPr/>
          <p:nvPr/>
        </p:nvSpPr>
        <p:spPr>
          <a:xfrm>
            <a:off x="2587752" y="4988052"/>
            <a:ext cx="267919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2CE6D5-01FF-5BDA-E94F-88B17531757D}"/>
                  </a:ext>
                </a:extLst>
              </p:cNvPr>
              <p:cNvSpPr txBox="1"/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2CE6D5-01FF-5BDA-E94F-88B175317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AFAB24-C614-B276-8269-013083267369}"/>
                  </a:ext>
                </a:extLst>
              </p:cNvPr>
              <p:cNvSpPr txBox="1"/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AFAB24-C614-B276-8269-013083267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DB6C60-9DD4-202F-B449-BC5BC2DAD70E}"/>
                  </a:ext>
                </a:extLst>
              </p:cNvPr>
              <p:cNvSpPr txBox="1"/>
              <p:nvPr/>
            </p:nvSpPr>
            <p:spPr>
              <a:xfrm>
                <a:off x="3657600" y="2026396"/>
                <a:ext cx="458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DB6C60-9DD4-202F-B449-BC5BC2DAD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026396"/>
                <a:ext cx="45890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4D718C-9D08-7CF6-3784-8E7DD3D4234D}"/>
                  </a:ext>
                </a:extLst>
              </p:cNvPr>
              <p:cNvSpPr txBox="1"/>
              <p:nvPr/>
            </p:nvSpPr>
            <p:spPr>
              <a:xfrm>
                <a:off x="3697894" y="3515804"/>
                <a:ext cx="862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4D718C-9D08-7CF6-3784-8E7DD3D42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894" y="3515804"/>
                <a:ext cx="86286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E87FEB-14EC-24B8-ED2A-3846DD20C4B9}"/>
                  </a:ext>
                </a:extLst>
              </p:cNvPr>
              <p:cNvSpPr txBox="1"/>
              <p:nvPr/>
            </p:nvSpPr>
            <p:spPr>
              <a:xfrm>
                <a:off x="3569067" y="5957316"/>
                <a:ext cx="868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E87FEB-14EC-24B8-ED2A-3846DD20C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067" y="5957316"/>
                <a:ext cx="868186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2D4988-730E-B34E-C562-1A1A8E8AF091}"/>
                  </a:ext>
                </a:extLst>
              </p:cNvPr>
              <p:cNvSpPr txBox="1"/>
              <p:nvPr/>
            </p:nvSpPr>
            <p:spPr>
              <a:xfrm>
                <a:off x="3657600" y="4588388"/>
                <a:ext cx="464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2D4988-730E-B34E-C562-1A1A8E8AF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588388"/>
                <a:ext cx="46423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023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6697-FA91-C03A-90A9-0874A44BD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B169-AA35-9339-0075-44CFF75B4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017656"/>
            <a:ext cx="11155680" cy="1463040"/>
          </a:xfrm>
        </p:spPr>
        <p:txBody>
          <a:bodyPr/>
          <a:lstStyle/>
          <a:p>
            <a:r>
              <a:rPr lang="en-CA" dirty="0"/>
              <a:t>Building the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ED835-390A-D6F7-716F-6FE2E16100D5}"/>
              </a:ext>
            </a:extLst>
          </p:cNvPr>
          <p:cNvSpPr/>
          <p:nvPr/>
        </p:nvSpPr>
        <p:spPr>
          <a:xfrm>
            <a:off x="722376" y="3904488"/>
            <a:ext cx="502920" cy="53949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CC853C-8BAF-D6A1-95C4-4107C66350F9}"/>
                  </a:ext>
                </a:extLst>
              </p:cNvPr>
              <p:cNvSpPr txBox="1"/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func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CA" sz="1400" dirty="0"/>
              </a:p>
              <a:p>
                <a:r>
                  <a:rPr lang="en-CA" sz="1400" dirty="0"/>
                  <a:t>Where:</a:t>
                </a:r>
                <a:br>
                  <a:rPr lang="en-CA" sz="1400" dirty="0"/>
                </a:b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CA" sz="1400" dirty="0"/>
                </a:br>
                <a:br>
                  <a:rPr lang="en-CA" sz="1400" dirty="0"/>
                </a:br>
                <a:endParaRPr lang="en-CA" sz="1400" dirty="0"/>
              </a:p>
              <a:p>
                <a:pPr marL="0" indent="0">
                  <a:buNone/>
                </a:pP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CC853C-8BAF-D6A1-95C4-4107C663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A908D3-32C4-C53C-55EF-9BB7050C10C4}"/>
              </a:ext>
            </a:extLst>
          </p:cNvPr>
          <p:cNvCxnSpPr>
            <a:cxnSpLocks/>
            <a:stCxn id="3" idx="3"/>
            <a:endCxn id="14" idx="2"/>
          </p:cNvCxnSpPr>
          <p:nvPr/>
        </p:nvCxnSpPr>
        <p:spPr>
          <a:xfrm flipV="1">
            <a:off x="1225296" y="2894076"/>
            <a:ext cx="996696" cy="12801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4E3E99-0A4A-E387-F5E1-3A9A2782FB98}"/>
              </a:ext>
            </a:extLst>
          </p:cNvPr>
          <p:cNvCxnSpPr>
            <a:cxnSpLocks/>
            <a:stCxn id="3" idx="3"/>
            <a:endCxn id="17" idx="2"/>
          </p:cNvCxnSpPr>
          <p:nvPr/>
        </p:nvCxnSpPr>
        <p:spPr>
          <a:xfrm>
            <a:off x="1225296" y="4174236"/>
            <a:ext cx="859536" cy="1298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9E7C64B-1CFF-2FEE-97C3-155F896B57AE}"/>
              </a:ext>
            </a:extLst>
          </p:cNvPr>
          <p:cNvSpPr/>
          <p:nvPr/>
        </p:nvSpPr>
        <p:spPr>
          <a:xfrm>
            <a:off x="2221992" y="2679192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87DBA8-3672-E442-CB6D-498761AEEF79}"/>
              </a:ext>
            </a:extLst>
          </p:cNvPr>
          <p:cNvSpPr/>
          <p:nvPr/>
        </p:nvSpPr>
        <p:spPr>
          <a:xfrm>
            <a:off x="2084832" y="5257800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4451113-66A0-F72D-A50E-2D3EA8E03E17}"/>
              </a:ext>
            </a:extLst>
          </p:cNvPr>
          <p:cNvSpPr/>
          <p:nvPr/>
        </p:nvSpPr>
        <p:spPr>
          <a:xfrm>
            <a:off x="2734056" y="2395728"/>
            <a:ext cx="4447034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A9952DE-D141-D617-CE03-984FD69A7011}"/>
              </a:ext>
            </a:extLst>
          </p:cNvPr>
          <p:cNvSpPr/>
          <p:nvPr/>
        </p:nvSpPr>
        <p:spPr>
          <a:xfrm flipV="1">
            <a:off x="2743200" y="2866644"/>
            <a:ext cx="2267712" cy="672084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2C32E39-22D3-1413-73B3-6174A2E75250}"/>
              </a:ext>
            </a:extLst>
          </p:cNvPr>
          <p:cNvSpPr/>
          <p:nvPr/>
        </p:nvSpPr>
        <p:spPr>
          <a:xfrm flipV="1">
            <a:off x="2587752" y="5472684"/>
            <a:ext cx="267919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920377A-3DF0-3A72-FCA4-AA55584B262E}"/>
              </a:ext>
            </a:extLst>
          </p:cNvPr>
          <p:cNvSpPr/>
          <p:nvPr/>
        </p:nvSpPr>
        <p:spPr>
          <a:xfrm>
            <a:off x="2587752" y="4988052"/>
            <a:ext cx="267919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55A3872-ACA6-9C49-9C91-A25576F4A93B}"/>
              </a:ext>
            </a:extLst>
          </p:cNvPr>
          <p:cNvSpPr/>
          <p:nvPr/>
        </p:nvSpPr>
        <p:spPr>
          <a:xfrm>
            <a:off x="5029200" y="3268980"/>
            <a:ext cx="502920" cy="429768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2DAEF14-BF1F-F0C6-3F1D-EDF624A2AE73}"/>
              </a:ext>
            </a:extLst>
          </p:cNvPr>
          <p:cNvSpPr/>
          <p:nvPr/>
        </p:nvSpPr>
        <p:spPr>
          <a:xfrm>
            <a:off x="5541264" y="2985516"/>
            <a:ext cx="2276856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A643F0C-3D29-0174-9BCF-23BBCFBC6788}"/>
              </a:ext>
            </a:extLst>
          </p:cNvPr>
          <p:cNvSpPr/>
          <p:nvPr/>
        </p:nvSpPr>
        <p:spPr>
          <a:xfrm flipV="1">
            <a:off x="5550408" y="3456432"/>
            <a:ext cx="226771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F8A98B-3698-4CE8-F7E9-2E9C69D4DD24}"/>
                  </a:ext>
                </a:extLst>
              </p:cNvPr>
              <p:cNvSpPr txBox="1"/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F8A98B-3698-4CE8-F7E9-2E9C69D4D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DE4916-3F47-037B-F629-782596E700DA}"/>
                  </a:ext>
                </a:extLst>
              </p:cNvPr>
              <p:cNvSpPr txBox="1"/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DE4916-3F47-037B-F629-782596E70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6B670F-B795-FDCE-D891-F20BCAF31A64}"/>
                  </a:ext>
                </a:extLst>
              </p:cNvPr>
              <p:cNvSpPr txBox="1"/>
              <p:nvPr/>
            </p:nvSpPr>
            <p:spPr>
              <a:xfrm>
                <a:off x="3657600" y="2026396"/>
                <a:ext cx="458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6B670F-B795-FDCE-D891-F20BCAF31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026396"/>
                <a:ext cx="45890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735264-C2AC-99AA-BD0E-5C3C4AC2E111}"/>
                  </a:ext>
                </a:extLst>
              </p:cNvPr>
              <p:cNvSpPr txBox="1"/>
              <p:nvPr/>
            </p:nvSpPr>
            <p:spPr>
              <a:xfrm>
                <a:off x="3697894" y="3515804"/>
                <a:ext cx="862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735264-C2AC-99AA-BD0E-5C3C4AC2E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894" y="3515804"/>
                <a:ext cx="86286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32F434-8F83-7844-3A82-D27248041E5C}"/>
                  </a:ext>
                </a:extLst>
              </p:cNvPr>
              <p:cNvSpPr txBox="1"/>
              <p:nvPr/>
            </p:nvSpPr>
            <p:spPr>
              <a:xfrm>
                <a:off x="3569067" y="5957316"/>
                <a:ext cx="868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32F434-8F83-7844-3A82-D27248041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067" y="5957316"/>
                <a:ext cx="868186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829C9C-89EA-40A7-11EF-834D7EAF3008}"/>
                  </a:ext>
                </a:extLst>
              </p:cNvPr>
              <p:cNvSpPr txBox="1"/>
              <p:nvPr/>
            </p:nvSpPr>
            <p:spPr>
              <a:xfrm>
                <a:off x="3657600" y="4588388"/>
                <a:ext cx="464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829C9C-89EA-40A7-11EF-834D7EAF3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588388"/>
                <a:ext cx="46423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B035CC-4E7B-01CD-D452-140A1DAA6168}"/>
                  </a:ext>
                </a:extLst>
              </p:cNvPr>
              <p:cNvSpPr txBox="1"/>
              <p:nvPr/>
            </p:nvSpPr>
            <p:spPr>
              <a:xfrm>
                <a:off x="6587326" y="2582280"/>
                <a:ext cx="45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B035CC-4E7B-01CD-D452-140A1DAA6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326" y="2582280"/>
                <a:ext cx="458522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452923-DF3E-8CC8-5151-DF58076AFEF1}"/>
                  </a:ext>
                </a:extLst>
              </p:cNvPr>
              <p:cNvSpPr txBox="1"/>
              <p:nvPr/>
            </p:nvSpPr>
            <p:spPr>
              <a:xfrm>
                <a:off x="6501005" y="3858768"/>
                <a:ext cx="862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452923-DF3E-8CC8-5151-DF58076AF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005" y="3858768"/>
                <a:ext cx="862480" cy="369332"/>
              </a:xfrm>
              <a:prstGeom prst="rect">
                <a:avLst/>
              </a:prstGeom>
              <a:blipFill>
                <a:blip r:embed="rId1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932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6C31-0B92-7C3F-CC91-BB779F27A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0F65-1FCE-AA39-BCEC-9532B2A4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017656"/>
            <a:ext cx="11155680" cy="1463040"/>
          </a:xfrm>
        </p:spPr>
        <p:txBody>
          <a:bodyPr/>
          <a:lstStyle/>
          <a:p>
            <a:r>
              <a:rPr lang="en-CA" dirty="0"/>
              <a:t>Building the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E7212A-422E-D68D-0014-C596AF3D65CB}"/>
              </a:ext>
            </a:extLst>
          </p:cNvPr>
          <p:cNvSpPr/>
          <p:nvPr/>
        </p:nvSpPr>
        <p:spPr>
          <a:xfrm>
            <a:off x="722376" y="3904488"/>
            <a:ext cx="502920" cy="53949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AC2BB8-9B42-B2EC-C4C8-E7BB60784E30}"/>
                  </a:ext>
                </a:extLst>
              </p:cNvPr>
              <p:cNvSpPr txBox="1"/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func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CA" sz="1400" dirty="0"/>
              </a:p>
              <a:p>
                <a:r>
                  <a:rPr lang="en-CA" sz="1400" dirty="0"/>
                  <a:t>Where:</a:t>
                </a:r>
                <a:br>
                  <a:rPr lang="en-CA" sz="1400" dirty="0"/>
                </a:b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CA" sz="1400" dirty="0"/>
                </a:br>
                <a:br>
                  <a:rPr lang="en-CA" sz="1400" dirty="0"/>
                </a:br>
                <a:endParaRPr lang="en-CA" sz="1400" dirty="0"/>
              </a:p>
              <a:p>
                <a:pPr marL="0" indent="0">
                  <a:buNone/>
                </a:pP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CA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sz="1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CA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AC2BB8-9B42-B2EC-C4C8-E7BB6078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3380CB-8E5C-1A27-5BAE-762138507478}"/>
              </a:ext>
            </a:extLst>
          </p:cNvPr>
          <p:cNvCxnSpPr>
            <a:cxnSpLocks/>
            <a:stCxn id="3" idx="3"/>
            <a:endCxn id="14" idx="2"/>
          </p:cNvCxnSpPr>
          <p:nvPr/>
        </p:nvCxnSpPr>
        <p:spPr>
          <a:xfrm flipV="1">
            <a:off x="1225296" y="2894076"/>
            <a:ext cx="996696" cy="12801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455CA9-7A0C-732F-11F8-AC3D2DD980FD}"/>
              </a:ext>
            </a:extLst>
          </p:cNvPr>
          <p:cNvCxnSpPr>
            <a:cxnSpLocks/>
            <a:stCxn id="3" idx="3"/>
            <a:endCxn id="17" idx="2"/>
          </p:cNvCxnSpPr>
          <p:nvPr/>
        </p:nvCxnSpPr>
        <p:spPr>
          <a:xfrm>
            <a:off x="1225296" y="4174236"/>
            <a:ext cx="859536" cy="1298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3DC99A1-E74C-D7D0-B675-4FBDA1E8D40E}"/>
              </a:ext>
            </a:extLst>
          </p:cNvPr>
          <p:cNvSpPr/>
          <p:nvPr/>
        </p:nvSpPr>
        <p:spPr>
          <a:xfrm>
            <a:off x="2221992" y="2679192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F90014-6A51-611E-E2A0-0C1459F64D01}"/>
              </a:ext>
            </a:extLst>
          </p:cNvPr>
          <p:cNvSpPr/>
          <p:nvPr/>
        </p:nvSpPr>
        <p:spPr>
          <a:xfrm>
            <a:off x="2084832" y="5257800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0CE6DB5-8D4F-AD3B-203C-E2FB0FF4CA78}"/>
              </a:ext>
            </a:extLst>
          </p:cNvPr>
          <p:cNvSpPr/>
          <p:nvPr/>
        </p:nvSpPr>
        <p:spPr>
          <a:xfrm>
            <a:off x="2734056" y="2395728"/>
            <a:ext cx="4447034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B1325B4-209C-9720-A182-6B537CF10832}"/>
              </a:ext>
            </a:extLst>
          </p:cNvPr>
          <p:cNvSpPr/>
          <p:nvPr/>
        </p:nvSpPr>
        <p:spPr>
          <a:xfrm flipV="1">
            <a:off x="2743200" y="2866644"/>
            <a:ext cx="2267712" cy="672084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772966E-6ED2-16E7-ADFF-51A22AF4F662}"/>
              </a:ext>
            </a:extLst>
          </p:cNvPr>
          <p:cNvSpPr/>
          <p:nvPr/>
        </p:nvSpPr>
        <p:spPr>
          <a:xfrm flipV="1">
            <a:off x="2587752" y="5472684"/>
            <a:ext cx="267919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8A2EA15-F69E-26AD-46C0-A152574B94BF}"/>
              </a:ext>
            </a:extLst>
          </p:cNvPr>
          <p:cNvSpPr/>
          <p:nvPr/>
        </p:nvSpPr>
        <p:spPr>
          <a:xfrm>
            <a:off x="2587752" y="4988052"/>
            <a:ext cx="267919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891A833-0D35-CE5B-C1EC-EE7278739055}"/>
              </a:ext>
            </a:extLst>
          </p:cNvPr>
          <p:cNvSpPr/>
          <p:nvPr/>
        </p:nvSpPr>
        <p:spPr>
          <a:xfrm>
            <a:off x="5029200" y="3268980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F5123C8-80E6-1B53-ADF1-AC975F76C5F0}"/>
              </a:ext>
            </a:extLst>
          </p:cNvPr>
          <p:cNvSpPr/>
          <p:nvPr/>
        </p:nvSpPr>
        <p:spPr>
          <a:xfrm>
            <a:off x="5541264" y="2985516"/>
            <a:ext cx="2276856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C165A14-B6C3-BA5E-CA12-265CCFD0A8BE}"/>
              </a:ext>
            </a:extLst>
          </p:cNvPr>
          <p:cNvSpPr/>
          <p:nvPr/>
        </p:nvSpPr>
        <p:spPr>
          <a:xfrm flipV="1">
            <a:off x="5550408" y="3456432"/>
            <a:ext cx="226771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74EADE-5B72-230C-1D7C-417D4049AC91}"/>
                  </a:ext>
                </a:extLst>
              </p:cNvPr>
              <p:cNvSpPr txBox="1"/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74EADE-5B72-230C-1D7C-417D4049A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CC4BDD-04C2-9222-2EAE-5A9EFAA1C806}"/>
                  </a:ext>
                </a:extLst>
              </p:cNvPr>
              <p:cNvSpPr txBox="1"/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CC4BDD-04C2-9222-2EAE-5A9EFAA1C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B8C08D-8B04-D7C4-E0F3-3D627B33BC69}"/>
                  </a:ext>
                </a:extLst>
              </p:cNvPr>
              <p:cNvSpPr txBox="1"/>
              <p:nvPr/>
            </p:nvSpPr>
            <p:spPr>
              <a:xfrm>
                <a:off x="7476302" y="2268093"/>
                <a:ext cx="903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B8C08D-8B04-D7C4-E0F3-3D627B33B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302" y="2268093"/>
                <a:ext cx="903517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911FFC-8D36-01E7-F343-9263DEB74B03}"/>
                  </a:ext>
                </a:extLst>
              </p:cNvPr>
              <p:cNvSpPr txBox="1"/>
              <p:nvPr/>
            </p:nvSpPr>
            <p:spPr>
              <a:xfrm>
                <a:off x="3657600" y="2026396"/>
                <a:ext cx="458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911FFC-8D36-01E7-F343-9263DEB74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026396"/>
                <a:ext cx="458908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2D3A16-8B0B-7021-EB66-EA3051384A1F}"/>
                  </a:ext>
                </a:extLst>
              </p:cNvPr>
              <p:cNvSpPr txBox="1"/>
              <p:nvPr/>
            </p:nvSpPr>
            <p:spPr>
              <a:xfrm>
                <a:off x="3697894" y="3515804"/>
                <a:ext cx="862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2D3A16-8B0B-7021-EB66-EA3051384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894" y="3515804"/>
                <a:ext cx="862865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6A78E-DEB1-785B-E672-54BC79CE2525}"/>
                  </a:ext>
                </a:extLst>
              </p:cNvPr>
              <p:cNvSpPr txBox="1"/>
              <p:nvPr/>
            </p:nvSpPr>
            <p:spPr>
              <a:xfrm>
                <a:off x="3569067" y="5957316"/>
                <a:ext cx="868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6A78E-DEB1-785B-E672-54BC79CE2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067" y="5957316"/>
                <a:ext cx="868186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1780D9F-AB24-2052-0BD2-0CA7752C7362}"/>
                  </a:ext>
                </a:extLst>
              </p:cNvPr>
              <p:cNvSpPr txBox="1"/>
              <p:nvPr/>
            </p:nvSpPr>
            <p:spPr>
              <a:xfrm>
                <a:off x="3657600" y="4588388"/>
                <a:ext cx="464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1780D9F-AB24-2052-0BD2-0CA7752C7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588388"/>
                <a:ext cx="464230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BD6226-8A72-9D6F-57D7-F1BC387575F4}"/>
                  </a:ext>
                </a:extLst>
              </p:cNvPr>
              <p:cNvSpPr txBox="1"/>
              <p:nvPr/>
            </p:nvSpPr>
            <p:spPr>
              <a:xfrm>
                <a:off x="6587326" y="2582280"/>
                <a:ext cx="45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BD6226-8A72-9D6F-57D7-F1BC38757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326" y="2582280"/>
                <a:ext cx="458522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F42EDC-5F39-CC3F-F8EA-2F5722D43B98}"/>
                  </a:ext>
                </a:extLst>
              </p:cNvPr>
              <p:cNvSpPr txBox="1"/>
              <p:nvPr/>
            </p:nvSpPr>
            <p:spPr>
              <a:xfrm>
                <a:off x="6501005" y="3858768"/>
                <a:ext cx="862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F42EDC-5F39-CC3F-F8EA-2F5722D43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005" y="3858768"/>
                <a:ext cx="862480" cy="369332"/>
              </a:xfrm>
              <a:prstGeom prst="rect">
                <a:avLst/>
              </a:prstGeom>
              <a:blipFill>
                <a:blip r:embed="rId11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6A11025-A7DD-4D59-71CE-AFC131E6A9D0}"/>
                  </a:ext>
                </a:extLst>
              </p:cNvPr>
              <p:cNvSpPr txBox="1"/>
              <p:nvPr/>
            </p:nvSpPr>
            <p:spPr>
              <a:xfrm>
                <a:off x="8104188" y="2801299"/>
                <a:ext cx="903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6A11025-A7DD-4D59-71CE-AFC131E6A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188" y="2801299"/>
                <a:ext cx="903517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D6C73B-F3BA-E8EE-D2B4-3E6264D53077}"/>
                  </a:ext>
                </a:extLst>
              </p:cNvPr>
              <p:cNvSpPr txBox="1"/>
              <p:nvPr/>
            </p:nvSpPr>
            <p:spPr>
              <a:xfrm>
                <a:off x="8113332" y="3714567"/>
                <a:ext cx="903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D6C73B-F3BA-E8EE-D2B4-3E6264D53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332" y="3714567"/>
                <a:ext cx="903517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C7A9B6-F0DC-D20F-8C77-2335CF57BF11}"/>
                  </a:ext>
                </a:extLst>
              </p:cNvPr>
              <p:cNvSpPr txBox="1"/>
              <p:nvPr/>
            </p:nvSpPr>
            <p:spPr>
              <a:xfrm>
                <a:off x="5604173" y="4864608"/>
                <a:ext cx="916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C7A9B6-F0DC-D20F-8C77-2335CF57B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173" y="4864608"/>
                <a:ext cx="916598" cy="369332"/>
              </a:xfrm>
              <a:prstGeom prst="rect">
                <a:avLst/>
              </a:prstGeom>
              <a:blipFill>
                <a:blip r:embed="rId1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3DCBEC-01D5-A124-DF7B-C36247DA2629}"/>
                  </a:ext>
                </a:extLst>
              </p:cNvPr>
              <p:cNvSpPr txBox="1"/>
              <p:nvPr/>
            </p:nvSpPr>
            <p:spPr>
              <a:xfrm>
                <a:off x="5597633" y="5669775"/>
                <a:ext cx="916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3DCBEC-01D5-A124-DF7B-C36247DA2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633" y="5669775"/>
                <a:ext cx="916598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6C7A7B00-87DF-7653-0A79-63573AEC5FC4}"/>
              </a:ext>
            </a:extLst>
          </p:cNvPr>
          <p:cNvSpPr/>
          <p:nvPr/>
        </p:nvSpPr>
        <p:spPr>
          <a:xfrm rot="16200000">
            <a:off x="7179555" y="2213523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5E244A78-A2BA-CB2A-2651-BEC48834C8DD}"/>
              </a:ext>
            </a:extLst>
          </p:cNvPr>
          <p:cNvSpPr/>
          <p:nvPr/>
        </p:nvSpPr>
        <p:spPr>
          <a:xfrm rot="16200000">
            <a:off x="7812013" y="2783687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029B26B4-66ED-8C23-B352-A6CF1BF5C4B8}"/>
              </a:ext>
            </a:extLst>
          </p:cNvPr>
          <p:cNvSpPr/>
          <p:nvPr/>
        </p:nvSpPr>
        <p:spPr>
          <a:xfrm rot="16200000">
            <a:off x="7818759" y="3675227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9717D578-F24F-09A6-E650-E0AE257B25C9}"/>
              </a:ext>
            </a:extLst>
          </p:cNvPr>
          <p:cNvSpPr/>
          <p:nvPr/>
        </p:nvSpPr>
        <p:spPr>
          <a:xfrm rot="16200000">
            <a:off x="5286418" y="4799939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CCADEB40-CB31-9406-3BB9-7CE821EED25F}"/>
              </a:ext>
            </a:extLst>
          </p:cNvPr>
          <p:cNvSpPr/>
          <p:nvPr/>
        </p:nvSpPr>
        <p:spPr>
          <a:xfrm rot="16200000">
            <a:off x="5299696" y="5696051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3586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FB0AC-C7C4-CE19-9B4E-0A66B680A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9D1F9-D317-568C-20A8-57519325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017656"/>
            <a:ext cx="11155680" cy="1463040"/>
          </a:xfrm>
        </p:spPr>
        <p:txBody>
          <a:bodyPr/>
          <a:lstStyle/>
          <a:p>
            <a:r>
              <a:rPr lang="en-CA" dirty="0"/>
              <a:t>Building the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3176D0-C21B-4CA8-4A88-82ABB878681E}"/>
              </a:ext>
            </a:extLst>
          </p:cNvPr>
          <p:cNvSpPr/>
          <p:nvPr/>
        </p:nvSpPr>
        <p:spPr>
          <a:xfrm>
            <a:off x="722376" y="3904488"/>
            <a:ext cx="502920" cy="53949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8A4D6F-2B1C-955D-C919-CC549F154672}"/>
              </a:ext>
            </a:extLst>
          </p:cNvPr>
          <p:cNvCxnSpPr>
            <a:cxnSpLocks/>
            <a:stCxn id="3" idx="3"/>
            <a:endCxn id="14" idx="2"/>
          </p:cNvCxnSpPr>
          <p:nvPr/>
        </p:nvCxnSpPr>
        <p:spPr>
          <a:xfrm flipV="1">
            <a:off x="1225296" y="2894076"/>
            <a:ext cx="996696" cy="12801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4CAAAE-83BC-DEB9-9AFD-F9D277891797}"/>
              </a:ext>
            </a:extLst>
          </p:cNvPr>
          <p:cNvCxnSpPr>
            <a:cxnSpLocks/>
            <a:stCxn id="3" idx="3"/>
            <a:endCxn id="17" idx="2"/>
          </p:cNvCxnSpPr>
          <p:nvPr/>
        </p:nvCxnSpPr>
        <p:spPr>
          <a:xfrm>
            <a:off x="1225296" y="4174236"/>
            <a:ext cx="859536" cy="1298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C3FD159-0543-F3DB-EE1B-820E859CFE07}"/>
              </a:ext>
            </a:extLst>
          </p:cNvPr>
          <p:cNvSpPr/>
          <p:nvPr/>
        </p:nvSpPr>
        <p:spPr>
          <a:xfrm>
            <a:off x="2221992" y="2679192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1C396C9-70FD-3B9E-4254-0F1DDBF2E7CA}"/>
              </a:ext>
            </a:extLst>
          </p:cNvPr>
          <p:cNvSpPr/>
          <p:nvPr/>
        </p:nvSpPr>
        <p:spPr>
          <a:xfrm>
            <a:off x="2084832" y="5257800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A469614-76C6-03E8-D689-A9505ED4BDA7}"/>
              </a:ext>
            </a:extLst>
          </p:cNvPr>
          <p:cNvSpPr/>
          <p:nvPr/>
        </p:nvSpPr>
        <p:spPr>
          <a:xfrm>
            <a:off x="2734056" y="2395728"/>
            <a:ext cx="4447034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80F88B5-14D9-180F-9DA1-506396F5673F}"/>
              </a:ext>
            </a:extLst>
          </p:cNvPr>
          <p:cNvSpPr/>
          <p:nvPr/>
        </p:nvSpPr>
        <p:spPr>
          <a:xfrm flipV="1">
            <a:off x="2743200" y="2866644"/>
            <a:ext cx="2267712" cy="672084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3EEBA46-4911-0BED-94EF-77090F25BD48}"/>
              </a:ext>
            </a:extLst>
          </p:cNvPr>
          <p:cNvSpPr/>
          <p:nvPr/>
        </p:nvSpPr>
        <p:spPr>
          <a:xfrm flipV="1">
            <a:off x="2587752" y="5472684"/>
            <a:ext cx="267919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64AD588-2F47-9B8B-D65F-B0BA13F00EF6}"/>
              </a:ext>
            </a:extLst>
          </p:cNvPr>
          <p:cNvSpPr/>
          <p:nvPr/>
        </p:nvSpPr>
        <p:spPr>
          <a:xfrm>
            <a:off x="2587752" y="4988052"/>
            <a:ext cx="267919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6C82D9-1FA1-3082-6EA9-1105C1036C5B}"/>
              </a:ext>
            </a:extLst>
          </p:cNvPr>
          <p:cNvSpPr/>
          <p:nvPr/>
        </p:nvSpPr>
        <p:spPr>
          <a:xfrm>
            <a:off x="5029200" y="3268980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FC08A82-9B32-BB89-401F-EDBE4ABD7854}"/>
              </a:ext>
            </a:extLst>
          </p:cNvPr>
          <p:cNvSpPr/>
          <p:nvPr/>
        </p:nvSpPr>
        <p:spPr>
          <a:xfrm>
            <a:off x="5541264" y="2985516"/>
            <a:ext cx="2276856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AF38FFA-7C02-5B0C-E455-FD64DA111757}"/>
              </a:ext>
            </a:extLst>
          </p:cNvPr>
          <p:cNvSpPr/>
          <p:nvPr/>
        </p:nvSpPr>
        <p:spPr>
          <a:xfrm flipV="1">
            <a:off x="5550408" y="3456432"/>
            <a:ext cx="226771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344477-AB77-FB02-D633-625E41FB1980}"/>
                  </a:ext>
                </a:extLst>
              </p:cNvPr>
              <p:cNvSpPr txBox="1"/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344477-AB77-FB02-D633-625E41FB1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5C167C-D663-3603-8542-0D125E660BBB}"/>
                  </a:ext>
                </a:extLst>
              </p:cNvPr>
              <p:cNvSpPr txBox="1"/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5C167C-D663-3603-8542-0D125E660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1452A6-4517-855C-7154-AE7E8E748444}"/>
                  </a:ext>
                </a:extLst>
              </p:cNvPr>
              <p:cNvSpPr txBox="1"/>
              <p:nvPr/>
            </p:nvSpPr>
            <p:spPr>
              <a:xfrm>
                <a:off x="7476302" y="2268093"/>
                <a:ext cx="903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1452A6-4517-855C-7154-AE7E8E748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302" y="2268093"/>
                <a:ext cx="903517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0DDF8B-2250-7AD8-3C7E-0C923D36231B}"/>
                  </a:ext>
                </a:extLst>
              </p:cNvPr>
              <p:cNvSpPr txBox="1"/>
              <p:nvPr/>
            </p:nvSpPr>
            <p:spPr>
              <a:xfrm>
                <a:off x="3657600" y="2026396"/>
                <a:ext cx="458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0DDF8B-2250-7AD8-3C7E-0C923D362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026396"/>
                <a:ext cx="458908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CA338B-4EE3-1EB7-9B31-04F6B704D59B}"/>
                  </a:ext>
                </a:extLst>
              </p:cNvPr>
              <p:cNvSpPr txBox="1"/>
              <p:nvPr/>
            </p:nvSpPr>
            <p:spPr>
              <a:xfrm>
                <a:off x="3697894" y="3515804"/>
                <a:ext cx="862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CA338B-4EE3-1EB7-9B31-04F6B704D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894" y="3515804"/>
                <a:ext cx="862865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9DC4C1-FCF1-8124-3580-68C07AA228DA}"/>
                  </a:ext>
                </a:extLst>
              </p:cNvPr>
              <p:cNvSpPr txBox="1"/>
              <p:nvPr/>
            </p:nvSpPr>
            <p:spPr>
              <a:xfrm>
                <a:off x="3569067" y="5957316"/>
                <a:ext cx="868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9DC4C1-FCF1-8124-3580-68C07AA22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067" y="5957316"/>
                <a:ext cx="868186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76D40D-DEFF-CF74-C1B4-A4722B3D6677}"/>
                  </a:ext>
                </a:extLst>
              </p:cNvPr>
              <p:cNvSpPr txBox="1"/>
              <p:nvPr/>
            </p:nvSpPr>
            <p:spPr>
              <a:xfrm>
                <a:off x="3657600" y="4588388"/>
                <a:ext cx="464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76D40D-DEFF-CF74-C1B4-A4722B3D6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588388"/>
                <a:ext cx="464230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26A0C8-C8B1-3F4C-FC41-C7563E367BDA}"/>
                  </a:ext>
                </a:extLst>
              </p:cNvPr>
              <p:cNvSpPr txBox="1"/>
              <p:nvPr/>
            </p:nvSpPr>
            <p:spPr>
              <a:xfrm>
                <a:off x="6587326" y="2582280"/>
                <a:ext cx="45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26A0C8-C8B1-3F4C-FC41-C7563E367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326" y="2582280"/>
                <a:ext cx="458522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521512-C033-A2C7-19F5-E9ED628EEF03}"/>
                  </a:ext>
                </a:extLst>
              </p:cNvPr>
              <p:cNvSpPr txBox="1"/>
              <p:nvPr/>
            </p:nvSpPr>
            <p:spPr>
              <a:xfrm>
                <a:off x="6501005" y="3858768"/>
                <a:ext cx="862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521512-C033-A2C7-19F5-E9ED628EE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005" y="3858768"/>
                <a:ext cx="862480" cy="369332"/>
              </a:xfrm>
              <a:prstGeom prst="rect">
                <a:avLst/>
              </a:prstGeom>
              <a:blipFill>
                <a:blip r:embed="rId11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884A74-47ED-B192-C63E-BE97194EBD2D}"/>
                  </a:ext>
                </a:extLst>
              </p:cNvPr>
              <p:cNvSpPr txBox="1"/>
              <p:nvPr/>
            </p:nvSpPr>
            <p:spPr>
              <a:xfrm>
                <a:off x="8104188" y="2801299"/>
                <a:ext cx="903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4884A74-47ED-B192-C63E-BE97194EB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188" y="2801299"/>
                <a:ext cx="903517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2AF90F-B63E-E4C2-9472-6453EAE35AF8}"/>
                  </a:ext>
                </a:extLst>
              </p:cNvPr>
              <p:cNvSpPr txBox="1"/>
              <p:nvPr/>
            </p:nvSpPr>
            <p:spPr>
              <a:xfrm>
                <a:off x="8113332" y="3714567"/>
                <a:ext cx="903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2AF90F-B63E-E4C2-9472-6453EAE35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332" y="3714567"/>
                <a:ext cx="903517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037976-5931-3B94-7540-0D69FE8B6E18}"/>
                  </a:ext>
                </a:extLst>
              </p:cNvPr>
              <p:cNvSpPr txBox="1"/>
              <p:nvPr/>
            </p:nvSpPr>
            <p:spPr>
              <a:xfrm>
                <a:off x="5604173" y="4864608"/>
                <a:ext cx="916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037976-5931-3B94-7540-0D69FE8B6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173" y="4864608"/>
                <a:ext cx="916598" cy="369332"/>
              </a:xfrm>
              <a:prstGeom prst="rect">
                <a:avLst/>
              </a:prstGeom>
              <a:blipFill>
                <a:blip r:embed="rId1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B4B53E-086E-68E1-3723-82B7FDED2FA4}"/>
                  </a:ext>
                </a:extLst>
              </p:cNvPr>
              <p:cNvSpPr txBox="1"/>
              <p:nvPr/>
            </p:nvSpPr>
            <p:spPr>
              <a:xfrm>
                <a:off x="5597633" y="5669775"/>
                <a:ext cx="916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B4B53E-086E-68E1-3723-82B7FDED2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633" y="5669775"/>
                <a:ext cx="916598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9126C779-0534-F8EC-85CE-083FE9BE539E}"/>
              </a:ext>
            </a:extLst>
          </p:cNvPr>
          <p:cNvSpPr/>
          <p:nvPr/>
        </p:nvSpPr>
        <p:spPr>
          <a:xfrm rot="16200000">
            <a:off x="7179555" y="2213523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B620A71E-01DB-0D15-74DD-2F783F981C5D}"/>
              </a:ext>
            </a:extLst>
          </p:cNvPr>
          <p:cNvSpPr/>
          <p:nvPr/>
        </p:nvSpPr>
        <p:spPr>
          <a:xfrm rot="16200000">
            <a:off x="7812013" y="2783687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93E4D4CE-E6B3-6129-D5BB-BDACBC6FF29D}"/>
              </a:ext>
            </a:extLst>
          </p:cNvPr>
          <p:cNvSpPr/>
          <p:nvPr/>
        </p:nvSpPr>
        <p:spPr>
          <a:xfrm rot="16200000">
            <a:off x="7818759" y="3675227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ECC2B6B-D521-01D0-CA25-384821C032AC}"/>
              </a:ext>
            </a:extLst>
          </p:cNvPr>
          <p:cNvSpPr/>
          <p:nvPr/>
        </p:nvSpPr>
        <p:spPr>
          <a:xfrm rot="16200000">
            <a:off x="5286418" y="4799939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ED33930C-8CA6-AF32-A3C7-C4A18A1BA255}"/>
              </a:ext>
            </a:extLst>
          </p:cNvPr>
          <p:cNvSpPr/>
          <p:nvPr/>
        </p:nvSpPr>
        <p:spPr>
          <a:xfrm rot="16200000">
            <a:off x="5299696" y="5696051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AFB320-1275-26E4-E64F-2F587848EA08}"/>
                  </a:ext>
                </a:extLst>
              </p:cNvPr>
              <p:cNvSpPr txBox="1"/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1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CA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CA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CA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func>
                          <m:r>
                            <a:rPr lang="en-CA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CA" sz="1400" dirty="0">
                  <a:solidFill>
                    <a:srgbClr val="C00000"/>
                  </a:solidFill>
                </a:endParaRPr>
              </a:p>
              <a:p>
                <a:r>
                  <a:rPr lang="en-CA" sz="1400" dirty="0">
                    <a:solidFill>
                      <a:schemeClr val="tx1"/>
                    </a:solidFill>
                  </a:rPr>
                  <a:t>Where:</a:t>
                </a:r>
                <a:br>
                  <a:rPr lang="en-CA" sz="1400" dirty="0">
                    <a:solidFill>
                      <a:schemeClr val="tx1"/>
                    </a:solidFill>
                  </a:rPr>
                </a:br>
                <a:r>
                  <a:rPr lang="en-CA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CA" sz="1400" dirty="0">
                    <a:solidFill>
                      <a:schemeClr val="tx1"/>
                    </a:solidFill>
                  </a:rPr>
                </a:br>
                <a:br>
                  <a:rPr lang="en-CA" sz="1400" dirty="0">
                    <a:solidFill>
                      <a:schemeClr val="tx1"/>
                    </a:solidFill>
                  </a:rPr>
                </a:br>
                <a:endParaRPr lang="en-CA" sz="1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CA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AFB320-1275-26E4-E64F-2F587848E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904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2F74-4B70-CD64-8661-8E599CEC3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989E-42B5-CCFB-B407-4AE9E815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017656"/>
            <a:ext cx="11155680" cy="1463040"/>
          </a:xfrm>
        </p:spPr>
        <p:txBody>
          <a:bodyPr/>
          <a:lstStyle/>
          <a:p>
            <a:r>
              <a:rPr lang="en-CA" dirty="0"/>
              <a:t>Building the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757E1F-6F0F-9307-EBAD-16142ADC0423}"/>
              </a:ext>
            </a:extLst>
          </p:cNvPr>
          <p:cNvSpPr/>
          <p:nvPr/>
        </p:nvSpPr>
        <p:spPr>
          <a:xfrm>
            <a:off x="722376" y="3904488"/>
            <a:ext cx="502920" cy="53949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C11FD2-B630-5242-D77F-3E7B51855B8F}"/>
                  </a:ext>
                </a:extLst>
              </p:cNvPr>
              <p:cNvSpPr txBox="1"/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1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CA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CA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CA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func>
                          <m:r>
                            <a:rPr lang="en-CA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CA" sz="1400" dirty="0">
                  <a:solidFill>
                    <a:schemeClr val="tx1"/>
                  </a:solidFill>
                </a:endParaRPr>
              </a:p>
              <a:p>
                <a:r>
                  <a:rPr lang="en-CA" sz="1400" dirty="0">
                    <a:solidFill>
                      <a:schemeClr val="tx1"/>
                    </a:solidFill>
                  </a:rPr>
                  <a:t>Where:</a:t>
                </a:r>
                <a:br>
                  <a:rPr lang="en-CA" sz="1400" dirty="0">
                    <a:solidFill>
                      <a:schemeClr val="tx1"/>
                    </a:solidFill>
                  </a:rPr>
                </a:br>
                <a:r>
                  <a:rPr lang="en-CA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𝑝𝑢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𝑞𝑢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CA" sz="1400" dirty="0">
                    <a:solidFill>
                      <a:schemeClr val="tx1"/>
                    </a:solidFill>
                  </a:rPr>
                </a:br>
                <a:br>
                  <a:rPr lang="en-CA" sz="1400" dirty="0">
                    <a:solidFill>
                      <a:schemeClr val="tx1"/>
                    </a:solidFill>
                  </a:rPr>
                </a:br>
                <a:endParaRPr lang="en-CA" sz="1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CA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C11FD2-B630-5242-D77F-3E7B51855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140" y="758394"/>
                <a:ext cx="5369052" cy="1495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6299FB-DB9A-0F71-CB77-CD2F6944CBD3}"/>
              </a:ext>
            </a:extLst>
          </p:cNvPr>
          <p:cNvCxnSpPr>
            <a:cxnSpLocks/>
            <a:stCxn id="3" idx="3"/>
            <a:endCxn id="14" idx="2"/>
          </p:cNvCxnSpPr>
          <p:nvPr/>
        </p:nvCxnSpPr>
        <p:spPr>
          <a:xfrm flipV="1">
            <a:off x="1225296" y="2894076"/>
            <a:ext cx="996696" cy="12801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FBD0B4-68FD-388B-0192-99B981423F8E}"/>
              </a:ext>
            </a:extLst>
          </p:cNvPr>
          <p:cNvCxnSpPr>
            <a:cxnSpLocks/>
            <a:stCxn id="3" idx="3"/>
            <a:endCxn id="17" idx="2"/>
          </p:cNvCxnSpPr>
          <p:nvPr/>
        </p:nvCxnSpPr>
        <p:spPr>
          <a:xfrm>
            <a:off x="1225296" y="4174236"/>
            <a:ext cx="859536" cy="1298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363FA24-853A-495B-0AE6-7B950CD564A2}"/>
              </a:ext>
            </a:extLst>
          </p:cNvPr>
          <p:cNvSpPr/>
          <p:nvPr/>
        </p:nvSpPr>
        <p:spPr>
          <a:xfrm>
            <a:off x="2221992" y="2679192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844F5EA-F79C-A4EF-7F75-F6DAF7B5AA8C}"/>
              </a:ext>
            </a:extLst>
          </p:cNvPr>
          <p:cNvSpPr/>
          <p:nvPr/>
        </p:nvSpPr>
        <p:spPr>
          <a:xfrm>
            <a:off x="2084832" y="5257800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04365A9-3605-8A6A-CBA7-5C2FFF0D6E7E}"/>
              </a:ext>
            </a:extLst>
          </p:cNvPr>
          <p:cNvSpPr/>
          <p:nvPr/>
        </p:nvSpPr>
        <p:spPr>
          <a:xfrm>
            <a:off x="2734056" y="2395728"/>
            <a:ext cx="4447034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44DBC1D-0E1C-0BB0-B0B2-8ADAA2AB95D6}"/>
              </a:ext>
            </a:extLst>
          </p:cNvPr>
          <p:cNvSpPr/>
          <p:nvPr/>
        </p:nvSpPr>
        <p:spPr>
          <a:xfrm flipV="1">
            <a:off x="2743200" y="2866644"/>
            <a:ext cx="2267712" cy="672084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BA1978C-CAFF-7A0E-66CF-6DDFB719942E}"/>
              </a:ext>
            </a:extLst>
          </p:cNvPr>
          <p:cNvSpPr/>
          <p:nvPr/>
        </p:nvSpPr>
        <p:spPr>
          <a:xfrm flipV="1">
            <a:off x="2587752" y="5472684"/>
            <a:ext cx="267919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EAF4AA-A0E5-5FF0-FAD1-3556BA322F7F}"/>
              </a:ext>
            </a:extLst>
          </p:cNvPr>
          <p:cNvSpPr/>
          <p:nvPr/>
        </p:nvSpPr>
        <p:spPr>
          <a:xfrm>
            <a:off x="2587752" y="4988052"/>
            <a:ext cx="267919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5AC3C37-B1CA-B322-2549-00C2FF66A557}"/>
              </a:ext>
            </a:extLst>
          </p:cNvPr>
          <p:cNvSpPr/>
          <p:nvPr/>
        </p:nvSpPr>
        <p:spPr>
          <a:xfrm>
            <a:off x="5029200" y="3268980"/>
            <a:ext cx="502920" cy="42976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FE5DB1F-F4E1-BE5E-3B21-702237675582}"/>
              </a:ext>
            </a:extLst>
          </p:cNvPr>
          <p:cNvSpPr/>
          <p:nvPr/>
        </p:nvSpPr>
        <p:spPr>
          <a:xfrm>
            <a:off x="5541264" y="2985516"/>
            <a:ext cx="2276856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DE09B29-02F0-B671-41CD-08A40494E10C}"/>
              </a:ext>
            </a:extLst>
          </p:cNvPr>
          <p:cNvSpPr/>
          <p:nvPr/>
        </p:nvSpPr>
        <p:spPr>
          <a:xfrm flipV="1">
            <a:off x="5550408" y="3456432"/>
            <a:ext cx="2267712" cy="484632"/>
          </a:xfrm>
          <a:custGeom>
            <a:avLst/>
            <a:gdLst>
              <a:gd name="csX0" fmla="*/ 0 w 2679192"/>
              <a:gd name="csY0" fmla="*/ 484632 h 484632"/>
              <a:gd name="csX1" fmla="*/ 402336 w 2679192"/>
              <a:gd name="csY1" fmla="*/ 0 h 484632"/>
              <a:gd name="csX2" fmla="*/ 2679192 w 2679192"/>
              <a:gd name="csY2" fmla="*/ 36576 h 48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79192" h="484632">
                <a:moveTo>
                  <a:pt x="0" y="484632"/>
                </a:moveTo>
                <a:lnTo>
                  <a:pt x="402336" y="0"/>
                </a:lnTo>
                <a:lnTo>
                  <a:pt x="2679192" y="36576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97FB07-4CCB-ABD4-521A-05DE2B5069B9}"/>
                  </a:ext>
                </a:extLst>
              </p:cNvPr>
              <p:cNvSpPr txBox="1"/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97FB07-4CCB-ABD4-521A-05DE2B506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108960"/>
                <a:ext cx="47224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414F38F-708C-A18D-4710-9D6F8D3B4AAA}"/>
                  </a:ext>
                </a:extLst>
              </p:cNvPr>
              <p:cNvSpPr txBox="1"/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414F38F-708C-A18D-4710-9D6F8D3B4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86" y="4902084"/>
                <a:ext cx="48814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F35586-0903-3522-56B6-682C0F563E6B}"/>
                  </a:ext>
                </a:extLst>
              </p:cNvPr>
              <p:cNvSpPr txBox="1"/>
              <p:nvPr/>
            </p:nvSpPr>
            <p:spPr>
              <a:xfrm>
                <a:off x="7476302" y="2268093"/>
                <a:ext cx="903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F35586-0903-3522-56B6-682C0F563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302" y="2268093"/>
                <a:ext cx="903517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4632ED-F249-6CA1-8652-6B79C147F299}"/>
                  </a:ext>
                </a:extLst>
              </p:cNvPr>
              <p:cNvSpPr txBox="1"/>
              <p:nvPr/>
            </p:nvSpPr>
            <p:spPr>
              <a:xfrm>
                <a:off x="3657600" y="2026396"/>
                <a:ext cx="458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4632ED-F249-6CA1-8652-6B79C147F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026396"/>
                <a:ext cx="458908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7BE8B7-6349-6DB9-999C-3865E5990649}"/>
                  </a:ext>
                </a:extLst>
              </p:cNvPr>
              <p:cNvSpPr txBox="1"/>
              <p:nvPr/>
            </p:nvSpPr>
            <p:spPr>
              <a:xfrm>
                <a:off x="3697894" y="3515804"/>
                <a:ext cx="862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7BE8B7-6349-6DB9-999C-3865E5990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894" y="3515804"/>
                <a:ext cx="862865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033303-C79B-E177-73DF-7C27FB4B39DC}"/>
                  </a:ext>
                </a:extLst>
              </p:cNvPr>
              <p:cNvSpPr txBox="1"/>
              <p:nvPr/>
            </p:nvSpPr>
            <p:spPr>
              <a:xfrm>
                <a:off x="3569067" y="5957316"/>
                <a:ext cx="868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033303-C79B-E177-73DF-7C27FB4B3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067" y="5957316"/>
                <a:ext cx="868186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68D7D2-5AF9-CD36-2C06-3613E941D097}"/>
                  </a:ext>
                </a:extLst>
              </p:cNvPr>
              <p:cNvSpPr txBox="1"/>
              <p:nvPr/>
            </p:nvSpPr>
            <p:spPr>
              <a:xfrm>
                <a:off x="3657600" y="4588388"/>
                <a:ext cx="464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68D7D2-5AF9-CD36-2C06-3613E941D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588388"/>
                <a:ext cx="464230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C13B83-CDAD-6031-5D22-349942605DD1}"/>
                  </a:ext>
                </a:extLst>
              </p:cNvPr>
              <p:cNvSpPr txBox="1"/>
              <p:nvPr/>
            </p:nvSpPr>
            <p:spPr>
              <a:xfrm>
                <a:off x="6587326" y="2582280"/>
                <a:ext cx="45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C13B83-CDAD-6031-5D22-349942605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326" y="2582280"/>
                <a:ext cx="458522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ACB11B-8B38-E5D6-84D2-9BBC9EB7562A}"/>
                  </a:ext>
                </a:extLst>
              </p:cNvPr>
              <p:cNvSpPr txBox="1"/>
              <p:nvPr/>
            </p:nvSpPr>
            <p:spPr>
              <a:xfrm>
                <a:off x="6501005" y="3858768"/>
                <a:ext cx="862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ACB11B-8B38-E5D6-84D2-9BBC9EB75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005" y="3858768"/>
                <a:ext cx="862480" cy="369332"/>
              </a:xfrm>
              <a:prstGeom prst="rect">
                <a:avLst/>
              </a:prstGeom>
              <a:blipFill>
                <a:blip r:embed="rId11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C1897CE-C0F5-FA0E-0EA7-82842307BFA7}"/>
                  </a:ext>
                </a:extLst>
              </p:cNvPr>
              <p:cNvSpPr txBox="1"/>
              <p:nvPr/>
            </p:nvSpPr>
            <p:spPr>
              <a:xfrm>
                <a:off x="8104188" y="2801299"/>
                <a:ext cx="903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C1897CE-C0F5-FA0E-0EA7-82842307B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188" y="2801299"/>
                <a:ext cx="903517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5B8CDE-63BF-BCDC-453D-CA24ADA96C49}"/>
                  </a:ext>
                </a:extLst>
              </p:cNvPr>
              <p:cNvSpPr txBox="1"/>
              <p:nvPr/>
            </p:nvSpPr>
            <p:spPr>
              <a:xfrm>
                <a:off x="8113332" y="3714567"/>
                <a:ext cx="903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5B8CDE-63BF-BCDC-453D-CA24ADA96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332" y="3714567"/>
                <a:ext cx="903517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1446FF-635A-C16C-C3EC-6032E7447240}"/>
                  </a:ext>
                </a:extLst>
              </p:cNvPr>
              <p:cNvSpPr txBox="1"/>
              <p:nvPr/>
            </p:nvSpPr>
            <p:spPr>
              <a:xfrm>
                <a:off x="5604173" y="4864608"/>
                <a:ext cx="916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1446FF-635A-C16C-C3EC-6032E7447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173" y="4864608"/>
                <a:ext cx="916598" cy="369332"/>
              </a:xfrm>
              <a:prstGeom prst="rect">
                <a:avLst/>
              </a:prstGeom>
              <a:blipFill>
                <a:blip r:embed="rId1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5FC0838-AF35-F305-7325-ACBC006D5F6D}"/>
                  </a:ext>
                </a:extLst>
              </p:cNvPr>
              <p:cNvSpPr txBox="1"/>
              <p:nvPr/>
            </p:nvSpPr>
            <p:spPr>
              <a:xfrm>
                <a:off x="5597633" y="5669775"/>
                <a:ext cx="916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5FC0838-AF35-F305-7325-ACBC006D5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633" y="5669775"/>
                <a:ext cx="916598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79C6FB3F-4CDC-0D8E-9323-732525C7617F}"/>
              </a:ext>
            </a:extLst>
          </p:cNvPr>
          <p:cNvSpPr/>
          <p:nvPr/>
        </p:nvSpPr>
        <p:spPr>
          <a:xfrm rot="16200000">
            <a:off x="7179555" y="2213523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16F10A7F-FF4E-DD34-FCDF-EF8CA6C9634A}"/>
              </a:ext>
            </a:extLst>
          </p:cNvPr>
          <p:cNvSpPr/>
          <p:nvPr/>
        </p:nvSpPr>
        <p:spPr>
          <a:xfrm rot="16200000">
            <a:off x="7812013" y="2783687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C4FB1D4F-DA10-8BE9-34B8-D18C61BBB0C2}"/>
              </a:ext>
            </a:extLst>
          </p:cNvPr>
          <p:cNvSpPr/>
          <p:nvPr/>
        </p:nvSpPr>
        <p:spPr>
          <a:xfrm rot="16200000">
            <a:off x="7818759" y="3675227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0A83B4C7-061A-C608-006D-743663536E45}"/>
              </a:ext>
            </a:extLst>
          </p:cNvPr>
          <p:cNvSpPr/>
          <p:nvPr/>
        </p:nvSpPr>
        <p:spPr>
          <a:xfrm rot="16200000">
            <a:off x="5286418" y="4799939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62D52A6-1E41-728D-69F3-8B7AD61B41A1}"/>
              </a:ext>
            </a:extLst>
          </p:cNvPr>
          <p:cNvSpPr/>
          <p:nvPr/>
        </p:nvSpPr>
        <p:spPr>
          <a:xfrm rot="16200000">
            <a:off x="5299696" y="5696051"/>
            <a:ext cx="237744" cy="458522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93CF96-D25B-E684-B92B-6DC0139EE5C9}"/>
              </a:ext>
            </a:extLst>
          </p:cNvPr>
          <p:cNvSpPr txBox="1"/>
          <p:nvPr/>
        </p:nvSpPr>
        <p:spPr>
          <a:xfrm>
            <a:off x="7834225" y="4377305"/>
            <a:ext cx="3907155" cy="230832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CA" sz="1600" dirty="0"/>
              <a:t>To compute the ICER, you need to compute the outcomes of your decision tree twice.</a:t>
            </a:r>
            <a:br>
              <a:rPr lang="en-CA" sz="1600" dirty="0"/>
            </a:br>
            <a:endParaRPr lang="en-CA" sz="1600" dirty="0"/>
          </a:p>
          <a:p>
            <a:pPr marL="800100" lvl="1" indent="-342900">
              <a:buFont typeface="+mj-lt"/>
              <a:buAutoNum type="arabicPeriod"/>
            </a:pPr>
            <a:r>
              <a:rPr lang="en-CA" sz="1600" dirty="0"/>
              <a:t>Once for effects/benefits alone.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sz="1600" dirty="0"/>
              <a:t>Once for costs alone.</a:t>
            </a:r>
            <a:br>
              <a:rPr lang="en-CA" sz="1600" dirty="0"/>
            </a:br>
            <a:endParaRPr lang="en-CA" sz="1600" dirty="0"/>
          </a:p>
          <a:p>
            <a:r>
              <a:rPr lang="en-CA" sz="1600" b="1" dirty="0"/>
              <a:t>IF YOU CARE ABOUT THE ICER YOU NEED TO DO THIS!</a:t>
            </a:r>
          </a:p>
        </p:txBody>
      </p:sp>
    </p:spTree>
    <p:extLst>
      <p:ext uri="{BB962C8B-B14F-4D97-AF65-F5344CB8AC3E}">
        <p14:creationId xmlns:p14="http://schemas.microsoft.com/office/powerpoint/2010/main" val="3611600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B9752-96DB-5936-4DB4-AADE81B4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Last words on Decision Tree Models.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5E196-32D1-80B3-46FC-E9DCCCD11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1463040"/>
          </a:xfrm>
        </p:spPr>
        <p:txBody>
          <a:bodyPr/>
          <a:lstStyle/>
          <a:p>
            <a:r>
              <a:rPr lang="en-CA" dirty="0"/>
              <a:t>Decision Tree Models represent a choice over expected values. It is the most natural way to think about clinical decision making where outcomes are realized in the short run and events do not repeat.</a:t>
            </a:r>
          </a:p>
          <a:p>
            <a:r>
              <a:rPr lang="en-CA" dirty="0"/>
              <a:t>They are the model which really represent the “heart” of decision analytic modelling– that is creating a model to aide in making the best decision under uncertainty.</a:t>
            </a:r>
          </a:p>
          <a:p>
            <a:endParaRPr lang="en-CA" dirty="0"/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6E2D7-813C-BA57-D365-6A38FE600670}"/>
              </a:ext>
            </a:extLst>
          </p:cNvPr>
          <p:cNvSpPr txBox="1"/>
          <p:nvPr/>
        </p:nvSpPr>
        <p:spPr>
          <a:xfrm>
            <a:off x="2362200" y="4552474"/>
            <a:ext cx="6065699" cy="17543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/>
              <a:t>IN OUR NEXT CLASS WE ASK:</a:t>
            </a:r>
            <a:br>
              <a:rPr lang="en-CA" b="1" dirty="0"/>
            </a:br>
            <a:br>
              <a:rPr lang="en-CA" b="1" dirty="0"/>
            </a:br>
            <a:r>
              <a:rPr lang="en-CA" b="1" dirty="0"/>
              <a:t>-What if events repeat?</a:t>
            </a:r>
          </a:p>
          <a:p>
            <a:r>
              <a:rPr lang="en-CA" b="1" dirty="0"/>
              <a:t>-What if there is a long time between events/decisions?</a:t>
            </a:r>
          </a:p>
          <a:p>
            <a:br>
              <a:rPr lang="en-CA" b="1" dirty="0"/>
            </a:br>
            <a:r>
              <a:rPr lang="en-CA" b="1" dirty="0"/>
              <a:t>THIS WILL BE DISCUSSED IN DEPTH IN THE NEXT CLASS</a:t>
            </a:r>
          </a:p>
        </p:txBody>
      </p:sp>
    </p:spTree>
    <p:extLst>
      <p:ext uri="{BB962C8B-B14F-4D97-AF65-F5344CB8AC3E}">
        <p14:creationId xmlns:p14="http://schemas.microsoft.com/office/powerpoint/2010/main" val="93850352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7200</TotalTime>
  <Words>2175</Words>
  <Application>Microsoft Office PowerPoint</Application>
  <PresentationFormat>Widescreen</PresentationFormat>
  <Paragraphs>292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Bierstadt</vt:lpstr>
      <vt:lpstr>Cambria Math</vt:lpstr>
      <vt:lpstr>Wingdings</vt:lpstr>
      <vt:lpstr>GestaltVTI</vt:lpstr>
      <vt:lpstr>Advanced Topics in Economic Evaluation and Healthcare</vt:lpstr>
      <vt:lpstr>Lecture Overview</vt:lpstr>
      <vt:lpstr>What is a Decision Tree</vt:lpstr>
      <vt:lpstr>Decision Trees as a Visualization of a Choice over Expected Value</vt:lpstr>
      <vt:lpstr>Decision Trees as a Visualization of a Choice over Expected Value</vt:lpstr>
      <vt:lpstr>Decision Trees as a Visualization of a Choice over Expected Value</vt:lpstr>
      <vt:lpstr>A Style Guide for a Decision Tree</vt:lpstr>
      <vt:lpstr>A Style Guide for a Decision Tree</vt:lpstr>
      <vt:lpstr>A Style Guide for a Decision Tree</vt:lpstr>
      <vt:lpstr>A Style Guide for a Decision Tree</vt:lpstr>
      <vt:lpstr>Some Rules for Decision Trees </vt:lpstr>
      <vt:lpstr>An Example of a Drawn Clinical Pathway</vt:lpstr>
      <vt:lpstr>GIVE YOUR BEST ATTEMPT AT DRAWING THE TREE!</vt:lpstr>
      <vt:lpstr>PowerPoint Presentation</vt:lpstr>
      <vt:lpstr>Computing ICERs from Decision Trees</vt:lpstr>
      <vt:lpstr>Example</vt:lpstr>
      <vt:lpstr>How to Solve This Problem</vt:lpstr>
      <vt:lpstr>Preforming the Analysis</vt:lpstr>
      <vt:lpstr>Preforming the Analysis</vt:lpstr>
      <vt:lpstr>Preforming the Analysis</vt:lpstr>
      <vt:lpstr>Computing ICERs from Decision Trees</vt:lpstr>
      <vt:lpstr>The Problem</vt:lpstr>
      <vt:lpstr>How to Solve This Problem</vt:lpstr>
      <vt:lpstr>Solving the Problem</vt:lpstr>
      <vt:lpstr>Solving the Problem</vt:lpstr>
      <vt:lpstr>Solving the Problem</vt:lpstr>
      <vt:lpstr>Drawing Decision Trees from Expected Value Equations</vt:lpstr>
      <vt:lpstr>An Example of Working backwards</vt:lpstr>
      <vt:lpstr>Building the tree</vt:lpstr>
      <vt:lpstr>Building the tree</vt:lpstr>
      <vt:lpstr>Building the tree</vt:lpstr>
      <vt:lpstr>Building the tree</vt:lpstr>
      <vt:lpstr>Building the tree</vt:lpstr>
      <vt:lpstr>Building the tree</vt:lpstr>
      <vt:lpstr>Building the tree</vt:lpstr>
      <vt:lpstr>Building the tree</vt:lpstr>
      <vt:lpstr>Last words on Decision Tree Models.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37</cp:revision>
  <dcterms:created xsi:type="dcterms:W3CDTF">2026-08-17T03:21:10Z</dcterms:created>
  <dcterms:modified xsi:type="dcterms:W3CDTF">2026-09-22T03:06:47Z</dcterms:modified>
</cp:coreProperties>
</file>