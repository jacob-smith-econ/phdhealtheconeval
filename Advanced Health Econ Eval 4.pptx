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39"/>
  </p:notesMasterIdLst>
  <p:sldIdLst>
    <p:sldId id="256" r:id="rId2"/>
    <p:sldId id="257" r:id="rId3"/>
    <p:sldId id="302" r:id="rId4"/>
    <p:sldId id="295" r:id="rId5"/>
    <p:sldId id="296" r:id="rId6"/>
    <p:sldId id="298" r:id="rId7"/>
    <p:sldId id="299" r:id="rId8"/>
    <p:sldId id="303" r:id="rId9"/>
    <p:sldId id="308" r:id="rId10"/>
    <p:sldId id="301" r:id="rId11"/>
    <p:sldId id="304" r:id="rId12"/>
    <p:sldId id="305" r:id="rId13"/>
    <p:sldId id="309" r:id="rId14"/>
    <p:sldId id="311" r:id="rId15"/>
    <p:sldId id="310" r:id="rId16"/>
    <p:sldId id="313" r:id="rId17"/>
    <p:sldId id="312" r:id="rId18"/>
    <p:sldId id="318" r:id="rId19"/>
    <p:sldId id="306" r:id="rId20"/>
    <p:sldId id="322" r:id="rId21"/>
    <p:sldId id="319" r:id="rId22"/>
    <p:sldId id="323" r:id="rId23"/>
    <p:sldId id="325" r:id="rId24"/>
    <p:sldId id="324" r:id="rId25"/>
    <p:sldId id="307" r:id="rId26"/>
    <p:sldId id="326" r:id="rId27"/>
    <p:sldId id="314" r:id="rId28"/>
    <p:sldId id="315" r:id="rId29"/>
    <p:sldId id="316" r:id="rId30"/>
    <p:sldId id="330" r:id="rId31"/>
    <p:sldId id="329" r:id="rId32"/>
    <p:sldId id="331" r:id="rId33"/>
    <p:sldId id="332" r:id="rId34"/>
    <p:sldId id="333" r:id="rId35"/>
    <p:sldId id="334" r:id="rId36"/>
    <p:sldId id="335" r:id="rId37"/>
    <p:sldId id="32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4" autoAdjust="0"/>
    <p:restoredTop sz="92996" autoAdjust="0"/>
  </p:normalViewPr>
  <p:slideViewPr>
    <p:cSldViewPr snapToGrid="0">
      <p:cViewPr varScale="1">
        <p:scale>
          <a:sx n="100" d="100"/>
          <a:sy n="100" d="100"/>
        </p:scale>
        <p:origin x="2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85F2B-9DB3-46C6-BD28-BD611964EFEF}" type="datetimeFigureOut">
              <a:rPr lang="en-CA" smtClean="0"/>
              <a:t>2026-09-29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760D0-8468-434B-992C-0B7D2D930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13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1379-5BA9-E322-FCA9-5E40FDF8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61161-C24D-EF05-FC47-2EA1B9983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E2B64-7B91-3989-D00E-200FABE0C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1F626-3B0E-9F34-08C6-01D64D2BD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57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0" r:id="rId6"/>
    <p:sldLayoutId id="2147483775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863-F928-09F7-33F8-93C103CE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Advanced Topics in Economic Evaluation and Healthcare</a:t>
            </a:r>
            <a:endParaRPr lang="en-CA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4B19C-1926-B464-1194-E2E07EBD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Lecture #4: Markov Models</a:t>
            </a:r>
            <a:endParaRPr lang="en-CA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 Request Form - McMaster Brand">
            <a:extLst>
              <a:ext uri="{FF2B5EF4-FFF2-40B4-BE49-F238E27FC236}">
                <a16:creationId xmlns:a16="http://schemas.microsoft.com/office/drawing/2014/main" id="{9B664600-1FAC-3307-6550-FD235344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25" y="5679630"/>
            <a:ext cx="5192171" cy="10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0DA8-F74F-FC44-8D93-93BB4AE0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25721-A150-A730-2456-903042815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this lecture we will introduce Markov models.  We will cover: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 Conceptual Overview of Markov Models.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Technical Aspects of Markov Models and Computing.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Simulating Markov Processes.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Doing Economic Evaluation with Markov Models.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 computational example of Markov Models in Economic Evaluation.</a:t>
            </a:r>
          </a:p>
          <a:p>
            <a:pPr marL="800100" lvl="1" indent="-3429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77833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B136-0238-D44A-41B3-179C1F629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 Conceptual Overview of Markov Models in Economic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3FB22-F0DF-1F9B-BBDA-E405333F1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161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6628-C0C0-1F3F-A29B-93B60B324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45058"/>
            <a:ext cx="11155680" cy="1463040"/>
          </a:xfrm>
        </p:spPr>
        <p:txBody>
          <a:bodyPr/>
          <a:lstStyle/>
          <a:p>
            <a:r>
              <a:rPr lang="en-CA" dirty="0"/>
              <a:t>An Introduction to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19FB-0702-7DD8-B655-131B8A398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55546"/>
            <a:ext cx="11155680" cy="1282827"/>
          </a:xfrm>
        </p:spPr>
        <p:txBody>
          <a:bodyPr>
            <a:normAutofit/>
          </a:bodyPr>
          <a:lstStyle/>
          <a:p>
            <a:r>
              <a:rPr lang="en-CA" dirty="0"/>
              <a:t>Depending on the nature of an intervention a decision tree can become quite complex and it quickly becomes difficult to work with.</a:t>
            </a:r>
          </a:p>
          <a:p>
            <a:r>
              <a:rPr lang="en-CA" dirty="0"/>
              <a:t>Further a decision tree may not be the best way to represent a disease which has </a:t>
            </a:r>
            <a:r>
              <a:rPr lang="en-CA" b="1" dirty="0"/>
              <a:t>repeated events.</a:t>
            </a:r>
          </a:p>
          <a:p>
            <a:pPr marL="0" indent="0">
              <a:buNone/>
            </a:pPr>
            <a:endParaRPr lang="en-CA" b="1" dirty="0"/>
          </a:p>
          <a:p>
            <a:endParaRPr lang="en-CA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B0B67-2534-BBCC-8840-922DCD1FE206}"/>
              </a:ext>
            </a:extLst>
          </p:cNvPr>
          <p:cNvSpPr txBox="1"/>
          <p:nvPr/>
        </p:nvSpPr>
        <p:spPr>
          <a:xfrm>
            <a:off x="518160" y="3590925"/>
            <a:ext cx="10791691" cy="258532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As an example: Consider the case of a patient with </a:t>
            </a:r>
            <a:r>
              <a:rPr lang="en-CA" i="1" dirty="0"/>
              <a:t>ulcerative colitis</a:t>
            </a: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Ulcerative colitis is a chronic inflammatory bowel disease that causes long-lasting inflammation and ulcers in the innermost lining of the large intestine and rectum.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Patients Exist in one of two states at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Active Disease-  </a:t>
            </a:r>
            <a:r>
              <a:rPr lang="en-CA" dirty="0"/>
              <a:t>which involves frequent urgent diarrhea, abdominal pain, rectal bleeding, and fatigue.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Remission-</a:t>
            </a:r>
            <a:r>
              <a:rPr lang="en-CA" dirty="0"/>
              <a:t> A state when no symptoms are being experienced.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 Throughout a patient’s life they will find themselves in one of these two states.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786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0C2F-1D26-BE38-5BD3-02F3A3C0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Graphically Representing A Markov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E984-242F-1BB1-089D-EE1E95EA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640842"/>
          </a:xfrm>
        </p:spPr>
        <p:txBody>
          <a:bodyPr/>
          <a:lstStyle/>
          <a:p>
            <a:r>
              <a:rPr lang="en-CA" dirty="0"/>
              <a:t>We can graphically represent this process in the below diagram.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FF63EF-E615-E27A-5ED2-D66780AF29CA}"/>
              </a:ext>
            </a:extLst>
          </p:cNvPr>
          <p:cNvSpPr/>
          <p:nvPr/>
        </p:nvSpPr>
        <p:spPr>
          <a:xfrm>
            <a:off x="6810375" y="4181476"/>
            <a:ext cx="1590675" cy="131445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3B30E7-FC76-24A4-838D-05B08E89D584}"/>
              </a:ext>
            </a:extLst>
          </p:cNvPr>
          <p:cNvSpPr/>
          <p:nvPr/>
        </p:nvSpPr>
        <p:spPr>
          <a:xfrm>
            <a:off x="2781300" y="4181476"/>
            <a:ext cx="1590675" cy="131445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E85BEE94-F5F7-CD7C-5F57-055FC216AB72}"/>
              </a:ext>
            </a:extLst>
          </p:cNvPr>
          <p:cNvCxnSpPr>
            <a:cxnSpLocks/>
            <a:stCxn id="4" idx="3"/>
            <a:endCxn id="6" idx="5"/>
          </p:cNvCxnSpPr>
          <p:nvPr/>
        </p:nvCxnSpPr>
        <p:spPr>
          <a:xfrm rot="5400000">
            <a:off x="5591175" y="3851280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16700026-7E9A-0B40-C7D0-8671138DEEF9}"/>
              </a:ext>
            </a:extLst>
          </p:cNvPr>
          <p:cNvCxnSpPr>
            <a:cxnSpLocks/>
            <a:stCxn id="6" idx="7"/>
            <a:endCxn id="4" idx="1"/>
          </p:cNvCxnSpPr>
          <p:nvPr/>
        </p:nvCxnSpPr>
        <p:spPr>
          <a:xfrm rot="5400000" flipH="1" flipV="1">
            <a:off x="5591175" y="2921824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F75F742B-4E5F-3724-8604-A20DD919C425}"/>
              </a:ext>
            </a:extLst>
          </p:cNvPr>
          <p:cNvCxnSpPr>
            <a:cxnSpLocks/>
            <a:stCxn id="6" idx="3"/>
            <a:endCxn id="6" idx="1"/>
          </p:cNvCxnSpPr>
          <p:nvPr/>
        </p:nvCxnSpPr>
        <p:spPr>
          <a:xfrm rot="5400000" flipH="1">
            <a:off x="2549521" y="4838701"/>
            <a:ext cx="929456" cy="12700"/>
          </a:xfrm>
          <a:prstGeom prst="curvedConnector5">
            <a:avLst>
              <a:gd name="adj1" fmla="val -24595"/>
              <a:gd name="adj2" fmla="val 8665756"/>
              <a:gd name="adj3" fmla="val 12459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BA3865AF-A8EF-A566-5AD9-11A692421223}"/>
              </a:ext>
            </a:extLst>
          </p:cNvPr>
          <p:cNvCxnSpPr>
            <a:cxnSpLocks/>
            <a:stCxn id="4" idx="5"/>
            <a:endCxn id="4" idx="7"/>
          </p:cNvCxnSpPr>
          <p:nvPr/>
        </p:nvCxnSpPr>
        <p:spPr>
          <a:xfrm rot="5400000" flipH="1">
            <a:off x="7703373" y="4838701"/>
            <a:ext cx="929456" cy="12700"/>
          </a:xfrm>
          <a:prstGeom prst="curvedConnector5">
            <a:avLst>
              <a:gd name="adj1" fmla="val -24595"/>
              <a:gd name="adj2" fmla="val -9790756"/>
              <a:gd name="adj3" fmla="val 12459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0EE12C0-7683-AE09-4325-FE0B3322DDC5}"/>
              </a:ext>
            </a:extLst>
          </p:cNvPr>
          <p:cNvSpPr txBox="1"/>
          <p:nvPr/>
        </p:nvSpPr>
        <p:spPr>
          <a:xfrm>
            <a:off x="3020599" y="4660385"/>
            <a:ext cx="1292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Remission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577C97-88C1-264B-1923-ED084B746406}"/>
              </a:ext>
            </a:extLst>
          </p:cNvPr>
          <p:cNvSpPr txBox="1"/>
          <p:nvPr/>
        </p:nvSpPr>
        <p:spPr>
          <a:xfrm>
            <a:off x="7150229" y="4515534"/>
            <a:ext cx="1030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Active </a:t>
            </a:r>
            <a:br>
              <a:rPr lang="en-CA" b="1" dirty="0"/>
            </a:br>
            <a:r>
              <a:rPr lang="en-CA" b="1" dirty="0"/>
              <a:t>Disease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565499B-B1FF-7008-9083-3AC8B06C4F90}"/>
                  </a:ext>
                </a:extLst>
              </p:cNvPr>
              <p:cNvSpPr txBox="1"/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565499B-B1FF-7008-9083-3AC8B06C4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8E05A1-6D6F-AC35-3622-74B868D0E784}"/>
                  </a:ext>
                </a:extLst>
              </p:cNvPr>
              <p:cNvSpPr txBox="1"/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8E05A1-6D6F-AC35-3622-74B868D0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5B7D095-F54C-E830-9005-FD2089E2F424}"/>
                  </a:ext>
                </a:extLst>
              </p:cNvPr>
              <p:cNvSpPr txBox="1"/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5B7D095-F54C-E830-9005-FD2089E2F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3F8FB6B-401C-8F90-2669-DEE7128CFD3E}"/>
                  </a:ext>
                </a:extLst>
              </p:cNvPr>
              <p:cNvSpPr txBox="1"/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3F8FB6B-401C-8F90-2669-DEE7128CF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01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9619E-3149-0A89-2628-B039B79E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A790-73E3-5ED9-894A-69A9ABCF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Graphically Representing A Markov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1F2A6-5BFB-2DFD-D560-F546CA571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640842"/>
          </a:xfrm>
        </p:spPr>
        <p:txBody>
          <a:bodyPr/>
          <a:lstStyle/>
          <a:p>
            <a:r>
              <a:rPr lang="en-CA" dirty="0"/>
              <a:t>We can graphically represent this process in the below diagram.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422B358-0E39-7455-085C-05B412D7440A}"/>
              </a:ext>
            </a:extLst>
          </p:cNvPr>
          <p:cNvSpPr/>
          <p:nvPr/>
        </p:nvSpPr>
        <p:spPr>
          <a:xfrm>
            <a:off x="6810375" y="4181476"/>
            <a:ext cx="1590675" cy="131445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86B3E3-1AF5-D49B-FD55-A6C07A48CC83}"/>
              </a:ext>
            </a:extLst>
          </p:cNvPr>
          <p:cNvSpPr/>
          <p:nvPr/>
        </p:nvSpPr>
        <p:spPr>
          <a:xfrm>
            <a:off x="2781300" y="4181476"/>
            <a:ext cx="1590675" cy="131445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25FAA9F7-5D37-8275-C52F-CC7AED2DA5D3}"/>
              </a:ext>
            </a:extLst>
          </p:cNvPr>
          <p:cNvCxnSpPr>
            <a:cxnSpLocks/>
            <a:stCxn id="4" idx="3"/>
            <a:endCxn id="6" idx="5"/>
          </p:cNvCxnSpPr>
          <p:nvPr/>
        </p:nvCxnSpPr>
        <p:spPr>
          <a:xfrm rot="5400000">
            <a:off x="5591175" y="3851280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C078C894-BF4B-5DB3-E4CF-BE9387890C2C}"/>
              </a:ext>
            </a:extLst>
          </p:cNvPr>
          <p:cNvCxnSpPr>
            <a:cxnSpLocks/>
            <a:stCxn id="6" idx="7"/>
            <a:endCxn id="4" idx="1"/>
          </p:cNvCxnSpPr>
          <p:nvPr/>
        </p:nvCxnSpPr>
        <p:spPr>
          <a:xfrm rot="5400000" flipH="1" flipV="1">
            <a:off x="5591175" y="2921824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016BA47-75F1-178D-E122-DC548D2BA12A}"/>
              </a:ext>
            </a:extLst>
          </p:cNvPr>
          <p:cNvCxnSpPr>
            <a:cxnSpLocks/>
            <a:stCxn id="6" idx="3"/>
            <a:endCxn id="6" idx="1"/>
          </p:cNvCxnSpPr>
          <p:nvPr/>
        </p:nvCxnSpPr>
        <p:spPr>
          <a:xfrm rot="5400000" flipH="1">
            <a:off x="2549521" y="4838701"/>
            <a:ext cx="929456" cy="12700"/>
          </a:xfrm>
          <a:prstGeom prst="curvedConnector5">
            <a:avLst>
              <a:gd name="adj1" fmla="val -24595"/>
              <a:gd name="adj2" fmla="val 8665756"/>
              <a:gd name="adj3" fmla="val 12459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043B8C8-DCBB-EFF6-E943-BF6CCC790769}"/>
              </a:ext>
            </a:extLst>
          </p:cNvPr>
          <p:cNvCxnSpPr>
            <a:cxnSpLocks/>
            <a:stCxn id="4" idx="5"/>
            <a:endCxn id="4" idx="7"/>
          </p:cNvCxnSpPr>
          <p:nvPr/>
        </p:nvCxnSpPr>
        <p:spPr>
          <a:xfrm rot="5400000" flipH="1">
            <a:off x="7703373" y="4838701"/>
            <a:ext cx="929456" cy="12700"/>
          </a:xfrm>
          <a:prstGeom prst="curvedConnector5">
            <a:avLst>
              <a:gd name="adj1" fmla="val -24595"/>
              <a:gd name="adj2" fmla="val -9790756"/>
              <a:gd name="adj3" fmla="val 12459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A13697A-33A0-1B5C-D9CE-4AE79CAE7AF2}"/>
              </a:ext>
            </a:extLst>
          </p:cNvPr>
          <p:cNvSpPr txBox="1"/>
          <p:nvPr/>
        </p:nvSpPr>
        <p:spPr>
          <a:xfrm>
            <a:off x="3020599" y="4660385"/>
            <a:ext cx="1292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Remission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A5B14D-F739-3444-95FF-4DC924F29B42}"/>
              </a:ext>
            </a:extLst>
          </p:cNvPr>
          <p:cNvSpPr txBox="1"/>
          <p:nvPr/>
        </p:nvSpPr>
        <p:spPr>
          <a:xfrm>
            <a:off x="7150229" y="4515534"/>
            <a:ext cx="1030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Active </a:t>
            </a:r>
            <a:br>
              <a:rPr lang="en-CA" b="1" dirty="0">
                <a:solidFill>
                  <a:srgbClr val="C00000"/>
                </a:solidFill>
              </a:rPr>
            </a:br>
            <a:r>
              <a:rPr lang="en-CA" b="1" dirty="0">
                <a:solidFill>
                  <a:srgbClr val="C00000"/>
                </a:solidFill>
              </a:rPr>
              <a:t>Disease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4F1FF9-577B-7165-B56F-71253E126DF7}"/>
                  </a:ext>
                </a:extLst>
              </p:cNvPr>
              <p:cNvSpPr txBox="1"/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4F1FF9-577B-7165-B56F-71253E126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49CE818-E478-9B60-8575-4EE2786A88DA}"/>
                  </a:ext>
                </a:extLst>
              </p:cNvPr>
              <p:cNvSpPr txBox="1"/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49CE818-E478-9B60-8575-4EE2786A8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3CF0D1-98A6-402C-E1D7-6E20DD81D5FF}"/>
                  </a:ext>
                </a:extLst>
              </p:cNvPr>
              <p:cNvSpPr txBox="1"/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3CF0D1-98A6-402C-E1D7-6E20DD81D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008F8C-A3FB-C7A3-247D-D09D8247EA66}"/>
                  </a:ext>
                </a:extLst>
              </p:cNvPr>
              <p:cNvSpPr txBox="1"/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008F8C-A3FB-C7A3-247D-D09D8247E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BD1D11-6730-5877-705E-5753DC5D014D}"/>
              </a:ext>
            </a:extLst>
          </p:cNvPr>
          <p:cNvSpPr txBox="1"/>
          <p:nvPr/>
        </p:nvSpPr>
        <p:spPr>
          <a:xfrm>
            <a:off x="8448675" y="3048000"/>
            <a:ext cx="305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These are the health states</a:t>
            </a:r>
          </a:p>
        </p:txBody>
      </p:sp>
    </p:spTree>
    <p:extLst>
      <p:ext uri="{BB962C8B-B14F-4D97-AF65-F5344CB8AC3E}">
        <p14:creationId xmlns:p14="http://schemas.microsoft.com/office/powerpoint/2010/main" val="61274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FD80-A421-5842-438B-6C900E9B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D3EA9-5256-4378-99B6-22629C2D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Graphically Representing A Markov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409E-62FC-F585-80B8-D151C0B1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640842"/>
          </a:xfrm>
        </p:spPr>
        <p:txBody>
          <a:bodyPr/>
          <a:lstStyle/>
          <a:p>
            <a:r>
              <a:rPr lang="en-CA" dirty="0"/>
              <a:t>We can graphically represent this process in the below diagram.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67558-8F75-BA0B-E101-13C23FAECE5A}"/>
              </a:ext>
            </a:extLst>
          </p:cNvPr>
          <p:cNvSpPr/>
          <p:nvPr/>
        </p:nvSpPr>
        <p:spPr>
          <a:xfrm>
            <a:off x="6810375" y="4181476"/>
            <a:ext cx="1590675" cy="131445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7A567A-DD40-BF1E-C4EA-37530C25A28C}"/>
              </a:ext>
            </a:extLst>
          </p:cNvPr>
          <p:cNvSpPr/>
          <p:nvPr/>
        </p:nvSpPr>
        <p:spPr>
          <a:xfrm>
            <a:off x="2781300" y="4181476"/>
            <a:ext cx="1590675" cy="131445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99A7D459-E44C-A5CD-735E-5000A72AD839}"/>
              </a:ext>
            </a:extLst>
          </p:cNvPr>
          <p:cNvCxnSpPr>
            <a:cxnSpLocks/>
            <a:stCxn id="4" idx="3"/>
            <a:endCxn id="6" idx="5"/>
          </p:cNvCxnSpPr>
          <p:nvPr/>
        </p:nvCxnSpPr>
        <p:spPr>
          <a:xfrm rot="5400000">
            <a:off x="5591175" y="3851280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1B5B567-9640-D22E-C9BE-BD5EEE77BEB0}"/>
              </a:ext>
            </a:extLst>
          </p:cNvPr>
          <p:cNvCxnSpPr>
            <a:cxnSpLocks/>
            <a:stCxn id="6" idx="7"/>
            <a:endCxn id="4" idx="1"/>
          </p:cNvCxnSpPr>
          <p:nvPr/>
        </p:nvCxnSpPr>
        <p:spPr>
          <a:xfrm rot="5400000" flipH="1" flipV="1">
            <a:off x="5591175" y="2921824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F309E06-3FDA-BB10-7E0F-068B43F8A78B}"/>
              </a:ext>
            </a:extLst>
          </p:cNvPr>
          <p:cNvCxnSpPr>
            <a:cxnSpLocks/>
            <a:stCxn id="6" idx="3"/>
            <a:endCxn id="6" idx="1"/>
          </p:cNvCxnSpPr>
          <p:nvPr/>
        </p:nvCxnSpPr>
        <p:spPr>
          <a:xfrm rot="5400000" flipH="1">
            <a:off x="2549521" y="4838701"/>
            <a:ext cx="929456" cy="12700"/>
          </a:xfrm>
          <a:prstGeom prst="curvedConnector5">
            <a:avLst>
              <a:gd name="adj1" fmla="val -24595"/>
              <a:gd name="adj2" fmla="val 8665756"/>
              <a:gd name="adj3" fmla="val 124595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5598C3AF-D740-4386-F84E-0D4DC0A4FD99}"/>
              </a:ext>
            </a:extLst>
          </p:cNvPr>
          <p:cNvCxnSpPr>
            <a:cxnSpLocks/>
            <a:stCxn id="4" idx="5"/>
            <a:endCxn id="4" idx="7"/>
          </p:cNvCxnSpPr>
          <p:nvPr/>
        </p:nvCxnSpPr>
        <p:spPr>
          <a:xfrm rot="5400000" flipH="1">
            <a:off x="7703373" y="4838701"/>
            <a:ext cx="929456" cy="12700"/>
          </a:xfrm>
          <a:prstGeom prst="curvedConnector5">
            <a:avLst>
              <a:gd name="adj1" fmla="val -24595"/>
              <a:gd name="adj2" fmla="val -9790756"/>
              <a:gd name="adj3" fmla="val 124595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7D6675-91A0-2866-5378-4B01E488E661}"/>
              </a:ext>
            </a:extLst>
          </p:cNvPr>
          <p:cNvSpPr txBox="1"/>
          <p:nvPr/>
        </p:nvSpPr>
        <p:spPr>
          <a:xfrm>
            <a:off x="3020599" y="4660385"/>
            <a:ext cx="1292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Remission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B89387-BC12-B985-967F-3DE30BDE1EDF}"/>
              </a:ext>
            </a:extLst>
          </p:cNvPr>
          <p:cNvSpPr txBox="1"/>
          <p:nvPr/>
        </p:nvSpPr>
        <p:spPr>
          <a:xfrm>
            <a:off x="7150229" y="4515534"/>
            <a:ext cx="1030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Active </a:t>
            </a:r>
            <a:br>
              <a:rPr lang="en-CA" b="1" dirty="0"/>
            </a:br>
            <a:r>
              <a:rPr lang="en-CA" b="1" dirty="0"/>
              <a:t>Disease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F4D80E-7723-37F4-26DC-69E5642E039B}"/>
                  </a:ext>
                </a:extLst>
              </p:cNvPr>
              <p:cNvSpPr txBox="1"/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F4D80E-7723-37F4-26DC-69E5642E0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815E5E-44A2-8A95-68C9-95CA9AF889FF}"/>
                  </a:ext>
                </a:extLst>
              </p:cNvPr>
              <p:cNvSpPr txBox="1"/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815E5E-44A2-8A95-68C9-95CA9AF88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AB8F4A-B8BF-B5B9-B7E2-828F778CF63D}"/>
                  </a:ext>
                </a:extLst>
              </p:cNvPr>
              <p:cNvSpPr txBox="1"/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AB8F4A-B8BF-B5B9-B7E2-828F778CF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17E807-6AA5-2E1C-D1A7-F1FB4FEAEE86}"/>
                  </a:ext>
                </a:extLst>
              </p:cNvPr>
              <p:cNvSpPr txBox="1"/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17E807-6AA5-2E1C-D1A7-F1FB4FEAE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13A6A-CD7D-9C38-68DE-C74A214948EC}"/>
                  </a:ext>
                </a:extLst>
              </p:cNvPr>
              <p:cNvSpPr txBox="1"/>
              <p:nvPr/>
            </p:nvSpPr>
            <p:spPr>
              <a:xfrm>
                <a:off x="7605712" y="1964004"/>
                <a:ext cx="4314643" cy="2031325"/>
              </a:xfrm>
              <a:prstGeom prst="rect">
                <a:avLst/>
              </a:prstGeom>
              <a:noFill/>
              <a:ln w="57150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CA" b="1" dirty="0">
                    <a:solidFill>
                      <a:srgbClr val="C00000"/>
                    </a:solidFill>
                  </a:rPr>
                  <a:t>These are Conditional Probabilities.</a:t>
                </a:r>
                <a:br>
                  <a:rPr lang="en-CA" b="1" dirty="0">
                    <a:solidFill>
                      <a:srgbClr val="C00000"/>
                    </a:solidFill>
                  </a:rPr>
                </a:br>
                <a:r>
                  <a:rPr lang="en-CA" b="1" dirty="0">
                    <a:solidFill>
                      <a:srgbClr val="C00000"/>
                    </a:solidFill>
                  </a:rPr>
                  <a:t> </a:t>
                </a:r>
                <a:br>
                  <a:rPr lang="en-CA" b="1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b="1" dirty="0">
                    <a:solidFill>
                      <a:srgbClr val="C00000"/>
                    </a:solidFill>
                  </a:rPr>
                  <a:t> is the probability of </a:t>
                </a:r>
                <a14:m>
                  <m:oMath xmlns:m="http://schemas.openxmlformats.org/officeDocument/2006/math"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CA" b="1" dirty="0">
                    <a:solidFill>
                      <a:srgbClr val="C00000"/>
                    </a:solidFill>
                  </a:rPr>
                  <a:t> occurring</a:t>
                </a:r>
                <a:br>
                  <a:rPr lang="en-CA" b="1" dirty="0">
                    <a:solidFill>
                      <a:srgbClr val="C00000"/>
                    </a:solidFill>
                  </a:rPr>
                </a:br>
                <a:r>
                  <a:rPr lang="en-CA" b="1" dirty="0">
                    <a:solidFill>
                      <a:srgbClr val="C00000"/>
                    </a:solidFill>
                  </a:rPr>
                  <a:t>conditional on being in state </a:t>
                </a:r>
                <a14:m>
                  <m:oMath xmlns:m="http://schemas.openxmlformats.org/officeDocument/2006/math"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CA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CA" b="1" dirty="0">
                  <a:solidFill>
                    <a:srgbClr val="C00000"/>
                  </a:solidFill>
                </a:endParaRPr>
              </a:p>
              <a:p>
                <a:br>
                  <a:rPr lang="en-CA" b="1" dirty="0">
                    <a:solidFill>
                      <a:srgbClr val="C00000"/>
                    </a:solidFill>
                  </a:rPr>
                </a:br>
                <a:r>
                  <a:rPr lang="en-CA" b="1" dirty="0">
                    <a:solidFill>
                      <a:srgbClr val="C00000"/>
                    </a:solidFill>
                  </a:rPr>
                  <a:t>Arrows are added to show direction.</a:t>
                </a:r>
                <a:br>
                  <a:rPr lang="en-CA" b="1" dirty="0">
                    <a:solidFill>
                      <a:srgbClr val="C00000"/>
                    </a:solidFill>
                  </a:rPr>
                </a:br>
                <a:endParaRPr lang="en-CA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13A6A-CD7D-9C38-68DE-C74A21494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712" y="1964004"/>
                <a:ext cx="4314643" cy="2031325"/>
              </a:xfrm>
              <a:prstGeom prst="rect">
                <a:avLst/>
              </a:prstGeom>
              <a:blipFill>
                <a:blip r:embed="rId6"/>
                <a:stretch>
                  <a:fillRect l="-698" t="-292"/>
                </a:stretch>
              </a:blipFill>
              <a:ln w="571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24E6F4D-5429-BAAE-5D51-FB508F38E935}"/>
              </a:ext>
            </a:extLst>
          </p:cNvPr>
          <p:cNvSpPr txBox="1"/>
          <p:nvPr/>
        </p:nvSpPr>
        <p:spPr>
          <a:xfrm>
            <a:off x="10639425" y="4562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5405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1DE4-4044-5E7B-3E17-EC5586AC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F103-51A3-C788-9873-09FAC339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Graphically Representing A Markov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D702-55E9-E759-8039-16C42925F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640842"/>
          </a:xfrm>
        </p:spPr>
        <p:txBody>
          <a:bodyPr/>
          <a:lstStyle/>
          <a:p>
            <a:r>
              <a:rPr lang="en-CA" dirty="0"/>
              <a:t>We can graphically represent this process in the below diagram.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D4AE40-329E-2F16-EE5C-A8B18FF239CD}"/>
              </a:ext>
            </a:extLst>
          </p:cNvPr>
          <p:cNvSpPr/>
          <p:nvPr/>
        </p:nvSpPr>
        <p:spPr>
          <a:xfrm>
            <a:off x="6810375" y="4181476"/>
            <a:ext cx="1590675" cy="131445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712D55-A6A6-1F32-BB7F-3477F7014C4F}"/>
              </a:ext>
            </a:extLst>
          </p:cNvPr>
          <p:cNvSpPr/>
          <p:nvPr/>
        </p:nvSpPr>
        <p:spPr>
          <a:xfrm>
            <a:off x="2781300" y="4181476"/>
            <a:ext cx="1590675" cy="131445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AF113D85-2520-5517-1156-B69A4DBCFC1A}"/>
              </a:ext>
            </a:extLst>
          </p:cNvPr>
          <p:cNvCxnSpPr>
            <a:cxnSpLocks/>
            <a:stCxn id="4" idx="3"/>
            <a:endCxn id="6" idx="5"/>
          </p:cNvCxnSpPr>
          <p:nvPr/>
        </p:nvCxnSpPr>
        <p:spPr>
          <a:xfrm rot="5400000">
            <a:off x="5591175" y="3851280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BE2BB65F-AF0B-68E8-B9D1-6B598F3C0A5C}"/>
              </a:ext>
            </a:extLst>
          </p:cNvPr>
          <p:cNvCxnSpPr>
            <a:cxnSpLocks/>
            <a:stCxn id="6" idx="7"/>
            <a:endCxn id="4" idx="1"/>
          </p:cNvCxnSpPr>
          <p:nvPr/>
        </p:nvCxnSpPr>
        <p:spPr>
          <a:xfrm rot="5400000" flipH="1" flipV="1">
            <a:off x="5591175" y="2921824"/>
            <a:ext cx="12700" cy="2904298"/>
          </a:xfrm>
          <a:prstGeom prst="curvedConnector3">
            <a:avLst>
              <a:gd name="adj1" fmla="val 331572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07620ED-24A0-1B49-45B0-7E9A8C3EC989}"/>
              </a:ext>
            </a:extLst>
          </p:cNvPr>
          <p:cNvCxnSpPr>
            <a:cxnSpLocks/>
            <a:stCxn id="6" idx="3"/>
            <a:endCxn id="6" idx="1"/>
          </p:cNvCxnSpPr>
          <p:nvPr/>
        </p:nvCxnSpPr>
        <p:spPr>
          <a:xfrm rot="5400000" flipH="1">
            <a:off x="2549521" y="4838701"/>
            <a:ext cx="929456" cy="12700"/>
          </a:xfrm>
          <a:prstGeom prst="curvedConnector5">
            <a:avLst>
              <a:gd name="adj1" fmla="val -24595"/>
              <a:gd name="adj2" fmla="val 8665756"/>
              <a:gd name="adj3" fmla="val 12459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B65A16AA-56ED-4A53-FE72-AFB1AB32DD6E}"/>
              </a:ext>
            </a:extLst>
          </p:cNvPr>
          <p:cNvCxnSpPr>
            <a:cxnSpLocks/>
            <a:stCxn id="4" idx="5"/>
            <a:endCxn id="4" idx="7"/>
          </p:cNvCxnSpPr>
          <p:nvPr/>
        </p:nvCxnSpPr>
        <p:spPr>
          <a:xfrm rot="5400000" flipH="1">
            <a:off x="7703373" y="4838701"/>
            <a:ext cx="929456" cy="12700"/>
          </a:xfrm>
          <a:prstGeom prst="curvedConnector5">
            <a:avLst>
              <a:gd name="adj1" fmla="val -24595"/>
              <a:gd name="adj2" fmla="val -9790756"/>
              <a:gd name="adj3" fmla="val 12459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187C96-5F21-3F27-DA25-47D38759EFA8}"/>
              </a:ext>
            </a:extLst>
          </p:cNvPr>
          <p:cNvSpPr txBox="1"/>
          <p:nvPr/>
        </p:nvSpPr>
        <p:spPr>
          <a:xfrm>
            <a:off x="3020599" y="4660385"/>
            <a:ext cx="1292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Remission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E96CF9-8BDB-9EE7-46A0-859D4E235567}"/>
              </a:ext>
            </a:extLst>
          </p:cNvPr>
          <p:cNvSpPr txBox="1"/>
          <p:nvPr/>
        </p:nvSpPr>
        <p:spPr>
          <a:xfrm>
            <a:off x="7150229" y="4515534"/>
            <a:ext cx="1030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Active </a:t>
            </a:r>
            <a:br>
              <a:rPr lang="en-CA" b="1" dirty="0"/>
            </a:br>
            <a:r>
              <a:rPr lang="en-CA" b="1" dirty="0"/>
              <a:t>Disease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2C1CBB-2EA8-F327-E473-177C856CD9DF}"/>
                  </a:ext>
                </a:extLst>
              </p:cNvPr>
              <p:cNvSpPr txBox="1"/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2C1CBB-2EA8-F327-E473-177C856C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515" y="3539913"/>
                <a:ext cx="1117485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4D80B4-C9A7-4B54-2741-FA80AF1BE406}"/>
                  </a:ext>
                </a:extLst>
              </p:cNvPr>
              <p:cNvSpPr txBox="1"/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4D80B4-C9A7-4B54-2741-FA80AF1BE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782" y="5857203"/>
                <a:ext cx="111748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E1DEC8-9184-1864-285E-3B80DC4BD9D4}"/>
                  </a:ext>
                </a:extLst>
              </p:cNvPr>
              <p:cNvSpPr txBox="1"/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E1DEC8-9184-1864-285E-3B80DC4B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30" y="4534583"/>
                <a:ext cx="95878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D2998B-84E7-C429-93A1-3DB55D45E0E0}"/>
                  </a:ext>
                </a:extLst>
              </p:cNvPr>
              <p:cNvSpPr txBox="1"/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D2998B-84E7-C429-93A1-3DB55D45E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700" y="4792533"/>
                <a:ext cx="127618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ED0443-AFC1-E1CC-8491-A5C860E5D651}"/>
                  </a:ext>
                </a:extLst>
              </p:cNvPr>
              <p:cNvSpPr txBox="1"/>
              <p:nvPr/>
            </p:nvSpPr>
            <p:spPr>
              <a:xfrm>
                <a:off x="7331931" y="2031323"/>
                <a:ext cx="4596451" cy="1735411"/>
              </a:xfrm>
              <a:prstGeom prst="rect">
                <a:avLst/>
              </a:prstGeom>
              <a:noFill/>
              <a:ln w="57150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b="1" i="1" dirty="0">
                    <a:solidFill>
                      <a:srgbClr val="C00000"/>
                    </a:solidFill>
                  </a:rPr>
                  <a:t>Computationally We Will Work</a:t>
                </a:r>
                <a:br>
                  <a:rPr lang="en-CA" b="1" i="1" dirty="0">
                    <a:solidFill>
                      <a:srgbClr val="C00000"/>
                    </a:solidFill>
                  </a:rPr>
                </a:br>
                <a:r>
                  <a:rPr lang="en-CA" b="1" i="1" dirty="0">
                    <a:solidFill>
                      <a:srgbClr val="C00000"/>
                    </a:solidFill>
                  </a:rPr>
                  <a:t>With Matrices which Mathematically </a:t>
                </a:r>
                <a:br>
                  <a:rPr lang="en-CA" b="1" i="1" dirty="0">
                    <a:solidFill>
                      <a:srgbClr val="C00000"/>
                    </a:solidFill>
                  </a:rPr>
                </a:br>
                <a:r>
                  <a:rPr lang="en-CA" b="1" i="1" dirty="0">
                    <a:solidFill>
                      <a:srgbClr val="C00000"/>
                    </a:solidFill>
                  </a:rPr>
                  <a:t>Represent this diagram:</a:t>
                </a:r>
                <a:br>
                  <a:rPr lang="en-CA" b="1" i="1" dirty="0">
                    <a:solidFill>
                      <a:srgbClr val="C00000"/>
                    </a:solidFill>
                  </a:rPr>
                </a:br>
                <a:br>
                  <a:rPr lang="en-CA" b="0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CA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CA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CA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CA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𝐴𝐷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ED0443-AFC1-E1CC-8491-A5C860E5D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931" y="2031323"/>
                <a:ext cx="4596451" cy="1735411"/>
              </a:xfrm>
              <a:prstGeom prst="rect">
                <a:avLst/>
              </a:prstGeom>
              <a:blipFill>
                <a:blip r:embed="rId6"/>
                <a:stretch>
                  <a:fillRect l="-655" t="-340"/>
                </a:stretch>
              </a:blipFill>
              <a:ln w="571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221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19B1-8B8F-E273-F8C4-2311EB2E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7C07-1376-EEF3-9819-D14D8EAB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349" y="752112"/>
            <a:ext cx="11155680" cy="1463040"/>
          </a:xfrm>
        </p:spPr>
        <p:txBody>
          <a:bodyPr/>
          <a:lstStyle/>
          <a:p>
            <a:r>
              <a:rPr lang="en-CA" dirty="0"/>
              <a:t>The Idea of Markov Cost Effectiveness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16B7-6D4E-6010-E9C2-080DE6FC7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99" y="2079137"/>
            <a:ext cx="11155680" cy="755142"/>
          </a:xfrm>
        </p:spPr>
        <p:txBody>
          <a:bodyPr/>
          <a:lstStyle/>
          <a:p>
            <a:r>
              <a:rPr lang="en-CA" dirty="0"/>
              <a:t>When we are doing a cost effectiveness analysis with a Markov model, we are choosing between two distinct process. We will need to compute costs and effects.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08676-FBC1-EAFA-F48A-2A58F7747F22}"/>
              </a:ext>
            </a:extLst>
          </p:cNvPr>
          <p:cNvSpPr/>
          <p:nvPr/>
        </p:nvSpPr>
        <p:spPr>
          <a:xfrm>
            <a:off x="521208" y="4238625"/>
            <a:ext cx="619125" cy="5334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B9220B-DDBD-6086-27AE-EAD0E648DD29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40333" y="3886198"/>
            <a:ext cx="1526667" cy="61912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EC76A5-D67F-70F2-49EC-7826FAE13B6F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140333" y="4505325"/>
            <a:ext cx="1279017" cy="119804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3AB1E40E-8BD5-662C-EDC0-0A1852E80F94}"/>
              </a:ext>
            </a:extLst>
          </p:cNvPr>
          <p:cNvSpPr/>
          <p:nvPr/>
        </p:nvSpPr>
        <p:spPr>
          <a:xfrm>
            <a:off x="2543175" y="3271835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EA34A13-F446-300F-7A19-F937A30F7D3A}"/>
              </a:ext>
            </a:extLst>
          </p:cNvPr>
          <p:cNvSpPr/>
          <p:nvPr/>
        </p:nvSpPr>
        <p:spPr>
          <a:xfrm>
            <a:off x="2419350" y="5057774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42988B-BB24-01B6-99BD-BD8FF3AE19DC}"/>
              </a:ext>
            </a:extLst>
          </p:cNvPr>
          <p:cNvSpPr/>
          <p:nvPr/>
        </p:nvSpPr>
        <p:spPr>
          <a:xfrm>
            <a:off x="3128962" y="3470910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F8C4643-07E2-D0AC-14F7-E0546FC2933B}"/>
              </a:ext>
            </a:extLst>
          </p:cNvPr>
          <p:cNvSpPr/>
          <p:nvPr/>
        </p:nvSpPr>
        <p:spPr>
          <a:xfrm>
            <a:off x="5353050" y="3428997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F2A714BC-96F2-8D91-1A29-77EB70F5FF6D}"/>
              </a:ext>
            </a:extLst>
          </p:cNvPr>
          <p:cNvCxnSpPr>
            <a:cxnSpLocks/>
            <a:stCxn id="23" idx="7"/>
            <a:endCxn id="29" idx="1"/>
          </p:cNvCxnSpPr>
          <p:nvPr/>
        </p:nvCxnSpPr>
        <p:spPr>
          <a:xfrm rot="5400000" flipH="1" flipV="1">
            <a:off x="4677250" y="2795110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05A2FAEF-985A-7669-8198-8F771E0FB329}"/>
              </a:ext>
            </a:extLst>
          </p:cNvPr>
          <p:cNvCxnSpPr>
            <a:cxnSpLocks/>
            <a:stCxn id="29" idx="3"/>
            <a:endCxn id="23" idx="5"/>
          </p:cNvCxnSpPr>
          <p:nvPr/>
        </p:nvCxnSpPr>
        <p:spPr>
          <a:xfrm rot="5400000">
            <a:off x="4677250" y="3441687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7BC379CD-721E-BCCA-752D-776C2F1E923A}"/>
              </a:ext>
            </a:extLst>
          </p:cNvPr>
          <p:cNvCxnSpPr>
            <a:cxnSpLocks/>
            <a:stCxn id="23" idx="3"/>
            <a:endCxn id="23" idx="1"/>
          </p:cNvCxnSpPr>
          <p:nvPr/>
        </p:nvCxnSpPr>
        <p:spPr>
          <a:xfrm rot="5400000" flipH="1">
            <a:off x="2939584" y="3928110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64D54F32-1458-1991-3A23-6845585AACBC}"/>
              </a:ext>
            </a:extLst>
          </p:cNvPr>
          <p:cNvCxnSpPr>
            <a:cxnSpLocks/>
            <a:stCxn id="29" idx="5"/>
            <a:endCxn id="29" idx="7"/>
          </p:cNvCxnSpPr>
          <p:nvPr/>
        </p:nvCxnSpPr>
        <p:spPr>
          <a:xfrm rot="5400000" flipH="1">
            <a:off x="5810250" y="3886197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40A9CF12-95BA-8919-5EE2-DDC6041E1C21}"/>
              </a:ext>
            </a:extLst>
          </p:cNvPr>
          <p:cNvSpPr/>
          <p:nvPr/>
        </p:nvSpPr>
        <p:spPr>
          <a:xfrm>
            <a:off x="3269223" y="5191488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CB85CD7-3967-849B-B15B-F144F4009509}"/>
              </a:ext>
            </a:extLst>
          </p:cNvPr>
          <p:cNvSpPr/>
          <p:nvPr/>
        </p:nvSpPr>
        <p:spPr>
          <a:xfrm>
            <a:off x="5493311" y="5149575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B575F3FE-62D1-684B-C58A-417B4D60D3E6}"/>
              </a:ext>
            </a:extLst>
          </p:cNvPr>
          <p:cNvCxnSpPr>
            <a:cxnSpLocks/>
            <a:stCxn id="53" idx="7"/>
            <a:endCxn id="54" idx="1"/>
          </p:cNvCxnSpPr>
          <p:nvPr/>
        </p:nvCxnSpPr>
        <p:spPr>
          <a:xfrm rot="5400000" flipH="1" flipV="1">
            <a:off x="4817511" y="4515688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5FFED2C0-03B0-7465-D6F6-DEE8866F3BE5}"/>
              </a:ext>
            </a:extLst>
          </p:cNvPr>
          <p:cNvCxnSpPr>
            <a:cxnSpLocks/>
            <a:stCxn id="54" idx="3"/>
            <a:endCxn id="53" idx="5"/>
          </p:cNvCxnSpPr>
          <p:nvPr/>
        </p:nvCxnSpPr>
        <p:spPr>
          <a:xfrm rot="5400000">
            <a:off x="4817511" y="5162265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DC9BFAF6-D6D0-5105-3EB9-514160E8BA15}"/>
              </a:ext>
            </a:extLst>
          </p:cNvPr>
          <p:cNvCxnSpPr>
            <a:cxnSpLocks/>
            <a:stCxn id="53" idx="3"/>
            <a:endCxn id="53" idx="1"/>
          </p:cNvCxnSpPr>
          <p:nvPr/>
        </p:nvCxnSpPr>
        <p:spPr>
          <a:xfrm rot="5400000" flipH="1">
            <a:off x="3079845" y="5648688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FD737596-31A2-0560-981A-1122A6539DE7}"/>
              </a:ext>
            </a:extLst>
          </p:cNvPr>
          <p:cNvCxnSpPr>
            <a:cxnSpLocks/>
            <a:stCxn id="54" idx="5"/>
            <a:endCxn id="54" idx="7"/>
          </p:cNvCxnSpPr>
          <p:nvPr/>
        </p:nvCxnSpPr>
        <p:spPr>
          <a:xfrm rot="5400000" flipH="1">
            <a:off x="5950511" y="5606775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835455B-3E62-4EB6-6B13-CAD54C5B65E6}"/>
              </a:ext>
            </a:extLst>
          </p:cNvPr>
          <p:cNvSpPr txBox="1"/>
          <p:nvPr/>
        </p:nvSpPr>
        <p:spPr>
          <a:xfrm>
            <a:off x="647046" y="3351786"/>
            <a:ext cx="170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New Treatment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40914C-F2A9-A259-D3FE-4690203B3343}"/>
              </a:ext>
            </a:extLst>
          </p:cNvPr>
          <p:cNvSpPr txBox="1"/>
          <p:nvPr/>
        </p:nvSpPr>
        <p:spPr>
          <a:xfrm>
            <a:off x="282201" y="5335695"/>
            <a:ext cx="1744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Treatment</a:t>
            </a:r>
          </a:p>
        </p:txBody>
      </p:sp>
    </p:spTree>
    <p:extLst>
      <p:ext uri="{BB962C8B-B14F-4D97-AF65-F5344CB8AC3E}">
        <p14:creationId xmlns:p14="http://schemas.microsoft.com/office/powerpoint/2010/main" val="171749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3173-6FF5-CF05-E2C5-D94D9531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349" y="752112"/>
            <a:ext cx="11155680" cy="1463040"/>
          </a:xfrm>
        </p:spPr>
        <p:txBody>
          <a:bodyPr/>
          <a:lstStyle/>
          <a:p>
            <a:r>
              <a:rPr lang="en-CA" dirty="0"/>
              <a:t>The Idea of Markov Cost Effectiveness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FB81-4BDA-C195-0111-E5FD50CC6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99" y="2079137"/>
            <a:ext cx="11155680" cy="755142"/>
          </a:xfrm>
        </p:spPr>
        <p:txBody>
          <a:bodyPr/>
          <a:lstStyle/>
          <a:p>
            <a:r>
              <a:rPr lang="en-CA" dirty="0"/>
              <a:t>When we are doing a cost effectiveness analysis with a Markov model, we are choosing between two distinct process. We will need to compute costs and effects. </a:t>
            </a:r>
            <a:r>
              <a:rPr lang="en-CA" b="1" dirty="0"/>
              <a:t>(WE WILL STILL COMPUTE AN ICER).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C694C-E5C0-6273-427B-629BF674D3ED}"/>
              </a:ext>
            </a:extLst>
          </p:cNvPr>
          <p:cNvSpPr/>
          <p:nvPr/>
        </p:nvSpPr>
        <p:spPr>
          <a:xfrm>
            <a:off x="521208" y="4238625"/>
            <a:ext cx="619125" cy="5334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10B254-9DE4-294B-71FB-AA88E87424EE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40333" y="3886198"/>
            <a:ext cx="1526667" cy="61912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688B0E-27DB-2238-49FC-3A9C2F726F8B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140333" y="4505325"/>
            <a:ext cx="1279017" cy="119804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AF835BBE-EE9C-4CDD-206C-310EF29E813E}"/>
              </a:ext>
            </a:extLst>
          </p:cNvPr>
          <p:cNvSpPr/>
          <p:nvPr/>
        </p:nvSpPr>
        <p:spPr>
          <a:xfrm>
            <a:off x="2543175" y="3271835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F59C44C7-E178-AF35-8F22-DC1DC1E74C32}"/>
              </a:ext>
            </a:extLst>
          </p:cNvPr>
          <p:cNvSpPr/>
          <p:nvPr/>
        </p:nvSpPr>
        <p:spPr>
          <a:xfrm>
            <a:off x="2419350" y="5057774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FA4BC08-327B-C7BF-E3F3-1B15DB56CC51}"/>
              </a:ext>
            </a:extLst>
          </p:cNvPr>
          <p:cNvSpPr/>
          <p:nvPr/>
        </p:nvSpPr>
        <p:spPr>
          <a:xfrm>
            <a:off x="3128962" y="3470910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D72189F-9E13-77E2-AB9F-AE71871FAF3C}"/>
              </a:ext>
            </a:extLst>
          </p:cNvPr>
          <p:cNvSpPr/>
          <p:nvPr/>
        </p:nvSpPr>
        <p:spPr>
          <a:xfrm>
            <a:off x="5353050" y="3428997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C3662AB-61D5-DE5B-27A4-3F768C3BB0E6}"/>
              </a:ext>
            </a:extLst>
          </p:cNvPr>
          <p:cNvCxnSpPr>
            <a:cxnSpLocks/>
            <a:stCxn id="23" idx="7"/>
            <a:endCxn id="29" idx="1"/>
          </p:cNvCxnSpPr>
          <p:nvPr/>
        </p:nvCxnSpPr>
        <p:spPr>
          <a:xfrm rot="5400000" flipH="1" flipV="1">
            <a:off x="4677250" y="2795110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136BA1F6-AB21-A504-90A5-E4AE294454BC}"/>
              </a:ext>
            </a:extLst>
          </p:cNvPr>
          <p:cNvCxnSpPr>
            <a:cxnSpLocks/>
            <a:stCxn id="29" idx="3"/>
            <a:endCxn id="23" idx="5"/>
          </p:cNvCxnSpPr>
          <p:nvPr/>
        </p:nvCxnSpPr>
        <p:spPr>
          <a:xfrm rot="5400000">
            <a:off x="4677250" y="3441687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F4D631B-7654-DAC7-110A-B28976E7BDC3}"/>
              </a:ext>
            </a:extLst>
          </p:cNvPr>
          <p:cNvCxnSpPr>
            <a:cxnSpLocks/>
            <a:stCxn id="23" idx="3"/>
            <a:endCxn id="23" idx="1"/>
          </p:cNvCxnSpPr>
          <p:nvPr/>
        </p:nvCxnSpPr>
        <p:spPr>
          <a:xfrm rot="5400000" flipH="1">
            <a:off x="2939584" y="3928110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5DE70C9-764D-76B6-79A1-29FC31DF28F2}"/>
              </a:ext>
            </a:extLst>
          </p:cNvPr>
          <p:cNvCxnSpPr>
            <a:cxnSpLocks/>
            <a:stCxn id="29" idx="5"/>
            <a:endCxn id="29" idx="7"/>
          </p:cNvCxnSpPr>
          <p:nvPr/>
        </p:nvCxnSpPr>
        <p:spPr>
          <a:xfrm rot="5400000" flipH="1">
            <a:off x="5810250" y="3886197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D2A45EDE-6AC4-B257-1E7B-584B2979C4D7}"/>
              </a:ext>
            </a:extLst>
          </p:cNvPr>
          <p:cNvSpPr/>
          <p:nvPr/>
        </p:nvSpPr>
        <p:spPr>
          <a:xfrm>
            <a:off x="3269223" y="5191488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87F026B-0190-03AB-B288-779968567B89}"/>
              </a:ext>
            </a:extLst>
          </p:cNvPr>
          <p:cNvSpPr/>
          <p:nvPr/>
        </p:nvSpPr>
        <p:spPr>
          <a:xfrm>
            <a:off x="5493311" y="5149575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4F2D4652-FEAA-B6AF-68D9-4FA70F056D42}"/>
              </a:ext>
            </a:extLst>
          </p:cNvPr>
          <p:cNvCxnSpPr>
            <a:cxnSpLocks/>
            <a:stCxn id="53" idx="7"/>
            <a:endCxn id="54" idx="1"/>
          </p:cNvCxnSpPr>
          <p:nvPr/>
        </p:nvCxnSpPr>
        <p:spPr>
          <a:xfrm rot="5400000" flipH="1" flipV="1">
            <a:off x="4817511" y="4515688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8F1C5263-E473-A894-4044-5A2F85647A8F}"/>
              </a:ext>
            </a:extLst>
          </p:cNvPr>
          <p:cNvCxnSpPr>
            <a:cxnSpLocks/>
            <a:stCxn id="54" idx="3"/>
            <a:endCxn id="53" idx="5"/>
          </p:cNvCxnSpPr>
          <p:nvPr/>
        </p:nvCxnSpPr>
        <p:spPr>
          <a:xfrm rot="5400000">
            <a:off x="4817511" y="5162265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16F9E2A5-1B29-22A9-E404-980192BD1946}"/>
              </a:ext>
            </a:extLst>
          </p:cNvPr>
          <p:cNvCxnSpPr>
            <a:cxnSpLocks/>
            <a:stCxn id="53" idx="3"/>
            <a:endCxn id="53" idx="1"/>
          </p:cNvCxnSpPr>
          <p:nvPr/>
        </p:nvCxnSpPr>
        <p:spPr>
          <a:xfrm rot="5400000" flipH="1">
            <a:off x="3079845" y="5648688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FADBDEA5-199F-A196-A839-338F91D21036}"/>
              </a:ext>
            </a:extLst>
          </p:cNvPr>
          <p:cNvCxnSpPr>
            <a:cxnSpLocks/>
            <a:stCxn id="54" idx="5"/>
            <a:endCxn id="54" idx="7"/>
          </p:cNvCxnSpPr>
          <p:nvPr/>
        </p:nvCxnSpPr>
        <p:spPr>
          <a:xfrm rot="5400000" flipH="1">
            <a:off x="5950511" y="5606775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EFB9E31-E1E9-079B-0A1C-C9B675DACA98}"/>
              </a:ext>
            </a:extLst>
          </p:cNvPr>
          <p:cNvSpPr txBox="1"/>
          <p:nvPr/>
        </p:nvSpPr>
        <p:spPr>
          <a:xfrm>
            <a:off x="647046" y="3351786"/>
            <a:ext cx="170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New Treatment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58609D-5765-1223-A6CC-BB8B6B138400}"/>
              </a:ext>
            </a:extLst>
          </p:cNvPr>
          <p:cNvSpPr txBox="1"/>
          <p:nvPr/>
        </p:nvSpPr>
        <p:spPr>
          <a:xfrm>
            <a:off x="282201" y="5335695"/>
            <a:ext cx="1744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Treatment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0A0CF70-5443-03C2-1E3E-6C9D27165CC4}"/>
              </a:ext>
            </a:extLst>
          </p:cNvPr>
          <p:cNvCxnSpPr/>
          <p:nvPr/>
        </p:nvCxnSpPr>
        <p:spPr>
          <a:xfrm flipV="1">
            <a:off x="6848475" y="3428997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6C1A050-C758-BF15-35B7-FFA4D90165F6}"/>
              </a:ext>
            </a:extLst>
          </p:cNvPr>
          <p:cNvCxnSpPr/>
          <p:nvPr/>
        </p:nvCxnSpPr>
        <p:spPr>
          <a:xfrm flipV="1">
            <a:off x="6848475" y="4238625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CD03D3F-E50B-398F-AF91-1C42B8A4A25F}"/>
              </a:ext>
            </a:extLst>
          </p:cNvPr>
          <p:cNvCxnSpPr/>
          <p:nvPr/>
        </p:nvCxnSpPr>
        <p:spPr>
          <a:xfrm flipV="1">
            <a:off x="7181850" y="5141392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8DDB854-1B78-C1BB-12E8-1660FBA83BFA}"/>
              </a:ext>
            </a:extLst>
          </p:cNvPr>
          <p:cNvCxnSpPr/>
          <p:nvPr/>
        </p:nvCxnSpPr>
        <p:spPr>
          <a:xfrm flipV="1">
            <a:off x="7181850" y="5951020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889BFA9-1D96-2BF2-8DFF-B648F040620D}"/>
              </a:ext>
            </a:extLst>
          </p:cNvPr>
          <p:cNvSpPr txBox="1"/>
          <p:nvPr/>
        </p:nvSpPr>
        <p:spPr>
          <a:xfrm>
            <a:off x="8864422" y="3199926"/>
            <a:ext cx="87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Effects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815A380-9843-E284-AF79-04F9544439EF}"/>
              </a:ext>
            </a:extLst>
          </p:cNvPr>
          <p:cNvSpPr txBox="1"/>
          <p:nvPr/>
        </p:nvSpPr>
        <p:spPr>
          <a:xfrm>
            <a:off x="8829675" y="4026542"/>
            <a:ext cx="769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Costs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EA00CE3-15E1-645C-C67D-F664449F7C0B}"/>
              </a:ext>
            </a:extLst>
          </p:cNvPr>
          <p:cNvSpPr txBox="1"/>
          <p:nvPr/>
        </p:nvSpPr>
        <p:spPr>
          <a:xfrm>
            <a:off x="9134085" y="4920504"/>
            <a:ext cx="929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Effects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8FE8B60-3CF2-DF45-FEE3-F94255A59A33}"/>
              </a:ext>
            </a:extLst>
          </p:cNvPr>
          <p:cNvSpPr txBox="1"/>
          <p:nvPr/>
        </p:nvSpPr>
        <p:spPr>
          <a:xfrm>
            <a:off x="9134085" y="5755593"/>
            <a:ext cx="820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Costs </a:t>
            </a:r>
          </a:p>
        </p:txBody>
      </p:sp>
      <p:sp>
        <p:nvSpPr>
          <p:cNvPr id="96" name="Left Brace 95">
            <a:extLst>
              <a:ext uri="{FF2B5EF4-FFF2-40B4-BE49-F238E27FC236}">
                <a16:creationId xmlns:a16="http://schemas.microsoft.com/office/drawing/2014/main" id="{18EA9F9C-800C-7693-88A1-8EC80076C596}"/>
              </a:ext>
            </a:extLst>
          </p:cNvPr>
          <p:cNvSpPr/>
          <p:nvPr/>
        </p:nvSpPr>
        <p:spPr>
          <a:xfrm rot="10800000">
            <a:off x="9927002" y="3158616"/>
            <a:ext cx="247650" cy="2901907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DC00B0E-D12B-3F99-0FA4-9EADBDB9D3E7}"/>
                  </a:ext>
                </a:extLst>
              </p:cNvPr>
              <p:cNvSpPr txBox="1"/>
              <p:nvPr/>
            </p:nvSpPr>
            <p:spPr>
              <a:xfrm>
                <a:off x="10259471" y="4280538"/>
                <a:ext cx="1810688" cy="65806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𝐼𝐶𝐸𝑅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DC00B0E-D12B-3F99-0FA4-9EADBDB9D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9471" y="4280538"/>
                <a:ext cx="1810688" cy="6580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074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A6A7-2898-4FD7-BED5-61FCC509B4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Technical Aspects of Markov Models and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22B4D-A240-0D16-5183-800A7FBF6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3753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A4688-8B79-0860-ED04-2E310FA1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Properties of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A1241-AA4F-A6E4-A2CD-738140CE6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59483"/>
            <a:ext cx="11155680" cy="3767328"/>
          </a:xfrm>
        </p:spPr>
        <p:txBody>
          <a:bodyPr/>
          <a:lstStyle/>
          <a:p>
            <a:r>
              <a:rPr lang="en-CA" dirty="0"/>
              <a:t>When computing Markov models we will always work with </a:t>
            </a:r>
            <a:r>
              <a:rPr lang="en-CA" b="1" dirty="0"/>
              <a:t>Square</a:t>
            </a:r>
            <a:r>
              <a:rPr lang="en-CA" dirty="0"/>
              <a:t> </a:t>
            </a:r>
            <a:r>
              <a:rPr lang="en-CA" b="1" dirty="0"/>
              <a:t>Matrices.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A matrix is a rectangular array of  numbers.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Square means that there are the same number of rows as there are columns.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The dimensions of a Markov matrix correspond to the number of health states we are considering. (i.e. if there are 2 health states we need a 2x2 matrix, 3 health states 3x3 etc.)</a:t>
            </a:r>
          </a:p>
          <a:p>
            <a:r>
              <a:rPr lang="en-CA" dirty="0"/>
              <a:t>The Matrices we work with possess the Markov Property- </a:t>
            </a:r>
            <a:r>
              <a:rPr lang="en-CA" b="1" dirty="0"/>
              <a:t>The probability of moving to a different state depends only on the current state.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Ex: in the case of the example with ulcerative colitis, in the context of the model, past active disease states do not impact future disease states.</a:t>
            </a:r>
          </a:p>
          <a:p>
            <a:r>
              <a:rPr lang="en-CA" b="1" dirty="0"/>
              <a:t>We also require that each row’s entries sum to 1</a:t>
            </a:r>
          </a:p>
        </p:txBody>
      </p:sp>
    </p:spTree>
    <p:extLst>
      <p:ext uri="{BB962C8B-B14F-4D97-AF65-F5344CB8AC3E}">
        <p14:creationId xmlns:p14="http://schemas.microsoft.com/office/powerpoint/2010/main" val="1030729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52F8-2830-0D9E-4735-A5471803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Understanding Markov Matrices: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3748C2-366C-5BD5-ED86-1848A70BD3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Suppose we have the following Matrix: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Question #1: Do the elements of each row sum to 1?</a:t>
                </a:r>
              </a:p>
              <a:p>
                <a:pPr marL="0" indent="0">
                  <a:buNone/>
                </a:pPr>
                <a:br>
                  <a:rPr lang="en-CA" b="1" dirty="0"/>
                </a:br>
                <a:r>
                  <a:rPr lang="en-CA" dirty="0"/>
                  <a:t>Question #2: What is the graphic representation of this matrix?</a:t>
                </a:r>
                <a:endParaRPr lang="en-CA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3748C2-366C-5BD5-ED86-1848A70BD3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2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623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0E2D-6609-455F-5FA0-1AA97CFD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4197-1635-C688-F0EF-033662CC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Understanding Markov Matrices: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991AAA-8AEA-6C76-9652-41BEDA03CD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Suppose we have the following Matrix: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Question #1: Do the elements of each row sum to 1? </a:t>
                </a:r>
                <a:r>
                  <a:rPr lang="en-CA" b="1" dirty="0">
                    <a:solidFill>
                      <a:srgbClr val="C00000"/>
                    </a:solidFill>
                  </a:rPr>
                  <a:t>YES</a:t>
                </a:r>
                <a:endParaRPr lang="en-CA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br>
                  <a:rPr lang="en-CA" b="1" dirty="0"/>
                </a:br>
                <a:r>
                  <a:rPr lang="en-CA" dirty="0"/>
                  <a:t>Question #2: What is the graphic representation of this matrix? </a:t>
                </a:r>
                <a:r>
                  <a:rPr lang="en-CA" b="1" dirty="0">
                    <a:solidFill>
                      <a:srgbClr val="C00000"/>
                    </a:solidFill>
                  </a:rPr>
                  <a:t>(SEE THE NEXT SLIDE)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991AAA-8AEA-6C76-9652-41BEDA03C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2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80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2433-AACB-5656-5880-81AEEF4E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A6F3-E69C-0125-598B-3EFB6E75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26" y="585642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Understanding Markov Matrices: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5A5994-7E48-C959-4D0E-4B96DE9BD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171" y="1218955"/>
                <a:ext cx="10942782" cy="4475664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.7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Graphically we can represent this matrix as as:</a:t>
                </a:r>
                <a:br>
                  <a:rPr lang="en-CA" dirty="0"/>
                </a:b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5A5994-7E48-C959-4D0E-4B96DE9BD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171" y="1218955"/>
                <a:ext cx="10942782" cy="4475664"/>
              </a:xfrm>
              <a:blipFill>
                <a:blip r:embed="rId3"/>
                <a:stretch>
                  <a:fillRect l="-390" t="-1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ED7C8486-A589-BB87-9581-C0F1EA2221B7}"/>
              </a:ext>
            </a:extLst>
          </p:cNvPr>
          <p:cNvSpPr/>
          <p:nvPr/>
        </p:nvSpPr>
        <p:spPr>
          <a:xfrm>
            <a:off x="3553690" y="4876796"/>
            <a:ext cx="1512453" cy="136236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1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48F7AC-038F-30C0-96BE-536BBE9D6C53}"/>
              </a:ext>
            </a:extLst>
          </p:cNvPr>
          <p:cNvSpPr/>
          <p:nvPr/>
        </p:nvSpPr>
        <p:spPr>
          <a:xfrm>
            <a:off x="5417127" y="3425314"/>
            <a:ext cx="1357745" cy="12561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2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590BCA-97AB-3B68-231D-C60FF77E7C9D}"/>
              </a:ext>
            </a:extLst>
          </p:cNvPr>
          <p:cNvSpPr/>
          <p:nvPr/>
        </p:nvSpPr>
        <p:spPr>
          <a:xfrm>
            <a:off x="7316355" y="4929904"/>
            <a:ext cx="1357745" cy="12561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3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97A923-383D-D447-DBA2-2759AC7B1827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5066143" y="5557977"/>
            <a:ext cx="2250212" cy="1"/>
          </a:xfrm>
          <a:prstGeom prst="straightConnector1">
            <a:avLst/>
          </a:prstGeom>
          <a:ln w="57150">
            <a:solidFill>
              <a:srgbClr val="2424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438416-CAB2-0EC1-BCB3-81E59F57BC4F}"/>
              </a:ext>
            </a:extLst>
          </p:cNvPr>
          <p:cNvCxnSpPr>
            <a:cxnSpLocks/>
            <a:stCxn id="4" idx="7"/>
            <a:endCxn id="5" idx="3"/>
          </p:cNvCxnSpPr>
          <p:nvPr/>
        </p:nvCxnSpPr>
        <p:spPr>
          <a:xfrm flipV="1">
            <a:off x="4844649" y="4497502"/>
            <a:ext cx="771315" cy="578807"/>
          </a:xfrm>
          <a:prstGeom prst="straightConnector1">
            <a:avLst/>
          </a:prstGeom>
          <a:ln w="57150">
            <a:solidFill>
              <a:srgbClr val="2424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CD5428-63B7-3DF0-E65E-9E3B4D9326FA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6576035" y="4497502"/>
            <a:ext cx="939157" cy="616360"/>
          </a:xfrm>
          <a:prstGeom prst="straightConnector1">
            <a:avLst/>
          </a:prstGeom>
          <a:ln w="57150">
            <a:solidFill>
              <a:srgbClr val="2424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DBE7D70-5D6F-E773-B818-4F98662C386F}"/>
              </a:ext>
            </a:extLst>
          </p:cNvPr>
          <p:cNvCxnSpPr>
            <a:cxnSpLocks/>
            <a:stCxn id="6" idx="0"/>
            <a:endCxn id="6" idx="6"/>
          </p:cNvCxnSpPr>
          <p:nvPr/>
        </p:nvCxnSpPr>
        <p:spPr>
          <a:xfrm rot="16200000" flipH="1">
            <a:off x="8020627" y="4904504"/>
            <a:ext cx="628073" cy="678872"/>
          </a:xfrm>
          <a:prstGeom prst="curvedConnector4">
            <a:avLst>
              <a:gd name="adj1" fmla="val -36397"/>
              <a:gd name="adj2" fmla="val 133674"/>
            </a:avLst>
          </a:prstGeom>
          <a:ln w="57150">
            <a:solidFill>
              <a:srgbClr val="2424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CFB1B9ED-17D3-16B0-EECE-336C7538D722}"/>
              </a:ext>
            </a:extLst>
          </p:cNvPr>
          <p:cNvCxnSpPr>
            <a:cxnSpLocks/>
            <a:stCxn id="4" idx="2"/>
            <a:endCxn id="4" idx="0"/>
          </p:cNvCxnSpPr>
          <p:nvPr/>
        </p:nvCxnSpPr>
        <p:spPr>
          <a:xfrm rot="10800000" flipH="1">
            <a:off x="3553689" y="4876796"/>
            <a:ext cx="756227" cy="681182"/>
          </a:xfrm>
          <a:prstGeom prst="curvedConnector4">
            <a:avLst>
              <a:gd name="adj1" fmla="val -30229"/>
              <a:gd name="adj2" fmla="val 133559"/>
            </a:avLst>
          </a:prstGeom>
          <a:ln w="57150">
            <a:solidFill>
              <a:srgbClr val="2424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09E91923-0395-A83B-FD80-2F6DD9FEDB02}"/>
              </a:ext>
            </a:extLst>
          </p:cNvPr>
          <p:cNvCxnSpPr>
            <a:cxnSpLocks/>
            <a:stCxn id="5" idx="2"/>
            <a:endCxn id="5" idx="0"/>
          </p:cNvCxnSpPr>
          <p:nvPr/>
        </p:nvCxnSpPr>
        <p:spPr>
          <a:xfrm rot="10800000" flipH="1">
            <a:off x="5417126" y="3425315"/>
            <a:ext cx="678873" cy="628073"/>
          </a:xfrm>
          <a:prstGeom prst="curvedConnector4">
            <a:avLst>
              <a:gd name="adj1" fmla="val -33673"/>
              <a:gd name="adj2" fmla="val 136397"/>
            </a:avLst>
          </a:prstGeom>
          <a:ln w="57150">
            <a:solidFill>
              <a:srgbClr val="2424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E0E16C-2072-6FD2-9451-E52EDB8A12CE}"/>
              </a:ext>
            </a:extLst>
          </p:cNvPr>
          <p:cNvSpPr txBox="1"/>
          <p:nvPr/>
        </p:nvSpPr>
        <p:spPr>
          <a:xfrm>
            <a:off x="3206123" y="435773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</a:t>
            </a:r>
            <a:endParaRPr lang="en-C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5713B3-C09D-78F2-3A21-F23416A523D2}"/>
              </a:ext>
            </a:extLst>
          </p:cNvPr>
          <p:cNvSpPr txBox="1"/>
          <p:nvPr/>
        </p:nvSpPr>
        <p:spPr>
          <a:xfrm>
            <a:off x="5763322" y="558784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</a:t>
            </a:r>
            <a:endParaRPr lang="en-C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0B1784-82AD-ACF4-EC0F-C310A0F220A4}"/>
              </a:ext>
            </a:extLst>
          </p:cNvPr>
          <p:cNvSpPr txBox="1"/>
          <p:nvPr/>
        </p:nvSpPr>
        <p:spPr>
          <a:xfrm>
            <a:off x="4645812" y="445421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endParaRPr lang="en-C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04CD9C-C501-6C11-835D-4E16B5424892}"/>
              </a:ext>
            </a:extLst>
          </p:cNvPr>
          <p:cNvSpPr txBox="1"/>
          <p:nvPr/>
        </p:nvSpPr>
        <p:spPr>
          <a:xfrm>
            <a:off x="4697697" y="327212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</a:t>
            </a:r>
            <a:endParaRPr lang="en-CA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AC26E1-3C74-C1ED-843A-A62160584260}"/>
              </a:ext>
            </a:extLst>
          </p:cNvPr>
          <p:cNvSpPr txBox="1"/>
          <p:nvPr/>
        </p:nvSpPr>
        <p:spPr>
          <a:xfrm>
            <a:off x="7056571" y="441083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</a:t>
            </a:r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D114C1-A91F-BEBB-ECC0-1879F0C7D2A6}"/>
              </a:ext>
            </a:extLst>
          </p:cNvPr>
          <p:cNvSpPr txBox="1"/>
          <p:nvPr/>
        </p:nvSpPr>
        <p:spPr>
          <a:xfrm>
            <a:off x="8577888" y="445421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CA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5EC1D69-DF53-00D4-EF76-D11D5C87951C}"/>
              </a:ext>
            </a:extLst>
          </p:cNvPr>
          <p:cNvSpPr/>
          <p:nvPr/>
        </p:nvSpPr>
        <p:spPr>
          <a:xfrm>
            <a:off x="9467273" y="2604655"/>
            <a:ext cx="2295413" cy="282664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Note: In this context the State 3 is called the </a:t>
            </a:r>
            <a:r>
              <a:rPr lang="en-US" b="1" i="1" dirty="0"/>
              <a:t>ABSORBING STATE </a:t>
            </a:r>
            <a:r>
              <a:rPr lang="en-US" i="1" dirty="0"/>
              <a:t>as it is the state where all individuals will end up if the model is simulated long enough.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586363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A0D0-116F-FFCF-E893-2F862D4DF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Simulating Markov Processes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677BD-2756-7377-10CF-1D59D605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4161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01A8-EBF7-643C-FAF2-0696255E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do we simulate a Markov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2437C-B0AD-8998-F8C0-D85FD5B7FB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983" y="2254758"/>
                <a:ext cx="11155680" cy="3767328"/>
              </a:xfrm>
            </p:spPr>
            <p:txBody>
              <a:bodyPr/>
              <a:lstStyle/>
              <a:p>
                <a:r>
                  <a:rPr lang="en-CA" dirty="0"/>
                  <a:t>To simulate a the output from a Markov process we need.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CA" dirty="0"/>
                  <a:t>A Markov Matrix.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CA" dirty="0"/>
                  <a:t>An Initial State Vector.</a:t>
                </a:r>
              </a:p>
              <a:p>
                <a:r>
                  <a:rPr lang="en-CA" b="1" dirty="0"/>
                  <a:t>Example:</a:t>
                </a:r>
                <a:r>
                  <a:rPr lang="en-CA" dirty="0"/>
                  <a:t> Suppose we are simulating a simple 3 state Markov model: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b="0" dirty="0"/>
              </a:p>
              <a:p>
                <a:r>
                  <a:rPr lang="en-CA" b="1" dirty="0"/>
                  <a:t>Reminder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CA" dirty="0"/>
                  <a:t> is the probability of moving from state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/>
                  <a:t> to state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dirty="0"/>
                  <a:t>.</a:t>
                </a:r>
              </a:p>
              <a:p>
                <a:r>
                  <a:rPr lang="en-CA" dirty="0"/>
                  <a:t>To simulate this model we need to define an initial state vector which defines all patients in a model start.</a:t>
                </a:r>
              </a:p>
              <a:p>
                <a:r>
                  <a:rPr lang="en-CA" b="1" dirty="0"/>
                  <a:t>ASIDE: </a:t>
                </a:r>
                <a:r>
                  <a:rPr lang="en-CA" dirty="0"/>
                  <a:t>Markov models simulate a population directly</a:t>
                </a:r>
                <a:endParaRPr lang="en-CA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2437C-B0AD-8998-F8C0-D85FD5B7FB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983" y="2254758"/>
                <a:ext cx="11155680" cy="3767328"/>
              </a:xfrm>
              <a:blipFill>
                <a:blip r:embed="rId2"/>
                <a:stretch>
                  <a:fillRect l="-383" t="-64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643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AE92-3C6F-1706-D40D-F81492EE5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3CED-CB0F-3187-365B-C1B83FED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do we simulate a Markov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BCECA-8EFA-63FC-C8CB-82F38608A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6486" y="2018784"/>
                <a:ext cx="11155680" cy="3733087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CA" dirty="0"/>
                  <a:t>So we will define our Markov matrix and initial state vector with 100 individuals in state 1.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br>
                  <a:rPr lang="en-CA" b="0" dirty="0"/>
                </a:br>
                <a:br>
                  <a:rPr lang="en-CA" b="0" dirty="0"/>
                </a:b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dirty="0">
                          <a:latin typeface="Cambria Math" panose="02040503050406030204" pitchFamily="18" charset="0"/>
                        </a:rPr>
                        <m:t>[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  <m:r>
                        <a:rPr lang="en-CA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b="0" dirty="0"/>
              </a:p>
              <a:p>
                <a:pPr marL="0" indent="0">
                  <a:buNone/>
                </a:pPr>
                <a:r>
                  <a:rPr lang="en-CA" dirty="0"/>
                  <a:t>We are going to Multiply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to get our next state vector.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dirty="0"/>
                  <a:t> and repeat the process.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r>
                  <a:rPr lang="en-CA" dirty="0"/>
                  <a:t>In sum we will do the following set of operations up to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CA" dirty="0"/>
                  <a:t> many times.</a:t>
                </a: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endParaRPr lang="en-CA" dirty="0"/>
              </a:p>
              <a:p>
                <a:pPr marL="457200" lvl="1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BCECA-8EFA-63FC-C8CB-82F38608A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6486" y="2018784"/>
                <a:ext cx="11155680" cy="3733087"/>
              </a:xfrm>
              <a:blipFill>
                <a:blip r:embed="rId2"/>
                <a:stretch>
                  <a:fillRect l="-219" t="-32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AE51DB-BD71-5A00-4B92-864FB1210941}"/>
              </a:ext>
            </a:extLst>
          </p:cNvPr>
          <p:cNvSpPr txBox="1"/>
          <p:nvPr/>
        </p:nvSpPr>
        <p:spPr>
          <a:xfrm>
            <a:off x="1152339" y="5879592"/>
            <a:ext cx="10536154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If you are curious about the math behind this, this is just standard matrix multiplication. I will not </a:t>
            </a:r>
            <a:br>
              <a:rPr lang="en-CA" b="1" dirty="0"/>
            </a:br>
            <a:r>
              <a:rPr lang="en-CA" b="1" dirty="0"/>
              <a:t>review this technically as we will be using software to do the “heavy computational lifting” for us.</a:t>
            </a:r>
          </a:p>
        </p:txBody>
      </p:sp>
    </p:spTree>
    <p:extLst>
      <p:ext uri="{BB962C8B-B14F-4D97-AF65-F5344CB8AC3E}">
        <p14:creationId xmlns:p14="http://schemas.microsoft.com/office/powerpoint/2010/main" val="155683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A8CF-F5EB-D499-CFA3-E4BE86A7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Simulating A Markov Process in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5808E-6556-DC30-E9AE-16968B370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63" y="1809135"/>
            <a:ext cx="11155680" cy="1740310"/>
          </a:xfrm>
        </p:spPr>
        <p:txBody>
          <a:bodyPr/>
          <a:lstStyle/>
          <a:p>
            <a:r>
              <a:rPr lang="en-CA" dirty="0"/>
              <a:t>While there are many </a:t>
            </a:r>
            <a:r>
              <a:rPr lang="en-CA" dirty="0" err="1"/>
              <a:t>softwares</a:t>
            </a:r>
            <a:r>
              <a:rPr lang="en-CA" dirty="0"/>
              <a:t> to simulate Markov processes, one of the simplest ways to do this is in excel.</a:t>
            </a:r>
          </a:p>
          <a:p>
            <a:r>
              <a:rPr lang="en-CA" dirty="0"/>
              <a:t>We will use the </a:t>
            </a:r>
            <a:r>
              <a:rPr lang="en-CA" b="1" dirty="0"/>
              <a:t>=MMULT() </a:t>
            </a:r>
            <a:r>
              <a:rPr lang="en-CA" dirty="0"/>
              <a:t> Command to do the heavy lifting for us.</a:t>
            </a:r>
          </a:p>
          <a:p>
            <a:r>
              <a:rPr lang="en-CA" dirty="0"/>
              <a:t>In general we will have</a:t>
            </a:r>
            <a:r>
              <a:rPr lang="en-CA" b="1" dirty="0"/>
              <a:t> =MMULT(`State Vector`, `Markov Matrix`) </a:t>
            </a:r>
            <a:r>
              <a:rPr lang="en-CA" dirty="0"/>
              <a:t>as the main command.</a:t>
            </a:r>
          </a:p>
          <a:p>
            <a:r>
              <a:rPr lang="en-CA" dirty="0"/>
              <a:t>By the end of this exercise, we should have a picture as the below: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2B8A8-F9E0-8500-B3F9-40AD70AD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3549445"/>
            <a:ext cx="4851606" cy="293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54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A2F6-A2E3-8AEB-32E4-E4EC0396B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Excel Exercise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216FB-2946-CB4F-A38C-C12216E67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835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1CAC-E11B-EA0A-B947-7E59C53FA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Doing Economic Evaluation With Markov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76FED-21BF-222A-D7D0-9F3954B8D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0715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0FB5-448A-150A-FBE4-39769A1E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we need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9BB81-BAC6-4733-A638-94D0F84422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So far we have discussed how to compute Markov models with state vectors.</a:t>
                </a:r>
              </a:p>
              <a:p>
                <a:r>
                  <a:rPr lang="en-CA" dirty="0"/>
                  <a:t>The output produced is approximately how many individuals are in each state.</a:t>
                </a:r>
              </a:p>
              <a:p>
                <a:r>
                  <a:rPr lang="en-CA" dirty="0"/>
                  <a:t>We need to put a value on each state in terms of costs and effects.</a:t>
                </a:r>
              </a:p>
              <a:p>
                <a:r>
                  <a:rPr lang="en-CA" dirty="0"/>
                  <a:t>Since we are also simulating this model over time we need some way to sum the values. To do this we will use the formula for </a:t>
                </a:r>
                <a:r>
                  <a:rPr lang="en-CA" b="1" dirty="0"/>
                  <a:t>Net Present Value</a:t>
                </a:r>
                <a:br>
                  <a:rPr lang="en-CA" b="1" dirty="0"/>
                </a:b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𝐏𝐫𝐞𝐬𝐞𝐧𝐭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𝐕𝐚𝐥𝐮𝐞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𝐂𝐨𝐬𝐭𝐬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1">
                        <a:latin typeface="Cambria Math" panose="02040503050406030204" pitchFamily="18" charset="0"/>
                      </a:rPr>
                      <m:t>𝐏𝐫𝐞𝐬𝐞𝐧𝐭</m:t>
                    </m:r>
                    <m:r>
                      <a:rPr lang="en-CA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1">
                        <a:latin typeface="Cambria Math" panose="02040503050406030204" pitchFamily="18" charset="0"/>
                      </a:rPr>
                      <m:t>𝐕𝐚𝐥𝐮𝐞</m:t>
                    </m:r>
                    <m:r>
                      <a:rPr lang="en-CA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𝐄𝐟𝐟𝐞𝐜𝐭𝐬</m:t>
                    </m:r>
                    <m:r>
                      <a:rPr lang="en-CA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9BB81-BAC6-4733-A638-94D0F8442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175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07C3-AA39-59FC-224F-18903916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D77C-C87F-FB40-F035-C8A9F03D2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349" y="752112"/>
            <a:ext cx="11155680" cy="1463040"/>
          </a:xfrm>
        </p:spPr>
        <p:txBody>
          <a:bodyPr/>
          <a:lstStyle/>
          <a:p>
            <a:r>
              <a:rPr lang="en-CA" dirty="0"/>
              <a:t>The Idea of Markov Cost Effectiveness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05C018-0FC0-AE02-5B20-77F62112E048}"/>
              </a:ext>
            </a:extLst>
          </p:cNvPr>
          <p:cNvSpPr/>
          <p:nvPr/>
        </p:nvSpPr>
        <p:spPr>
          <a:xfrm>
            <a:off x="521208" y="4238625"/>
            <a:ext cx="619125" cy="5334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B1AD6A-66C5-3A53-D220-377DA24F93E1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40333" y="3886198"/>
            <a:ext cx="1526667" cy="61912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889DF6-28E8-E41C-807C-0A1A34CBE975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140333" y="4505325"/>
            <a:ext cx="1279017" cy="119804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87FB3044-4FE4-FF0D-7F7A-971A45A1546B}"/>
              </a:ext>
            </a:extLst>
          </p:cNvPr>
          <p:cNvSpPr/>
          <p:nvPr/>
        </p:nvSpPr>
        <p:spPr>
          <a:xfrm>
            <a:off x="2543175" y="3271835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7F6906B7-0BCA-025E-93D1-E278F26143F5}"/>
              </a:ext>
            </a:extLst>
          </p:cNvPr>
          <p:cNvSpPr/>
          <p:nvPr/>
        </p:nvSpPr>
        <p:spPr>
          <a:xfrm>
            <a:off x="2419350" y="5057774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B9C04B-3704-657E-6135-2E2587607364}"/>
              </a:ext>
            </a:extLst>
          </p:cNvPr>
          <p:cNvSpPr/>
          <p:nvPr/>
        </p:nvSpPr>
        <p:spPr>
          <a:xfrm>
            <a:off x="3128962" y="3470910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810708-F1C4-DE23-18EB-AC6D18A1171D}"/>
              </a:ext>
            </a:extLst>
          </p:cNvPr>
          <p:cNvSpPr/>
          <p:nvPr/>
        </p:nvSpPr>
        <p:spPr>
          <a:xfrm>
            <a:off x="5353050" y="3428997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39E79BC4-4D4E-15A0-138C-C2AF6EC4241A}"/>
              </a:ext>
            </a:extLst>
          </p:cNvPr>
          <p:cNvCxnSpPr>
            <a:cxnSpLocks/>
            <a:stCxn id="23" idx="7"/>
            <a:endCxn id="29" idx="1"/>
          </p:cNvCxnSpPr>
          <p:nvPr/>
        </p:nvCxnSpPr>
        <p:spPr>
          <a:xfrm rot="5400000" flipH="1" flipV="1">
            <a:off x="4677250" y="2795110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785C6705-E841-B5CD-33F1-1E757B7078AF}"/>
              </a:ext>
            </a:extLst>
          </p:cNvPr>
          <p:cNvCxnSpPr>
            <a:cxnSpLocks/>
            <a:stCxn id="29" idx="3"/>
            <a:endCxn id="23" idx="5"/>
          </p:cNvCxnSpPr>
          <p:nvPr/>
        </p:nvCxnSpPr>
        <p:spPr>
          <a:xfrm rot="5400000">
            <a:off x="4677250" y="3441687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30EF0F51-A112-1E9F-D9D2-CB0DFCECCAFD}"/>
              </a:ext>
            </a:extLst>
          </p:cNvPr>
          <p:cNvCxnSpPr>
            <a:cxnSpLocks/>
            <a:stCxn id="23" idx="3"/>
            <a:endCxn id="23" idx="1"/>
          </p:cNvCxnSpPr>
          <p:nvPr/>
        </p:nvCxnSpPr>
        <p:spPr>
          <a:xfrm rot="5400000" flipH="1">
            <a:off x="2939584" y="3928110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F0A8A0F4-7E1E-B422-EFE2-AF1154AE30A8}"/>
              </a:ext>
            </a:extLst>
          </p:cNvPr>
          <p:cNvCxnSpPr>
            <a:cxnSpLocks/>
            <a:stCxn id="29" idx="5"/>
            <a:endCxn id="29" idx="7"/>
          </p:cNvCxnSpPr>
          <p:nvPr/>
        </p:nvCxnSpPr>
        <p:spPr>
          <a:xfrm rot="5400000" flipH="1">
            <a:off x="5810250" y="3886197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BDD90FA0-A237-2E27-FC18-8B977ECBC104}"/>
              </a:ext>
            </a:extLst>
          </p:cNvPr>
          <p:cNvSpPr/>
          <p:nvPr/>
        </p:nvSpPr>
        <p:spPr>
          <a:xfrm>
            <a:off x="3269223" y="5191488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2291AD1-3279-05BC-FBD2-B8335B416F7A}"/>
              </a:ext>
            </a:extLst>
          </p:cNvPr>
          <p:cNvSpPr/>
          <p:nvPr/>
        </p:nvSpPr>
        <p:spPr>
          <a:xfrm>
            <a:off x="5493311" y="5149575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B6DC4104-73F6-274A-AC55-6E9ACF5EBA52}"/>
              </a:ext>
            </a:extLst>
          </p:cNvPr>
          <p:cNvCxnSpPr>
            <a:cxnSpLocks/>
            <a:stCxn id="53" idx="7"/>
            <a:endCxn id="54" idx="1"/>
          </p:cNvCxnSpPr>
          <p:nvPr/>
        </p:nvCxnSpPr>
        <p:spPr>
          <a:xfrm rot="5400000" flipH="1" flipV="1">
            <a:off x="4817511" y="4515688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D7CB89F2-DF6D-7373-B989-66D2B25EABE7}"/>
              </a:ext>
            </a:extLst>
          </p:cNvPr>
          <p:cNvCxnSpPr>
            <a:cxnSpLocks/>
            <a:stCxn id="54" idx="3"/>
            <a:endCxn id="53" idx="5"/>
          </p:cNvCxnSpPr>
          <p:nvPr/>
        </p:nvCxnSpPr>
        <p:spPr>
          <a:xfrm rot="5400000">
            <a:off x="4817511" y="5162265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3AFE58A3-1967-F715-064E-D5116A082829}"/>
              </a:ext>
            </a:extLst>
          </p:cNvPr>
          <p:cNvCxnSpPr>
            <a:cxnSpLocks/>
            <a:stCxn id="53" idx="3"/>
            <a:endCxn id="53" idx="1"/>
          </p:cNvCxnSpPr>
          <p:nvPr/>
        </p:nvCxnSpPr>
        <p:spPr>
          <a:xfrm rot="5400000" flipH="1">
            <a:off x="3079845" y="5648688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243F19C3-C975-AC80-C67E-CC054DB46F5C}"/>
              </a:ext>
            </a:extLst>
          </p:cNvPr>
          <p:cNvCxnSpPr>
            <a:cxnSpLocks/>
            <a:stCxn id="54" idx="5"/>
            <a:endCxn id="54" idx="7"/>
          </p:cNvCxnSpPr>
          <p:nvPr/>
        </p:nvCxnSpPr>
        <p:spPr>
          <a:xfrm rot="5400000" flipH="1">
            <a:off x="5950511" y="5606775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E6320AC-F89C-22C1-9256-DF12A495CA89}"/>
              </a:ext>
            </a:extLst>
          </p:cNvPr>
          <p:cNvSpPr txBox="1"/>
          <p:nvPr/>
        </p:nvSpPr>
        <p:spPr>
          <a:xfrm>
            <a:off x="647046" y="3351786"/>
            <a:ext cx="170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New Treatment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FFB4E2-C6E6-9201-3E50-A61E198F2396}"/>
              </a:ext>
            </a:extLst>
          </p:cNvPr>
          <p:cNvSpPr txBox="1"/>
          <p:nvPr/>
        </p:nvSpPr>
        <p:spPr>
          <a:xfrm>
            <a:off x="282201" y="5335695"/>
            <a:ext cx="1744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Treatment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1501729-232D-713F-6095-50910E0F993A}"/>
              </a:ext>
            </a:extLst>
          </p:cNvPr>
          <p:cNvCxnSpPr/>
          <p:nvPr/>
        </p:nvCxnSpPr>
        <p:spPr>
          <a:xfrm flipV="1">
            <a:off x="6848475" y="3428997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EA83338-07DA-1C44-B7E4-0754C5B8BADE}"/>
              </a:ext>
            </a:extLst>
          </p:cNvPr>
          <p:cNvCxnSpPr/>
          <p:nvPr/>
        </p:nvCxnSpPr>
        <p:spPr>
          <a:xfrm flipV="1">
            <a:off x="6848475" y="4238625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114317C-28A0-F10F-8909-86CC098469B5}"/>
              </a:ext>
            </a:extLst>
          </p:cNvPr>
          <p:cNvCxnSpPr/>
          <p:nvPr/>
        </p:nvCxnSpPr>
        <p:spPr>
          <a:xfrm flipV="1">
            <a:off x="7181850" y="5141392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84C1514-997C-0AEA-5C13-6261E64CEF78}"/>
              </a:ext>
            </a:extLst>
          </p:cNvPr>
          <p:cNvCxnSpPr/>
          <p:nvPr/>
        </p:nvCxnSpPr>
        <p:spPr>
          <a:xfrm flipV="1">
            <a:off x="7181850" y="5951020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D0FF58C-BB28-5AAC-A760-AFA3393CFC41}"/>
              </a:ext>
            </a:extLst>
          </p:cNvPr>
          <p:cNvSpPr txBox="1"/>
          <p:nvPr/>
        </p:nvSpPr>
        <p:spPr>
          <a:xfrm>
            <a:off x="8864422" y="3199926"/>
            <a:ext cx="87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Effects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BF94E1F-1633-7A69-3820-7D028E7E1326}"/>
              </a:ext>
            </a:extLst>
          </p:cNvPr>
          <p:cNvSpPr txBox="1"/>
          <p:nvPr/>
        </p:nvSpPr>
        <p:spPr>
          <a:xfrm>
            <a:off x="8829675" y="4026542"/>
            <a:ext cx="769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Costs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074473-7F8C-3AAB-9BDA-9A89D5DB52B8}"/>
              </a:ext>
            </a:extLst>
          </p:cNvPr>
          <p:cNvSpPr txBox="1"/>
          <p:nvPr/>
        </p:nvSpPr>
        <p:spPr>
          <a:xfrm>
            <a:off x="9134085" y="4920504"/>
            <a:ext cx="929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Effects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9CC5C57-983E-0ECA-55D7-5D4687E99DE1}"/>
              </a:ext>
            </a:extLst>
          </p:cNvPr>
          <p:cNvSpPr txBox="1"/>
          <p:nvPr/>
        </p:nvSpPr>
        <p:spPr>
          <a:xfrm>
            <a:off x="9134085" y="5755593"/>
            <a:ext cx="820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Costs </a:t>
            </a:r>
          </a:p>
        </p:txBody>
      </p:sp>
      <p:sp>
        <p:nvSpPr>
          <p:cNvPr id="96" name="Left Brace 95">
            <a:extLst>
              <a:ext uri="{FF2B5EF4-FFF2-40B4-BE49-F238E27FC236}">
                <a16:creationId xmlns:a16="http://schemas.microsoft.com/office/drawing/2014/main" id="{D7912F0B-742D-AFEF-7EE5-A56200F341DC}"/>
              </a:ext>
            </a:extLst>
          </p:cNvPr>
          <p:cNvSpPr/>
          <p:nvPr/>
        </p:nvSpPr>
        <p:spPr>
          <a:xfrm rot="10800000">
            <a:off x="9927002" y="3158616"/>
            <a:ext cx="247650" cy="2901907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B00E681-3C60-E3DA-5FBC-AA5FD2F78B35}"/>
                  </a:ext>
                </a:extLst>
              </p:cNvPr>
              <p:cNvSpPr txBox="1"/>
              <p:nvPr/>
            </p:nvSpPr>
            <p:spPr>
              <a:xfrm>
                <a:off x="10259471" y="4280538"/>
                <a:ext cx="1810688" cy="65806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𝐼𝐶𝐸𝑅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DC00B0E-D12B-3F99-0FA4-9EADBDB9D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9471" y="4280538"/>
                <a:ext cx="1810688" cy="6580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337407-6209-C354-A015-B3306E38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25" y="2079625"/>
            <a:ext cx="11155363" cy="754063"/>
          </a:xfrm>
        </p:spPr>
        <p:txBody>
          <a:bodyPr>
            <a:normAutofit/>
          </a:bodyPr>
          <a:lstStyle/>
          <a:p>
            <a:r>
              <a:rPr lang="en-CA" dirty="0"/>
              <a:t>Recall, to do a cost effectiveness analysis model we need to (1) generate costs and effects for a base treatment (2) … for a New Treatment of Interest (3) Compute the ICER.</a:t>
            </a:r>
          </a:p>
        </p:txBody>
      </p:sp>
    </p:spTree>
    <p:extLst>
      <p:ext uri="{BB962C8B-B14F-4D97-AF65-F5344CB8AC3E}">
        <p14:creationId xmlns:p14="http://schemas.microsoft.com/office/powerpoint/2010/main" val="1413241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58DB-C097-6FFB-377D-533616CC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1C30B-511F-325A-5A24-BBAAAE640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349" y="752112"/>
            <a:ext cx="11155680" cy="1463040"/>
          </a:xfrm>
        </p:spPr>
        <p:txBody>
          <a:bodyPr/>
          <a:lstStyle/>
          <a:p>
            <a:r>
              <a:rPr lang="en-CA" dirty="0"/>
              <a:t>The Idea of Markov Cost Effectiveness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0A97-6468-EC57-4F29-8583F4C94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99" y="2079137"/>
            <a:ext cx="11155680" cy="755142"/>
          </a:xfrm>
        </p:spPr>
        <p:txBody>
          <a:bodyPr>
            <a:normAutofit/>
          </a:bodyPr>
          <a:lstStyle/>
          <a:p>
            <a:r>
              <a:rPr lang="en-CA" dirty="0"/>
              <a:t>Recall, to do a cost effectiveness analysis model we need to (1) generate costs and effects for a base treatment (2) … for a New Treatment of Interest (3) Compute the ICER.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5B105C-D086-26A3-59A9-A24EADC46A89}"/>
              </a:ext>
            </a:extLst>
          </p:cNvPr>
          <p:cNvSpPr/>
          <p:nvPr/>
        </p:nvSpPr>
        <p:spPr>
          <a:xfrm>
            <a:off x="521208" y="4238625"/>
            <a:ext cx="619125" cy="5334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D68671-975F-7D79-E2D8-8393765B49B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40333" y="3886198"/>
            <a:ext cx="1526667" cy="61912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C98653-0133-33D0-DADC-074C77B6F855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140333" y="4505325"/>
            <a:ext cx="1279017" cy="119804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6FF9537E-7A6C-4AEF-426A-EEBD159689D2}"/>
              </a:ext>
            </a:extLst>
          </p:cNvPr>
          <p:cNvSpPr/>
          <p:nvPr/>
        </p:nvSpPr>
        <p:spPr>
          <a:xfrm>
            <a:off x="2543175" y="3271835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757A8B68-9812-AA52-D9C5-324EACFBDBD3}"/>
              </a:ext>
            </a:extLst>
          </p:cNvPr>
          <p:cNvSpPr/>
          <p:nvPr/>
        </p:nvSpPr>
        <p:spPr>
          <a:xfrm>
            <a:off x="2419350" y="5057774"/>
            <a:ext cx="247650" cy="1228725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6A1F8B-2BD3-3ABB-56FC-C5829843137C}"/>
              </a:ext>
            </a:extLst>
          </p:cNvPr>
          <p:cNvSpPr/>
          <p:nvPr/>
        </p:nvSpPr>
        <p:spPr>
          <a:xfrm>
            <a:off x="3128962" y="3470910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974C4F-9B0F-7F0F-D8D2-A2A7D9D89D85}"/>
              </a:ext>
            </a:extLst>
          </p:cNvPr>
          <p:cNvSpPr/>
          <p:nvPr/>
        </p:nvSpPr>
        <p:spPr>
          <a:xfrm>
            <a:off x="5353050" y="3428997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35A68A6F-83AE-A432-FAE9-6DBA6051DC0B}"/>
              </a:ext>
            </a:extLst>
          </p:cNvPr>
          <p:cNvCxnSpPr>
            <a:cxnSpLocks/>
            <a:stCxn id="23" idx="7"/>
            <a:endCxn id="29" idx="1"/>
          </p:cNvCxnSpPr>
          <p:nvPr/>
        </p:nvCxnSpPr>
        <p:spPr>
          <a:xfrm rot="5400000" flipH="1" flipV="1">
            <a:off x="4677250" y="2795110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925FAC58-F589-475B-5675-21CA72CCEA09}"/>
              </a:ext>
            </a:extLst>
          </p:cNvPr>
          <p:cNvCxnSpPr>
            <a:cxnSpLocks/>
            <a:stCxn id="29" idx="3"/>
            <a:endCxn id="23" idx="5"/>
          </p:cNvCxnSpPr>
          <p:nvPr/>
        </p:nvCxnSpPr>
        <p:spPr>
          <a:xfrm rot="5400000">
            <a:off x="4677250" y="3441687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46D3F7F6-1409-7718-6730-59AD95821E6B}"/>
              </a:ext>
            </a:extLst>
          </p:cNvPr>
          <p:cNvCxnSpPr>
            <a:cxnSpLocks/>
            <a:stCxn id="23" idx="3"/>
            <a:endCxn id="23" idx="1"/>
          </p:cNvCxnSpPr>
          <p:nvPr/>
        </p:nvCxnSpPr>
        <p:spPr>
          <a:xfrm rot="5400000" flipH="1">
            <a:off x="2939584" y="3928110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5A46654-C0BF-823F-AA60-68A6E40BB296}"/>
              </a:ext>
            </a:extLst>
          </p:cNvPr>
          <p:cNvCxnSpPr>
            <a:cxnSpLocks/>
            <a:stCxn id="29" idx="5"/>
            <a:endCxn id="29" idx="7"/>
          </p:cNvCxnSpPr>
          <p:nvPr/>
        </p:nvCxnSpPr>
        <p:spPr>
          <a:xfrm rot="5400000" flipH="1">
            <a:off x="5810250" y="3886197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6CFF14B5-C5AF-F5EE-476D-AEB64FF0C0FD}"/>
              </a:ext>
            </a:extLst>
          </p:cNvPr>
          <p:cNvSpPr/>
          <p:nvPr/>
        </p:nvSpPr>
        <p:spPr>
          <a:xfrm>
            <a:off x="3269223" y="5191488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AD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BEB802F-5B4E-DB3E-2BDC-E944805D3375}"/>
              </a:ext>
            </a:extLst>
          </p:cNvPr>
          <p:cNvSpPr/>
          <p:nvPr/>
        </p:nvSpPr>
        <p:spPr>
          <a:xfrm>
            <a:off x="5493311" y="5149575"/>
            <a:ext cx="914400" cy="914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CA9CF1B4-D224-E109-F293-950FF1C930BB}"/>
              </a:ext>
            </a:extLst>
          </p:cNvPr>
          <p:cNvCxnSpPr>
            <a:cxnSpLocks/>
            <a:stCxn id="53" idx="7"/>
            <a:endCxn id="54" idx="1"/>
          </p:cNvCxnSpPr>
          <p:nvPr/>
        </p:nvCxnSpPr>
        <p:spPr>
          <a:xfrm rot="5400000" flipH="1" flipV="1">
            <a:off x="4817511" y="4515688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4FD62073-AA11-A553-46C4-EB73A4CADAB2}"/>
              </a:ext>
            </a:extLst>
          </p:cNvPr>
          <p:cNvCxnSpPr>
            <a:cxnSpLocks/>
            <a:stCxn id="54" idx="3"/>
            <a:endCxn id="53" idx="5"/>
          </p:cNvCxnSpPr>
          <p:nvPr/>
        </p:nvCxnSpPr>
        <p:spPr>
          <a:xfrm rot="5400000">
            <a:off x="4817511" y="5162265"/>
            <a:ext cx="41913" cy="1577510"/>
          </a:xfrm>
          <a:prstGeom prst="curvedConnector3">
            <a:avLst>
              <a:gd name="adj1" fmla="val 96491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647A58C2-27E3-6298-34D0-6B88024C1ABF}"/>
              </a:ext>
            </a:extLst>
          </p:cNvPr>
          <p:cNvCxnSpPr>
            <a:cxnSpLocks/>
            <a:stCxn id="53" idx="3"/>
            <a:endCxn id="53" idx="1"/>
          </p:cNvCxnSpPr>
          <p:nvPr/>
        </p:nvCxnSpPr>
        <p:spPr>
          <a:xfrm rot="5400000" flipH="1">
            <a:off x="3079845" y="5648688"/>
            <a:ext cx="646578" cy="12700"/>
          </a:xfrm>
          <a:prstGeom prst="curvedConnector5">
            <a:avLst>
              <a:gd name="adj1" fmla="val -35355"/>
              <a:gd name="adj2" fmla="val 4270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2E2F55F3-B0D0-2F34-ABFC-816047E5145E}"/>
              </a:ext>
            </a:extLst>
          </p:cNvPr>
          <p:cNvCxnSpPr>
            <a:cxnSpLocks/>
            <a:stCxn id="54" idx="5"/>
            <a:endCxn id="54" idx="7"/>
          </p:cNvCxnSpPr>
          <p:nvPr/>
        </p:nvCxnSpPr>
        <p:spPr>
          <a:xfrm rot="5400000" flipH="1">
            <a:off x="5950511" y="5606775"/>
            <a:ext cx="646578" cy="12700"/>
          </a:xfrm>
          <a:prstGeom prst="curvedConnector5">
            <a:avLst>
              <a:gd name="adj1" fmla="val -35355"/>
              <a:gd name="adj2" fmla="val -5845583"/>
              <a:gd name="adj3" fmla="val 13535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984047F-49F4-0F12-3741-B9C8DCA0B9E3}"/>
              </a:ext>
            </a:extLst>
          </p:cNvPr>
          <p:cNvSpPr txBox="1"/>
          <p:nvPr/>
        </p:nvSpPr>
        <p:spPr>
          <a:xfrm>
            <a:off x="647046" y="3351786"/>
            <a:ext cx="170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New Treatment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F40B44-8B46-D7F4-4BCB-E72AAAA469A9}"/>
              </a:ext>
            </a:extLst>
          </p:cNvPr>
          <p:cNvSpPr txBox="1"/>
          <p:nvPr/>
        </p:nvSpPr>
        <p:spPr>
          <a:xfrm>
            <a:off x="282201" y="5335695"/>
            <a:ext cx="1744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Treatment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FEE721A-91E9-0F08-D861-6F63211A3B7B}"/>
              </a:ext>
            </a:extLst>
          </p:cNvPr>
          <p:cNvCxnSpPr/>
          <p:nvPr/>
        </p:nvCxnSpPr>
        <p:spPr>
          <a:xfrm flipV="1">
            <a:off x="6848475" y="3428997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5EF5CA7-9DC4-182D-BA41-71F31FA15892}"/>
              </a:ext>
            </a:extLst>
          </p:cNvPr>
          <p:cNvCxnSpPr/>
          <p:nvPr/>
        </p:nvCxnSpPr>
        <p:spPr>
          <a:xfrm flipV="1">
            <a:off x="6848475" y="4238625"/>
            <a:ext cx="1962150" cy="41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5F9D033-2683-EC63-20BA-F760D6851445}"/>
              </a:ext>
            </a:extLst>
          </p:cNvPr>
          <p:cNvCxnSpPr>
            <a:cxnSpLocks/>
          </p:cNvCxnSpPr>
          <p:nvPr/>
        </p:nvCxnSpPr>
        <p:spPr>
          <a:xfrm flipV="1">
            <a:off x="7181850" y="5128234"/>
            <a:ext cx="1605373" cy="5507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6BFAFB0-9699-CFCA-45A0-35CB3E94D2CE}"/>
              </a:ext>
            </a:extLst>
          </p:cNvPr>
          <p:cNvCxnSpPr>
            <a:cxnSpLocks/>
          </p:cNvCxnSpPr>
          <p:nvPr/>
        </p:nvCxnSpPr>
        <p:spPr>
          <a:xfrm>
            <a:off x="7181850" y="5992933"/>
            <a:ext cx="162877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B83FF2F-5A9E-E68C-C7E7-0575EF4DC6B4}"/>
                  </a:ext>
                </a:extLst>
              </p:cNvPr>
              <p:cNvSpPr txBox="1"/>
              <p:nvPr/>
            </p:nvSpPr>
            <p:spPr>
              <a:xfrm>
                <a:off x="8663182" y="2993268"/>
                <a:ext cx="1377813" cy="871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CA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B83FF2F-5A9E-E68C-C7E7-0575EF4DC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182" y="2993268"/>
                <a:ext cx="1377813" cy="871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2C18B23-6075-CDC5-D6F4-6582F803095B}"/>
                  </a:ext>
                </a:extLst>
              </p:cNvPr>
              <p:cNvSpPr txBox="1"/>
              <p:nvPr/>
            </p:nvSpPr>
            <p:spPr>
              <a:xfrm>
                <a:off x="8607436" y="3802896"/>
                <a:ext cx="1377813" cy="871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CA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2C18B23-6075-CDC5-D6F4-6582F8030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436" y="3802896"/>
                <a:ext cx="1377813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:a16="http://schemas.microsoft.com/office/drawing/2014/main" id="{D919C616-6DC2-D15B-D211-5A8D0FB1440C}"/>
              </a:ext>
            </a:extLst>
          </p:cNvPr>
          <p:cNvSpPr txBox="1"/>
          <p:nvPr/>
        </p:nvSpPr>
        <p:spPr>
          <a:xfrm>
            <a:off x="9134085" y="575559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 </a:t>
            </a:r>
          </a:p>
        </p:txBody>
      </p:sp>
      <p:sp>
        <p:nvSpPr>
          <p:cNvPr id="96" name="Left Brace 95">
            <a:extLst>
              <a:ext uri="{FF2B5EF4-FFF2-40B4-BE49-F238E27FC236}">
                <a16:creationId xmlns:a16="http://schemas.microsoft.com/office/drawing/2014/main" id="{4606AF6C-3D33-2986-7710-98228ADC5B3D}"/>
              </a:ext>
            </a:extLst>
          </p:cNvPr>
          <p:cNvSpPr/>
          <p:nvPr/>
        </p:nvSpPr>
        <p:spPr>
          <a:xfrm rot="10800000">
            <a:off x="9927002" y="3158616"/>
            <a:ext cx="247650" cy="2901907"/>
          </a:xfrm>
          <a:prstGeom prst="leftBrace">
            <a:avLst>
              <a:gd name="adj1" fmla="val 8333"/>
              <a:gd name="adj2" fmla="val 52542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1D6D12-A468-2F39-B53D-0ECDF837F1F7}"/>
                  </a:ext>
                </a:extLst>
              </p:cNvPr>
              <p:cNvSpPr txBox="1"/>
              <p:nvPr/>
            </p:nvSpPr>
            <p:spPr>
              <a:xfrm>
                <a:off x="10090578" y="4261631"/>
                <a:ext cx="2145972" cy="56374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1500" b="0" i="1" smtClean="0">
                          <a:latin typeface="Cambria Math" panose="02040503050406030204" pitchFamily="18" charset="0"/>
                        </a:rPr>
                        <m:t>𝐼𝐶𝐸𝑅</m:t>
                      </m:r>
                      <m:r>
                        <a:rPr lang="en-CA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5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5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𝑷𝑽</m:t>
                          </m:r>
                          <m:sSub>
                            <m:sSubPr>
                              <m:ctrlPr>
                                <a:rPr lang="en-CA" sz="15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5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CA" sz="15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CA" sz="15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5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𝑷𝑽</m:t>
                          </m:r>
                          <m:sSub>
                            <m:sSubPr>
                              <m:ctrlPr>
                                <a:rPr lang="en-CA" sz="15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5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CA" sz="15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CA" sz="1500" b="1" i="0" dirty="0">
                              <a:solidFill>
                                <a:srgbClr val="C00000"/>
                              </a:solidFill>
                            </a:rPr>
                            <m:t> </m:t>
                          </m:r>
                          <m:r>
                            <a:rPr lang="en-CA" sz="15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𝑷𝑽</m:t>
                          </m:r>
                          <m:sSub>
                            <m:sSubPr>
                              <m:ctrlPr>
                                <a:rPr lang="en-CA" sz="15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5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CA" sz="15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CA" sz="15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5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𝑷𝑽</m:t>
                          </m:r>
                          <m:sSub>
                            <m:sSubPr>
                              <m:ctrlPr>
                                <a:rPr lang="en-CA" sz="15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5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CA" sz="15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sz="1500" b="1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1D6D12-A468-2F39-B53D-0ECDF837F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578" y="4261631"/>
                <a:ext cx="2145972" cy="563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26594-21AE-0E54-29B7-3565CA80ADC4}"/>
                  </a:ext>
                </a:extLst>
              </p:cNvPr>
              <p:cNvSpPr txBox="1"/>
              <p:nvPr/>
            </p:nvSpPr>
            <p:spPr>
              <a:xfrm>
                <a:off x="8663099" y="5577176"/>
                <a:ext cx="1377813" cy="871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CA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26594-21AE-0E54-29B7-3565CA80A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099" y="5577176"/>
                <a:ext cx="1377813" cy="871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216542-B38F-0294-CF88-CC678D074A25}"/>
                  </a:ext>
                </a:extLst>
              </p:cNvPr>
              <p:cNvSpPr txBox="1"/>
              <p:nvPr/>
            </p:nvSpPr>
            <p:spPr>
              <a:xfrm>
                <a:off x="8607436" y="4715628"/>
                <a:ext cx="1377813" cy="871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CA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CA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CA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CA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216542-B38F-0294-CF88-CC678D074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436" y="4715628"/>
                <a:ext cx="1377813" cy="8714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194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779D-7B70-41D3-56A1-F3AEB462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Economic Evaluation Concerns: Discounting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79EBC-9576-6347-945B-98C721591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9348349" cy="3767328"/>
          </a:xfrm>
        </p:spPr>
        <p:txBody>
          <a:bodyPr/>
          <a:lstStyle/>
          <a:p>
            <a:r>
              <a:rPr lang="en-CA" dirty="0"/>
              <a:t>The way costs and effects are discounted are done so in a uniform manner.</a:t>
            </a:r>
          </a:p>
          <a:p>
            <a:r>
              <a:rPr lang="en-CA" dirty="0"/>
              <a:t>There will be a whole class on this topic.</a:t>
            </a:r>
          </a:p>
          <a:p>
            <a:r>
              <a:rPr lang="en-CA" dirty="0"/>
              <a:t>For now the discount rate choice should follow country specific guidelines.</a:t>
            </a:r>
          </a:p>
          <a:p>
            <a:r>
              <a:rPr lang="en-CA" dirty="0"/>
              <a:t>In Canada by the </a:t>
            </a:r>
            <a:r>
              <a:rPr lang="en-CA" b="1" dirty="0"/>
              <a:t>Canadian Drug Agency (CDA) </a:t>
            </a:r>
            <a:r>
              <a:rPr lang="en-CA" dirty="0"/>
              <a:t>a discount rate of 1.5% is</a:t>
            </a:r>
            <a:br>
              <a:rPr lang="en-CA" dirty="0"/>
            </a:br>
            <a:r>
              <a:rPr lang="en-CA" dirty="0"/>
              <a:t>recommended for both costs and effects.</a:t>
            </a:r>
          </a:p>
          <a:p>
            <a:endParaRPr lang="en-CA" b="1" dirty="0"/>
          </a:p>
        </p:txBody>
      </p:sp>
      <p:pic>
        <p:nvPicPr>
          <p:cNvPr id="4" name="Picture 3" descr="Canada's Drug Agency | CDA-AMC">
            <a:extLst>
              <a:ext uri="{FF2B5EF4-FFF2-40B4-BE49-F238E27FC236}">
                <a16:creationId xmlns:a16="http://schemas.microsoft.com/office/drawing/2014/main" id="{7BC08229-C162-B1CF-F5FB-5BBFBFD9E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608" y="2289339"/>
            <a:ext cx="3173897" cy="294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79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E62F-6F77-5B8C-2FE5-05C80CA1E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Computing a Markov Model for Cost Effectiveness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52D92-D592-8649-1CDA-BE6681FF32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038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F50D-3EE9-44F7-ACD9-CA9BF5A7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of A Markov Model: An Example with Ulcerative Colitis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60463-FA20-8B16-B3CB-6A0F3F0DD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088760" cy="3767328"/>
          </a:xfrm>
        </p:spPr>
        <p:txBody>
          <a:bodyPr/>
          <a:lstStyle/>
          <a:p>
            <a:r>
              <a:rPr lang="en-CA" dirty="0"/>
              <a:t>We finally have all the tools we need for implementing a Markov Model for cost effectiveness analysis.</a:t>
            </a:r>
          </a:p>
          <a:p>
            <a:r>
              <a:rPr lang="en-CA" dirty="0"/>
              <a:t>Suppose we are analyzing the cost-effectiveness of a new biologic drug compared to the baseline treatment of mesalamine.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F069C-296F-3CF0-784C-27D1E652D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70" y="2890815"/>
            <a:ext cx="5589822" cy="30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43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8706-9AA7-0623-5BC8-4B01EF69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F212-3BEB-49D2-7EDB-47F2BB9D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of A Markov Model: An Example with Ulcerative Colitis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B862A-0398-A150-2A5E-92248A617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have the Following Fictitious Data:</a:t>
            </a: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4FEAC4-8AD4-EB04-9631-E5ECD485BC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367800"/>
                  </p:ext>
                </p:extLst>
              </p:nvPr>
            </p:nvGraphicFramePr>
            <p:xfrm>
              <a:off x="968511" y="3338523"/>
              <a:ext cx="8127999" cy="134240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79949501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02976668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666100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CA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Mesalamine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Vedolizumab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3925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Markov Matrix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0.30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0.20</m:t>
                                          </m:r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0.80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0.15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0.40</m:t>
                                          </m:r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0.60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1569333"/>
                      </a:ext>
                    </a:extLst>
                  </a:tr>
                  <a:tr h="417150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Costs of Drugs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$15,000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$250,000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0838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4FEAC4-8AD4-EB04-9631-E5ECD485BC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367800"/>
                  </p:ext>
                </p:extLst>
              </p:nvPr>
            </p:nvGraphicFramePr>
            <p:xfrm>
              <a:off x="968511" y="3338523"/>
              <a:ext cx="8127999" cy="134240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79949501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02976668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666100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CA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Mesalamine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Vedolizumab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392514"/>
                      </a:ext>
                    </a:extLst>
                  </a:tr>
                  <a:tr h="554419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Markov Matrix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25" t="-72527" r="-100449" b="-83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25" t="-72527" r="-449" b="-83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1569333"/>
                      </a:ext>
                    </a:extLst>
                  </a:tr>
                  <a:tr h="417150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Costs of Drugs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25" t="-227536" r="-100449" b="-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25" t="-227536" r="-449" b="-10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50838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4699973-83A3-DB42-D1CA-C2033B1693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2339498"/>
                  </p:ext>
                </p:extLst>
              </p:nvPr>
            </p:nvGraphicFramePr>
            <p:xfrm>
              <a:off x="968511" y="5003527"/>
              <a:ext cx="8127999" cy="115883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79949501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02976668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666100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CA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Remission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Active Disease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3925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Utility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1569333"/>
                      </a:ext>
                    </a:extLst>
                  </a:tr>
                  <a:tr h="417150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Cost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10,000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0838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4699973-83A3-DB42-D1CA-C2033B1693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2339498"/>
                  </p:ext>
                </p:extLst>
              </p:nvPr>
            </p:nvGraphicFramePr>
            <p:xfrm>
              <a:off x="968511" y="5003527"/>
              <a:ext cx="8127999" cy="115883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79949501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02976668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666100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CA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Remission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Active Disease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3925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Utility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108197" r="-10044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108197" r="-44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1569333"/>
                      </a:ext>
                    </a:extLst>
                  </a:tr>
                  <a:tr h="417150">
                    <a:tc>
                      <a:txBody>
                        <a:bodyPr/>
                        <a:lstStyle/>
                        <a:p>
                          <a:r>
                            <a:rPr lang="en-CA" b="1" dirty="0"/>
                            <a:t>Cost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184058" r="-100449" b="-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184058" r="-449" b="-10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50838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FBC1826-6292-2D4A-9AB0-522BED44BFAF}"/>
              </a:ext>
            </a:extLst>
          </p:cNvPr>
          <p:cNvSpPr txBox="1"/>
          <p:nvPr/>
        </p:nvSpPr>
        <p:spPr>
          <a:xfrm>
            <a:off x="968511" y="2970278"/>
            <a:ext cx="269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Intervention Level Data</a:t>
            </a:r>
            <a:r>
              <a:rPr lang="en-CA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6DF13F-9D08-8033-FBBE-48DA97BD2276}"/>
              </a:ext>
            </a:extLst>
          </p:cNvPr>
          <p:cNvSpPr txBox="1"/>
          <p:nvPr/>
        </p:nvSpPr>
        <p:spPr>
          <a:xfrm>
            <a:off x="968511" y="4663614"/>
            <a:ext cx="1912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State Level Data</a:t>
            </a:r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9B355-D386-7685-A632-F9BD2D5FC2F2}"/>
              </a:ext>
            </a:extLst>
          </p:cNvPr>
          <p:cNvSpPr txBox="1"/>
          <p:nvPr/>
        </p:nvSpPr>
        <p:spPr>
          <a:xfrm>
            <a:off x="9331627" y="3338523"/>
            <a:ext cx="2722990" cy="923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Discount Rate</a:t>
            </a:r>
            <a:br>
              <a:rPr lang="en-CA" b="1" dirty="0"/>
            </a:br>
            <a:r>
              <a:rPr lang="en-CA" b="1" dirty="0"/>
              <a:t>Follows CDA Guidelines</a:t>
            </a:r>
            <a:br>
              <a:rPr lang="en-CA" b="1" dirty="0"/>
            </a:br>
            <a:r>
              <a:rPr lang="en-CA" b="1" dirty="0"/>
              <a:t>at 1.5%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4B59E7-D69A-9AEB-1425-76E706ACC78E}"/>
              </a:ext>
            </a:extLst>
          </p:cNvPr>
          <p:cNvSpPr txBox="1"/>
          <p:nvPr/>
        </p:nvSpPr>
        <p:spPr>
          <a:xfrm>
            <a:off x="9244428" y="4525114"/>
            <a:ext cx="2426364" cy="20313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/>
              <a:t>Simulate Model for</a:t>
            </a:r>
            <a:br>
              <a:rPr lang="en-CA" b="1" dirty="0"/>
            </a:br>
            <a:r>
              <a:rPr lang="en-CA" b="1" dirty="0"/>
              <a:t>10 Years (10 Periods)</a:t>
            </a:r>
            <a:br>
              <a:rPr lang="en-CA" b="1" dirty="0"/>
            </a:br>
            <a:br>
              <a:rPr lang="en-CA" b="1" dirty="0"/>
            </a:br>
            <a:r>
              <a:rPr lang="en-CA" b="1" dirty="0"/>
              <a:t>Start with 100 patients in Remission </a:t>
            </a:r>
            <a:r>
              <a:rPr lang="en-CA" b="1"/>
              <a:t>for both Drugs.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144378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57EE-E610-C9CE-06CF-BAB300B3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3D8B-4837-2657-A59A-37C95AF0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of A Markov Model: An Example with Ulcerative Colitis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689EB-7253-179F-1B14-2B536F43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Let us Build this model out in Excel!</a:t>
            </a:r>
          </a:p>
        </p:txBody>
      </p:sp>
    </p:spTree>
    <p:extLst>
      <p:ext uri="{BB962C8B-B14F-4D97-AF65-F5344CB8AC3E}">
        <p14:creationId xmlns:p14="http://schemas.microsoft.com/office/powerpoint/2010/main" val="293775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F71D-9881-AA3D-5E19-C10BDBF2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7E-9619-9DD9-BD88-314EA3B1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Expected Model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F11DB-3226-04AD-5D78-7B9AABE54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000" y="1872745"/>
            <a:ext cx="7506942" cy="444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40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EACB-42E6-88B9-A5A5-CC896A5D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13ED-A33E-C276-16CC-BE7FF59C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Expected Model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AC62E-8BF5-2B1D-785A-F8633B6C7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000" y="1872745"/>
            <a:ext cx="7506942" cy="4441043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AD1B0FD7-C75D-4AB6-6C32-FB2184047219}"/>
              </a:ext>
            </a:extLst>
          </p:cNvPr>
          <p:cNvSpPr/>
          <p:nvPr/>
        </p:nvSpPr>
        <p:spPr>
          <a:xfrm rot="10800000">
            <a:off x="7693240" y="2273146"/>
            <a:ext cx="1172110" cy="3939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E74E7-2A0F-DC7F-2252-2EB14CCC61F1}"/>
              </a:ext>
            </a:extLst>
          </p:cNvPr>
          <p:cNvSpPr txBox="1"/>
          <p:nvPr/>
        </p:nvSpPr>
        <p:spPr>
          <a:xfrm>
            <a:off x="8028150" y="1709928"/>
            <a:ext cx="39127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This is a Negative ICER.</a:t>
            </a:r>
            <a:br>
              <a:rPr lang="en-CA" b="1" dirty="0"/>
            </a:br>
            <a:r>
              <a:rPr lang="en-CA" b="1" dirty="0"/>
              <a:t>BE CAREFUL!</a:t>
            </a:r>
            <a:br>
              <a:rPr lang="en-CA" b="1" dirty="0"/>
            </a:br>
            <a:br>
              <a:rPr lang="en-CA" b="1" dirty="0"/>
            </a:br>
            <a:r>
              <a:rPr lang="en-CA" b="1" dirty="0"/>
              <a:t>Here we see Vedolizumab is Cost Saving</a:t>
            </a:r>
            <a:r>
              <a:rPr lang="en-CA" dirty="0"/>
              <a:t>  But that’s only from looking at both changes in costs and effects individually.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291966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AC3B-811B-BFB7-9D58-A2114F394B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Calibration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61294-0693-CB52-1E77-3F8531E82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1673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87EE-FD10-DE4D-641F-751EA1741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125" y="978408"/>
            <a:ext cx="11155680" cy="1463040"/>
          </a:xfrm>
        </p:spPr>
        <p:txBody>
          <a:bodyPr/>
          <a:lstStyle/>
          <a:p>
            <a:r>
              <a:rPr lang="en-CA" dirty="0"/>
              <a:t>Calibrating the Markov Transition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F6A2-7940-C9C8-126E-193673DDB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have seen that Markov models are powerful tool for representing complex </a:t>
            </a:r>
            <a:r>
              <a:rPr lang="en-CA" dirty="0" err="1"/>
              <a:t>disesase</a:t>
            </a:r>
            <a:r>
              <a:rPr lang="en-CA" dirty="0"/>
              <a:t> processes over time where events repeat.</a:t>
            </a:r>
          </a:p>
          <a:p>
            <a:r>
              <a:rPr lang="en-CA" dirty="0"/>
              <a:t>Often however we will have risks– that is the probability of moving from one state to another at different levels.</a:t>
            </a:r>
          </a:p>
          <a:p>
            <a:pPr lvl="1"/>
            <a:r>
              <a:rPr lang="en-CA" dirty="0"/>
              <a:t>Some will be reported annually.</a:t>
            </a:r>
          </a:p>
          <a:p>
            <a:pPr lvl="1"/>
            <a:r>
              <a:rPr lang="en-CA" dirty="0"/>
              <a:t>Some will be reported quarterly.</a:t>
            </a:r>
          </a:p>
          <a:p>
            <a:pPr lvl="1"/>
            <a:r>
              <a:rPr lang="en-CA" dirty="0"/>
              <a:t>Some are every six months.</a:t>
            </a:r>
          </a:p>
          <a:p>
            <a:r>
              <a:rPr lang="en-CA" dirty="0"/>
              <a:t>If our time increment is smaller than this, the transition probabilities do not represent process accurately.</a:t>
            </a:r>
          </a:p>
          <a:p>
            <a:r>
              <a:rPr lang="en-CA" dirty="0"/>
              <a:t>We also must contend with the following fact: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b="1" dirty="0"/>
              <a:t>PROBABILITIES MAY NEVER BE DIVIDED OR SCALED OVER TIME.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6322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60A8-3522-29A5-6533-81E64DF2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Properly Calibrating Probabilities.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915E29-5DDB-CEF8-D137-4C870632CA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CA" dirty="0"/>
                  <a:t>If we wish to use annual probabilities in a model which is simulated at the monthly level we need to follow the following set of steps.</a:t>
                </a:r>
              </a:p>
              <a:p>
                <a:pPr marL="457200" lvl="1" indent="0">
                  <a:buNone/>
                </a:pPr>
                <a:r>
                  <a:rPr lang="en-CA" b="1" dirty="0"/>
                  <a:t>STEP 1: Convert annual probability to annual rate.</a:t>
                </a:r>
              </a:p>
              <a:p>
                <a:pPr marL="457200" lvl="1" indent="0">
                  <a:buNone/>
                </a:pPr>
                <a:r>
                  <a:rPr lang="en-CA" b="1" dirty="0"/>
                  <a:t>STEP 2: Divide annual rate to monthly rate.</a:t>
                </a:r>
              </a:p>
              <a:p>
                <a:pPr marL="457200" lvl="1" indent="0">
                  <a:buNone/>
                </a:pPr>
                <a:r>
                  <a:rPr lang="en-CA" b="1" dirty="0"/>
                  <a:t>STEP 3: Convert monthly rate to monthly probability.</a:t>
                </a:r>
              </a:p>
              <a:p>
                <a:r>
                  <a:rPr lang="en-CA" dirty="0"/>
                  <a:t>These are the two formulas which will be useful: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CA" b="0" dirty="0"/>
              </a:p>
              <a:p>
                <a:pPr marL="0" indent="0">
                  <a:buNone/>
                </a:pPr>
                <a:r>
                  <a:rPr lang="en-CA" dirty="0"/>
                  <a:t>Where: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/>
                  <a:t>: is the “rate” associated with transition probability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CA" dirty="0"/>
                  <a:t>.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 is </a:t>
                </a:r>
                <a:r>
                  <a:rPr lang="en-CA" dirty="0" err="1"/>
                  <a:t>is</a:t>
                </a:r>
                <a:r>
                  <a:rPr lang="en-CA" dirty="0"/>
                  <a:t> the constant number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CA" dirty="0"/>
                  <a:t>.</a:t>
                </a:r>
                <a:br>
                  <a:rPr lang="en-CA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is the natural logarithm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915E29-5DDB-CEF8-D137-4C870632CA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2" t="-809" b="-17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05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4425-7ACC-9071-A651-F6A97BF2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Properly Calibrating Probabilities: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3B3B1-3D74-6C9A-5890-5A18E2B89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Suppose we want to convert this annual probability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CA" dirty="0"/>
                  <a:t> to a 6 month probability.</a:t>
                </a:r>
              </a:p>
              <a:p>
                <a:pPr marL="0" indent="0">
                  <a:buNone/>
                </a:pPr>
                <a:r>
                  <a:rPr lang="en-CA" b="1" dirty="0"/>
                  <a:t>STEP 1: Convert annual probability to annual rate.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1−0.25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=0.288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STEP 2: Divide annual rate to 6 month rate.</a:t>
                </a:r>
                <a:br>
                  <a:rPr lang="en-CA" b="1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0.288÷2≈0.144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STEP 3: Convert monthly rate to 6 month probability.</a:t>
                </a:r>
                <a:br>
                  <a:rPr lang="en-CA" b="1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−0.144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≈0.134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3B3B1-3D74-6C9A-5890-5A18E2B89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2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714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ou can't always get what you want But if you try sometimes ...">
            <a:extLst>
              <a:ext uri="{FF2B5EF4-FFF2-40B4-BE49-F238E27FC236}">
                <a16:creationId xmlns:a16="http://schemas.microsoft.com/office/drawing/2014/main" id="{9076405C-932C-2CEC-356E-871516DDBD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3" b="7652"/>
          <a:stretch>
            <a:fillRect/>
          </a:stretch>
        </p:blipFill>
        <p:spPr>
          <a:xfrm>
            <a:off x="2802292" y="554335"/>
            <a:ext cx="6872651" cy="574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4478-293C-6F9A-4B09-104380F04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Last Word On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B3BEA-D1A8-19D2-BFA9-A244B02BA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767328"/>
          </a:xfrm>
        </p:spPr>
        <p:txBody>
          <a:bodyPr/>
          <a:lstStyle/>
          <a:p>
            <a:r>
              <a:rPr lang="en-CA" dirty="0"/>
              <a:t>Markov Models appear much more complex in some ways, but simpler than others.</a:t>
            </a:r>
          </a:p>
          <a:p>
            <a:r>
              <a:rPr lang="en-CA" dirty="0"/>
              <a:t>The choice between Markov Model VS Decision Tree is a matter of intuition.</a:t>
            </a:r>
          </a:p>
          <a:p>
            <a:pPr lvl="1"/>
            <a:r>
              <a:rPr lang="en-CA" dirty="0"/>
              <a:t>As a rule of thumb: Acute Conditions– Decision Trees are Better. Chronic Conditions– Markov Models are Better.</a:t>
            </a:r>
          </a:p>
          <a:p>
            <a:pPr lvl="1"/>
            <a:r>
              <a:rPr lang="en-CA" dirty="0"/>
              <a:t>But you need to always lead with a understanding of what your clinical pathway is. </a:t>
            </a:r>
          </a:p>
          <a:p>
            <a:r>
              <a:rPr lang="en-CA" dirty="0"/>
              <a:t>We could have gone </a:t>
            </a:r>
            <a:r>
              <a:rPr lang="en-CA" dirty="0" err="1"/>
              <a:t>furter</a:t>
            </a:r>
            <a:r>
              <a:rPr lang="en-CA" dirty="0"/>
              <a:t> in depth with matrix algebra, and </a:t>
            </a:r>
            <a:r>
              <a:rPr lang="en-CA" dirty="0" err="1"/>
              <a:t>theres</a:t>
            </a:r>
            <a:r>
              <a:rPr lang="en-CA" dirty="0"/>
              <a:t> probably an advantage for looking into this further on your own. </a:t>
            </a:r>
          </a:p>
          <a:p>
            <a:r>
              <a:rPr lang="en-CA" dirty="0"/>
              <a:t>That said You will always be working with state vectors as rows, square matrices and a software package of your choice.</a:t>
            </a:r>
          </a:p>
          <a:p>
            <a:r>
              <a:rPr lang="en-CA" b="1" dirty="0"/>
              <a:t>THERE IS A PROBLEM SET WHERE I WILL ASK YOU TO GET YOUR HANDS DIRTY IN EXCEL AND PRODUCE A CEA.</a:t>
            </a:r>
          </a:p>
        </p:txBody>
      </p:sp>
    </p:spTree>
    <p:extLst>
      <p:ext uri="{BB962C8B-B14F-4D97-AF65-F5344CB8AC3E}">
        <p14:creationId xmlns:p14="http://schemas.microsoft.com/office/powerpoint/2010/main" val="75336530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7914</TotalTime>
  <Words>2090</Words>
  <Application>Microsoft Office PowerPoint</Application>
  <PresentationFormat>Widescreen</PresentationFormat>
  <Paragraphs>231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Bierstadt</vt:lpstr>
      <vt:lpstr>Cambria Math</vt:lpstr>
      <vt:lpstr>Wingdings</vt:lpstr>
      <vt:lpstr>GestaltVTI</vt:lpstr>
      <vt:lpstr>Advanced Topics in Economic Evaluation and Healthcare</vt:lpstr>
      <vt:lpstr>Lecture Overview</vt:lpstr>
      <vt:lpstr>A Conceptual Overview of Markov Models in Economic Evaluation</vt:lpstr>
      <vt:lpstr>An Introduction to Markov Models</vt:lpstr>
      <vt:lpstr>Graphically Representing A Markov Model</vt:lpstr>
      <vt:lpstr>Graphically Representing A Markov Model</vt:lpstr>
      <vt:lpstr>Graphically Representing A Markov Model</vt:lpstr>
      <vt:lpstr>Graphically Representing A Markov Model</vt:lpstr>
      <vt:lpstr>The Idea of Markov Cost Effectiveness Models</vt:lpstr>
      <vt:lpstr>The Idea of Markov Cost Effectiveness Models</vt:lpstr>
      <vt:lpstr>Technical Aspects of Markov Models and Computing</vt:lpstr>
      <vt:lpstr>Properties of Markov Models</vt:lpstr>
      <vt:lpstr>Understanding Markov Matrices: An Example</vt:lpstr>
      <vt:lpstr>Understanding Markov Matrices: An Example</vt:lpstr>
      <vt:lpstr>Understanding Markov Matrices: An Example</vt:lpstr>
      <vt:lpstr>Simulating Markov Processes</vt:lpstr>
      <vt:lpstr>How do we simulate a Markov Model?</vt:lpstr>
      <vt:lpstr>How do we simulate a Markov Model?</vt:lpstr>
      <vt:lpstr>Simulating A Markov Process in Excel</vt:lpstr>
      <vt:lpstr>Excel Exercise</vt:lpstr>
      <vt:lpstr>Doing Economic Evaluation With Markov Models</vt:lpstr>
      <vt:lpstr>What we need</vt:lpstr>
      <vt:lpstr>The Idea of Markov Cost Effectiveness Models</vt:lpstr>
      <vt:lpstr>The Idea of Markov Cost Effectiveness Models</vt:lpstr>
      <vt:lpstr>Economic Evaluation Concerns: Discounting</vt:lpstr>
      <vt:lpstr>Computing a Markov Model for Cost Effectiveness Analysis</vt:lpstr>
      <vt:lpstr>Example of A Markov Model: An Example with Ulcerative Colitis</vt:lpstr>
      <vt:lpstr>Example of A Markov Model: An Example with Ulcerative Colitis</vt:lpstr>
      <vt:lpstr>Example of A Markov Model: An Example with Ulcerative Colitis</vt:lpstr>
      <vt:lpstr>The Expected Model Output</vt:lpstr>
      <vt:lpstr>The Expected Model Output</vt:lpstr>
      <vt:lpstr>Calibration Issues</vt:lpstr>
      <vt:lpstr>Calibrating the Markov Transition Matrix</vt:lpstr>
      <vt:lpstr>Properly Calibrating Probabilities.</vt:lpstr>
      <vt:lpstr>Properly Calibrating Probabilities: An Example</vt:lpstr>
      <vt:lpstr>PowerPoint Presentation</vt:lpstr>
      <vt:lpstr>A Last Word On Markov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43</cp:revision>
  <dcterms:created xsi:type="dcterms:W3CDTF">2026-08-17T03:21:10Z</dcterms:created>
  <dcterms:modified xsi:type="dcterms:W3CDTF">2026-09-30T04:33:56Z</dcterms:modified>
</cp:coreProperties>
</file>