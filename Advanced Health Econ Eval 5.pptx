
<file path=[Content_Types].xml><?xml version="1.0" encoding="utf-8"?>
<Types xmlns="http://schemas.openxmlformats.org/package/2006/content-types">
  <Default Extension="g001" ContentType="image/pn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1" r:id="rId1"/>
  </p:sldMasterIdLst>
  <p:notesMasterIdLst>
    <p:notesMasterId r:id="rId28"/>
  </p:notesMasterIdLst>
  <p:sldIdLst>
    <p:sldId id="256" r:id="rId2"/>
    <p:sldId id="311" r:id="rId3"/>
    <p:sldId id="297" r:id="rId4"/>
    <p:sldId id="296" r:id="rId5"/>
    <p:sldId id="289" r:id="rId6"/>
    <p:sldId id="290" r:id="rId7"/>
    <p:sldId id="291" r:id="rId8"/>
    <p:sldId id="278" r:id="rId9"/>
    <p:sldId id="280" r:id="rId10"/>
    <p:sldId id="307" r:id="rId11"/>
    <p:sldId id="298" r:id="rId12"/>
    <p:sldId id="299" r:id="rId13"/>
    <p:sldId id="300" r:id="rId14"/>
    <p:sldId id="301" r:id="rId15"/>
    <p:sldId id="303" r:id="rId16"/>
    <p:sldId id="304" r:id="rId17"/>
    <p:sldId id="302" r:id="rId18"/>
    <p:sldId id="310" r:id="rId19"/>
    <p:sldId id="292" r:id="rId20"/>
    <p:sldId id="279" r:id="rId21"/>
    <p:sldId id="282" r:id="rId22"/>
    <p:sldId id="305" r:id="rId23"/>
    <p:sldId id="309" r:id="rId24"/>
    <p:sldId id="293" r:id="rId25"/>
    <p:sldId id="306" r:id="rId26"/>
    <p:sldId id="29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4" autoAdjust="0"/>
    <p:restoredTop sz="92996" autoAdjust="0"/>
  </p:normalViewPr>
  <p:slideViewPr>
    <p:cSldViewPr snapToGrid="0">
      <p:cViewPr varScale="1">
        <p:scale>
          <a:sx n="104" d="100"/>
          <a:sy n="104" d="100"/>
        </p:scale>
        <p:origin x="72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285F2B-9DB3-46C6-BD28-BD611964EFEF}" type="datetimeFigureOut">
              <a:rPr lang="en-CA" smtClean="0"/>
              <a:t>2026-09-17</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E760D0-8468-434B-992C-0B7D2D93019E}" type="slidenum">
              <a:rPr lang="en-CA" smtClean="0"/>
              <a:t>‹#›</a:t>
            </a:fld>
            <a:endParaRPr lang="en-CA"/>
          </a:p>
        </p:txBody>
      </p:sp>
    </p:spTree>
    <p:extLst>
      <p:ext uri="{BB962C8B-B14F-4D97-AF65-F5344CB8AC3E}">
        <p14:creationId xmlns:p14="http://schemas.microsoft.com/office/powerpoint/2010/main" val="1054136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E3E61FF-07A4-4C6C-B06F-DD1DA8ACF568}" type="slidenum">
              <a:rPr lang="en-CA" smtClean="0"/>
              <a:t>9</a:t>
            </a:fld>
            <a:endParaRPr lang="en-CA"/>
          </a:p>
        </p:txBody>
      </p:sp>
    </p:spTree>
    <p:extLst>
      <p:ext uri="{BB962C8B-B14F-4D97-AF65-F5344CB8AC3E}">
        <p14:creationId xmlns:p14="http://schemas.microsoft.com/office/powerpoint/2010/main" val="2039345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9/17/2026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78024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9/17/2026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123097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9/17/2026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9826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9/17/2026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002187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9/17/2026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05767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9/17/2026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33923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9/17/2026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840889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9/17/2026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54749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9/17/2026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18625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9/17/2026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119280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9/17/2026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5958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9/17/2026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066053621"/>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70" r:id="rId6"/>
    <p:sldLayoutId id="2147483775" r:id="rId7"/>
    <p:sldLayoutId id="2147483771" r:id="rId8"/>
    <p:sldLayoutId id="2147483772" r:id="rId9"/>
    <p:sldLayoutId id="2147483773" r:id="rId10"/>
    <p:sldLayoutId id="2147483774"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g001"/><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g001"/><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5820888B-4EA5-E0E8-6D52-7733E1E774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813863-F928-09F7-33F8-93C103CEAA85}"/>
              </a:ext>
            </a:extLst>
          </p:cNvPr>
          <p:cNvSpPr>
            <a:spLocks noGrp="1"/>
          </p:cNvSpPr>
          <p:nvPr>
            <p:ph type="ctrTitle"/>
          </p:nvPr>
        </p:nvSpPr>
        <p:spPr>
          <a:xfrm>
            <a:off x="521208" y="978408"/>
            <a:ext cx="3397649" cy="3303764"/>
          </a:xfrm>
        </p:spPr>
        <p:txBody>
          <a:bodyPr anchor="t">
            <a:normAutofit/>
          </a:bodyPr>
          <a:lstStyle/>
          <a:p>
            <a:pPr>
              <a:lnSpc>
                <a:spcPct val="90000"/>
              </a:lnSpc>
            </a:pPr>
            <a:r>
              <a:rPr lang="en-US" sz="3700" dirty="0"/>
              <a:t>Advanced Topics in Economic Evaluation and Healthcare</a:t>
            </a:r>
            <a:endParaRPr lang="en-CA" sz="3700" dirty="0"/>
          </a:p>
        </p:txBody>
      </p:sp>
      <p:sp>
        <p:nvSpPr>
          <p:cNvPr id="3" name="Subtitle 2">
            <a:extLst>
              <a:ext uri="{FF2B5EF4-FFF2-40B4-BE49-F238E27FC236}">
                <a16:creationId xmlns:a16="http://schemas.microsoft.com/office/drawing/2014/main" id="{DB04B19C-1926-B464-1194-E2E07EBD9E44}"/>
              </a:ext>
            </a:extLst>
          </p:cNvPr>
          <p:cNvSpPr>
            <a:spLocks noGrp="1"/>
          </p:cNvSpPr>
          <p:nvPr>
            <p:ph type="subTitle" idx="1"/>
          </p:nvPr>
        </p:nvSpPr>
        <p:spPr>
          <a:xfrm>
            <a:off x="521208" y="4354633"/>
            <a:ext cx="3397649" cy="1706533"/>
          </a:xfrm>
        </p:spPr>
        <p:txBody>
          <a:bodyPr anchor="t">
            <a:normAutofit/>
          </a:bodyPr>
          <a:lstStyle/>
          <a:p>
            <a:r>
              <a:rPr lang="en-US" dirty="0"/>
              <a:t>Lecture #5: Deterministic Sensitivity Analysis </a:t>
            </a:r>
            <a:endParaRPr lang="en-CA" dirty="0"/>
          </a:p>
        </p:txBody>
      </p:sp>
      <p:sp>
        <p:nvSpPr>
          <p:cNvPr id="35" name="Freeform: Shape 34">
            <a:extLst>
              <a:ext uri="{FF2B5EF4-FFF2-40B4-BE49-F238E27FC236}">
                <a16:creationId xmlns:a16="http://schemas.microsoft.com/office/drawing/2014/main" id="{06B5A8BF-0680-F9A7-27B1-3971EC9347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Logo Request Form - McMaster Brand">
            <a:extLst>
              <a:ext uri="{FF2B5EF4-FFF2-40B4-BE49-F238E27FC236}">
                <a16:creationId xmlns:a16="http://schemas.microsoft.com/office/drawing/2014/main" id="{9B664600-1FAC-3307-6550-FD235344C1A8}"/>
              </a:ext>
            </a:extLst>
          </p:cNvPr>
          <p:cNvPicPr>
            <a:picLocks noChangeAspect="1"/>
          </p:cNvPicPr>
          <p:nvPr/>
        </p:nvPicPr>
        <p:blipFill>
          <a:blip r:embed="rId2"/>
          <a:stretch>
            <a:fillRect/>
          </a:stretch>
        </p:blipFill>
        <p:spPr>
          <a:xfrm>
            <a:off x="6585625" y="5679630"/>
            <a:ext cx="5192171" cy="1005924"/>
          </a:xfrm>
          <a:prstGeom prst="rect">
            <a:avLst/>
          </a:prstGeom>
        </p:spPr>
      </p:pic>
    </p:spTree>
    <p:extLst>
      <p:ext uri="{BB962C8B-B14F-4D97-AF65-F5344CB8AC3E}">
        <p14:creationId xmlns:p14="http://schemas.microsoft.com/office/powerpoint/2010/main" val="38173063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C7B72-A25F-DA39-CB7F-83E3F44DB45C}"/>
              </a:ext>
            </a:extLst>
          </p:cNvPr>
          <p:cNvSpPr>
            <a:spLocks noGrp="1"/>
          </p:cNvSpPr>
          <p:nvPr>
            <p:ph type="title"/>
          </p:nvPr>
        </p:nvSpPr>
        <p:spPr/>
        <p:txBody>
          <a:bodyPr/>
          <a:lstStyle/>
          <a:p>
            <a:r>
              <a:rPr lang="en-CA" dirty="0"/>
              <a:t>Lecture Overview</a:t>
            </a:r>
          </a:p>
        </p:txBody>
      </p:sp>
      <p:sp>
        <p:nvSpPr>
          <p:cNvPr id="3" name="Content Placeholder 2">
            <a:extLst>
              <a:ext uri="{FF2B5EF4-FFF2-40B4-BE49-F238E27FC236}">
                <a16:creationId xmlns:a16="http://schemas.microsoft.com/office/drawing/2014/main" id="{D5D3326F-4BA5-611C-E511-2EE80A5D25E0}"/>
              </a:ext>
            </a:extLst>
          </p:cNvPr>
          <p:cNvSpPr>
            <a:spLocks noGrp="1"/>
          </p:cNvSpPr>
          <p:nvPr>
            <p:ph idx="1"/>
          </p:nvPr>
        </p:nvSpPr>
        <p:spPr/>
        <p:txBody>
          <a:bodyPr/>
          <a:lstStyle/>
          <a:p>
            <a:r>
              <a:rPr lang="en-CA" dirty="0"/>
              <a:t>In this lecture we will discuss Deterministic Sensitivity Analysis. We will discuss</a:t>
            </a:r>
          </a:p>
          <a:p>
            <a:pPr marL="800100" lvl="1" indent="-342900">
              <a:buFont typeface="+mj-lt"/>
              <a:buAutoNum type="arabicPeriod"/>
            </a:pPr>
            <a:r>
              <a:rPr lang="en-CA" dirty="0"/>
              <a:t>What sensitivity analysis is.</a:t>
            </a:r>
          </a:p>
          <a:p>
            <a:pPr marL="800100" lvl="1" indent="-342900">
              <a:buFont typeface="+mj-lt"/>
              <a:buAutoNum type="arabicPeriod"/>
            </a:pPr>
            <a:r>
              <a:rPr lang="en-CA" dirty="0"/>
              <a:t>Types of Sensitivity Analysis</a:t>
            </a:r>
          </a:p>
          <a:p>
            <a:pPr marL="800100" lvl="1" indent="-342900">
              <a:buFont typeface="+mj-lt"/>
              <a:buAutoNum type="arabicPeriod"/>
            </a:pPr>
            <a:r>
              <a:rPr lang="en-CA" dirty="0"/>
              <a:t>Deterministic Sensitivity Analysis: One Way Analysis.</a:t>
            </a:r>
          </a:p>
          <a:p>
            <a:pPr marL="800100" lvl="1" indent="-342900">
              <a:buFont typeface="+mj-lt"/>
              <a:buAutoNum type="arabicPeriod"/>
            </a:pPr>
            <a:r>
              <a:rPr lang="en-CA" dirty="0"/>
              <a:t>Sensitivity Analysis with Multiple Comparators.</a:t>
            </a:r>
          </a:p>
          <a:p>
            <a:pPr marL="800100" lvl="1" indent="-342900">
              <a:buFont typeface="+mj-lt"/>
              <a:buAutoNum type="arabicPeriod"/>
            </a:pPr>
            <a:r>
              <a:rPr lang="en-CA" dirty="0"/>
              <a:t>Two Way sensitivity Analysis.</a:t>
            </a:r>
          </a:p>
          <a:p>
            <a:r>
              <a:rPr lang="en-CA" dirty="0"/>
              <a:t>By the end of this lecture you should have a sense of deterministic sensitivity analysis and how it may support model results.</a:t>
            </a:r>
          </a:p>
        </p:txBody>
      </p:sp>
    </p:spTree>
    <p:extLst>
      <p:ext uri="{BB962C8B-B14F-4D97-AF65-F5344CB8AC3E}">
        <p14:creationId xmlns:p14="http://schemas.microsoft.com/office/powerpoint/2010/main" val="568316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7A945-1908-495F-7C49-98FF4DAAB7FB}"/>
              </a:ext>
            </a:extLst>
          </p:cNvPr>
          <p:cNvSpPr>
            <a:spLocks noGrp="1"/>
          </p:cNvSpPr>
          <p:nvPr>
            <p:ph type="ctrTitle"/>
          </p:nvPr>
        </p:nvSpPr>
        <p:spPr/>
        <p:txBody>
          <a:bodyPr/>
          <a:lstStyle/>
          <a:p>
            <a:r>
              <a:rPr lang="en-CA" dirty="0"/>
              <a:t>An Introduction to Sensitivity Analysis</a:t>
            </a:r>
          </a:p>
        </p:txBody>
      </p:sp>
      <p:sp>
        <p:nvSpPr>
          <p:cNvPr id="3" name="Subtitle 2">
            <a:extLst>
              <a:ext uri="{FF2B5EF4-FFF2-40B4-BE49-F238E27FC236}">
                <a16:creationId xmlns:a16="http://schemas.microsoft.com/office/drawing/2014/main" id="{3E6E4DC7-7B04-2E70-F194-6173F1975192}"/>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3732809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ED445-AA75-18D5-CDE9-DA215FDA4753}"/>
              </a:ext>
            </a:extLst>
          </p:cNvPr>
          <p:cNvSpPr>
            <a:spLocks noGrp="1"/>
          </p:cNvSpPr>
          <p:nvPr>
            <p:ph type="title"/>
          </p:nvPr>
        </p:nvSpPr>
        <p:spPr/>
        <p:txBody>
          <a:bodyPr/>
          <a:lstStyle/>
          <a:p>
            <a:r>
              <a:rPr lang="en-CA" dirty="0"/>
              <a:t>What is Sensitivity Analysis </a:t>
            </a:r>
          </a:p>
        </p:txBody>
      </p:sp>
      <p:sp>
        <p:nvSpPr>
          <p:cNvPr id="3" name="Content Placeholder 2">
            <a:extLst>
              <a:ext uri="{FF2B5EF4-FFF2-40B4-BE49-F238E27FC236}">
                <a16:creationId xmlns:a16="http://schemas.microsoft.com/office/drawing/2014/main" id="{FBA42B4D-1C3F-9A1D-F9A2-D1095AA59532}"/>
              </a:ext>
            </a:extLst>
          </p:cNvPr>
          <p:cNvSpPr>
            <a:spLocks noGrp="1"/>
          </p:cNvSpPr>
          <p:nvPr>
            <p:ph idx="1"/>
          </p:nvPr>
        </p:nvSpPr>
        <p:spPr>
          <a:xfrm>
            <a:off x="587883" y="1949958"/>
            <a:ext cx="11155680" cy="3767328"/>
          </a:xfrm>
        </p:spPr>
        <p:txBody>
          <a:bodyPr/>
          <a:lstStyle/>
          <a:p>
            <a:r>
              <a:rPr lang="en-CA" b="1" dirty="0"/>
              <a:t>Sensitivity Analysis </a:t>
            </a:r>
            <a:r>
              <a:rPr lang="en-CA" dirty="0"/>
              <a:t>is the process of examining how change in different model inputs impact model output.</a:t>
            </a:r>
          </a:p>
          <a:p>
            <a:r>
              <a:rPr lang="en-CA" dirty="0"/>
              <a:t>This is included as an important part of nearly every economic evaluation because decision analytic models are built upon </a:t>
            </a:r>
            <a:r>
              <a:rPr lang="en-CA" b="1" dirty="0"/>
              <a:t>Assumptions.</a:t>
            </a:r>
          </a:p>
          <a:p>
            <a:r>
              <a:rPr lang="en-CA" dirty="0"/>
              <a:t>Some of these assumptions are (but not limited to):</a:t>
            </a:r>
          </a:p>
          <a:p>
            <a:pPr marL="800100" lvl="1" indent="-342900">
              <a:buFont typeface="+mj-lt"/>
              <a:buAutoNum type="arabicPeriod"/>
            </a:pPr>
            <a:r>
              <a:rPr lang="en-CA" dirty="0"/>
              <a:t>Assumptions about the nature of the clinical pathway.</a:t>
            </a:r>
          </a:p>
          <a:p>
            <a:pPr marL="800100" lvl="1" indent="-342900">
              <a:buFont typeface="+mj-lt"/>
              <a:buAutoNum type="arabicPeriod"/>
            </a:pPr>
            <a:r>
              <a:rPr lang="en-CA" dirty="0"/>
              <a:t>Assumptions about the risk of adverse events.</a:t>
            </a:r>
          </a:p>
          <a:p>
            <a:pPr marL="800100" lvl="1" indent="-342900">
              <a:buFont typeface="+mj-lt"/>
              <a:buAutoNum type="arabicPeriod"/>
            </a:pPr>
            <a:r>
              <a:rPr lang="en-CA" dirty="0"/>
              <a:t>Assumptions about the Costs and Effects in each health state.</a:t>
            </a:r>
          </a:p>
          <a:p>
            <a:pPr marL="800100" lvl="1" indent="-342900">
              <a:buFont typeface="+mj-lt"/>
              <a:buAutoNum type="arabicPeriod"/>
            </a:pPr>
            <a:r>
              <a:rPr lang="en-CA" dirty="0"/>
              <a:t>Assumptions about the relevant Clinical Comparators.</a:t>
            </a:r>
          </a:p>
          <a:p>
            <a:r>
              <a:rPr lang="en-CA" dirty="0"/>
              <a:t>Our goal is to answer the following question:</a:t>
            </a:r>
            <a:br>
              <a:rPr lang="en-CA" dirty="0"/>
            </a:br>
            <a:r>
              <a:rPr lang="en-CA" dirty="0"/>
              <a:t>	</a:t>
            </a:r>
            <a:r>
              <a:rPr lang="en-CA" b="1" i="1" dirty="0"/>
              <a:t>how sensitive is the computed ICER to changes in each of these assumptions.</a:t>
            </a:r>
            <a:endParaRPr lang="en-CA" dirty="0"/>
          </a:p>
        </p:txBody>
      </p:sp>
    </p:spTree>
    <p:extLst>
      <p:ext uri="{BB962C8B-B14F-4D97-AF65-F5344CB8AC3E}">
        <p14:creationId xmlns:p14="http://schemas.microsoft.com/office/powerpoint/2010/main" val="810732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89CB2-D6AD-7C8F-87D7-02F5060880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458930-8297-5DC7-2E50-EB8A5A94407B}"/>
              </a:ext>
            </a:extLst>
          </p:cNvPr>
          <p:cNvSpPr>
            <a:spLocks noGrp="1"/>
          </p:cNvSpPr>
          <p:nvPr>
            <p:ph type="title"/>
          </p:nvPr>
        </p:nvSpPr>
        <p:spPr>
          <a:xfrm>
            <a:off x="482600" y="597408"/>
            <a:ext cx="10634472" cy="1117092"/>
          </a:xfrm>
        </p:spPr>
        <p:txBody>
          <a:bodyPr/>
          <a:lstStyle/>
          <a:p>
            <a:r>
              <a:rPr lang="en-CA" sz="4800" dirty="0"/>
              <a:t>Types of Sensitivity Analysis</a:t>
            </a:r>
          </a:p>
        </p:txBody>
      </p:sp>
      <p:sp>
        <p:nvSpPr>
          <p:cNvPr id="3" name="Content Placeholder 2">
            <a:extLst>
              <a:ext uri="{FF2B5EF4-FFF2-40B4-BE49-F238E27FC236}">
                <a16:creationId xmlns:a16="http://schemas.microsoft.com/office/drawing/2014/main" id="{409308B7-172A-1C1F-8D2C-E02832B6E9ED}"/>
              </a:ext>
            </a:extLst>
          </p:cNvPr>
          <p:cNvSpPr>
            <a:spLocks noGrp="1"/>
          </p:cNvSpPr>
          <p:nvPr>
            <p:ph idx="1"/>
          </p:nvPr>
        </p:nvSpPr>
        <p:spPr>
          <a:xfrm>
            <a:off x="482600" y="1943100"/>
            <a:ext cx="10506991" cy="3936491"/>
          </a:xfrm>
        </p:spPr>
        <p:txBody>
          <a:bodyPr>
            <a:normAutofit lnSpcReduction="10000"/>
          </a:bodyPr>
          <a:lstStyle/>
          <a:p>
            <a:pPr marL="342900" indent="-342900">
              <a:buFont typeface="Wingdings" panose="05000000000000000000" pitchFamily="2" charset="2"/>
              <a:buChar char="§"/>
            </a:pPr>
            <a:r>
              <a:rPr lang="en-CA" sz="2400" dirty="0"/>
              <a:t>There are three type of sensitivity analysis:</a:t>
            </a:r>
          </a:p>
          <a:p>
            <a:pPr marL="1143000" lvl="1" indent="-457200">
              <a:buFont typeface="+mj-lt"/>
              <a:buAutoNum type="arabicPeriod"/>
            </a:pPr>
            <a:r>
              <a:rPr lang="en-CA" sz="2400" dirty="0"/>
              <a:t>One-way sensitivity analysis.</a:t>
            </a:r>
          </a:p>
          <a:p>
            <a:pPr marL="1143000" lvl="1" indent="-457200">
              <a:buFont typeface="+mj-lt"/>
              <a:buAutoNum type="arabicPeriod"/>
            </a:pPr>
            <a:r>
              <a:rPr lang="en-CA" sz="2400" dirty="0"/>
              <a:t>Two-way sensitivity analysis.</a:t>
            </a:r>
          </a:p>
          <a:p>
            <a:pPr marL="1143000" lvl="1" indent="-457200">
              <a:buFont typeface="+mj-lt"/>
              <a:buAutoNum type="arabicPeriod"/>
            </a:pPr>
            <a:r>
              <a:rPr lang="en-CA" sz="2400" dirty="0"/>
              <a:t>Probabilistic sensitivity analysis.</a:t>
            </a:r>
          </a:p>
          <a:p>
            <a:pPr marL="457200" indent="-457200">
              <a:buFont typeface="Wingdings" panose="05000000000000000000" pitchFamily="2" charset="2"/>
              <a:buChar char="§"/>
            </a:pPr>
            <a:r>
              <a:rPr lang="en-CA" sz="2400" dirty="0"/>
              <a:t>The first two on this list are often grouped together and called </a:t>
            </a:r>
            <a:r>
              <a:rPr lang="en-CA" sz="2400" b="1" dirty="0"/>
              <a:t>Deterministic Sensitivity Analysis</a:t>
            </a:r>
            <a:r>
              <a:rPr lang="en-CA" sz="2400" dirty="0"/>
              <a:t>.</a:t>
            </a:r>
          </a:p>
          <a:p>
            <a:pPr marL="457200" indent="-457200">
              <a:buFont typeface="Wingdings" panose="05000000000000000000" pitchFamily="2" charset="2"/>
              <a:buChar char="§"/>
            </a:pPr>
            <a:r>
              <a:rPr lang="en-CA" sz="2400" dirty="0"/>
              <a:t>This is called deterministic because we will be directly in control of how much each input may change. </a:t>
            </a:r>
            <a:r>
              <a:rPr lang="en-CA" sz="2400" i="1" dirty="0"/>
              <a:t>(You may be asking </a:t>
            </a:r>
            <a:r>
              <a:rPr lang="en-CA" sz="2400" i="1" dirty="0" err="1"/>
              <a:t>whats</a:t>
            </a:r>
            <a:r>
              <a:rPr lang="en-CA" sz="2400" i="1" dirty="0"/>
              <a:t> the alternative? That’s Probabilistic Sensitivity Analysis which will be discussed next class)</a:t>
            </a:r>
          </a:p>
        </p:txBody>
      </p:sp>
    </p:spTree>
    <p:extLst>
      <p:ext uri="{BB962C8B-B14F-4D97-AF65-F5344CB8AC3E}">
        <p14:creationId xmlns:p14="http://schemas.microsoft.com/office/powerpoint/2010/main" val="3801465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1074F-DB21-2EA7-0663-CB17DEC503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2B08C4-70CF-F0F7-78BC-993982647721}"/>
              </a:ext>
            </a:extLst>
          </p:cNvPr>
          <p:cNvSpPr>
            <a:spLocks noGrp="1"/>
          </p:cNvSpPr>
          <p:nvPr>
            <p:ph type="title"/>
          </p:nvPr>
        </p:nvSpPr>
        <p:spPr>
          <a:xfrm>
            <a:off x="482600" y="597408"/>
            <a:ext cx="10634472" cy="1117092"/>
          </a:xfrm>
        </p:spPr>
        <p:txBody>
          <a:bodyPr>
            <a:normAutofit fontScale="90000"/>
          </a:bodyPr>
          <a:lstStyle/>
          <a:p>
            <a:r>
              <a:rPr lang="en-CA" sz="4800" dirty="0"/>
              <a:t>What do we apply sensitivity analysis to?</a:t>
            </a:r>
          </a:p>
        </p:txBody>
      </p:sp>
      <p:sp>
        <p:nvSpPr>
          <p:cNvPr id="3" name="Content Placeholder 2">
            <a:extLst>
              <a:ext uri="{FF2B5EF4-FFF2-40B4-BE49-F238E27FC236}">
                <a16:creationId xmlns:a16="http://schemas.microsoft.com/office/drawing/2014/main" id="{AF6F4C45-C69A-374A-4C1F-6CDDEC398717}"/>
              </a:ext>
            </a:extLst>
          </p:cNvPr>
          <p:cNvSpPr>
            <a:spLocks noGrp="1"/>
          </p:cNvSpPr>
          <p:nvPr>
            <p:ph idx="1"/>
          </p:nvPr>
        </p:nvSpPr>
        <p:spPr>
          <a:xfrm>
            <a:off x="482600" y="1943100"/>
            <a:ext cx="10506991" cy="3936491"/>
          </a:xfrm>
        </p:spPr>
        <p:txBody>
          <a:bodyPr>
            <a:normAutofit lnSpcReduction="10000"/>
          </a:bodyPr>
          <a:lstStyle/>
          <a:p>
            <a:pPr marL="342900" indent="-342900">
              <a:buFont typeface="Wingdings" panose="05000000000000000000" pitchFamily="2" charset="2"/>
              <a:buChar char="§"/>
            </a:pPr>
            <a:r>
              <a:rPr lang="en-CA" sz="2400" dirty="0"/>
              <a:t>There may be uncertainty about different parts of a model not limited to but including:</a:t>
            </a:r>
          </a:p>
          <a:p>
            <a:pPr marL="800100" lvl="1" indent="-342900">
              <a:buFontTx/>
              <a:buChar char="-"/>
            </a:pPr>
            <a:r>
              <a:rPr lang="en-CA" sz="2200" dirty="0"/>
              <a:t>Probability of events.</a:t>
            </a:r>
          </a:p>
          <a:p>
            <a:pPr marL="800100" lvl="1" indent="-342900">
              <a:buFontTx/>
              <a:buChar char="-"/>
            </a:pPr>
            <a:r>
              <a:rPr lang="en-CA" sz="2200" dirty="0"/>
              <a:t>Costs in each state of the model.</a:t>
            </a:r>
          </a:p>
          <a:p>
            <a:pPr marL="800100" lvl="1" indent="-342900">
              <a:buFontTx/>
              <a:buChar char="-"/>
            </a:pPr>
            <a:r>
              <a:rPr lang="en-CA" sz="2200" dirty="0"/>
              <a:t>Utilities in each state of a model.</a:t>
            </a:r>
          </a:p>
          <a:p>
            <a:pPr>
              <a:buFont typeface="Wingdings" panose="05000000000000000000" pitchFamily="2" charset="2"/>
              <a:buChar char="§"/>
            </a:pPr>
            <a:r>
              <a:rPr lang="en-CA" sz="2400" b="1" dirty="0"/>
              <a:t>Model structure remains unchanged only inputs change.</a:t>
            </a:r>
            <a:endParaRPr lang="en-CA" sz="2400" dirty="0"/>
          </a:p>
          <a:p>
            <a:pPr marL="342900" indent="-342900">
              <a:buFont typeface="Wingdings" panose="05000000000000000000" pitchFamily="2" charset="2"/>
              <a:buChar char="§"/>
            </a:pPr>
            <a:r>
              <a:rPr lang="en-CA" sz="2400" dirty="0"/>
              <a:t>Ultimately we are interested in seeing how the variation in model impacts the computed ICER which defines the cost-effectiveness the drug or technology in question</a:t>
            </a:r>
            <a:r>
              <a:rPr lang="en-CA" dirty="0"/>
              <a:t>.</a:t>
            </a:r>
          </a:p>
        </p:txBody>
      </p:sp>
    </p:spTree>
    <p:extLst>
      <p:ext uri="{BB962C8B-B14F-4D97-AF65-F5344CB8AC3E}">
        <p14:creationId xmlns:p14="http://schemas.microsoft.com/office/powerpoint/2010/main" val="1799032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E924A-0A6A-A866-3AFA-CFC9B7C76EA6}"/>
              </a:ext>
            </a:extLst>
          </p:cNvPr>
          <p:cNvSpPr>
            <a:spLocks noGrp="1"/>
          </p:cNvSpPr>
          <p:nvPr>
            <p:ph type="ctrTitle"/>
          </p:nvPr>
        </p:nvSpPr>
        <p:spPr/>
        <p:txBody>
          <a:bodyPr/>
          <a:lstStyle/>
          <a:p>
            <a:r>
              <a:rPr lang="en-CA" dirty="0"/>
              <a:t>One Way Sensitivity Analysis</a:t>
            </a:r>
          </a:p>
        </p:txBody>
      </p:sp>
      <p:sp>
        <p:nvSpPr>
          <p:cNvPr id="3" name="Subtitle 2">
            <a:extLst>
              <a:ext uri="{FF2B5EF4-FFF2-40B4-BE49-F238E27FC236}">
                <a16:creationId xmlns:a16="http://schemas.microsoft.com/office/drawing/2014/main" id="{1A531551-5C0E-E550-D08B-36EE77E6AB40}"/>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2739839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FDB73-8D75-24E2-3EE8-7E0D5467BB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98F031-E30E-F0CF-9DB5-E51B7ACD6E95}"/>
              </a:ext>
            </a:extLst>
          </p:cNvPr>
          <p:cNvSpPr>
            <a:spLocks noGrp="1"/>
          </p:cNvSpPr>
          <p:nvPr>
            <p:ph type="title"/>
          </p:nvPr>
        </p:nvSpPr>
        <p:spPr>
          <a:xfrm>
            <a:off x="482600" y="597408"/>
            <a:ext cx="10634472" cy="1117092"/>
          </a:xfrm>
        </p:spPr>
        <p:txBody>
          <a:bodyPr/>
          <a:lstStyle/>
          <a:p>
            <a:r>
              <a:rPr lang="en-CA" sz="4800" dirty="0"/>
              <a:t>One-way Sensitivity Analysis</a:t>
            </a:r>
          </a:p>
        </p:txBody>
      </p:sp>
      <p:sp>
        <p:nvSpPr>
          <p:cNvPr id="3" name="Content Placeholder 2">
            <a:extLst>
              <a:ext uri="{FF2B5EF4-FFF2-40B4-BE49-F238E27FC236}">
                <a16:creationId xmlns:a16="http://schemas.microsoft.com/office/drawing/2014/main" id="{AEFEB813-9CD3-B093-4F5F-52DA45DD8947}"/>
              </a:ext>
            </a:extLst>
          </p:cNvPr>
          <p:cNvSpPr>
            <a:spLocks noGrp="1"/>
          </p:cNvSpPr>
          <p:nvPr>
            <p:ph idx="1"/>
          </p:nvPr>
        </p:nvSpPr>
        <p:spPr>
          <a:xfrm>
            <a:off x="482600" y="1943100"/>
            <a:ext cx="10506992" cy="3936491"/>
          </a:xfrm>
        </p:spPr>
        <p:txBody>
          <a:bodyPr/>
          <a:lstStyle/>
          <a:p>
            <a:pPr marL="342900" indent="-342900">
              <a:buFont typeface="Wingdings" panose="05000000000000000000" pitchFamily="2" charset="2"/>
              <a:buChar char="§"/>
            </a:pPr>
            <a:r>
              <a:rPr lang="en-CA" dirty="0"/>
              <a:t>In one-way sensitivity analysis is when we vary a single model parameter at a time to determine its effect on the computed ICER.</a:t>
            </a:r>
          </a:p>
          <a:p>
            <a:pPr marL="342900" indent="-342900">
              <a:buFont typeface="Wingdings" panose="05000000000000000000" pitchFamily="2" charset="2"/>
              <a:buChar char="§"/>
            </a:pPr>
            <a:r>
              <a:rPr lang="en-CA" dirty="0"/>
              <a:t>The simplest way to do this, a “High” case where the parameter value is 50% larger than the base specification and a “Low” case when the parameter value is 50% lower from the base specification.</a:t>
            </a:r>
          </a:p>
          <a:p>
            <a:pPr marL="342900" indent="-342900">
              <a:buFont typeface="Wingdings" panose="05000000000000000000" pitchFamily="2" charset="2"/>
              <a:buChar char="§"/>
            </a:pPr>
            <a:r>
              <a:rPr lang="en-CA" b="1" dirty="0"/>
              <a:t>Note</a:t>
            </a:r>
            <a:r>
              <a:rPr lang="en-CA" dirty="0"/>
              <a:t>: in a one-way sensitivity analysis all other parameter values are held constant. This is done to determine the role each parameter plays.</a:t>
            </a:r>
          </a:p>
        </p:txBody>
      </p:sp>
    </p:spTree>
    <p:extLst>
      <p:ext uri="{BB962C8B-B14F-4D97-AF65-F5344CB8AC3E}">
        <p14:creationId xmlns:p14="http://schemas.microsoft.com/office/powerpoint/2010/main" val="1605304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5619D-BF85-9316-C225-85B26F33D7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79D07B-CFD8-543F-0805-681FAA29595F}"/>
              </a:ext>
            </a:extLst>
          </p:cNvPr>
          <p:cNvSpPr>
            <a:spLocks noGrp="1"/>
          </p:cNvSpPr>
          <p:nvPr>
            <p:ph type="title"/>
          </p:nvPr>
        </p:nvSpPr>
        <p:spPr>
          <a:xfrm>
            <a:off x="482600" y="597408"/>
            <a:ext cx="10634472" cy="1117092"/>
          </a:xfrm>
        </p:spPr>
        <p:txBody>
          <a:bodyPr/>
          <a:lstStyle/>
          <a:p>
            <a:r>
              <a:rPr lang="en-CA" sz="4800" dirty="0"/>
              <a:t>Tornado Diagrams</a:t>
            </a:r>
          </a:p>
        </p:txBody>
      </p:sp>
      <p:sp>
        <p:nvSpPr>
          <p:cNvPr id="3" name="Content Placeholder 2">
            <a:extLst>
              <a:ext uri="{FF2B5EF4-FFF2-40B4-BE49-F238E27FC236}">
                <a16:creationId xmlns:a16="http://schemas.microsoft.com/office/drawing/2014/main" id="{E4017887-69C4-8E04-8E56-14F491E25307}"/>
              </a:ext>
            </a:extLst>
          </p:cNvPr>
          <p:cNvSpPr>
            <a:spLocks noGrp="1"/>
          </p:cNvSpPr>
          <p:nvPr>
            <p:ph idx="1"/>
          </p:nvPr>
        </p:nvSpPr>
        <p:spPr>
          <a:xfrm>
            <a:off x="482601" y="1943100"/>
            <a:ext cx="4663332" cy="3936491"/>
          </a:xfrm>
        </p:spPr>
        <p:txBody>
          <a:bodyPr>
            <a:normAutofit lnSpcReduction="10000"/>
          </a:bodyPr>
          <a:lstStyle/>
          <a:p>
            <a:pPr marL="342900" indent="-342900">
              <a:buFont typeface="Wingdings" panose="05000000000000000000" pitchFamily="2" charset="2"/>
              <a:buChar char="§"/>
            </a:pPr>
            <a:r>
              <a:rPr lang="en-CA" dirty="0"/>
              <a:t>One of the two ways of presenting deterministic sensitivity analysis.</a:t>
            </a:r>
          </a:p>
          <a:p>
            <a:pPr marL="342900" indent="-342900">
              <a:buFont typeface="Wingdings" panose="05000000000000000000" pitchFamily="2" charset="2"/>
              <a:buChar char="§"/>
            </a:pPr>
            <a:r>
              <a:rPr lang="en-CA" dirty="0"/>
              <a:t>It displays the responsiveness each input has to variation in value for high and low cases with the more responsive parameters typically at the top with less responsive parameters closer to the bottom.</a:t>
            </a:r>
          </a:p>
          <a:p>
            <a:pPr marL="342900" indent="-342900">
              <a:buFont typeface="Wingdings" panose="05000000000000000000" pitchFamily="2" charset="2"/>
              <a:buChar char="§"/>
            </a:pPr>
            <a:r>
              <a:rPr lang="en-CA" dirty="0"/>
              <a:t>Researchers may want to display separate charts for costs and effects respectively in order to provide a comprehensive insight in the model’s sensitivity.</a:t>
            </a:r>
          </a:p>
        </p:txBody>
      </p:sp>
      <p:pic>
        <p:nvPicPr>
          <p:cNvPr id="2050" name="Picture 2">
            <a:extLst>
              <a:ext uri="{FF2B5EF4-FFF2-40B4-BE49-F238E27FC236}">
                <a16:creationId xmlns:a16="http://schemas.microsoft.com/office/drawing/2014/main" id="{82D3F69C-8900-AC16-9E0F-06CB181439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3399" y="1370348"/>
            <a:ext cx="6096000" cy="43338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FC26865-9B71-0FD8-BA57-A8B635F781D7}"/>
              </a:ext>
            </a:extLst>
          </p:cNvPr>
          <p:cNvSpPr txBox="1"/>
          <p:nvPr/>
        </p:nvSpPr>
        <p:spPr>
          <a:xfrm>
            <a:off x="5739637" y="5670586"/>
            <a:ext cx="6258814" cy="707886"/>
          </a:xfrm>
          <a:prstGeom prst="rect">
            <a:avLst/>
          </a:prstGeom>
          <a:noFill/>
        </p:spPr>
        <p:txBody>
          <a:bodyPr wrap="square" rtlCol="0">
            <a:spAutoFit/>
          </a:bodyPr>
          <a:lstStyle/>
          <a:p>
            <a:r>
              <a:rPr lang="en-CA" sz="1000" dirty="0"/>
              <a:t>Figure from: </a:t>
            </a:r>
            <a:r>
              <a:rPr lang="en-CA" sz="1000" dirty="0" err="1"/>
              <a:t>Boonsirikamchai</a:t>
            </a:r>
            <a:r>
              <a:rPr lang="en-CA" sz="1000" dirty="0"/>
              <a:t>, W., </a:t>
            </a:r>
            <a:r>
              <a:rPr lang="en-CA" sz="1000" dirty="0" err="1"/>
              <a:t>Phisalpapra</a:t>
            </a:r>
            <a:r>
              <a:rPr lang="en-CA" sz="1000" dirty="0"/>
              <a:t>, P., </a:t>
            </a:r>
            <a:r>
              <a:rPr lang="en-CA" sz="1000" dirty="0" err="1"/>
              <a:t>Kositamongkol</a:t>
            </a:r>
            <a:r>
              <a:rPr lang="en-CA" sz="1000" dirty="0"/>
              <a:t>, C., </a:t>
            </a:r>
            <a:r>
              <a:rPr lang="en-CA" sz="1000" dirty="0" err="1"/>
              <a:t>Korwutthikulrangsri</a:t>
            </a:r>
            <a:r>
              <a:rPr lang="en-CA" sz="1000" dirty="0"/>
              <a:t>, E., </a:t>
            </a:r>
            <a:r>
              <a:rPr lang="en-CA" sz="1000" dirty="0" err="1"/>
              <a:t>Ruangchainikom</a:t>
            </a:r>
            <a:r>
              <a:rPr lang="en-CA" sz="1000" dirty="0"/>
              <a:t>, M., &amp; </a:t>
            </a:r>
            <a:r>
              <a:rPr lang="en-CA" sz="1000" dirty="0" err="1"/>
              <a:t>Sutipornpalangkul</a:t>
            </a:r>
            <a:r>
              <a:rPr lang="en-CA" sz="1000" dirty="0"/>
              <a:t>, W. (2023). Lateral lumbar interbody fusion (LLIF) reduces total lifetime cost compared with posterior lumbar interbody fusion (PLIF) for single-level lumbar spinal fusion surgery: a cost-utility analysis in Thailand. </a:t>
            </a:r>
            <a:r>
              <a:rPr lang="en-CA" sz="1000" i="1" dirty="0"/>
              <a:t>Journal of orthopaedic surgery and research</a:t>
            </a:r>
            <a:r>
              <a:rPr lang="en-CA" sz="1000" dirty="0"/>
              <a:t>, </a:t>
            </a:r>
            <a:r>
              <a:rPr lang="en-CA" sz="1000" i="1" dirty="0"/>
              <a:t>18</a:t>
            </a:r>
            <a:r>
              <a:rPr lang="en-CA" sz="1000" dirty="0"/>
              <a:t>(1), 115.</a:t>
            </a:r>
          </a:p>
        </p:txBody>
      </p:sp>
    </p:spTree>
    <p:extLst>
      <p:ext uri="{BB962C8B-B14F-4D97-AF65-F5344CB8AC3E}">
        <p14:creationId xmlns:p14="http://schemas.microsoft.com/office/powerpoint/2010/main" val="3209566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8EA94-7B97-A83F-0F56-FBC29E7089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C21593-1B30-E1B4-01EF-FA9D51E462E2}"/>
              </a:ext>
            </a:extLst>
          </p:cNvPr>
          <p:cNvSpPr>
            <a:spLocks noGrp="1"/>
          </p:cNvSpPr>
          <p:nvPr>
            <p:ph type="title"/>
          </p:nvPr>
        </p:nvSpPr>
        <p:spPr/>
        <p:txBody>
          <a:bodyPr/>
          <a:lstStyle/>
          <a:p>
            <a:r>
              <a:rPr lang="en-CA" dirty="0"/>
              <a:t>Cost Effectiveness “Model Hygiene”</a:t>
            </a:r>
          </a:p>
        </p:txBody>
      </p:sp>
      <p:sp>
        <p:nvSpPr>
          <p:cNvPr id="3" name="Content Placeholder 2">
            <a:extLst>
              <a:ext uri="{FF2B5EF4-FFF2-40B4-BE49-F238E27FC236}">
                <a16:creationId xmlns:a16="http://schemas.microsoft.com/office/drawing/2014/main" id="{98B23289-3ED7-F1C7-E45B-B9EB9A470EE3}"/>
              </a:ext>
            </a:extLst>
          </p:cNvPr>
          <p:cNvSpPr>
            <a:spLocks noGrp="1"/>
          </p:cNvSpPr>
          <p:nvPr>
            <p:ph idx="1"/>
          </p:nvPr>
        </p:nvSpPr>
        <p:spPr>
          <a:xfrm>
            <a:off x="515112" y="2112264"/>
            <a:ext cx="6079617" cy="3767328"/>
          </a:xfrm>
        </p:spPr>
        <p:txBody>
          <a:bodyPr>
            <a:normAutofit lnSpcReduction="10000"/>
          </a:bodyPr>
          <a:lstStyle/>
          <a:p>
            <a:r>
              <a:rPr lang="en-CA" dirty="0"/>
              <a:t>When we do a sensitivity analysis in excel, we need to make sure our model parameters are in one sheet and computed results are in another.</a:t>
            </a:r>
          </a:p>
          <a:p>
            <a:pPr marL="0" indent="0">
              <a:buNone/>
            </a:pPr>
            <a:r>
              <a:rPr lang="en-CA" b="1" dirty="0"/>
              <a:t>YOU SHOULD NOT DEFINE ANY NEW VARIABLES WHEN YOU COMPUTE YOUR RESULTS JUST DEPEND ON OTHER RESULTS.</a:t>
            </a:r>
          </a:p>
          <a:p>
            <a:r>
              <a:rPr lang="en-CA" dirty="0"/>
              <a:t>This way we can generate sensitivity analysis output directly.</a:t>
            </a:r>
          </a:p>
          <a:p>
            <a:r>
              <a:rPr lang="en-CA" dirty="0"/>
              <a:t>While there are more comprehensive ways of conducting sensitivity analysis on each model parameter, all we are doing is just estimating the model multiple times under different specifications.</a:t>
            </a:r>
          </a:p>
        </p:txBody>
      </p:sp>
      <p:pic>
        <p:nvPicPr>
          <p:cNvPr id="5" name="Picture 4">
            <a:extLst>
              <a:ext uri="{FF2B5EF4-FFF2-40B4-BE49-F238E27FC236}">
                <a16:creationId xmlns:a16="http://schemas.microsoft.com/office/drawing/2014/main" id="{8273931F-48B4-C55C-83EA-8D25E1A15FFB}"/>
              </a:ext>
            </a:extLst>
          </p:cNvPr>
          <p:cNvPicPr>
            <a:picLocks noChangeAspect="1"/>
          </p:cNvPicPr>
          <p:nvPr/>
        </p:nvPicPr>
        <p:blipFill>
          <a:blip r:embed="rId2"/>
          <a:stretch>
            <a:fillRect/>
          </a:stretch>
        </p:blipFill>
        <p:spPr>
          <a:xfrm>
            <a:off x="7203567" y="2371725"/>
            <a:ext cx="3506377" cy="3848100"/>
          </a:xfrm>
          <a:prstGeom prst="rect">
            <a:avLst/>
          </a:prstGeom>
        </p:spPr>
      </p:pic>
    </p:spTree>
    <p:extLst>
      <p:ext uri="{BB962C8B-B14F-4D97-AF65-F5344CB8AC3E}">
        <p14:creationId xmlns:p14="http://schemas.microsoft.com/office/powerpoint/2010/main" val="3456266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648A2-FCEC-A464-163A-43E2F94E7B1F}"/>
              </a:ext>
            </a:extLst>
          </p:cNvPr>
          <p:cNvSpPr>
            <a:spLocks noGrp="1"/>
          </p:cNvSpPr>
          <p:nvPr>
            <p:ph type="ctrTitle"/>
          </p:nvPr>
        </p:nvSpPr>
        <p:spPr/>
        <p:txBody>
          <a:bodyPr/>
          <a:lstStyle/>
          <a:p>
            <a:r>
              <a:rPr lang="en-CA" dirty="0"/>
              <a:t>Sensitivity Analysis with Multiple Alternatives</a:t>
            </a:r>
          </a:p>
        </p:txBody>
      </p:sp>
    </p:spTree>
    <p:extLst>
      <p:ext uri="{BB962C8B-B14F-4D97-AF65-F5344CB8AC3E}">
        <p14:creationId xmlns:p14="http://schemas.microsoft.com/office/powerpoint/2010/main" val="88667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178E7-09A1-CB19-F337-02248222F4F9}"/>
              </a:ext>
            </a:extLst>
          </p:cNvPr>
          <p:cNvSpPr>
            <a:spLocks noGrp="1"/>
          </p:cNvSpPr>
          <p:nvPr>
            <p:ph type="title"/>
          </p:nvPr>
        </p:nvSpPr>
        <p:spPr/>
        <p:txBody>
          <a:bodyPr/>
          <a:lstStyle/>
          <a:p>
            <a:r>
              <a:rPr lang="en-CA" dirty="0"/>
              <a:t>Sensitivity Analysis with Alternate Baselines</a:t>
            </a:r>
          </a:p>
        </p:txBody>
      </p:sp>
      <p:sp>
        <p:nvSpPr>
          <p:cNvPr id="3" name="Content Placeholder 2">
            <a:extLst>
              <a:ext uri="{FF2B5EF4-FFF2-40B4-BE49-F238E27FC236}">
                <a16:creationId xmlns:a16="http://schemas.microsoft.com/office/drawing/2014/main" id="{7D0FAF45-4566-9760-4C57-E48436A50DC3}"/>
              </a:ext>
            </a:extLst>
          </p:cNvPr>
          <p:cNvSpPr>
            <a:spLocks noGrp="1"/>
          </p:cNvSpPr>
          <p:nvPr>
            <p:ph idx="1"/>
          </p:nvPr>
        </p:nvSpPr>
        <p:spPr>
          <a:xfrm>
            <a:off x="6334127" y="2284976"/>
            <a:ext cx="4961763" cy="3767328"/>
          </a:xfrm>
        </p:spPr>
        <p:txBody>
          <a:bodyPr>
            <a:normAutofit lnSpcReduction="10000"/>
          </a:bodyPr>
          <a:lstStyle/>
          <a:p>
            <a:r>
              <a:rPr lang="en-CA" dirty="0"/>
              <a:t>Another class of sensitivity analysis is to use multiple comparators.</a:t>
            </a:r>
          </a:p>
          <a:p>
            <a:r>
              <a:rPr lang="en-CA" dirty="0"/>
              <a:t>This involves adding more than one treatment arm to your model.</a:t>
            </a:r>
          </a:p>
          <a:p>
            <a:r>
              <a:rPr lang="en-CA" dirty="0"/>
              <a:t>In a case where we are evaluating the cost effectiveness of treatment A we may compute two different ICERs, one using Treatment B as a control and one using Treatment C as a control.</a:t>
            </a:r>
          </a:p>
          <a:p>
            <a:r>
              <a:rPr lang="en-CA" dirty="0"/>
              <a:t>We may also be curious about identifying the most cost effective treatment in a single analysis.</a:t>
            </a:r>
          </a:p>
        </p:txBody>
      </p:sp>
      <p:sp>
        <p:nvSpPr>
          <p:cNvPr id="4" name="Rectangle 3">
            <a:extLst>
              <a:ext uri="{FF2B5EF4-FFF2-40B4-BE49-F238E27FC236}">
                <a16:creationId xmlns:a16="http://schemas.microsoft.com/office/drawing/2014/main" id="{CAB5FACE-69D1-1710-C733-D4DCC22CB2DA}"/>
              </a:ext>
            </a:extLst>
          </p:cNvPr>
          <p:cNvSpPr/>
          <p:nvPr/>
        </p:nvSpPr>
        <p:spPr>
          <a:xfrm>
            <a:off x="352426" y="3905250"/>
            <a:ext cx="685800" cy="619125"/>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6" name="Straight Connector 5">
            <a:extLst>
              <a:ext uri="{FF2B5EF4-FFF2-40B4-BE49-F238E27FC236}">
                <a16:creationId xmlns:a16="http://schemas.microsoft.com/office/drawing/2014/main" id="{C873CB1A-D61C-FE59-D85E-92DDCDB3AE2A}"/>
              </a:ext>
            </a:extLst>
          </p:cNvPr>
          <p:cNvCxnSpPr>
            <a:cxnSpLocks/>
            <a:stCxn id="4" idx="3"/>
            <a:endCxn id="14" idx="1"/>
          </p:cNvCxnSpPr>
          <p:nvPr/>
        </p:nvCxnSpPr>
        <p:spPr>
          <a:xfrm flipV="1">
            <a:off x="1038226" y="2960941"/>
            <a:ext cx="1809749" cy="1253872"/>
          </a:xfrm>
          <a:prstGeom prst="line">
            <a:avLst/>
          </a:prstGeom>
          <a:ln w="76200"/>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0EF6867A-8903-5F1E-D562-E613D168F801}"/>
              </a:ext>
            </a:extLst>
          </p:cNvPr>
          <p:cNvCxnSpPr>
            <a:cxnSpLocks/>
            <a:stCxn id="4" idx="3"/>
            <a:endCxn id="18" idx="1"/>
          </p:cNvCxnSpPr>
          <p:nvPr/>
        </p:nvCxnSpPr>
        <p:spPr>
          <a:xfrm flipV="1">
            <a:off x="1038226" y="4214812"/>
            <a:ext cx="1809749" cy="1"/>
          </a:xfrm>
          <a:prstGeom prst="line">
            <a:avLst/>
          </a:prstGeom>
          <a:ln w="76200"/>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id="{CC14C070-0D71-804F-EB06-7FE0D679C53E}"/>
              </a:ext>
            </a:extLst>
          </p:cNvPr>
          <p:cNvCxnSpPr>
            <a:cxnSpLocks/>
            <a:stCxn id="4" idx="3"/>
            <a:endCxn id="22" idx="1"/>
          </p:cNvCxnSpPr>
          <p:nvPr/>
        </p:nvCxnSpPr>
        <p:spPr>
          <a:xfrm>
            <a:off x="1038226" y="4214813"/>
            <a:ext cx="1809748" cy="1366837"/>
          </a:xfrm>
          <a:prstGeom prst="line">
            <a:avLst/>
          </a:prstGeom>
          <a:ln w="76200">
            <a:solidFill>
              <a:schemeClr val="tx1"/>
            </a:solidFill>
          </a:ln>
        </p:spPr>
        <p:style>
          <a:lnRef idx="2">
            <a:schemeClr val="dk1"/>
          </a:lnRef>
          <a:fillRef idx="0">
            <a:schemeClr val="dk1"/>
          </a:fillRef>
          <a:effectRef idx="1">
            <a:schemeClr val="dk1"/>
          </a:effectRef>
          <a:fontRef idx="minor">
            <a:schemeClr val="tx1"/>
          </a:fontRef>
        </p:style>
      </p:cxnSp>
      <p:sp>
        <p:nvSpPr>
          <p:cNvPr id="14" name="Rectangle 13">
            <a:extLst>
              <a:ext uri="{FF2B5EF4-FFF2-40B4-BE49-F238E27FC236}">
                <a16:creationId xmlns:a16="http://schemas.microsoft.com/office/drawing/2014/main" id="{896F5444-8EEA-0432-3C96-783D2B004192}"/>
              </a:ext>
            </a:extLst>
          </p:cNvPr>
          <p:cNvSpPr/>
          <p:nvPr/>
        </p:nvSpPr>
        <p:spPr>
          <a:xfrm>
            <a:off x="2847975" y="2578608"/>
            <a:ext cx="2257425" cy="764665"/>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Rectangle 17">
            <a:extLst>
              <a:ext uri="{FF2B5EF4-FFF2-40B4-BE49-F238E27FC236}">
                <a16:creationId xmlns:a16="http://schemas.microsoft.com/office/drawing/2014/main" id="{2757B790-AA33-8682-A109-DAFE23BFD5A6}"/>
              </a:ext>
            </a:extLst>
          </p:cNvPr>
          <p:cNvSpPr/>
          <p:nvPr/>
        </p:nvSpPr>
        <p:spPr>
          <a:xfrm>
            <a:off x="2847975" y="3832479"/>
            <a:ext cx="2257425" cy="764665"/>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Rectangle 21">
            <a:extLst>
              <a:ext uri="{FF2B5EF4-FFF2-40B4-BE49-F238E27FC236}">
                <a16:creationId xmlns:a16="http://schemas.microsoft.com/office/drawing/2014/main" id="{9742AE3B-2266-36BD-F1CC-8D0F8CF0BFB6}"/>
              </a:ext>
            </a:extLst>
          </p:cNvPr>
          <p:cNvSpPr/>
          <p:nvPr/>
        </p:nvSpPr>
        <p:spPr>
          <a:xfrm>
            <a:off x="2847974" y="5199317"/>
            <a:ext cx="2257425" cy="764665"/>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5" name="TextBox 24">
            <a:extLst>
              <a:ext uri="{FF2B5EF4-FFF2-40B4-BE49-F238E27FC236}">
                <a16:creationId xmlns:a16="http://schemas.microsoft.com/office/drawing/2014/main" id="{FC043FF2-FC70-72D1-7F61-AEB3113AF00D}"/>
              </a:ext>
            </a:extLst>
          </p:cNvPr>
          <p:cNvSpPr txBox="1"/>
          <p:nvPr/>
        </p:nvSpPr>
        <p:spPr>
          <a:xfrm>
            <a:off x="3375740" y="2745988"/>
            <a:ext cx="1385957" cy="369332"/>
          </a:xfrm>
          <a:prstGeom prst="rect">
            <a:avLst/>
          </a:prstGeom>
          <a:noFill/>
        </p:spPr>
        <p:txBody>
          <a:bodyPr wrap="none" rtlCol="0">
            <a:spAutoFit/>
          </a:bodyPr>
          <a:lstStyle/>
          <a:p>
            <a:r>
              <a:rPr lang="en-CA" dirty="0"/>
              <a:t>Treatment A</a:t>
            </a:r>
          </a:p>
        </p:txBody>
      </p:sp>
      <p:sp>
        <p:nvSpPr>
          <p:cNvPr id="27" name="TextBox 26">
            <a:extLst>
              <a:ext uri="{FF2B5EF4-FFF2-40B4-BE49-F238E27FC236}">
                <a16:creationId xmlns:a16="http://schemas.microsoft.com/office/drawing/2014/main" id="{E380F8D1-D6C0-C8BA-FAF5-0EBFE1A912E2}"/>
              </a:ext>
            </a:extLst>
          </p:cNvPr>
          <p:cNvSpPr txBox="1"/>
          <p:nvPr/>
        </p:nvSpPr>
        <p:spPr>
          <a:xfrm>
            <a:off x="3283708" y="3983974"/>
            <a:ext cx="1389163" cy="369332"/>
          </a:xfrm>
          <a:prstGeom prst="rect">
            <a:avLst/>
          </a:prstGeom>
          <a:noFill/>
        </p:spPr>
        <p:txBody>
          <a:bodyPr wrap="none" rtlCol="0">
            <a:spAutoFit/>
          </a:bodyPr>
          <a:lstStyle/>
          <a:p>
            <a:r>
              <a:rPr lang="en-CA" dirty="0"/>
              <a:t>Treatment B</a:t>
            </a:r>
          </a:p>
        </p:txBody>
      </p:sp>
      <p:sp>
        <p:nvSpPr>
          <p:cNvPr id="29" name="TextBox 28">
            <a:extLst>
              <a:ext uri="{FF2B5EF4-FFF2-40B4-BE49-F238E27FC236}">
                <a16:creationId xmlns:a16="http://schemas.microsoft.com/office/drawing/2014/main" id="{5EA7B166-ACA1-5B57-BB80-D3F17B4B5221}"/>
              </a:ext>
            </a:extLst>
          </p:cNvPr>
          <p:cNvSpPr txBox="1"/>
          <p:nvPr/>
        </p:nvSpPr>
        <p:spPr>
          <a:xfrm>
            <a:off x="3259151" y="5391650"/>
            <a:ext cx="1410001" cy="369332"/>
          </a:xfrm>
          <a:prstGeom prst="rect">
            <a:avLst/>
          </a:prstGeom>
          <a:noFill/>
        </p:spPr>
        <p:txBody>
          <a:bodyPr wrap="none" rtlCol="0">
            <a:spAutoFit/>
          </a:bodyPr>
          <a:lstStyle/>
          <a:p>
            <a:r>
              <a:rPr lang="en-CA" dirty="0"/>
              <a:t>Treatment C</a:t>
            </a:r>
          </a:p>
        </p:txBody>
      </p:sp>
    </p:spTree>
    <p:extLst>
      <p:ext uri="{BB962C8B-B14F-4D97-AF65-F5344CB8AC3E}">
        <p14:creationId xmlns:p14="http://schemas.microsoft.com/office/powerpoint/2010/main" val="2634096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6C638-2E12-35A2-A117-11A3FACE9708}"/>
              </a:ext>
            </a:extLst>
          </p:cNvPr>
          <p:cNvSpPr>
            <a:spLocks noGrp="1"/>
          </p:cNvSpPr>
          <p:nvPr>
            <p:ph type="title"/>
          </p:nvPr>
        </p:nvSpPr>
        <p:spPr>
          <a:xfrm>
            <a:off x="339970" y="755669"/>
            <a:ext cx="11155680" cy="1463040"/>
          </a:xfrm>
        </p:spPr>
        <p:txBody>
          <a:bodyPr/>
          <a:lstStyle/>
          <a:p>
            <a:r>
              <a:rPr lang="en-CA" dirty="0"/>
              <a:t>Seeing this in the literature</a:t>
            </a:r>
          </a:p>
        </p:txBody>
      </p:sp>
      <p:pic>
        <p:nvPicPr>
          <p:cNvPr id="5" name="Picture 4">
            <a:extLst>
              <a:ext uri="{FF2B5EF4-FFF2-40B4-BE49-F238E27FC236}">
                <a16:creationId xmlns:a16="http://schemas.microsoft.com/office/drawing/2014/main" id="{DB0B7F1A-ACB3-AF97-0228-550A636AD827}"/>
              </a:ext>
            </a:extLst>
          </p:cNvPr>
          <p:cNvPicPr>
            <a:picLocks noChangeAspect="1"/>
          </p:cNvPicPr>
          <p:nvPr/>
        </p:nvPicPr>
        <p:blipFill>
          <a:blip r:embed="rId2"/>
          <a:stretch>
            <a:fillRect/>
          </a:stretch>
        </p:blipFill>
        <p:spPr>
          <a:xfrm>
            <a:off x="339970" y="1641230"/>
            <a:ext cx="7315199" cy="1478604"/>
          </a:xfrm>
          <a:prstGeom prst="rect">
            <a:avLst/>
          </a:prstGeom>
        </p:spPr>
      </p:pic>
      <p:pic>
        <p:nvPicPr>
          <p:cNvPr id="9" name="Picture 8">
            <a:extLst>
              <a:ext uri="{FF2B5EF4-FFF2-40B4-BE49-F238E27FC236}">
                <a16:creationId xmlns:a16="http://schemas.microsoft.com/office/drawing/2014/main" id="{411270F3-CDF7-5027-A40A-4A89406E16C1}"/>
              </a:ext>
            </a:extLst>
          </p:cNvPr>
          <p:cNvPicPr>
            <a:picLocks noChangeAspect="1"/>
          </p:cNvPicPr>
          <p:nvPr/>
        </p:nvPicPr>
        <p:blipFill>
          <a:blip r:embed="rId3"/>
          <a:stretch>
            <a:fillRect/>
          </a:stretch>
        </p:blipFill>
        <p:spPr>
          <a:xfrm>
            <a:off x="339970" y="2982082"/>
            <a:ext cx="7600192" cy="3065051"/>
          </a:xfrm>
          <a:prstGeom prst="rect">
            <a:avLst/>
          </a:prstGeom>
        </p:spPr>
      </p:pic>
      <p:sp>
        <p:nvSpPr>
          <p:cNvPr id="11" name="TextBox 10">
            <a:extLst>
              <a:ext uri="{FF2B5EF4-FFF2-40B4-BE49-F238E27FC236}">
                <a16:creationId xmlns:a16="http://schemas.microsoft.com/office/drawing/2014/main" id="{276B5F90-05ED-0961-40B7-F2F583155FB2}"/>
              </a:ext>
            </a:extLst>
          </p:cNvPr>
          <p:cNvSpPr txBox="1"/>
          <p:nvPr/>
        </p:nvSpPr>
        <p:spPr>
          <a:xfrm>
            <a:off x="190500" y="6102331"/>
            <a:ext cx="6096000" cy="646331"/>
          </a:xfrm>
          <a:prstGeom prst="rect">
            <a:avLst/>
          </a:prstGeom>
          <a:noFill/>
        </p:spPr>
        <p:txBody>
          <a:bodyPr wrap="square">
            <a:spAutoFit/>
          </a:bodyPr>
          <a:lstStyle/>
          <a:p>
            <a:r>
              <a:rPr lang="en-CA" sz="1200" b="0" i="0" dirty="0" err="1">
                <a:solidFill>
                  <a:schemeClr val="tx1"/>
                </a:solidFill>
                <a:effectLst/>
                <a:latin typeface="+mn-lt"/>
              </a:rPr>
              <a:t>Azizam</a:t>
            </a:r>
            <a:r>
              <a:rPr lang="en-CA" sz="1200" b="0" i="0" dirty="0">
                <a:solidFill>
                  <a:schemeClr val="tx1"/>
                </a:solidFill>
                <a:effectLst/>
                <a:latin typeface="+mn-lt"/>
              </a:rPr>
              <a:t>, N. A., Hussain, M., Nauenberg, E., Ang, W. C., </a:t>
            </a:r>
            <a:r>
              <a:rPr lang="en-CA" sz="1200" b="0" i="0" dirty="0" err="1">
                <a:solidFill>
                  <a:schemeClr val="tx1"/>
                </a:solidFill>
                <a:effectLst/>
                <a:latin typeface="+mn-lt"/>
              </a:rPr>
              <a:t>Azzeri</a:t>
            </a:r>
            <a:r>
              <a:rPr lang="en-CA" sz="1200" b="0" i="0" dirty="0">
                <a:solidFill>
                  <a:schemeClr val="tx1"/>
                </a:solidFill>
                <a:effectLst/>
                <a:latin typeface="+mn-lt"/>
              </a:rPr>
              <a:t>, A., &amp; Smith, J. (2024). Cost-effectiveness analysis of biologic sequential treatments for moderate-to-severe psoriasis: A Malaysian healthcare system perspective. </a:t>
            </a:r>
            <a:r>
              <a:rPr lang="en-CA" sz="1200" b="0" i="1" dirty="0" err="1">
                <a:solidFill>
                  <a:schemeClr val="tx1"/>
                </a:solidFill>
                <a:effectLst/>
                <a:latin typeface="+mn-lt"/>
              </a:rPr>
              <a:t>Plos</a:t>
            </a:r>
            <a:r>
              <a:rPr lang="en-CA" sz="1200" b="0" i="1" dirty="0">
                <a:solidFill>
                  <a:schemeClr val="tx1"/>
                </a:solidFill>
                <a:effectLst/>
                <a:latin typeface="+mn-lt"/>
              </a:rPr>
              <a:t> one</a:t>
            </a:r>
            <a:r>
              <a:rPr lang="en-CA" sz="1200" b="0" i="0" dirty="0">
                <a:solidFill>
                  <a:schemeClr val="tx1"/>
                </a:solidFill>
                <a:effectLst/>
                <a:latin typeface="+mn-lt"/>
              </a:rPr>
              <a:t>, </a:t>
            </a:r>
            <a:r>
              <a:rPr lang="en-CA" sz="1200" b="0" i="1" dirty="0">
                <a:solidFill>
                  <a:schemeClr val="tx1"/>
                </a:solidFill>
                <a:effectLst/>
                <a:latin typeface="+mn-lt"/>
              </a:rPr>
              <a:t>19</a:t>
            </a:r>
            <a:r>
              <a:rPr lang="en-CA" sz="1200" b="0" i="0" dirty="0">
                <a:solidFill>
                  <a:schemeClr val="tx1"/>
                </a:solidFill>
                <a:effectLst/>
                <a:latin typeface="+mn-lt"/>
              </a:rPr>
              <a:t>(9), e0307234.</a:t>
            </a:r>
            <a:endParaRPr lang="en-CA" sz="1200" dirty="0"/>
          </a:p>
        </p:txBody>
      </p:sp>
      <p:sp>
        <p:nvSpPr>
          <p:cNvPr id="4" name="TextBox 3">
            <a:extLst>
              <a:ext uri="{FF2B5EF4-FFF2-40B4-BE49-F238E27FC236}">
                <a16:creationId xmlns:a16="http://schemas.microsoft.com/office/drawing/2014/main" id="{6D7B0CE9-C8B4-5B07-55C5-E724874E9B18}"/>
              </a:ext>
            </a:extLst>
          </p:cNvPr>
          <p:cNvSpPr txBox="1"/>
          <p:nvPr/>
        </p:nvSpPr>
        <p:spPr>
          <a:xfrm>
            <a:off x="8314300" y="1487189"/>
            <a:ext cx="3181350" cy="2585323"/>
          </a:xfrm>
          <a:prstGeom prst="rect">
            <a:avLst/>
          </a:prstGeom>
          <a:noFill/>
        </p:spPr>
        <p:txBody>
          <a:bodyPr wrap="square" rtlCol="0">
            <a:spAutoFit/>
          </a:bodyPr>
          <a:lstStyle/>
          <a:p>
            <a:pPr marL="285750" indent="-285750">
              <a:buFont typeface="Arial" panose="020B0604020202020204" pitchFamily="34" charset="0"/>
              <a:buChar char="•"/>
            </a:pPr>
            <a:r>
              <a:rPr lang="en-CA" dirty="0"/>
              <a:t>This paper examines the optimal sequencing of biologics for patients with moderate-to severe psoriasis.</a:t>
            </a:r>
          </a:p>
          <a:p>
            <a:pPr marL="285750" indent="-285750">
              <a:buFont typeface="Arial" panose="020B0604020202020204" pitchFamily="34" charset="0"/>
              <a:buChar char="•"/>
            </a:pPr>
            <a:r>
              <a:rPr lang="en-CA" dirty="0"/>
              <a:t>It considers the cost effectiveness of 13 different possible sequences.</a:t>
            </a:r>
          </a:p>
        </p:txBody>
      </p:sp>
    </p:spTree>
    <p:extLst>
      <p:ext uri="{BB962C8B-B14F-4D97-AF65-F5344CB8AC3E}">
        <p14:creationId xmlns:p14="http://schemas.microsoft.com/office/powerpoint/2010/main" val="3481276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42AB1-7611-7A4F-17A2-8D60CB30D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858B84-3855-BB9B-D134-3E9D307F1051}"/>
              </a:ext>
            </a:extLst>
          </p:cNvPr>
          <p:cNvSpPr>
            <a:spLocks noGrp="1"/>
          </p:cNvSpPr>
          <p:nvPr>
            <p:ph type="title"/>
          </p:nvPr>
        </p:nvSpPr>
        <p:spPr>
          <a:xfrm>
            <a:off x="339970" y="755669"/>
            <a:ext cx="11155680" cy="1463040"/>
          </a:xfrm>
        </p:spPr>
        <p:txBody>
          <a:bodyPr/>
          <a:lstStyle/>
          <a:p>
            <a:r>
              <a:rPr lang="en-CA" dirty="0"/>
              <a:t>Seeing this in the literature</a:t>
            </a:r>
          </a:p>
        </p:txBody>
      </p:sp>
      <p:pic>
        <p:nvPicPr>
          <p:cNvPr id="5" name="Picture 4">
            <a:extLst>
              <a:ext uri="{FF2B5EF4-FFF2-40B4-BE49-F238E27FC236}">
                <a16:creationId xmlns:a16="http://schemas.microsoft.com/office/drawing/2014/main" id="{5EACA047-4A0E-64B7-56C1-C16313774C16}"/>
              </a:ext>
            </a:extLst>
          </p:cNvPr>
          <p:cNvPicPr>
            <a:picLocks noChangeAspect="1"/>
          </p:cNvPicPr>
          <p:nvPr/>
        </p:nvPicPr>
        <p:blipFill>
          <a:blip r:embed="rId2"/>
          <a:stretch>
            <a:fillRect/>
          </a:stretch>
        </p:blipFill>
        <p:spPr>
          <a:xfrm>
            <a:off x="339970" y="1641230"/>
            <a:ext cx="7315199" cy="1478604"/>
          </a:xfrm>
          <a:prstGeom prst="rect">
            <a:avLst/>
          </a:prstGeom>
        </p:spPr>
      </p:pic>
      <p:pic>
        <p:nvPicPr>
          <p:cNvPr id="9" name="Picture 8">
            <a:extLst>
              <a:ext uri="{FF2B5EF4-FFF2-40B4-BE49-F238E27FC236}">
                <a16:creationId xmlns:a16="http://schemas.microsoft.com/office/drawing/2014/main" id="{5B257218-604E-8BBD-401A-7F9F7E955002}"/>
              </a:ext>
            </a:extLst>
          </p:cNvPr>
          <p:cNvPicPr>
            <a:picLocks noChangeAspect="1"/>
          </p:cNvPicPr>
          <p:nvPr/>
        </p:nvPicPr>
        <p:blipFill>
          <a:blip r:embed="rId3"/>
          <a:stretch>
            <a:fillRect/>
          </a:stretch>
        </p:blipFill>
        <p:spPr>
          <a:xfrm>
            <a:off x="339970" y="2982082"/>
            <a:ext cx="7600192" cy="3065051"/>
          </a:xfrm>
          <a:prstGeom prst="rect">
            <a:avLst/>
          </a:prstGeom>
        </p:spPr>
      </p:pic>
      <p:sp>
        <p:nvSpPr>
          <p:cNvPr id="11" name="TextBox 10">
            <a:extLst>
              <a:ext uri="{FF2B5EF4-FFF2-40B4-BE49-F238E27FC236}">
                <a16:creationId xmlns:a16="http://schemas.microsoft.com/office/drawing/2014/main" id="{4B7158E6-E0EB-3A6A-443A-BBE766189612}"/>
              </a:ext>
            </a:extLst>
          </p:cNvPr>
          <p:cNvSpPr txBox="1"/>
          <p:nvPr/>
        </p:nvSpPr>
        <p:spPr>
          <a:xfrm>
            <a:off x="190500" y="6045300"/>
            <a:ext cx="6096000" cy="646331"/>
          </a:xfrm>
          <a:prstGeom prst="rect">
            <a:avLst/>
          </a:prstGeom>
          <a:noFill/>
        </p:spPr>
        <p:txBody>
          <a:bodyPr wrap="square">
            <a:spAutoFit/>
          </a:bodyPr>
          <a:lstStyle/>
          <a:p>
            <a:r>
              <a:rPr lang="en-CA" sz="1200" b="0" i="0" dirty="0" err="1">
                <a:solidFill>
                  <a:schemeClr val="tx1"/>
                </a:solidFill>
                <a:effectLst/>
                <a:latin typeface="+mn-lt"/>
              </a:rPr>
              <a:t>Azizam</a:t>
            </a:r>
            <a:r>
              <a:rPr lang="en-CA" sz="1200" b="0" i="0" dirty="0">
                <a:solidFill>
                  <a:schemeClr val="tx1"/>
                </a:solidFill>
                <a:effectLst/>
                <a:latin typeface="+mn-lt"/>
              </a:rPr>
              <a:t>, N. A., Hussain, M., Nauenberg, E., Ang, W. C., </a:t>
            </a:r>
            <a:r>
              <a:rPr lang="en-CA" sz="1200" b="0" i="0" dirty="0" err="1">
                <a:solidFill>
                  <a:schemeClr val="tx1"/>
                </a:solidFill>
                <a:effectLst/>
                <a:latin typeface="+mn-lt"/>
              </a:rPr>
              <a:t>Azzeri</a:t>
            </a:r>
            <a:r>
              <a:rPr lang="en-CA" sz="1200" b="0" i="0" dirty="0">
                <a:solidFill>
                  <a:schemeClr val="tx1"/>
                </a:solidFill>
                <a:effectLst/>
                <a:latin typeface="+mn-lt"/>
              </a:rPr>
              <a:t>, A., &amp; Smith, J. (2024). Cost-effectiveness analysis of biologic sequential treatments for moderate-to-severe psoriasis: A Malaysian healthcare system perspective. </a:t>
            </a:r>
            <a:r>
              <a:rPr lang="en-CA" sz="1200" b="0" i="1" dirty="0" err="1">
                <a:solidFill>
                  <a:schemeClr val="tx1"/>
                </a:solidFill>
                <a:effectLst/>
                <a:latin typeface="+mn-lt"/>
              </a:rPr>
              <a:t>Plos</a:t>
            </a:r>
            <a:r>
              <a:rPr lang="en-CA" sz="1200" b="0" i="1" dirty="0">
                <a:solidFill>
                  <a:schemeClr val="tx1"/>
                </a:solidFill>
                <a:effectLst/>
                <a:latin typeface="+mn-lt"/>
              </a:rPr>
              <a:t> one</a:t>
            </a:r>
            <a:r>
              <a:rPr lang="en-CA" sz="1200" b="0" i="0" dirty="0">
                <a:solidFill>
                  <a:schemeClr val="tx1"/>
                </a:solidFill>
                <a:effectLst/>
                <a:latin typeface="+mn-lt"/>
              </a:rPr>
              <a:t>, </a:t>
            </a:r>
            <a:r>
              <a:rPr lang="en-CA" sz="1200" b="0" i="1" dirty="0">
                <a:solidFill>
                  <a:schemeClr val="tx1"/>
                </a:solidFill>
                <a:effectLst/>
                <a:latin typeface="+mn-lt"/>
              </a:rPr>
              <a:t>19</a:t>
            </a:r>
            <a:r>
              <a:rPr lang="en-CA" sz="1200" b="0" i="0" dirty="0">
                <a:solidFill>
                  <a:schemeClr val="tx1"/>
                </a:solidFill>
                <a:effectLst/>
                <a:latin typeface="+mn-lt"/>
              </a:rPr>
              <a:t>(9), e0307234.</a:t>
            </a:r>
            <a:endParaRPr lang="en-CA" sz="1200" dirty="0"/>
          </a:p>
        </p:txBody>
      </p:sp>
      <p:sp>
        <p:nvSpPr>
          <p:cNvPr id="3" name="Rectangle 2">
            <a:extLst>
              <a:ext uri="{FF2B5EF4-FFF2-40B4-BE49-F238E27FC236}">
                <a16:creationId xmlns:a16="http://schemas.microsoft.com/office/drawing/2014/main" id="{1B391A00-EFD6-B3F9-CDAE-769A686B7925}"/>
              </a:ext>
            </a:extLst>
          </p:cNvPr>
          <p:cNvSpPr/>
          <p:nvPr/>
        </p:nvSpPr>
        <p:spPr>
          <a:xfrm>
            <a:off x="4505325" y="2982082"/>
            <a:ext cx="1171575" cy="3065051"/>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Arrow: Right 3">
            <a:extLst>
              <a:ext uri="{FF2B5EF4-FFF2-40B4-BE49-F238E27FC236}">
                <a16:creationId xmlns:a16="http://schemas.microsoft.com/office/drawing/2014/main" id="{BA2AD608-0134-48F4-988A-9B5750C0E9D8}"/>
              </a:ext>
            </a:extLst>
          </p:cNvPr>
          <p:cNvSpPr/>
          <p:nvPr/>
        </p:nvSpPr>
        <p:spPr>
          <a:xfrm rot="11814859">
            <a:off x="5998447" y="3937309"/>
            <a:ext cx="2935805" cy="4024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B47417FD-6FDF-A8F0-1033-7B3E00213FD4}"/>
              </a:ext>
            </a:extLst>
          </p:cNvPr>
          <p:cNvSpPr txBox="1"/>
          <p:nvPr/>
        </p:nvSpPr>
        <p:spPr>
          <a:xfrm>
            <a:off x="9025492" y="3587413"/>
            <a:ext cx="2976008" cy="3139321"/>
          </a:xfrm>
          <a:prstGeom prst="rect">
            <a:avLst/>
          </a:prstGeom>
          <a:noFill/>
        </p:spPr>
        <p:txBody>
          <a:bodyPr wrap="none" rtlCol="0">
            <a:spAutoFit/>
          </a:bodyPr>
          <a:lstStyle/>
          <a:p>
            <a:r>
              <a:rPr lang="en-CA" dirty="0"/>
              <a:t>ICERS are produced based</a:t>
            </a:r>
          </a:p>
          <a:p>
            <a:r>
              <a:rPr lang="en-CA" dirty="0"/>
              <a:t>On different assumptions</a:t>
            </a:r>
            <a:br>
              <a:rPr lang="en-CA" dirty="0"/>
            </a:br>
            <a:r>
              <a:rPr lang="en-CA" dirty="0"/>
              <a:t>regarding the sequencing</a:t>
            </a:r>
          </a:p>
          <a:p>
            <a:r>
              <a:rPr lang="en-CA" dirty="0"/>
              <a:t>Of treatments.</a:t>
            </a:r>
          </a:p>
          <a:p>
            <a:endParaRPr lang="en-CA" dirty="0"/>
          </a:p>
          <a:p>
            <a:r>
              <a:rPr lang="en-CA" dirty="0"/>
              <a:t>This generates a wide range </a:t>
            </a:r>
            <a:br>
              <a:rPr lang="en-CA" dirty="0"/>
            </a:br>
            <a:r>
              <a:rPr lang="en-CA" dirty="0"/>
              <a:t>of ICER values which are</a:t>
            </a:r>
            <a:br>
              <a:rPr lang="en-CA" dirty="0"/>
            </a:br>
            <a:r>
              <a:rPr lang="en-CA" dirty="0"/>
              <a:t>grounded in direct clinical </a:t>
            </a:r>
          </a:p>
          <a:p>
            <a:r>
              <a:rPr lang="en-CA" dirty="0"/>
              <a:t>assumptions.</a:t>
            </a:r>
          </a:p>
          <a:p>
            <a:endParaRPr lang="en-CA" dirty="0"/>
          </a:p>
          <a:p>
            <a:endParaRPr lang="en-CA" dirty="0"/>
          </a:p>
        </p:txBody>
      </p:sp>
      <p:sp>
        <p:nvSpPr>
          <p:cNvPr id="8" name="TextBox 7">
            <a:extLst>
              <a:ext uri="{FF2B5EF4-FFF2-40B4-BE49-F238E27FC236}">
                <a16:creationId xmlns:a16="http://schemas.microsoft.com/office/drawing/2014/main" id="{AFD60FA6-0BCC-EDA3-AD30-5F80DD564DD4}"/>
              </a:ext>
            </a:extLst>
          </p:cNvPr>
          <p:cNvSpPr txBox="1"/>
          <p:nvPr/>
        </p:nvSpPr>
        <p:spPr>
          <a:xfrm>
            <a:off x="8314300" y="1087870"/>
            <a:ext cx="3181350" cy="2585323"/>
          </a:xfrm>
          <a:prstGeom prst="rect">
            <a:avLst/>
          </a:prstGeom>
          <a:noFill/>
        </p:spPr>
        <p:txBody>
          <a:bodyPr wrap="square" rtlCol="0">
            <a:spAutoFit/>
          </a:bodyPr>
          <a:lstStyle/>
          <a:p>
            <a:pPr marL="285750" indent="-285750">
              <a:buFont typeface="Arial" panose="020B0604020202020204" pitchFamily="34" charset="0"/>
              <a:buChar char="•"/>
            </a:pPr>
            <a:r>
              <a:rPr lang="en-CA" dirty="0"/>
              <a:t>This paper examines the optimal sequencing of biologics for patients with moderate-to severe psoriasis.</a:t>
            </a:r>
          </a:p>
          <a:p>
            <a:pPr marL="285750" indent="-285750">
              <a:buFont typeface="Arial" panose="020B0604020202020204" pitchFamily="34" charset="0"/>
              <a:buChar char="•"/>
            </a:pPr>
            <a:r>
              <a:rPr lang="en-CA" dirty="0"/>
              <a:t>It considers the cost effectiveness of 13 different possible sequences.</a:t>
            </a:r>
          </a:p>
        </p:txBody>
      </p:sp>
    </p:spTree>
    <p:extLst>
      <p:ext uri="{BB962C8B-B14F-4D97-AF65-F5344CB8AC3E}">
        <p14:creationId xmlns:p14="http://schemas.microsoft.com/office/powerpoint/2010/main" val="1021293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FF0F6-66AF-BA08-A87A-B4FF59527556}"/>
              </a:ext>
            </a:extLst>
          </p:cNvPr>
          <p:cNvSpPr>
            <a:spLocks noGrp="1"/>
          </p:cNvSpPr>
          <p:nvPr>
            <p:ph type="title"/>
          </p:nvPr>
        </p:nvSpPr>
        <p:spPr/>
        <p:txBody>
          <a:bodyPr/>
          <a:lstStyle/>
          <a:p>
            <a:r>
              <a:rPr lang="en-CA" dirty="0"/>
              <a:t>Model Structure in </a:t>
            </a:r>
            <a:r>
              <a:rPr lang="en-CA" dirty="0" err="1"/>
              <a:t>Azizam</a:t>
            </a:r>
            <a:r>
              <a:rPr lang="en-CA" dirty="0"/>
              <a:t> et al.</a:t>
            </a:r>
          </a:p>
        </p:txBody>
      </p:sp>
      <p:pic>
        <p:nvPicPr>
          <p:cNvPr id="4" name="Picture 3">
            <a:extLst>
              <a:ext uri="{FF2B5EF4-FFF2-40B4-BE49-F238E27FC236}">
                <a16:creationId xmlns:a16="http://schemas.microsoft.com/office/drawing/2014/main" id="{D05B9301-06A6-FAC0-BC78-9300BA78B9D1}"/>
              </a:ext>
            </a:extLst>
          </p:cNvPr>
          <p:cNvPicPr>
            <a:picLocks noChangeAspect="1"/>
          </p:cNvPicPr>
          <p:nvPr/>
        </p:nvPicPr>
        <p:blipFill>
          <a:blip r:embed="rId2"/>
          <a:stretch>
            <a:fillRect/>
          </a:stretch>
        </p:blipFill>
        <p:spPr>
          <a:xfrm>
            <a:off x="678554" y="2144644"/>
            <a:ext cx="6281941" cy="4340361"/>
          </a:xfrm>
          <a:prstGeom prst="rect">
            <a:avLst/>
          </a:prstGeom>
        </p:spPr>
      </p:pic>
      <p:sp>
        <p:nvSpPr>
          <p:cNvPr id="10" name="TextBox 9">
            <a:extLst>
              <a:ext uri="{FF2B5EF4-FFF2-40B4-BE49-F238E27FC236}">
                <a16:creationId xmlns:a16="http://schemas.microsoft.com/office/drawing/2014/main" id="{F6E28926-F83C-9829-F1B4-DE85F9DC8E74}"/>
              </a:ext>
            </a:extLst>
          </p:cNvPr>
          <p:cNvSpPr txBox="1"/>
          <p:nvPr/>
        </p:nvSpPr>
        <p:spPr>
          <a:xfrm>
            <a:off x="5872176" y="1722125"/>
            <a:ext cx="5744201" cy="1754326"/>
          </a:xfrm>
          <a:prstGeom prst="rect">
            <a:avLst/>
          </a:prstGeom>
          <a:noFill/>
        </p:spPr>
        <p:txBody>
          <a:bodyPr wrap="none" rtlCol="0">
            <a:spAutoFit/>
          </a:bodyPr>
          <a:lstStyle/>
          <a:p>
            <a:pPr marL="285750" indent="-285750">
              <a:buFont typeface="Arial" panose="020B0604020202020204" pitchFamily="34" charset="0"/>
              <a:buChar char="•"/>
            </a:pPr>
            <a:r>
              <a:rPr lang="en-CA" dirty="0"/>
              <a:t>The model used in this paper is a Markov </a:t>
            </a:r>
            <a:br>
              <a:rPr lang="en-CA" dirty="0"/>
            </a:br>
            <a:r>
              <a:rPr lang="en-CA" dirty="0"/>
              <a:t>model.</a:t>
            </a:r>
          </a:p>
          <a:p>
            <a:pPr marL="285750" indent="-285750">
              <a:buFont typeface="Arial" panose="020B0604020202020204" pitchFamily="34" charset="0"/>
              <a:buChar char="•"/>
            </a:pPr>
            <a:endParaRPr lang="en-CA" dirty="0"/>
          </a:p>
          <a:p>
            <a:pPr marL="285750" indent="-285750">
              <a:buFont typeface="Arial" panose="020B0604020202020204" pitchFamily="34" charset="0"/>
              <a:buChar char="•"/>
            </a:pPr>
            <a:r>
              <a:rPr lang="en-CA" dirty="0"/>
              <a:t>What has changed here is the definition of what each</a:t>
            </a:r>
            <a:br>
              <a:rPr lang="en-CA" dirty="0"/>
            </a:br>
            <a:r>
              <a:rPr lang="en-CA" dirty="0"/>
              <a:t>drug is in a three-line case.</a:t>
            </a:r>
          </a:p>
          <a:p>
            <a:pPr marL="285750" indent="-285750">
              <a:buFont typeface="Arial" panose="020B0604020202020204" pitchFamily="34" charset="0"/>
              <a:buChar char="•"/>
            </a:pPr>
            <a:endParaRPr lang="en-CA" dirty="0"/>
          </a:p>
        </p:txBody>
      </p:sp>
    </p:spTree>
    <p:extLst>
      <p:ext uri="{BB962C8B-B14F-4D97-AF65-F5344CB8AC3E}">
        <p14:creationId xmlns:p14="http://schemas.microsoft.com/office/powerpoint/2010/main" val="3750777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C0CC4-8EFD-3301-4DAA-61A0E98861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9AD88D-1705-6AC8-B214-7BA0AE9C63AC}"/>
              </a:ext>
            </a:extLst>
          </p:cNvPr>
          <p:cNvSpPr>
            <a:spLocks noGrp="1"/>
          </p:cNvSpPr>
          <p:nvPr>
            <p:ph type="title"/>
          </p:nvPr>
        </p:nvSpPr>
        <p:spPr/>
        <p:txBody>
          <a:bodyPr/>
          <a:lstStyle/>
          <a:p>
            <a:r>
              <a:rPr lang="en-CA" dirty="0"/>
              <a:t>Model Structure in </a:t>
            </a:r>
            <a:r>
              <a:rPr lang="en-CA" dirty="0" err="1"/>
              <a:t>Azizam</a:t>
            </a:r>
            <a:r>
              <a:rPr lang="en-CA" dirty="0"/>
              <a:t> et al.</a:t>
            </a:r>
          </a:p>
        </p:txBody>
      </p:sp>
      <p:pic>
        <p:nvPicPr>
          <p:cNvPr id="4" name="Picture 3">
            <a:extLst>
              <a:ext uri="{FF2B5EF4-FFF2-40B4-BE49-F238E27FC236}">
                <a16:creationId xmlns:a16="http://schemas.microsoft.com/office/drawing/2014/main" id="{24883D62-16C7-7E9F-1CA5-95CD44D8FF8C}"/>
              </a:ext>
            </a:extLst>
          </p:cNvPr>
          <p:cNvPicPr>
            <a:picLocks noChangeAspect="1"/>
          </p:cNvPicPr>
          <p:nvPr/>
        </p:nvPicPr>
        <p:blipFill>
          <a:blip r:embed="rId2"/>
          <a:stretch>
            <a:fillRect/>
          </a:stretch>
        </p:blipFill>
        <p:spPr>
          <a:xfrm>
            <a:off x="678554" y="2144644"/>
            <a:ext cx="6281941" cy="4340361"/>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CCC63AB-D231-DB5A-5B26-DA06717E522E}"/>
                  </a:ext>
                </a:extLst>
              </p:cNvPr>
              <p:cNvSpPr txBox="1"/>
              <p:nvPr/>
            </p:nvSpPr>
            <p:spPr>
              <a:xfrm>
                <a:off x="6829057" y="3723695"/>
                <a:ext cx="5129289" cy="2654445"/>
              </a:xfrm>
              <a:prstGeom prst="rect">
                <a:avLst/>
              </a:prstGeom>
              <a:noFill/>
            </p:spPr>
            <p:txBody>
              <a:bodyPr wrap="none" rtlCol="0">
                <a:spAutoFit/>
              </a:bodyPr>
              <a:lstStyle/>
              <a:p>
                <a:pPr/>
                <a14:m>
                  <m:oMathPara xmlns:m="http://schemas.openxmlformats.org/officeDocument/2006/math">
                    <m:oMath>
                      <m:d>
                        <m:dPr>
                          <m:ctrlPr>
                            <a:rPr lang="en-CA" i="1">
                              <a:latin typeface="Cambria Math" panose="02040503050406030204" pitchFamily="18" charset="0"/>
                            </a:rPr>
                          </m:ctrlPr>
                        </m:dPr>
                        <m:e>
                          <m:m>
                            <m:mPr>
                              <m:mcs>
                                <m:mc>
                                  <m:mcPr>
                                    <m:count m:val="8"/>
                                    <m:mcJc m:val="center"/>
                                  </m:mcPr>
                                </m:mc>
                              </m:mcs>
                              <m:ctrlPr>
                                <a:rPr lang="en-CA" i="1">
                                  <a:latin typeface="Cambria Math" panose="02040503050406030204" pitchFamily="18" charset="0"/>
                                </a:rPr>
                              </m:ctrlPr>
                            </m:mPr>
                            <m:mr>
                              <m:e>
                                <m:r>
                                  <a:rPr lang="en-CA">
                                    <a:latin typeface="Cambria Math" panose="02040503050406030204" pitchFamily="18" charset="0"/>
                                  </a:rPr>
                                  <m:t>0</m:t>
                                </m:r>
                              </m:e>
                              <m:e>
                                <m:sSub>
                                  <m:sSubPr>
                                    <m:ctrlPr>
                                      <a:rPr lang="en-CA" i="1">
                                        <a:latin typeface="Cambria Math" panose="02040503050406030204" pitchFamily="18" charset="0"/>
                                      </a:rPr>
                                    </m:ctrlPr>
                                  </m:sSubPr>
                                  <m:e>
                                    <m:r>
                                      <a:rPr lang="en-CA" i="1">
                                        <a:latin typeface="Cambria Math" panose="02040503050406030204" pitchFamily="18" charset="0"/>
                                      </a:rPr>
                                      <m:t>𝑝</m:t>
                                    </m:r>
                                  </m:e>
                                  <m:sub>
                                    <m:r>
                                      <a:rPr lang="en-CA">
                                        <a:latin typeface="Cambria Math" panose="02040503050406030204" pitchFamily="18" charset="0"/>
                                      </a:rPr>
                                      <m:t>1,2</m:t>
                                    </m:r>
                                  </m:sub>
                                </m:sSub>
                              </m:e>
                              <m:e>
                                <m:sSub>
                                  <m:sSubPr>
                                    <m:ctrlPr>
                                      <a:rPr lang="en-CA" i="1">
                                        <a:latin typeface="Cambria Math" panose="02040503050406030204" pitchFamily="18" charset="0"/>
                                      </a:rPr>
                                    </m:ctrlPr>
                                  </m:sSubPr>
                                  <m:e>
                                    <m:r>
                                      <a:rPr lang="en-CA" i="1">
                                        <a:latin typeface="Cambria Math" panose="02040503050406030204" pitchFamily="18" charset="0"/>
                                      </a:rPr>
                                      <m:t>𝑝</m:t>
                                    </m:r>
                                  </m:e>
                                  <m:sub>
                                    <m:r>
                                      <a:rPr lang="en-CA">
                                        <a:latin typeface="Cambria Math" panose="02040503050406030204" pitchFamily="18" charset="0"/>
                                      </a:rPr>
                                      <m:t>1,3</m:t>
                                    </m:r>
                                  </m:sub>
                                </m:sSub>
                              </m:e>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mr>
                            <m:mr>
                              <m:e>
                                <m:r>
                                  <a:rPr lang="en-CA">
                                    <a:latin typeface="Cambria Math" panose="02040503050406030204" pitchFamily="18" charset="0"/>
                                  </a:rPr>
                                  <m:t>0</m:t>
                                </m:r>
                              </m:e>
                              <m:e>
                                <m:sSub>
                                  <m:sSubPr>
                                    <m:ctrlPr>
                                      <a:rPr lang="en-CA" i="1">
                                        <a:latin typeface="Cambria Math" panose="02040503050406030204" pitchFamily="18" charset="0"/>
                                      </a:rPr>
                                    </m:ctrlPr>
                                  </m:sSubPr>
                                  <m:e>
                                    <m:r>
                                      <a:rPr lang="en-CA" i="1">
                                        <a:latin typeface="Cambria Math" panose="02040503050406030204" pitchFamily="18" charset="0"/>
                                      </a:rPr>
                                      <m:t>𝑝</m:t>
                                    </m:r>
                                  </m:e>
                                  <m:sub>
                                    <m:r>
                                      <a:rPr lang="en-CA">
                                        <a:latin typeface="Cambria Math" panose="02040503050406030204" pitchFamily="18" charset="0"/>
                                      </a:rPr>
                                      <m:t>2,2</m:t>
                                    </m:r>
                                  </m:sub>
                                </m:sSub>
                              </m:e>
                              <m:e>
                                <m:sSub>
                                  <m:sSubPr>
                                    <m:ctrlPr>
                                      <a:rPr lang="en-CA" i="1">
                                        <a:latin typeface="Cambria Math" panose="02040503050406030204" pitchFamily="18" charset="0"/>
                                      </a:rPr>
                                    </m:ctrlPr>
                                  </m:sSubPr>
                                  <m:e>
                                    <m:r>
                                      <a:rPr lang="en-CA" i="1">
                                        <a:latin typeface="Cambria Math" panose="02040503050406030204" pitchFamily="18" charset="0"/>
                                      </a:rPr>
                                      <m:t>𝑝</m:t>
                                    </m:r>
                                  </m:e>
                                  <m:sub>
                                    <m:r>
                                      <a:rPr lang="en-CA">
                                        <a:latin typeface="Cambria Math" panose="02040503050406030204" pitchFamily="18" charset="0"/>
                                      </a:rPr>
                                      <m:t>2,3</m:t>
                                    </m:r>
                                  </m:sub>
                                </m:sSub>
                              </m:e>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mr>
                            <m:mr>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e>
                                <m:sSub>
                                  <m:sSubPr>
                                    <m:ctrlPr>
                                      <a:rPr lang="en-CA" i="1">
                                        <a:latin typeface="Cambria Math" panose="02040503050406030204" pitchFamily="18" charset="0"/>
                                      </a:rPr>
                                    </m:ctrlPr>
                                  </m:sSubPr>
                                  <m:e>
                                    <m:r>
                                      <a:rPr lang="en-CA" i="1">
                                        <a:latin typeface="Cambria Math" panose="02040503050406030204" pitchFamily="18" charset="0"/>
                                      </a:rPr>
                                      <m:t>𝑝</m:t>
                                    </m:r>
                                  </m:e>
                                  <m:sub>
                                    <m:r>
                                      <a:rPr lang="en-CA">
                                        <a:latin typeface="Cambria Math" panose="02040503050406030204" pitchFamily="18" charset="0"/>
                                      </a:rPr>
                                      <m:t>3,4</m:t>
                                    </m:r>
                                  </m:sub>
                                </m:sSub>
                              </m:e>
                              <m:e>
                                <m:sSub>
                                  <m:sSubPr>
                                    <m:ctrlPr>
                                      <a:rPr lang="en-CA" i="1">
                                        <a:latin typeface="Cambria Math" panose="02040503050406030204" pitchFamily="18" charset="0"/>
                                      </a:rPr>
                                    </m:ctrlPr>
                                  </m:sSubPr>
                                  <m:e>
                                    <m:r>
                                      <a:rPr lang="en-CA" i="1">
                                        <a:latin typeface="Cambria Math" panose="02040503050406030204" pitchFamily="18" charset="0"/>
                                      </a:rPr>
                                      <m:t>𝑝</m:t>
                                    </m:r>
                                  </m:e>
                                  <m:sub>
                                    <m:r>
                                      <a:rPr lang="en-CA">
                                        <a:latin typeface="Cambria Math" panose="02040503050406030204" pitchFamily="18" charset="0"/>
                                      </a:rPr>
                                      <m:t>3,5</m:t>
                                    </m:r>
                                  </m:sub>
                                </m:sSub>
                              </m:e>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mr>
                            <m:mr>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e>
                                <m:sSub>
                                  <m:sSubPr>
                                    <m:ctrlPr>
                                      <a:rPr lang="en-CA" i="1">
                                        <a:latin typeface="Cambria Math" panose="02040503050406030204" pitchFamily="18" charset="0"/>
                                      </a:rPr>
                                    </m:ctrlPr>
                                  </m:sSubPr>
                                  <m:e>
                                    <m:r>
                                      <a:rPr lang="en-CA" i="1">
                                        <a:latin typeface="Cambria Math" panose="02040503050406030204" pitchFamily="18" charset="0"/>
                                      </a:rPr>
                                      <m:t>𝑝</m:t>
                                    </m:r>
                                  </m:e>
                                  <m:sub>
                                    <m:r>
                                      <a:rPr lang="en-CA">
                                        <a:latin typeface="Cambria Math" panose="02040503050406030204" pitchFamily="18" charset="0"/>
                                      </a:rPr>
                                      <m:t>4,4</m:t>
                                    </m:r>
                                  </m:sub>
                                </m:sSub>
                              </m:e>
                              <m:e>
                                <m:sSub>
                                  <m:sSubPr>
                                    <m:ctrlPr>
                                      <a:rPr lang="en-CA" i="1">
                                        <a:latin typeface="Cambria Math" panose="02040503050406030204" pitchFamily="18" charset="0"/>
                                      </a:rPr>
                                    </m:ctrlPr>
                                  </m:sSubPr>
                                  <m:e>
                                    <m:r>
                                      <a:rPr lang="en-CA" i="1">
                                        <a:latin typeface="Cambria Math" panose="02040503050406030204" pitchFamily="18" charset="0"/>
                                      </a:rPr>
                                      <m:t>𝑝</m:t>
                                    </m:r>
                                  </m:e>
                                  <m:sub>
                                    <m:r>
                                      <a:rPr lang="en-CA">
                                        <a:latin typeface="Cambria Math" panose="02040503050406030204" pitchFamily="18" charset="0"/>
                                      </a:rPr>
                                      <m:t>4,5</m:t>
                                    </m:r>
                                  </m:sub>
                                </m:sSub>
                              </m:e>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mr>
                            <m:mr>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e>
                                <m:sSub>
                                  <m:sSubPr>
                                    <m:ctrlPr>
                                      <a:rPr lang="en-CA" i="1">
                                        <a:latin typeface="Cambria Math" panose="02040503050406030204" pitchFamily="18" charset="0"/>
                                      </a:rPr>
                                    </m:ctrlPr>
                                  </m:sSubPr>
                                  <m:e>
                                    <m:r>
                                      <a:rPr lang="en-CA" i="1">
                                        <a:latin typeface="Cambria Math" panose="02040503050406030204" pitchFamily="18" charset="0"/>
                                      </a:rPr>
                                      <m:t>𝑝</m:t>
                                    </m:r>
                                  </m:e>
                                  <m:sub>
                                    <m:r>
                                      <a:rPr lang="en-CA">
                                        <a:latin typeface="Cambria Math" panose="02040503050406030204" pitchFamily="18" charset="0"/>
                                      </a:rPr>
                                      <m:t>5,6</m:t>
                                    </m:r>
                                  </m:sub>
                                </m:sSub>
                              </m:e>
                              <m:e>
                                <m:sSub>
                                  <m:sSubPr>
                                    <m:ctrlPr>
                                      <a:rPr lang="en-CA" i="1">
                                        <a:latin typeface="Cambria Math" panose="02040503050406030204" pitchFamily="18" charset="0"/>
                                      </a:rPr>
                                    </m:ctrlPr>
                                  </m:sSubPr>
                                  <m:e>
                                    <m:r>
                                      <a:rPr lang="en-CA" i="1">
                                        <a:latin typeface="Cambria Math" panose="02040503050406030204" pitchFamily="18" charset="0"/>
                                      </a:rPr>
                                      <m:t>𝑝</m:t>
                                    </m:r>
                                  </m:e>
                                  <m:sub>
                                    <m:r>
                                      <a:rPr lang="en-CA">
                                        <a:latin typeface="Cambria Math" panose="02040503050406030204" pitchFamily="18" charset="0"/>
                                      </a:rPr>
                                      <m:t>5,7</m:t>
                                    </m:r>
                                  </m:sub>
                                </m:sSub>
                              </m:e>
                              <m:e>
                                <m:r>
                                  <a:rPr lang="en-CA">
                                    <a:latin typeface="Cambria Math" panose="02040503050406030204" pitchFamily="18" charset="0"/>
                                  </a:rPr>
                                  <m:t>0</m:t>
                                </m:r>
                              </m:e>
                            </m:mr>
                            <m:mr>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e>
                                <m:sSub>
                                  <m:sSubPr>
                                    <m:ctrlPr>
                                      <a:rPr lang="en-CA" i="1">
                                        <a:latin typeface="Cambria Math" panose="02040503050406030204" pitchFamily="18" charset="0"/>
                                      </a:rPr>
                                    </m:ctrlPr>
                                  </m:sSubPr>
                                  <m:e>
                                    <m:r>
                                      <a:rPr lang="en-CA" i="1">
                                        <a:latin typeface="Cambria Math" panose="02040503050406030204" pitchFamily="18" charset="0"/>
                                      </a:rPr>
                                      <m:t>𝑝</m:t>
                                    </m:r>
                                  </m:e>
                                  <m:sub>
                                    <m:r>
                                      <a:rPr lang="en-CA">
                                        <a:latin typeface="Cambria Math" panose="02040503050406030204" pitchFamily="18" charset="0"/>
                                      </a:rPr>
                                      <m:t>6,6</m:t>
                                    </m:r>
                                  </m:sub>
                                </m:sSub>
                              </m:e>
                              <m:e>
                                <m:sSub>
                                  <m:sSubPr>
                                    <m:ctrlPr>
                                      <a:rPr lang="en-CA" i="1">
                                        <a:latin typeface="Cambria Math" panose="02040503050406030204" pitchFamily="18" charset="0"/>
                                      </a:rPr>
                                    </m:ctrlPr>
                                  </m:sSubPr>
                                  <m:e>
                                    <m:r>
                                      <a:rPr lang="en-CA" i="1">
                                        <a:latin typeface="Cambria Math" panose="02040503050406030204" pitchFamily="18" charset="0"/>
                                      </a:rPr>
                                      <m:t>𝑝</m:t>
                                    </m:r>
                                  </m:e>
                                  <m:sub>
                                    <m:r>
                                      <a:rPr lang="en-CA">
                                        <a:latin typeface="Cambria Math" panose="02040503050406030204" pitchFamily="18" charset="0"/>
                                      </a:rPr>
                                      <m:t>6,7</m:t>
                                    </m:r>
                                  </m:sub>
                                </m:sSub>
                              </m:e>
                              <m:e>
                                <m:r>
                                  <a:rPr lang="en-CA">
                                    <a:latin typeface="Cambria Math" panose="02040503050406030204" pitchFamily="18" charset="0"/>
                                  </a:rPr>
                                  <m:t>0</m:t>
                                </m:r>
                              </m:e>
                            </m:mr>
                            <m:mr>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e>
                                <m:sSub>
                                  <m:sSubPr>
                                    <m:ctrlPr>
                                      <a:rPr lang="en-CA" i="1">
                                        <a:latin typeface="Cambria Math" panose="02040503050406030204" pitchFamily="18" charset="0"/>
                                      </a:rPr>
                                    </m:ctrlPr>
                                  </m:sSubPr>
                                  <m:e>
                                    <m:r>
                                      <a:rPr lang="en-CA" i="1">
                                        <a:latin typeface="Cambria Math" panose="02040503050406030204" pitchFamily="18" charset="0"/>
                                      </a:rPr>
                                      <m:t>𝑝</m:t>
                                    </m:r>
                                  </m:e>
                                  <m:sub>
                                    <m:r>
                                      <a:rPr lang="en-CA">
                                        <a:latin typeface="Cambria Math" panose="02040503050406030204" pitchFamily="18" charset="0"/>
                                      </a:rPr>
                                      <m:t>7,7</m:t>
                                    </m:r>
                                  </m:sub>
                                </m:sSub>
                              </m:e>
                              <m:e>
                                <m:sSub>
                                  <m:sSubPr>
                                    <m:ctrlPr>
                                      <a:rPr lang="en-CA" i="1">
                                        <a:latin typeface="Cambria Math" panose="02040503050406030204" pitchFamily="18" charset="0"/>
                                      </a:rPr>
                                    </m:ctrlPr>
                                  </m:sSubPr>
                                  <m:e>
                                    <m:r>
                                      <a:rPr lang="en-CA" i="1">
                                        <a:latin typeface="Cambria Math" panose="02040503050406030204" pitchFamily="18" charset="0"/>
                                      </a:rPr>
                                      <m:t>𝑝</m:t>
                                    </m:r>
                                  </m:e>
                                  <m:sub>
                                    <m:r>
                                      <a:rPr lang="en-CA">
                                        <a:latin typeface="Cambria Math" panose="02040503050406030204" pitchFamily="18" charset="0"/>
                                      </a:rPr>
                                      <m:t>7,8</m:t>
                                    </m:r>
                                  </m:sub>
                                </m:sSub>
                              </m:e>
                            </m:mr>
                            <m:mr>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0</m:t>
                                </m:r>
                              </m:e>
                              <m:e>
                                <m:r>
                                  <a:rPr lang="en-CA">
                                    <a:latin typeface="Cambria Math" panose="02040503050406030204" pitchFamily="18" charset="0"/>
                                  </a:rPr>
                                  <m:t>1</m:t>
                                </m:r>
                              </m:e>
                            </m:mr>
                          </m:m>
                        </m:e>
                      </m:d>
                    </m:oMath>
                  </m:oMathPara>
                </a14:m>
                <a:endParaRPr lang="en-CA" dirty="0"/>
              </a:p>
              <a:p>
                <a:endParaRPr lang="en-CA" dirty="0"/>
              </a:p>
            </p:txBody>
          </p:sp>
        </mc:Choice>
        <mc:Fallback xmlns="">
          <p:sp>
            <p:nvSpPr>
              <p:cNvPr id="6" name="TextBox 5">
                <a:extLst>
                  <a:ext uri="{FF2B5EF4-FFF2-40B4-BE49-F238E27FC236}">
                    <a16:creationId xmlns:a16="http://schemas.microsoft.com/office/drawing/2014/main" id="{3CCC63AB-D231-DB5A-5B26-DA06717E522E}"/>
                  </a:ext>
                </a:extLst>
              </p:cNvPr>
              <p:cNvSpPr txBox="1">
                <a:spLocks noRot="1" noChangeAspect="1" noMove="1" noResize="1" noEditPoints="1" noAdjustHandles="1" noChangeArrowheads="1" noChangeShapeType="1" noTextEdit="1"/>
              </p:cNvSpPr>
              <p:nvPr/>
            </p:nvSpPr>
            <p:spPr>
              <a:xfrm>
                <a:off x="6829057" y="3723695"/>
                <a:ext cx="5129289" cy="2654445"/>
              </a:xfrm>
              <a:prstGeom prst="rect">
                <a:avLst/>
              </a:prstGeom>
              <a:blipFill>
                <a:blip r:embed="rId3"/>
                <a:stretch>
                  <a:fillRect/>
                </a:stretch>
              </a:blipFill>
            </p:spPr>
            <p:txBody>
              <a:bodyPr/>
              <a:lstStyle/>
              <a:p>
                <a:r>
                  <a:rPr lang="en-CA">
                    <a:noFill/>
                  </a:rPr>
                  <a:t> </a:t>
                </a:r>
              </a:p>
            </p:txBody>
          </p:sp>
        </mc:Fallback>
      </mc:AlternateContent>
      <p:sp>
        <p:nvSpPr>
          <p:cNvPr id="3" name="TextBox 2">
            <a:extLst>
              <a:ext uri="{FF2B5EF4-FFF2-40B4-BE49-F238E27FC236}">
                <a16:creationId xmlns:a16="http://schemas.microsoft.com/office/drawing/2014/main" id="{95BB52E2-2160-E0BC-D137-CAA9531A4F23}"/>
              </a:ext>
            </a:extLst>
          </p:cNvPr>
          <p:cNvSpPr txBox="1"/>
          <p:nvPr/>
        </p:nvSpPr>
        <p:spPr>
          <a:xfrm>
            <a:off x="5948818" y="3291785"/>
            <a:ext cx="6133154" cy="323165"/>
          </a:xfrm>
          <a:prstGeom prst="rect">
            <a:avLst/>
          </a:prstGeom>
          <a:noFill/>
        </p:spPr>
        <p:txBody>
          <a:bodyPr wrap="none" rtlCol="0">
            <a:spAutoFit/>
          </a:bodyPr>
          <a:lstStyle/>
          <a:p>
            <a:r>
              <a:rPr lang="en-CA" sz="1500" b="1" i="1" dirty="0"/>
              <a:t>Math Note: </a:t>
            </a:r>
            <a:r>
              <a:rPr lang="en-CA" sz="1500" i="1" dirty="0"/>
              <a:t>The Underlying Markov Matrix is </a:t>
            </a:r>
            <a:r>
              <a:rPr lang="en-CA" sz="1500" b="1" i="1" dirty="0"/>
              <a:t>Sparse ( has lots of zeros)</a:t>
            </a:r>
          </a:p>
        </p:txBody>
      </p:sp>
      <p:sp>
        <p:nvSpPr>
          <p:cNvPr id="8" name="TextBox 7">
            <a:extLst>
              <a:ext uri="{FF2B5EF4-FFF2-40B4-BE49-F238E27FC236}">
                <a16:creationId xmlns:a16="http://schemas.microsoft.com/office/drawing/2014/main" id="{6D8CF12B-4970-67D2-8A9B-8189A697A639}"/>
              </a:ext>
            </a:extLst>
          </p:cNvPr>
          <p:cNvSpPr txBox="1"/>
          <p:nvPr/>
        </p:nvSpPr>
        <p:spPr>
          <a:xfrm>
            <a:off x="5872176" y="1722125"/>
            <a:ext cx="5744201" cy="1754326"/>
          </a:xfrm>
          <a:prstGeom prst="rect">
            <a:avLst/>
          </a:prstGeom>
          <a:noFill/>
        </p:spPr>
        <p:txBody>
          <a:bodyPr wrap="none" rtlCol="0">
            <a:spAutoFit/>
          </a:bodyPr>
          <a:lstStyle/>
          <a:p>
            <a:pPr marL="285750" indent="-285750">
              <a:buFont typeface="Arial" panose="020B0604020202020204" pitchFamily="34" charset="0"/>
              <a:buChar char="•"/>
            </a:pPr>
            <a:r>
              <a:rPr lang="en-CA" dirty="0"/>
              <a:t>The model used in this paper is a Markov </a:t>
            </a:r>
            <a:br>
              <a:rPr lang="en-CA" dirty="0"/>
            </a:br>
            <a:r>
              <a:rPr lang="en-CA" dirty="0"/>
              <a:t>model.</a:t>
            </a:r>
          </a:p>
          <a:p>
            <a:pPr marL="285750" indent="-285750">
              <a:buFont typeface="Arial" panose="020B0604020202020204" pitchFamily="34" charset="0"/>
              <a:buChar char="•"/>
            </a:pPr>
            <a:endParaRPr lang="en-CA" dirty="0"/>
          </a:p>
          <a:p>
            <a:pPr marL="285750" indent="-285750">
              <a:buFont typeface="Arial" panose="020B0604020202020204" pitchFamily="34" charset="0"/>
              <a:buChar char="•"/>
            </a:pPr>
            <a:r>
              <a:rPr lang="en-CA" dirty="0"/>
              <a:t>What has changed here is the definition of what each</a:t>
            </a:r>
            <a:br>
              <a:rPr lang="en-CA" dirty="0"/>
            </a:br>
            <a:r>
              <a:rPr lang="en-CA" dirty="0"/>
              <a:t>drug is in a three-line case.</a:t>
            </a:r>
          </a:p>
          <a:p>
            <a:pPr marL="285750" indent="-285750">
              <a:buFont typeface="Arial" panose="020B0604020202020204" pitchFamily="34" charset="0"/>
              <a:buChar char="•"/>
            </a:pPr>
            <a:endParaRPr lang="en-CA" dirty="0"/>
          </a:p>
        </p:txBody>
      </p:sp>
    </p:spTree>
    <p:extLst>
      <p:ext uri="{BB962C8B-B14F-4D97-AF65-F5344CB8AC3E}">
        <p14:creationId xmlns:p14="http://schemas.microsoft.com/office/powerpoint/2010/main" val="1566402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2F3FA-D127-56E6-D9F4-F81F83F1D728}"/>
              </a:ext>
            </a:extLst>
          </p:cNvPr>
          <p:cNvSpPr>
            <a:spLocks noGrp="1"/>
          </p:cNvSpPr>
          <p:nvPr>
            <p:ph type="title"/>
          </p:nvPr>
        </p:nvSpPr>
        <p:spPr/>
        <p:txBody>
          <a:bodyPr/>
          <a:lstStyle/>
          <a:p>
            <a:r>
              <a:rPr lang="en-CA" dirty="0"/>
              <a:t>A warning about sensitivity analysis with different clinical alternatives.</a:t>
            </a:r>
          </a:p>
        </p:txBody>
      </p:sp>
      <p:sp>
        <p:nvSpPr>
          <p:cNvPr id="3" name="Content Placeholder 2">
            <a:extLst>
              <a:ext uri="{FF2B5EF4-FFF2-40B4-BE49-F238E27FC236}">
                <a16:creationId xmlns:a16="http://schemas.microsoft.com/office/drawing/2014/main" id="{F1F97BF1-8476-41C4-9052-2EDDA4009579}"/>
              </a:ext>
            </a:extLst>
          </p:cNvPr>
          <p:cNvSpPr>
            <a:spLocks noGrp="1"/>
          </p:cNvSpPr>
          <p:nvPr>
            <p:ph idx="1"/>
          </p:nvPr>
        </p:nvSpPr>
        <p:spPr/>
        <p:txBody>
          <a:bodyPr/>
          <a:lstStyle/>
          <a:p>
            <a:r>
              <a:rPr lang="en-CA" dirty="0"/>
              <a:t>With multiple comparators we need to be sure that they make sense.</a:t>
            </a:r>
          </a:p>
          <a:p>
            <a:pPr lvl="1"/>
            <a:r>
              <a:rPr lang="en-CA" dirty="0"/>
              <a:t>This can require some clinical knowledge about the intensity associated with each treatment.</a:t>
            </a:r>
          </a:p>
          <a:p>
            <a:r>
              <a:rPr lang="en-CA" dirty="0"/>
              <a:t>Example #1: Mesalamine is a “first-line drug” for treating patients with Ulcerative Colitis. We will never see this drug offered after a more complex and costly biologic treatment.</a:t>
            </a:r>
          </a:p>
          <a:p>
            <a:r>
              <a:rPr lang="en-CA" dirty="0"/>
              <a:t>Example #2: Immunotherapy is often not a first line treatment for breast cancer. Assuming it to be used as a first line treatment in a Markov type setup would be incorrect.</a:t>
            </a:r>
          </a:p>
          <a:p>
            <a:endParaRPr lang="en-CA" b="1" dirty="0"/>
          </a:p>
          <a:p>
            <a:r>
              <a:rPr lang="en-CA" b="1" dirty="0"/>
              <a:t>Bottom Line: </a:t>
            </a:r>
            <a:r>
              <a:rPr lang="en-CA" dirty="0"/>
              <a:t>A sensitivity analysis should support your research, if you use scenarios which do not make sense they do not support the case for </a:t>
            </a:r>
            <a:r>
              <a:rPr lang="en-CA" dirty="0" err="1"/>
              <a:t>defing</a:t>
            </a:r>
            <a:r>
              <a:rPr lang="en-CA" dirty="0"/>
              <a:t> a treatment as cost effective or not.</a:t>
            </a:r>
            <a:endParaRPr lang="en-CA" b="1" dirty="0"/>
          </a:p>
        </p:txBody>
      </p:sp>
    </p:spTree>
    <p:extLst>
      <p:ext uri="{BB962C8B-B14F-4D97-AF65-F5344CB8AC3E}">
        <p14:creationId xmlns:p14="http://schemas.microsoft.com/office/powerpoint/2010/main" val="2608978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E4CA7-C110-764A-873D-1D899F764685}"/>
              </a:ext>
            </a:extLst>
          </p:cNvPr>
          <p:cNvSpPr>
            <a:spLocks noGrp="1"/>
          </p:cNvSpPr>
          <p:nvPr>
            <p:ph type="title"/>
          </p:nvPr>
        </p:nvSpPr>
        <p:spPr/>
        <p:txBody>
          <a:bodyPr/>
          <a:lstStyle/>
          <a:p>
            <a:r>
              <a:rPr lang="en-CA" dirty="0"/>
              <a:t>How many comparators?</a:t>
            </a:r>
          </a:p>
        </p:txBody>
      </p:sp>
      <p:sp>
        <p:nvSpPr>
          <p:cNvPr id="3" name="Content Placeholder 2">
            <a:extLst>
              <a:ext uri="{FF2B5EF4-FFF2-40B4-BE49-F238E27FC236}">
                <a16:creationId xmlns:a16="http://schemas.microsoft.com/office/drawing/2014/main" id="{9429FC84-B426-CEAE-4E30-6734F601296A}"/>
              </a:ext>
            </a:extLst>
          </p:cNvPr>
          <p:cNvSpPr>
            <a:spLocks noGrp="1"/>
          </p:cNvSpPr>
          <p:nvPr>
            <p:ph idx="1"/>
          </p:nvPr>
        </p:nvSpPr>
        <p:spPr/>
        <p:txBody>
          <a:bodyPr/>
          <a:lstStyle/>
          <a:p>
            <a:r>
              <a:rPr lang="en-CA" dirty="0"/>
              <a:t>Using multiple comparators is one of the strongest ways to support the validity of the cost effectiveness of a new technology or treatment.</a:t>
            </a:r>
          </a:p>
          <a:p>
            <a:r>
              <a:rPr lang="en-CA" dirty="0"/>
              <a:t>But it can get unwieldly for some treatments.</a:t>
            </a:r>
          </a:p>
          <a:p>
            <a:r>
              <a:rPr lang="en-CA" dirty="0"/>
              <a:t>For ulcerative colitis, there are currently 8 different FDA-approved biologic classes of drugs. If we wanted to analyze their sequencing where patients follow 3 different drugs before moving on to some “best standard of care”. There are over </a:t>
            </a:r>
            <a:r>
              <a:rPr lang="en-CA" b="1" dirty="0"/>
              <a:t>56 </a:t>
            </a:r>
            <a:r>
              <a:rPr lang="en-CA" dirty="0"/>
              <a:t>possible sequences.</a:t>
            </a:r>
          </a:p>
          <a:p>
            <a:r>
              <a:rPr lang="en-CA" dirty="0"/>
              <a:t>This can get very difficult.</a:t>
            </a:r>
          </a:p>
          <a:p>
            <a:r>
              <a:rPr lang="en-CA" dirty="0"/>
              <a:t>Clinical expertise and thinking about your problem will narrow this number.</a:t>
            </a:r>
          </a:p>
        </p:txBody>
      </p:sp>
    </p:spTree>
    <p:extLst>
      <p:ext uri="{BB962C8B-B14F-4D97-AF65-F5344CB8AC3E}">
        <p14:creationId xmlns:p14="http://schemas.microsoft.com/office/powerpoint/2010/main" val="512961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FB041-B035-A066-F247-2EF4F8DEDF50}"/>
              </a:ext>
            </a:extLst>
          </p:cNvPr>
          <p:cNvSpPr>
            <a:spLocks noGrp="1"/>
          </p:cNvSpPr>
          <p:nvPr>
            <p:ph type="ctrTitle"/>
          </p:nvPr>
        </p:nvSpPr>
        <p:spPr/>
        <p:txBody>
          <a:bodyPr/>
          <a:lstStyle/>
          <a:p>
            <a:r>
              <a:rPr lang="en-CA" dirty="0"/>
              <a:t>Two-Way Sensitivity Analysis</a:t>
            </a:r>
          </a:p>
        </p:txBody>
      </p:sp>
      <p:sp>
        <p:nvSpPr>
          <p:cNvPr id="3" name="Subtitle 2">
            <a:extLst>
              <a:ext uri="{FF2B5EF4-FFF2-40B4-BE49-F238E27FC236}">
                <a16:creationId xmlns:a16="http://schemas.microsoft.com/office/drawing/2014/main" id="{680178EE-3D46-459F-F9F6-850B92472EA3}"/>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4011945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FEF3F-8573-1384-2CDE-6AB6D8471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EC93E4-E58C-67E7-35F7-745F7A7A9A14}"/>
              </a:ext>
            </a:extLst>
          </p:cNvPr>
          <p:cNvSpPr>
            <a:spLocks noGrp="1"/>
          </p:cNvSpPr>
          <p:nvPr>
            <p:ph type="title"/>
          </p:nvPr>
        </p:nvSpPr>
        <p:spPr>
          <a:xfrm>
            <a:off x="482600" y="597408"/>
            <a:ext cx="10634472" cy="1117092"/>
          </a:xfrm>
        </p:spPr>
        <p:txBody>
          <a:bodyPr/>
          <a:lstStyle/>
          <a:p>
            <a:r>
              <a:rPr lang="en-CA" sz="4800" dirty="0"/>
              <a:t>Two Way Sensitivity Analysis</a:t>
            </a:r>
          </a:p>
        </p:txBody>
      </p:sp>
      <p:sp>
        <p:nvSpPr>
          <p:cNvPr id="3" name="Content Placeholder 2">
            <a:extLst>
              <a:ext uri="{FF2B5EF4-FFF2-40B4-BE49-F238E27FC236}">
                <a16:creationId xmlns:a16="http://schemas.microsoft.com/office/drawing/2014/main" id="{2BBCCB32-81EA-BAF5-C4F5-068B0F1E7167}"/>
              </a:ext>
            </a:extLst>
          </p:cNvPr>
          <p:cNvSpPr>
            <a:spLocks noGrp="1"/>
          </p:cNvSpPr>
          <p:nvPr>
            <p:ph idx="1"/>
          </p:nvPr>
        </p:nvSpPr>
        <p:spPr>
          <a:xfrm>
            <a:off x="482600" y="1943100"/>
            <a:ext cx="10506991" cy="3936491"/>
          </a:xfrm>
        </p:spPr>
        <p:txBody>
          <a:bodyPr>
            <a:normAutofit fontScale="92500" lnSpcReduction="20000"/>
          </a:bodyPr>
          <a:lstStyle/>
          <a:p>
            <a:pPr marL="342900" indent="-342900">
              <a:buFont typeface="Wingdings" panose="05000000000000000000" pitchFamily="2" charset="2"/>
              <a:buChar char="§"/>
            </a:pPr>
            <a:r>
              <a:rPr lang="en-CA" sz="2500" dirty="0"/>
              <a:t> Two-way sensitivity analysis is conducted when we are interested in how two parameters impact the output of a model together.</a:t>
            </a:r>
          </a:p>
          <a:p>
            <a:pPr marL="342900" indent="-342900">
              <a:buFont typeface="Wingdings" panose="05000000000000000000" pitchFamily="2" charset="2"/>
              <a:buChar char="§"/>
            </a:pPr>
            <a:r>
              <a:rPr lang="en-CA" sz="2500" dirty="0"/>
              <a:t>This is different from one way sensitivity analysis where it is assumed that parameters are independent of </a:t>
            </a:r>
            <a:r>
              <a:rPr lang="en-CA" sz="2500" dirty="0" err="1"/>
              <a:t>eachother</a:t>
            </a:r>
            <a:r>
              <a:rPr lang="en-CA" sz="2500" dirty="0"/>
              <a:t>.</a:t>
            </a:r>
          </a:p>
          <a:p>
            <a:pPr marL="342900" indent="-342900">
              <a:buFont typeface="Wingdings" panose="05000000000000000000" pitchFamily="2" charset="2"/>
              <a:buChar char="§"/>
            </a:pPr>
            <a:r>
              <a:rPr lang="en-CA" sz="2500" dirty="0"/>
              <a:t> This analysis is often justified when we suspect that model parameters are </a:t>
            </a:r>
            <a:r>
              <a:rPr lang="en-CA" sz="2500" b="1" dirty="0"/>
              <a:t>correlated</a:t>
            </a:r>
            <a:r>
              <a:rPr lang="en-CA" sz="2500" dirty="0"/>
              <a:t> with each other (</a:t>
            </a:r>
            <a:r>
              <a:rPr lang="en-CA" sz="2500" dirty="0" err="1"/>
              <a:t>i.e</a:t>
            </a:r>
            <a:r>
              <a:rPr lang="en-CA" sz="2500" dirty="0"/>
              <a:t>, the varying of one parameter will necessarily impact the value of another). </a:t>
            </a:r>
          </a:p>
          <a:p>
            <a:pPr marL="342900" indent="-342900">
              <a:buFont typeface="Wingdings" panose="05000000000000000000" pitchFamily="2" charset="2"/>
              <a:buChar char="§"/>
            </a:pPr>
            <a:r>
              <a:rPr lang="en-CA" sz="2500" dirty="0"/>
              <a:t>As an example, health states and the risk of adverse events are often negatively correlated with health utilities. (i.e. lower the utility the higher the probability of an adverse event).</a:t>
            </a:r>
          </a:p>
        </p:txBody>
      </p:sp>
    </p:spTree>
    <p:extLst>
      <p:ext uri="{BB962C8B-B14F-4D97-AF65-F5344CB8AC3E}">
        <p14:creationId xmlns:p14="http://schemas.microsoft.com/office/powerpoint/2010/main" val="12547776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6D1C0-3F8B-E383-2B40-F106A65445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38CA7B-17B1-7F59-28A0-1A917FFC7D13}"/>
              </a:ext>
            </a:extLst>
          </p:cNvPr>
          <p:cNvSpPr>
            <a:spLocks noGrp="1"/>
          </p:cNvSpPr>
          <p:nvPr>
            <p:ph type="title"/>
          </p:nvPr>
        </p:nvSpPr>
        <p:spPr>
          <a:xfrm>
            <a:off x="482601" y="976161"/>
            <a:ext cx="5189964" cy="995514"/>
          </a:xfrm>
        </p:spPr>
        <p:txBody>
          <a:bodyPr>
            <a:normAutofit fontScale="90000"/>
          </a:bodyPr>
          <a:lstStyle/>
          <a:p>
            <a:pPr>
              <a:lnSpc>
                <a:spcPct val="90000"/>
              </a:lnSpc>
            </a:pPr>
            <a:r>
              <a:rPr lang="en-CA" sz="4000" dirty="0"/>
              <a:t>Two way sensitivity analysis plot</a:t>
            </a:r>
          </a:p>
        </p:txBody>
      </p:sp>
      <p:sp>
        <p:nvSpPr>
          <p:cNvPr id="3" name="Content Placeholder 2">
            <a:extLst>
              <a:ext uri="{FF2B5EF4-FFF2-40B4-BE49-F238E27FC236}">
                <a16:creationId xmlns:a16="http://schemas.microsoft.com/office/drawing/2014/main" id="{1A9E458E-C988-8E0E-0B2D-AE456FC48241}"/>
              </a:ext>
            </a:extLst>
          </p:cNvPr>
          <p:cNvSpPr>
            <a:spLocks noGrp="1"/>
          </p:cNvSpPr>
          <p:nvPr>
            <p:ph idx="1"/>
          </p:nvPr>
        </p:nvSpPr>
        <p:spPr>
          <a:xfrm>
            <a:off x="406400" y="2055704"/>
            <a:ext cx="5689600" cy="3515537"/>
          </a:xfrm>
        </p:spPr>
        <p:txBody>
          <a:bodyPr>
            <a:normAutofit fontScale="85000" lnSpcReduction="20000"/>
          </a:bodyPr>
          <a:lstStyle/>
          <a:p>
            <a:pPr marL="342900" indent="-342900">
              <a:buFont typeface="Wingdings" panose="05000000000000000000" pitchFamily="2" charset="2"/>
              <a:buChar char="§"/>
            </a:pPr>
            <a:r>
              <a:rPr lang="en-CA" sz="2000" dirty="0"/>
              <a:t>In a two way sensitivity analysis we create a </a:t>
            </a:r>
            <a:r>
              <a:rPr lang="en-CA" sz="2000" b="1" dirty="0"/>
              <a:t>strategy selection map.</a:t>
            </a:r>
            <a:r>
              <a:rPr lang="en-CA" sz="2000" dirty="0"/>
              <a:t> </a:t>
            </a:r>
          </a:p>
          <a:p>
            <a:pPr marL="342900" indent="-342900">
              <a:buFont typeface="Wingdings" panose="05000000000000000000" pitchFamily="2" charset="2"/>
              <a:buChar char="§"/>
            </a:pPr>
            <a:r>
              <a:rPr lang="en-CA" sz="2000" dirty="0"/>
              <a:t>With this plot we can identify which treatments are cost effective conditional on pairs of parameter values.</a:t>
            </a:r>
          </a:p>
          <a:p>
            <a:pPr marL="342900" indent="-342900">
              <a:buFont typeface="Wingdings" panose="05000000000000000000" pitchFamily="2" charset="2"/>
              <a:buChar char="§"/>
            </a:pPr>
            <a:r>
              <a:rPr lang="en-CA" sz="2000" dirty="0"/>
              <a:t>The plot’s advantage is that it shows directly how changing the models parameters over a range of values can impact the main results.</a:t>
            </a:r>
          </a:p>
          <a:p>
            <a:pPr marL="342900" indent="-342900">
              <a:buFont typeface="Wingdings" panose="05000000000000000000" pitchFamily="2" charset="2"/>
              <a:buChar char="§"/>
            </a:pPr>
            <a:r>
              <a:rPr lang="en-CA" sz="2000" dirty="0"/>
              <a:t>A disadvantage is that it can only consider two parameters at a time, while in the one-way analysis we can add every parameter on the same plot.</a:t>
            </a:r>
          </a:p>
          <a:p>
            <a:pPr marL="342900" indent="-342900">
              <a:buFont typeface="Wingdings" panose="05000000000000000000" pitchFamily="2" charset="2"/>
              <a:buChar char="§"/>
            </a:pPr>
            <a:r>
              <a:rPr lang="en-CA" sz="2000" dirty="0"/>
              <a:t>We also do not get a sense of how the ICER may change across parameters.</a:t>
            </a:r>
          </a:p>
        </p:txBody>
      </p:sp>
      <p:pic>
        <p:nvPicPr>
          <p:cNvPr id="3074" name="Picture 2">
            <a:extLst>
              <a:ext uri="{FF2B5EF4-FFF2-40B4-BE49-F238E27FC236}">
                <a16:creationId xmlns:a16="http://schemas.microsoft.com/office/drawing/2014/main" id="{1BE0EF0E-F310-8FDE-B6A9-80378E76BCEF}"/>
              </a:ext>
            </a:extLst>
          </p:cNvPr>
          <p:cNvPicPr>
            <a:picLocks noChangeAspect="1" noChangeArrowheads="1"/>
          </p:cNvPicPr>
          <p:nvPr/>
        </p:nvPicPr>
        <p:blipFill>
          <a:blip r:embed="rId2">
            <a:alphaModFix/>
          </a:blip>
          <a:stretch/>
        </p:blipFill>
        <p:spPr bwMode="auto">
          <a:xfrm>
            <a:off x="6649972" y="1076325"/>
            <a:ext cx="4023422" cy="48917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1FD2673-4CA1-0ACA-A154-DADC7BF6C298}"/>
              </a:ext>
            </a:extLst>
          </p:cNvPr>
          <p:cNvSpPr txBox="1"/>
          <p:nvPr/>
        </p:nvSpPr>
        <p:spPr>
          <a:xfrm>
            <a:off x="6557815" y="5968028"/>
            <a:ext cx="2980303" cy="400110"/>
          </a:xfrm>
          <a:prstGeom prst="rect">
            <a:avLst/>
          </a:prstGeom>
          <a:noFill/>
        </p:spPr>
        <p:txBody>
          <a:bodyPr wrap="none" rtlCol="0">
            <a:spAutoFit/>
          </a:bodyPr>
          <a:lstStyle/>
          <a:p>
            <a:r>
              <a:rPr lang="en-CA" sz="1000" b="1" dirty="0"/>
              <a:t>Source: Radiological Society of North America</a:t>
            </a:r>
            <a:br>
              <a:rPr lang="en-CA" sz="1000" b="1" dirty="0"/>
            </a:br>
            <a:r>
              <a:rPr lang="en-CA" sz="1000" b="1" dirty="0"/>
              <a:t>https://www.eurekalert.org/multimedia/920184</a:t>
            </a:r>
          </a:p>
        </p:txBody>
      </p:sp>
    </p:spTree>
    <p:extLst>
      <p:ext uri="{BB962C8B-B14F-4D97-AF65-F5344CB8AC3E}">
        <p14:creationId xmlns:p14="http://schemas.microsoft.com/office/powerpoint/2010/main" val="3039802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0A5F3-BBC4-6D58-F5CA-7B2F73404D04}"/>
              </a:ext>
            </a:extLst>
          </p:cNvPr>
          <p:cNvSpPr>
            <a:spLocks noGrp="1"/>
          </p:cNvSpPr>
          <p:nvPr>
            <p:ph type="title"/>
          </p:nvPr>
        </p:nvSpPr>
        <p:spPr/>
        <p:txBody>
          <a:bodyPr/>
          <a:lstStyle/>
          <a:p>
            <a:r>
              <a:rPr lang="en-CA" dirty="0"/>
              <a:t>A sketch of two way sensitivity analysis</a:t>
            </a:r>
          </a:p>
        </p:txBody>
      </p:sp>
      <p:sp>
        <p:nvSpPr>
          <p:cNvPr id="3" name="Content Placeholder 2">
            <a:extLst>
              <a:ext uri="{FF2B5EF4-FFF2-40B4-BE49-F238E27FC236}">
                <a16:creationId xmlns:a16="http://schemas.microsoft.com/office/drawing/2014/main" id="{2B4904DD-0464-BE7B-966E-F2139B8B9507}"/>
              </a:ext>
            </a:extLst>
          </p:cNvPr>
          <p:cNvSpPr>
            <a:spLocks noGrp="1"/>
          </p:cNvSpPr>
          <p:nvPr>
            <p:ph idx="1"/>
          </p:nvPr>
        </p:nvSpPr>
        <p:spPr>
          <a:xfrm>
            <a:off x="664083" y="1988058"/>
            <a:ext cx="11155680" cy="3767328"/>
          </a:xfrm>
        </p:spPr>
        <p:txBody>
          <a:bodyPr/>
          <a:lstStyle/>
          <a:p>
            <a:r>
              <a:rPr lang="en-CA" dirty="0"/>
              <a:t>Sensitivity analysis involves varying the values of two coefficients at the same time and choosing the option with the lower ICER (cost effective) ICER. </a:t>
            </a:r>
          </a:p>
          <a:p>
            <a:r>
              <a:rPr lang="en-CA" dirty="0"/>
              <a:t>NOTE: This assumes that both changes in costs and effects are positive, in the case where we end up with negative ICERS from the sensitivity Analysis we will need to use </a:t>
            </a:r>
            <a:r>
              <a:rPr lang="en-CA" b="1" dirty="0"/>
              <a:t>NET MONETARY BENEFITS </a:t>
            </a:r>
            <a:r>
              <a:rPr lang="en-CA" dirty="0"/>
              <a:t>or </a:t>
            </a:r>
            <a:r>
              <a:rPr lang="en-CA" b="1" dirty="0"/>
              <a:t>NET HEALTH BENEFITS </a:t>
            </a:r>
            <a:r>
              <a:rPr lang="en-CA" dirty="0"/>
              <a:t>which is to  be discussed.</a:t>
            </a:r>
          </a:p>
          <a:p>
            <a:r>
              <a:rPr lang="en-CA" dirty="0"/>
              <a:t>The more general analyst tool used for two way sensitivity analysis comes from the use of </a:t>
            </a:r>
            <a:r>
              <a:rPr lang="en-CA" b="1" dirty="0"/>
              <a:t>Two way data tables. </a:t>
            </a:r>
            <a:r>
              <a:rPr lang="en-CA" dirty="0"/>
              <a:t>(The excel sheet for this table has been uploaded to the course site as an example)</a:t>
            </a:r>
          </a:p>
        </p:txBody>
      </p:sp>
      <p:pic>
        <p:nvPicPr>
          <p:cNvPr id="8" name="Picture 7">
            <a:extLst>
              <a:ext uri="{FF2B5EF4-FFF2-40B4-BE49-F238E27FC236}">
                <a16:creationId xmlns:a16="http://schemas.microsoft.com/office/drawing/2014/main" id="{C715F248-BC3F-292A-DE80-A2F6867385F0}"/>
              </a:ext>
            </a:extLst>
          </p:cNvPr>
          <p:cNvPicPr>
            <a:picLocks noChangeAspect="1"/>
          </p:cNvPicPr>
          <p:nvPr/>
        </p:nvPicPr>
        <p:blipFill>
          <a:blip r:embed="rId2"/>
          <a:stretch>
            <a:fillRect/>
          </a:stretch>
        </p:blipFill>
        <p:spPr>
          <a:xfrm>
            <a:off x="885063" y="4416553"/>
            <a:ext cx="11077575" cy="2533650"/>
          </a:xfrm>
          <a:prstGeom prst="rect">
            <a:avLst/>
          </a:prstGeom>
        </p:spPr>
      </p:pic>
    </p:spTree>
    <p:extLst>
      <p:ext uri="{BB962C8B-B14F-4D97-AF65-F5344CB8AC3E}">
        <p14:creationId xmlns:p14="http://schemas.microsoft.com/office/powerpoint/2010/main" val="15609238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4AB88-5585-B037-CE5E-7D9D4B11B5A3}"/>
              </a:ext>
            </a:extLst>
          </p:cNvPr>
          <p:cNvSpPr>
            <a:spLocks noGrp="1"/>
          </p:cNvSpPr>
          <p:nvPr>
            <p:ph type="ctrTitle"/>
          </p:nvPr>
        </p:nvSpPr>
        <p:spPr/>
        <p:txBody>
          <a:bodyPr/>
          <a:lstStyle/>
          <a:p>
            <a:r>
              <a:rPr lang="en-CA" dirty="0"/>
              <a:t>Excel Exercise On Two Way Sensitivity Analysis</a:t>
            </a:r>
          </a:p>
        </p:txBody>
      </p:sp>
      <p:sp>
        <p:nvSpPr>
          <p:cNvPr id="3" name="Subtitle 2">
            <a:extLst>
              <a:ext uri="{FF2B5EF4-FFF2-40B4-BE49-F238E27FC236}">
                <a16:creationId xmlns:a16="http://schemas.microsoft.com/office/drawing/2014/main" id="{85D78015-32F2-7DB4-ECEF-B0C9CBE72DE3}"/>
              </a:ext>
            </a:extLst>
          </p:cNvPr>
          <p:cNvSpPr>
            <a:spLocks noGrp="1"/>
          </p:cNvSpPr>
          <p:nvPr>
            <p:ph type="subTitle" idx="1"/>
          </p:nvPr>
        </p:nvSpPr>
        <p:spPr/>
        <p:txBody>
          <a:bodyPr/>
          <a:lstStyle/>
          <a:p>
            <a:r>
              <a:rPr lang="en-CA" dirty="0"/>
              <a:t>GO TO THE FILE!</a:t>
            </a:r>
          </a:p>
        </p:txBody>
      </p:sp>
    </p:spTree>
    <p:extLst>
      <p:ext uri="{BB962C8B-B14F-4D97-AF65-F5344CB8AC3E}">
        <p14:creationId xmlns:p14="http://schemas.microsoft.com/office/powerpoint/2010/main" val="17887240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EA022-57BC-7DDF-18FC-279AFC8EF7E3}"/>
              </a:ext>
            </a:extLst>
          </p:cNvPr>
          <p:cNvSpPr>
            <a:spLocks noGrp="1"/>
          </p:cNvSpPr>
          <p:nvPr>
            <p:ph type="ctrTitle"/>
          </p:nvPr>
        </p:nvSpPr>
        <p:spPr/>
        <p:txBody>
          <a:bodyPr/>
          <a:lstStyle/>
          <a:p>
            <a:r>
              <a:rPr lang="en-CA" dirty="0"/>
              <a:t>Comments on Deterministic Sensitivity Analysis</a:t>
            </a:r>
          </a:p>
        </p:txBody>
      </p:sp>
      <p:sp>
        <p:nvSpPr>
          <p:cNvPr id="3" name="Subtitle 2">
            <a:extLst>
              <a:ext uri="{FF2B5EF4-FFF2-40B4-BE49-F238E27FC236}">
                <a16:creationId xmlns:a16="http://schemas.microsoft.com/office/drawing/2014/main" id="{100FAB41-2136-02DF-CEAB-C81FFF7665EA}"/>
              </a:ext>
            </a:extLst>
          </p:cNvPr>
          <p:cNvSpPr>
            <a:spLocks noGrp="1"/>
          </p:cNvSpPr>
          <p:nvPr>
            <p:ph type="subTitle" idx="1"/>
          </p:nvPr>
        </p:nvSpPr>
        <p:spPr/>
        <p:txBody>
          <a:bodyPr/>
          <a:lstStyle/>
          <a:p>
            <a:endParaRPr lang="en-CA" dirty="0"/>
          </a:p>
        </p:txBody>
      </p:sp>
    </p:spTree>
    <p:extLst>
      <p:ext uri="{BB962C8B-B14F-4D97-AF65-F5344CB8AC3E}">
        <p14:creationId xmlns:p14="http://schemas.microsoft.com/office/powerpoint/2010/main" val="3210962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B09AC-35A7-C2D6-8232-3440B2CB49E5}"/>
              </a:ext>
            </a:extLst>
          </p:cNvPr>
          <p:cNvSpPr>
            <a:spLocks noGrp="1"/>
          </p:cNvSpPr>
          <p:nvPr>
            <p:ph type="title"/>
          </p:nvPr>
        </p:nvSpPr>
        <p:spPr/>
        <p:txBody>
          <a:bodyPr/>
          <a:lstStyle/>
          <a:p>
            <a:r>
              <a:rPr lang="en-CA" dirty="0"/>
              <a:t>The bare minimum.</a:t>
            </a:r>
          </a:p>
        </p:txBody>
      </p:sp>
      <p:sp>
        <p:nvSpPr>
          <p:cNvPr id="3" name="Content Placeholder 2">
            <a:extLst>
              <a:ext uri="{FF2B5EF4-FFF2-40B4-BE49-F238E27FC236}">
                <a16:creationId xmlns:a16="http://schemas.microsoft.com/office/drawing/2014/main" id="{75B62DA1-B8C3-6692-6D25-E1B9308CF5AE}"/>
              </a:ext>
            </a:extLst>
          </p:cNvPr>
          <p:cNvSpPr>
            <a:spLocks noGrp="1"/>
          </p:cNvSpPr>
          <p:nvPr>
            <p:ph idx="1"/>
          </p:nvPr>
        </p:nvSpPr>
        <p:spPr>
          <a:xfrm>
            <a:off x="518160" y="4416553"/>
            <a:ext cx="11155680" cy="2422017"/>
          </a:xfrm>
        </p:spPr>
        <p:txBody>
          <a:bodyPr/>
          <a:lstStyle/>
          <a:p>
            <a:r>
              <a:rPr lang="en-CA" dirty="0"/>
              <a:t>If there is Only One Deterministic Sensitivity Analysis that you can conduct, generate a tornado diagram.</a:t>
            </a:r>
          </a:p>
          <a:p>
            <a:r>
              <a:rPr lang="en-CA" dirty="0"/>
              <a:t>They are the most comprehensive and really highlight the limitations.</a:t>
            </a:r>
          </a:p>
          <a:p>
            <a:r>
              <a:rPr lang="en-CA" dirty="0"/>
              <a:t>Two way sensitivity analysis is relevant when there is a concern about correlated parameters, if there isn’t Ignore it.</a:t>
            </a:r>
          </a:p>
          <a:p>
            <a:r>
              <a:rPr lang="en-CA" dirty="0"/>
              <a:t>Multiple comparators are helpful, but be careful when choosing them as the clinical pathway may change for new treatment options and they need to make sense.</a:t>
            </a:r>
          </a:p>
        </p:txBody>
      </p:sp>
      <p:pic>
        <p:nvPicPr>
          <p:cNvPr id="5" name="Picture 4">
            <a:extLst>
              <a:ext uri="{FF2B5EF4-FFF2-40B4-BE49-F238E27FC236}">
                <a16:creationId xmlns:a16="http://schemas.microsoft.com/office/drawing/2014/main" id="{680BB97A-367E-E405-4187-CBCF830CF6A4}"/>
              </a:ext>
            </a:extLst>
          </p:cNvPr>
          <p:cNvPicPr>
            <a:picLocks noChangeAspect="1"/>
          </p:cNvPicPr>
          <p:nvPr/>
        </p:nvPicPr>
        <p:blipFill>
          <a:blip r:embed="rId2"/>
          <a:stretch>
            <a:fillRect/>
          </a:stretch>
        </p:blipFill>
        <p:spPr>
          <a:xfrm>
            <a:off x="4883027" y="1801474"/>
            <a:ext cx="3592757" cy="2660582"/>
          </a:xfrm>
          <a:prstGeom prst="rect">
            <a:avLst/>
          </a:prstGeom>
        </p:spPr>
      </p:pic>
      <p:pic>
        <p:nvPicPr>
          <p:cNvPr id="7" name="Picture 2">
            <a:extLst>
              <a:ext uri="{FF2B5EF4-FFF2-40B4-BE49-F238E27FC236}">
                <a16:creationId xmlns:a16="http://schemas.microsoft.com/office/drawing/2014/main" id="{2CC00F39-16DE-A8A7-B612-E70834528E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815" y="1801474"/>
            <a:ext cx="3592757" cy="25542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ED6C0097-145C-E6AD-6511-F2473A9DD9DF}"/>
              </a:ext>
            </a:extLst>
          </p:cNvPr>
          <p:cNvPicPr>
            <a:picLocks noChangeAspect="1" noChangeArrowheads="1"/>
          </p:cNvPicPr>
          <p:nvPr/>
        </p:nvPicPr>
        <p:blipFill>
          <a:blip r:embed="rId4">
            <a:alphaModFix/>
          </a:blip>
          <a:stretch/>
        </p:blipFill>
        <p:spPr bwMode="auto">
          <a:xfrm>
            <a:off x="8600439" y="1308536"/>
            <a:ext cx="2665438" cy="3240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40076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D6598-9290-B8A3-37EE-654208A51E2B}"/>
              </a:ext>
            </a:extLst>
          </p:cNvPr>
          <p:cNvSpPr>
            <a:spLocks noGrp="1"/>
          </p:cNvSpPr>
          <p:nvPr>
            <p:ph type="title"/>
          </p:nvPr>
        </p:nvSpPr>
        <p:spPr>
          <a:xfrm>
            <a:off x="518160" y="673608"/>
            <a:ext cx="11155680" cy="1463040"/>
          </a:xfrm>
        </p:spPr>
        <p:txBody>
          <a:bodyPr/>
          <a:lstStyle/>
          <a:p>
            <a:r>
              <a:rPr lang="en-CA" dirty="0"/>
              <a:t>Final Remarks on Deterministic Sensitivity Analysis</a:t>
            </a:r>
          </a:p>
        </p:txBody>
      </p:sp>
      <p:sp>
        <p:nvSpPr>
          <p:cNvPr id="3" name="Content Placeholder 2">
            <a:extLst>
              <a:ext uri="{FF2B5EF4-FFF2-40B4-BE49-F238E27FC236}">
                <a16:creationId xmlns:a16="http://schemas.microsoft.com/office/drawing/2014/main" id="{94FAAA36-CF43-C346-B830-D92499B2D6BC}"/>
              </a:ext>
            </a:extLst>
          </p:cNvPr>
          <p:cNvSpPr>
            <a:spLocks noGrp="1"/>
          </p:cNvSpPr>
          <p:nvPr>
            <p:ph idx="1"/>
          </p:nvPr>
        </p:nvSpPr>
        <p:spPr>
          <a:xfrm>
            <a:off x="518160" y="2136648"/>
            <a:ext cx="11155680" cy="3767328"/>
          </a:xfrm>
        </p:spPr>
        <p:txBody>
          <a:bodyPr/>
          <a:lstStyle/>
          <a:p>
            <a:r>
              <a:rPr lang="en-CA" dirty="0"/>
              <a:t>We started this lecture by stating that the reason for sensitivity analysis is to demonstrate what are the strongest assumptions made about model inputs and structure is to generate our results and how changing those assumptions impact these results.</a:t>
            </a:r>
          </a:p>
          <a:p>
            <a:r>
              <a:rPr lang="en-CA" dirty="0"/>
              <a:t>When we speak to sensitivity analysis we are addressing “worst case scenarios”.</a:t>
            </a:r>
          </a:p>
          <a:p>
            <a:r>
              <a:rPr lang="en-CA" dirty="0"/>
              <a:t>I.e. if the models inputs are incorrect by a margin of over 50%  in the case of one way sensitivity analysis this impacts the ICER by increasing/decreasing it by X, which means the treatment is still or no longer is cost effective.</a:t>
            </a:r>
          </a:p>
          <a:p>
            <a:r>
              <a:rPr lang="en-CA" dirty="0"/>
              <a:t>For Input specific sensitivity analysis, there’s really nothing wrong with considering every input and varying them and this is typically what’s included in stronger papers.</a:t>
            </a:r>
          </a:p>
          <a:p>
            <a:pPr marL="0" indent="0">
              <a:buNone/>
            </a:pPr>
            <a:endParaRPr lang="en-CA" dirty="0"/>
          </a:p>
        </p:txBody>
      </p:sp>
    </p:spTree>
    <p:extLst>
      <p:ext uri="{BB962C8B-B14F-4D97-AF65-F5344CB8AC3E}">
        <p14:creationId xmlns:p14="http://schemas.microsoft.com/office/powerpoint/2010/main" val="3326146080"/>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9299</TotalTime>
  <Words>1922</Words>
  <Application>Microsoft Office PowerPoint</Application>
  <PresentationFormat>Widescreen</PresentationFormat>
  <Paragraphs>126</Paragraphs>
  <Slides>26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Arial</vt:lpstr>
      <vt:lpstr>Bierstadt</vt:lpstr>
      <vt:lpstr>Cambria Math</vt:lpstr>
      <vt:lpstr>Wingdings</vt:lpstr>
      <vt:lpstr>GestaltVTI</vt:lpstr>
      <vt:lpstr>Advanced Topics in Economic Evaluation and Healthcare</vt:lpstr>
      <vt:lpstr>Lecture Overview</vt:lpstr>
      <vt:lpstr>An Introduction to Sensitivity Analysis</vt:lpstr>
      <vt:lpstr>What is Sensitivity Analysis </vt:lpstr>
      <vt:lpstr>Types of Sensitivity Analysis</vt:lpstr>
      <vt:lpstr>What do we apply sensitivity analysis to?</vt:lpstr>
      <vt:lpstr>One Way Sensitivity Analysis</vt:lpstr>
      <vt:lpstr>One-way Sensitivity Analysis</vt:lpstr>
      <vt:lpstr>Tornado Diagrams</vt:lpstr>
      <vt:lpstr>Cost Effectiveness “Model Hygiene”</vt:lpstr>
      <vt:lpstr>Sensitivity Analysis with Multiple Alternatives</vt:lpstr>
      <vt:lpstr>Sensitivity Analysis with Alternate Baselines</vt:lpstr>
      <vt:lpstr>Seeing this in the literature</vt:lpstr>
      <vt:lpstr>Seeing this in the literature</vt:lpstr>
      <vt:lpstr>Model Structure in Azizam et al.</vt:lpstr>
      <vt:lpstr>Model Structure in Azizam et al.</vt:lpstr>
      <vt:lpstr>A warning about sensitivity analysis with different clinical alternatives.</vt:lpstr>
      <vt:lpstr>How many comparators?</vt:lpstr>
      <vt:lpstr>Two-Way Sensitivity Analysis</vt:lpstr>
      <vt:lpstr>Two Way Sensitivity Analysis</vt:lpstr>
      <vt:lpstr>Two way sensitivity analysis plot</vt:lpstr>
      <vt:lpstr>A sketch of two way sensitivity analysis</vt:lpstr>
      <vt:lpstr>Excel Exercise On Two Way Sensitivity Analysis</vt:lpstr>
      <vt:lpstr>Comments on Deterministic Sensitivity Analysis</vt:lpstr>
      <vt:lpstr>The bare minimum.</vt:lpstr>
      <vt:lpstr>Final Remarks on Deterministic Sensitivity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Smith</dc:creator>
  <cp:lastModifiedBy>Jacob Smith</cp:lastModifiedBy>
  <cp:revision>47</cp:revision>
  <dcterms:created xsi:type="dcterms:W3CDTF">2026-08-17T03:21:10Z</dcterms:created>
  <dcterms:modified xsi:type="dcterms:W3CDTF">2026-09-18T18:47:45Z</dcterms:modified>
</cp:coreProperties>
</file>