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1" r:id="rId1"/>
  </p:sldMasterIdLst>
  <p:notesMasterIdLst>
    <p:notesMasterId r:id="rId31"/>
  </p:notesMasterIdLst>
  <p:sldIdLst>
    <p:sldId id="256" r:id="rId2"/>
    <p:sldId id="257" r:id="rId3"/>
    <p:sldId id="258" r:id="rId4"/>
    <p:sldId id="266" r:id="rId5"/>
    <p:sldId id="270" r:id="rId6"/>
    <p:sldId id="275" r:id="rId7"/>
    <p:sldId id="269" r:id="rId8"/>
    <p:sldId id="272" r:id="rId9"/>
    <p:sldId id="273" r:id="rId10"/>
    <p:sldId id="274" r:id="rId11"/>
    <p:sldId id="276" r:id="rId12"/>
    <p:sldId id="277" r:id="rId13"/>
    <p:sldId id="271" r:id="rId14"/>
    <p:sldId id="278" r:id="rId15"/>
    <p:sldId id="279" r:id="rId16"/>
    <p:sldId id="280" r:id="rId17"/>
    <p:sldId id="283" r:id="rId18"/>
    <p:sldId id="296" r:id="rId19"/>
    <p:sldId id="297" r:id="rId20"/>
    <p:sldId id="298" r:id="rId21"/>
    <p:sldId id="299" r:id="rId22"/>
    <p:sldId id="300" r:id="rId23"/>
    <p:sldId id="302" r:id="rId24"/>
    <p:sldId id="282" r:id="rId25"/>
    <p:sldId id="303" r:id="rId26"/>
    <p:sldId id="306" r:id="rId27"/>
    <p:sldId id="304" r:id="rId28"/>
    <p:sldId id="305" r:id="rId29"/>
    <p:sldId id="30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4" autoAdjust="0"/>
    <p:restoredTop sz="92996" autoAdjust="0"/>
  </p:normalViewPr>
  <p:slideViewPr>
    <p:cSldViewPr snapToGrid="0">
      <p:cViewPr varScale="1">
        <p:scale>
          <a:sx n="97" d="100"/>
          <a:sy n="97" d="100"/>
        </p:scale>
        <p:origin x="10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85F2B-9DB3-46C6-BD28-BD611964EFEF}" type="datetimeFigureOut">
              <a:rPr lang="en-CA" smtClean="0"/>
              <a:t>2026-09-17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760D0-8468-434B-992C-0B7D2D9301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4136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024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97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26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8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6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2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89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49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280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58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53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70" r:id="rId6"/>
    <p:sldLayoutId id="2147483775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worldbank.org/indicator/SP.DYN.CDRT.IN?locations=CA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13863-F928-09F7-33F8-93C103CEA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3397649" cy="33037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Advanced Topics in Economic Evaluation and Healthcare</a:t>
            </a:r>
            <a:endParaRPr lang="en-CA" sz="3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4B19C-1926-B464-1194-E2E07EBD9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354633"/>
            <a:ext cx="3397649" cy="1706533"/>
          </a:xfrm>
        </p:spPr>
        <p:txBody>
          <a:bodyPr anchor="t">
            <a:normAutofit/>
          </a:bodyPr>
          <a:lstStyle/>
          <a:p>
            <a:r>
              <a:rPr lang="en-US" dirty="0"/>
              <a:t>Lecture #6: Discounting</a:t>
            </a:r>
            <a:endParaRPr lang="en-CA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Logo Request Form - McMaster Brand">
            <a:extLst>
              <a:ext uri="{FF2B5EF4-FFF2-40B4-BE49-F238E27FC236}">
                <a16:creationId xmlns:a16="http://schemas.microsoft.com/office/drawing/2014/main" id="{9B664600-1FAC-3307-6550-FD235344C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625" y="5679630"/>
            <a:ext cx="5192171" cy="100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306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B14E0-9EB3-25C5-CBB3-936A40C56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D7525-63BF-90B9-2CAB-4C19F6C1D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This lecture will provide an overview of theoretical issues in discounting.</a:t>
            </a:r>
          </a:p>
          <a:p>
            <a:r>
              <a:rPr lang="en-CA" dirty="0"/>
              <a:t>We will discuss: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The Reason to Discount.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The Keeler-Cretin Paradox.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The Ramsey Equation\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Why Sensitivity analysis with discount rates are crucial.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Valuing Treatment Decisions under ROI.</a:t>
            </a:r>
          </a:p>
          <a:p>
            <a:r>
              <a:rPr lang="en-CA" b="1" dirty="0"/>
              <a:t>WARNING</a:t>
            </a:r>
            <a:r>
              <a:rPr lang="en-CA" b="1"/>
              <a:t>: THIS LECTURE WILL BE AMONG THE LEAST APPLICABLE </a:t>
            </a:r>
            <a:endParaRPr lang="en-CA" b="1" dirty="0"/>
          </a:p>
          <a:p>
            <a:pPr marL="800100" lvl="1" indent="-34290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47510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185DB-4B6F-7F33-D9B2-9A9C35063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59333"/>
            <a:ext cx="11152632" cy="974217"/>
          </a:xfrm>
        </p:spPr>
        <p:txBody>
          <a:bodyPr/>
          <a:lstStyle/>
          <a:p>
            <a:r>
              <a:rPr lang="en-CA" dirty="0"/>
              <a:t>Why We Discount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3EC908-A749-47B8-11F6-633757DDBC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1809750"/>
                <a:ext cx="11155680" cy="4536186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CA" dirty="0"/>
                  <a:t>In Lecture #4 we discussed Markov models, and casually mentioned that since we are generating a sequence of costs and effects over time, the Present Value  of payoffs need to be computed rather than just  the sum.</a:t>
                </a:r>
              </a:p>
              <a:p>
                <a:r>
                  <a:rPr lang="en-CA" dirty="0"/>
                  <a:t>This is because the </a:t>
                </a:r>
                <a:r>
                  <a:rPr lang="en-CA" b="1" dirty="0"/>
                  <a:t>present</a:t>
                </a:r>
                <a:r>
                  <a:rPr lang="en-CA" dirty="0"/>
                  <a:t> and the </a:t>
                </a:r>
                <a:r>
                  <a:rPr lang="en-CA" b="1" dirty="0"/>
                  <a:t>future </a:t>
                </a:r>
                <a:r>
                  <a:rPr lang="en-CA" dirty="0"/>
                  <a:t>are very different states of the world.</a:t>
                </a:r>
              </a:p>
              <a:p>
                <a:r>
                  <a:rPr lang="en-CA" dirty="0"/>
                  <a:t>To make this clear, suppose you want to invest 100 dollars today at a 10% interest rate. How much would you have in a year?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100+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100×0.1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=100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1+0.1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=110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The general formula we have is: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𝐹𝑉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𝑃𝑉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CA" b="0" dirty="0"/>
              </a:p>
              <a:p>
                <a:pPr marL="0" indent="0">
                  <a:buNone/>
                </a:pPr>
                <a:r>
                  <a:rPr lang="en-CA" dirty="0"/>
                  <a:t>Where:</a:t>
                </a:r>
              </a:p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𝐹𝑉</m:t>
                    </m:r>
                  </m:oMath>
                </a14:m>
                <a:r>
                  <a:rPr lang="en-CA" dirty="0"/>
                  <a:t> is future value</a:t>
                </a:r>
              </a:p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𝑃𝑉</m:t>
                    </m:r>
                  </m:oMath>
                </a14:m>
                <a:r>
                  <a:rPr lang="en-CA" dirty="0"/>
                  <a:t> is future value</a:t>
                </a:r>
              </a:p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CA" dirty="0"/>
                  <a:t> is the rate of return from some asset.</a:t>
                </a:r>
              </a:p>
              <a:p>
                <a:pPr marL="0" indent="0">
                  <a:buNone/>
                </a:pPr>
                <a:r>
                  <a:rPr lang="en-CA" dirty="0"/>
                  <a:t>If we wanted to recover what the current value is of this income flow is, we simply just  divide by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(1+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𝑃𝑉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𝐹𝑉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In the above example this would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𝑃𝑉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3EC908-A749-47B8-11F6-633757DDBC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1809750"/>
                <a:ext cx="11155680" cy="4536186"/>
              </a:xfrm>
              <a:blipFill>
                <a:blip r:embed="rId2"/>
                <a:stretch>
                  <a:fillRect l="-219" t="-67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3916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E3347-8FF6-A745-A1E2-3AD20E931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Sequences of Benefits and Costs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511BAC-C9BE-7C58-D56D-6B49BADA8B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CA" dirty="0"/>
                  <a:t>If there is a flow of payoffs over time, we can value them all in the initial period.</a:t>
                </a:r>
              </a:p>
              <a:p>
                <a:endParaRPr lang="en-CA" dirty="0"/>
              </a:p>
              <a:p>
                <a:endParaRPr lang="en-CA" dirty="0"/>
              </a:p>
              <a:p>
                <a:endParaRPr lang="en-CA" dirty="0"/>
              </a:p>
              <a:p>
                <a:endParaRPr lang="en-CA" dirty="0"/>
              </a:p>
              <a:p>
                <a:r>
                  <a:rPr lang="en-CA" dirty="0"/>
                  <a:t>If the above is the sequence of payoffs we can compute the present value by: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𝑃𝑉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=100+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200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150</m:t>
                        </m:r>
                      </m:num>
                      <m:den>
                        <m:sSup>
                          <m:sSup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</m:e>
                          <m: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sSup>
                          <m:sSup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</m:e>
                          <m: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300</m:t>
                        </m:r>
                      </m:num>
                      <m:den>
                        <m:sSup>
                          <m:sSup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</m:e>
                          <m: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sSup>
                          <m:sSup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</m:e>
                          <m: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endParaRPr lang="en-CA" b="0" dirty="0"/>
              </a:p>
              <a:p>
                <a:r>
                  <a:rPr lang="en-CA" dirty="0"/>
                  <a:t>In Excel this is by using the </a:t>
                </a:r>
                <a:r>
                  <a:rPr lang="en-CA" b="1" dirty="0"/>
                  <a:t>=NPV()</a:t>
                </a:r>
                <a:r>
                  <a:rPr lang="en-CA" dirty="0"/>
                  <a:t> Function.</a:t>
                </a:r>
                <a:br>
                  <a:rPr lang="en-CA" dirty="0"/>
                </a:br>
                <a:br>
                  <a:rPr lang="en-CA" dirty="0"/>
                </a:b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511BAC-C9BE-7C58-D56D-6B49BADA8B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3" t="-48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AB4D6F2-61C1-DA63-82CB-08CFD12BA9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962123"/>
                  </p:ext>
                </p:extLst>
              </p:nvPr>
            </p:nvGraphicFramePr>
            <p:xfrm>
              <a:off x="515109" y="3019362"/>
              <a:ext cx="11155683" cy="139719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93669">
                      <a:extLst>
                        <a:ext uri="{9D8B030D-6E8A-4147-A177-3AD203B41FA5}">
                          <a16:colId xmlns:a16="http://schemas.microsoft.com/office/drawing/2014/main" val="113653703"/>
                        </a:ext>
                      </a:extLst>
                    </a:gridCol>
                    <a:gridCol w="2130606">
                      <a:extLst>
                        <a:ext uri="{9D8B030D-6E8A-4147-A177-3AD203B41FA5}">
                          <a16:colId xmlns:a16="http://schemas.microsoft.com/office/drawing/2014/main" val="3441595868"/>
                        </a:ext>
                      </a:extLst>
                    </a:gridCol>
                    <a:gridCol w="1056732">
                      <a:extLst>
                        <a:ext uri="{9D8B030D-6E8A-4147-A177-3AD203B41FA5}">
                          <a16:colId xmlns:a16="http://schemas.microsoft.com/office/drawing/2014/main" val="967322629"/>
                        </a:ext>
                      </a:extLst>
                    </a:gridCol>
                    <a:gridCol w="1593669">
                      <a:extLst>
                        <a:ext uri="{9D8B030D-6E8A-4147-A177-3AD203B41FA5}">
                          <a16:colId xmlns:a16="http://schemas.microsoft.com/office/drawing/2014/main" val="1203441001"/>
                        </a:ext>
                      </a:extLst>
                    </a:gridCol>
                    <a:gridCol w="1593669">
                      <a:extLst>
                        <a:ext uri="{9D8B030D-6E8A-4147-A177-3AD203B41FA5}">
                          <a16:colId xmlns:a16="http://schemas.microsoft.com/office/drawing/2014/main" val="2003979117"/>
                        </a:ext>
                      </a:extLst>
                    </a:gridCol>
                    <a:gridCol w="1593669">
                      <a:extLst>
                        <a:ext uri="{9D8B030D-6E8A-4147-A177-3AD203B41FA5}">
                          <a16:colId xmlns:a16="http://schemas.microsoft.com/office/drawing/2014/main" val="547088263"/>
                        </a:ext>
                      </a:extLst>
                    </a:gridCol>
                    <a:gridCol w="1593669">
                      <a:extLst>
                        <a:ext uri="{9D8B030D-6E8A-4147-A177-3AD203B41FA5}">
                          <a16:colId xmlns:a16="http://schemas.microsoft.com/office/drawing/2014/main" val="42596343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Period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39975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Payoff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150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69094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Present Value</a:t>
                          </a:r>
                        </a:p>
                        <a:p>
                          <a:r>
                            <a:rPr lang="en-CA" dirty="0"/>
                            <a:t>Of Payment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1+</m:t>
                                            </m:r>
                                            <m: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=100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</m:num>
                                  <m:den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(1+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150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1+</m:t>
                                            </m:r>
                                            <m: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2 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1+</m:t>
                                            </m:r>
                                            <m: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300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1+</m:t>
                                            </m:r>
                                            <m: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1+</m:t>
                                            </m:r>
                                            <m:r>
                                              <a:rPr lang="en-CA" b="0" i="1" smtClean="0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35741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AB4D6F2-61C1-DA63-82CB-08CFD12BA9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962123"/>
                  </p:ext>
                </p:extLst>
              </p:nvPr>
            </p:nvGraphicFramePr>
            <p:xfrm>
              <a:off x="515109" y="3019362"/>
              <a:ext cx="11155683" cy="139719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93669">
                      <a:extLst>
                        <a:ext uri="{9D8B030D-6E8A-4147-A177-3AD203B41FA5}">
                          <a16:colId xmlns:a16="http://schemas.microsoft.com/office/drawing/2014/main" val="113653703"/>
                        </a:ext>
                      </a:extLst>
                    </a:gridCol>
                    <a:gridCol w="2130606">
                      <a:extLst>
                        <a:ext uri="{9D8B030D-6E8A-4147-A177-3AD203B41FA5}">
                          <a16:colId xmlns:a16="http://schemas.microsoft.com/office/drawing/2014/main" val="3441595868"/>
                        </a:ext>
                      </a:extLst>
                    </a:gridCol>
                    <a:gridCol w="1056732">
                      <a:extLst>
                        <a:ext uri="{9D8B030D-6E8A-4147-A177-3AD203B41FA5}">
                          <a16:colId xmlns:a16="http://schemas.microsoft.com/office/drawing/2014/main" val="967322629"/>
                        </a:ext>
                      </a:extLst>
                    </a:gridCol>
                    <a:gridCol w="1593669">
                      <a:extLst>
                        <a:ext uri="{9D8B030D-6E8A-4147-A177-3AD203B41FA5}">
                          <a16:colId xmlns:a16="http://schemas.microsoft.com/office/drawing/2014/main" val="1203441001"/>
                        </a:ext>
                      </a:extLst>
                    </a:gridCol>
                    <a:gridCol w="1593669">
                      <a:extLst>
                        <a:ext uri="{9D8B030D-6E8A-4147-A177-3AD203B41FA5}">
                          <a16:colId xmlns:a16="http://schemas.microsoft.com/office/drawing/2014/main" val="2003979117"/>
                        </a:ext>
                      </a:extLst>
                    </a:gridCol>
                    <a:gridCol w="1593669">
                      <a:extLst>
                        <a:ext uri="{9D8B030D-6E8A-4147-A177-3AD203B41FA5}">
                          <a16:colId xmlns:a16="http://schemas.microsoft.com/office/drawing/2014/main" val="547088263"/>
                        </a:ext>
                      </a:extLst>
                    </a:gridCol>
                    <a:gridCol w="1593669">
                      <a:extLst>
                        <a:ext uri="{9D8B030D-6E8A-4147-A177-3AD203B41FA5}">
                          <a16:colId xmlns:a16="http://schemas.microsoft.com/office/drawing/2014/main" val="42596343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Period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39975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Payoff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150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6909488"/>
                      </a:ext>
                    </a:extLst>
                  </a:tr>
                  <a:tr h="655511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Present Value</a:t>
                          </a:r>
                        </a:p>
                        <a:p>
                          <a:r>
                            <a:rPr lang="en-CA" dirty="0"/>
                            <a:t>Of Payment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5358" t="-117593" r="-350716" b="-12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1724" t="-117593" r="-603448" b="-12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149" t="-117593" r="-302299" b="-12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618" t="-117593" r="-201145" b="-12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1533" t="-117593" r="-101916" b="-12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37" t="-117593" r="-1527" b="-120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57417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83693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E8C3E-2806-9BEF-0359-717C318BC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On the intuition of Present Value and QALYS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06422-7170-A6AC-7D5F-FCFE558B7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Discounting costs makes sense.</a:t>
            </a:r>
          </a:p>
          <a:p>
            <a:r>
              <a:rPr lang="en-CA" dirty="0"/>
              <a:t>This is because dollars can be invested and earn a return.</a:t>
            </a:r>
          </a:p>
          <a:p>
            <a:r>
              <a:rPr lang="en-CA" dirty="0"/>
              <a:t>What about health states? Theres no market where you can trade your health or invest it in the same way as we do for financial goods!</a:t>
            </a:r>
          </a:p>
          <a:p>
            <a:r>
              <a:rPr lang="en-CA" dirty="0"/>
              <a:t>So how do we discount if we do so at all?</a:t>
            </a:r>
          </a:p>
          <a:p>
            <a:pPr lvl="1"/>
            <a:r>
              <a:rPr lang="en-CA" dirty="0"/>
              <a:t>The wrong answer: Don’t Discount QALYS at all.</a:t>
            </a:r>
          </a:p>
          <a:p>
            <a:pPr lvl="1"/>
            <a:r>
              <a:rPr lang="en-CA" dirty="0"/>
              <a:t>The right answer: The Ramsey Equation</a:t>
            </a:r>
          </a:p>
        </p:txBody>
      </p:sp>
    </p:spTree>
    <p:extLst>
      <p:ext uri="{BB962C8B-B14F-4D97-AF65-F5344CB8AC3E}">
        <p14:creationId xmlns:p14="http://schemas.microsoft.com/office/powerpoint/2010/main" val="3756573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A64A2-DFDD-B314-6E30-AC4A8DBA6E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The Keeler-Cretin Paradox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D22342-FD79-FA26-6260-A65E38C72A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7988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66159-4D8C-AA16-DAF2-FEB23E5E1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403" y="798693"/>
            <a:ext cx="11155680" cy="1463040"/>
          </a:xfrm>
        </p:spPr>
        <p:txBody>
          <a:bodyPr>
            <a:normAutofit/>
          </a:bodyPr>
          <a:lstStyle/>
          <a:p>
            <a:r>
              <a:rPr lang="en-CA" dirty="0"/>
              <a:t>“QALYS Are Not Financial” and the Keeler-Cretin Paradox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F583F60-6F8B-B498-CB88-B1AA0648A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5DFD3-FAAA-5430-9FBC-2D419ABAE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91979"/>
            <a:ext cx="5020056" cy="376732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CA" sz="1600" dirty="0"/>
              <a:t>Formulated by Emmett Keeler and Shan Cretin in 1983, the paradox addresses the mathematical conflict that arises if </a:t>
            </a:r>
            <a:r>
              <a:rPr lang="en-CA" sz="1600" b="1" dirty="0"/>
              <a:t>health outcomes</a:t>
            </a:r>
            <a:r>
              <a:rPr lang="en-CA" sz="1600" dirty="0"/>
              <a:t> (e.g., Quality-Adjusted Life Years or saved lives) are discounted at a </a:t>
            </a:r>
            <a:r>
              <a:rPr lang="en-CA" sz="1600" b="1" dirty="0"/>
              <a:t>lower rate</a:t>
            </a:r>
            <a:r>
              <a:rPr lang="en-CA" sz="1600" dirty="0"/>
              <a:t> than </a:t>
            </a:r>
            <a:r>
              <a:rPr lang="en-CA" sz="1600" b="1" dirty="0"/>
              <a:t>costs</a:t>
            </a:r>
            <a:r>
              <a:rPr lang="en-CA" sz="1600" dirty="0"/>
              <a:t> (or if costs are discounted and health effects are not discounted at all).</a:t>
            </a:r>
          </a:p>
          <a:p>
            <a:pPr>
              <a:lnSpc>
                <a:spcPct val="100000"/>
              </a:lnSpc>
            </a:pPr>
            <a:r>
              <a:rPr lang="en-CA" sz="1600" dirty="0"/>
              <a:t>Many health economists argue that future health should be discounted at a lower rate than because health is not a financial product which can be invested as other forms of capital. (It simply cannot be traded!).</a:t>
            </a:r>
          </a:p>
          <a:p>
            <a:pPr>
              <a:lnSpc>
                <a:spcPct val="100000"/>
              </a:lnSpc>
            </a:pPr>
            <a:r>
              <a:rPr lang="en-CA" sz="1600" dirty="0"/>
              <a:t>It results in the following result:</a:t>
            </a:r>
          </a:p>
          <a:p>
            <a:pPr>
              <a:lnSpc>
                <a:spcPct val="100000"/>
              </a:lnSpc>
            </a:pPr>
            <a:endParaRPr lang="en-CA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CA" sz="1600" b="1" dirty="0"/>
              <a:t>ANY HEALTH TECHNOLOGY CAN BE COST EFFECTIVE WITH ENOUGH DELAY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9A2EF-4502-54F6-BD9F-06EF35291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264" y="2261733"/>
            <a:ext cx="2533699" cy="2533699"/>
          </a:xfrm>
          <a:prstGeom prst="rect">
            <a:avLst/>
          </a:prstGeom>
        </p:spPr>
      </p:pic>
      <p:pic>
        <p:nvPicPr>
          <p:cNvPr id="5" name="Picture 4" descr="Shan Cretin">
            <a:extLst>
              <a:ext uri="{FF2B5EF4-FFF2-40B4-BE49-F238E27FC236}">
                <a16:creationId xmlns:a16="http://schemas.microsoft.com/office/drawing/2014/main" id="{CF04AE95-B6D8-56D7-D6E4-F76B31186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640" y="2261733"/>
            <a:ext cx="3357152" cy="25336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B90DE2-C2C9-5B04-13EC-79D13D519864}"/>
              </a:ext>
            </a:extLst>
          </p:cNvPr>
          <p:cNvSpPr txBox="1"/>
          <p:nvPr/>
        </p:nvSpPr>
        <p:spPr>
          <a:xfrm>
            <a:off x="5970351" y="4792722"/>
            <a:ext cx="1675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Emmet Keeler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08BA45-0B76-1C5C-F276-B5837CE1F690}"/>
              </a:ext>
            </a:extLst>
          </p:cNvPr>
          <p:cNvSpPr txBox="1"/>
          <p:nvPr/>
        </p:nvSpPr>
        <p:spPr>
          <a:xfrm>
            <a:off x="9079651" y="4810183"/>
            <a:ext cx="1431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Shan Cretin</a:t>
            </a:r>
          </a:p>
        </p:txBody>
      </p:sp>
    </p:spTree>
    <p:extLst>
      <p:ext uri="{BB962C8B-B14F-4D97-AF65-F5344CB8AC3E}">
        <p14:creationId xmlns:p14="http://schemas.microsoft.com/office/powerpoint/2010/main" val="2008779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26679-AF8B-EFAF-2AD6-6F2A3A08E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 Example of the Keeler-Cretin Paradox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C1E1BA-E235-4CC6-DA19-8175ACC2CF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036" y="2280943"/>
                <a:ext cx="6871854" cy="376732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CA" dirty="0"/>
                  <a:t>Consider an elective total knee replacement program that generates an incremental health gain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Δ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CA">
                        <a:latin typeface="Cambria Math" panose="02040503050406030204" pitchFamily="18" charset="0"/>
                      </a:rPr>
                      <m:t>=2.5</m:t>
                    </m:r>
                    <m:r>
                      <m:rPr>
                        <m:nor/>
                      </m:rPr>
                      <a:rPr lang="en-CA" i="0"/>
                      <m:t> QALYs</m:t>
                    </m:r>
                  </m:oMath>
                </a14:m>
                <a:r>
                  <a:rPr lang="en-CA" dirty="0"/>
                  <a:t>per patient at an incremental cost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Δ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CA">
                        <a:latin typeface="Cambria Math" panose="02040503050406030204" pitchFamily="18" charset="0"/>
                      </a:rPr>
                      <m:t>=$15,000</m:t>
                    </m:r>
                  </m:oMath>
                </a14:m>
                <a:r>
                  <a:rPr lang="en-CA" dirty="0"/>
                  <a:t>.</a:t>
                </a:r>
              </a:p>
              <a:p>
                <a:r>
                  <a:rPr lang="en-CA" dirty="0"/>
                  <a:t>In a standard economic evaluation with asymmetrical Keeler-Cretin discounting, financial costs are discounted at a market rate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CA">
                        <a:latin typeface="Cambria Math" panose="02040503050406030204" pitchFamily="18" charset="0"/>
                      </a:rPr>
                      <m:t>=3%</m:t>
                    </m:r>
                  </m:oMath>
                </a14:m>
                <a:r>
                  <a:rPr lang="en-CA" dirty="0"/>
                  <a:t>, while health outcomes are discounted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en-CA">
                        <a:latin typeface="Cambria Math" panose="02040503050406030204" pitchFamily="18" charset="0"/>
                      </a:rPr>
                      <m:t>=0%</m:t>
                    </m:r>
                  </m:oMath>
                </a14:m>
                <a:r>
                  <a:rPr lang="en-CA" dirty="0"/>
                  <a:t>(reflecting the assumption that future health is valued equally to present health).</a:t>
                </a:r>
              </a:p>
              <a:p>
                <a:r>
                  <a:rPr lang="en-CA" dirty="0"/>
                  <a:t>The time-shifted ICER formula evaluates how the ratio changes when the intervention is delayed by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/>
                  <a:t>years: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CA" i="0"/>
                        <m:t>ICER</m:t>
                      </m:r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CA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CA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CA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CA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CA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ℎ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CA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den>
                      </m:f>
                      <m:r>
                        <a:rPr lang="en-CA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CA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ℎ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CA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C1E1BA-E235-4CC6-DA19-8175ACC2CF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036" y="2280943"/>
                <a:ext cx="6871854" cy="3767328"/>
              </a:xfrm>
              <a:blipFill>
                <a:blip r:embed="rId2"/>
                <a:stretch>
                  <a:fillRect l="-444" t="-162" r="-53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Knee Replacement (Arthroplasty): What It Is &amp; Recovery Time">
            <a:extLst>
              <a:ext uri="{FF2B5EF4-FFF2-40B4-BE49-F238E27FC236}">
                <a16:creationId xmlns:a16="http://schemas.microsoft.com/office/drawing/2014/main" id="{DD531F1A-76FC-902B-6733-26B6DBD20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345" y="2441448"/>
            <a:ext cx="3403771" cy="344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132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7C8C4-6928-B376-7D1F-4C9E2814D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Numerical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857F7C3-21EF-DCFD-A6EF-F666399FBF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7628411"/>
                  </p:ext>
                </p:extLst>
              </p:nvPr>
            </p:nvGraphicFramePr>
            <p:xfrm>
              <a:off x="520699" y="2094271"/>
              <a:ext cx="10619250" cy="4449936"/>
            </p:xfrm>
            <a:graphic>
              <a:graphicData uri="http://schemas.openxmlformats.org/drawingml/2006/table">
                <a:tbl>
                  <a:tblPr firstRow="1">
                    <a:tableStyleId>{21E4AEA4-8DFA-4A89-87EB-49C32662AFE0}</a:tableStyleId>
                  </a:tblPr>
                  <a:tblGrid>
                    <a:gridCol w="2123850">
                      <a:extLst>
                        <a:ext uri="{9D8B030D-6E8A-4147-A177-3AD203B41FA5}">
                          <a16:colId xmlns:a16="http://schemas.microsoft.com/office/drawing/2014/main" val="3289123939"/>
                        </a:ext>
                      </a:extLst>
                    </a:gridCol>
                    <a:gridCol w="2123850">
                      <a:extLst>
                        <a:ext uri="{9D8B030D-6E8A-4147-A177-3AD203B41FA5}">
                          <a16:colId xmlns:a16="http://schemas.microsoft.com/office/drawing/2014/main" val="882156259"/>
                        </a:ext>
                      </a:extLst>
                    </a:gridCol>
                    <a:gridCol w="2123850">
                      <a:extLst>
                        <a:ext uri="{9D8B030D-6E8A-4147-A177-3AD203B41FA5}">
                          <a16:colId xmlns:a16="http://schemas.microsoft.com/office/drawing/2014/main" val="1852204275"/>
                        </a:ext>
                      </a:extLst>
                    </a:gridCol>
                    <a:gridCol w="2123850">
                      <a:extLst>
                        <a:ext uri="{9D8B030D-6E8A-4147-A177-3AD203B41FA5}">
                          <a16:colId xmlns:a16="http://schemas.microsoft.com/office/drawing/2014/main" val="133858778"/>
                        </a:ext>
                      </a:extLst>
                    </a:gridCol>
                    <a:gridCol w="2123850">
                      <a:extLst>
                        <a:ext uri="{9D8B030D-6E8A-4147-A177-3AD203B41FA5}">
                          <a16:colId xmlns:a16="http://schemas.microsoft.com/office/drawing/2014/main" val="1450204609"/>
                        </a:ext>
                      </a:extLst>
                    </a:gridCol>
                  </a:tblGrid>
                  <a:tr h="885325"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endParaRPr lang="en-CA" sz="2000" dirty="0">
                            <a:effectLst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CA" sz="2000" dirty="0">
                              <a:effectLst/>
                            </a:rPr>
                            <a:t>Discount Multiplier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CA" sz="20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CA" sz="2000" b="1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CA" sz="2000" b="1" i="1" smtClean="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CA" sz="2000" b="1" i="1" smtClean="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num>
                                        <m:den>
                                          <m:r>
                                            <a:rPr lang="en-CA" sz="2000" b="1" i="1" smtClean="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CA" sz="2000" b="1" i="1" smtClean="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CA" sz="2000" b="1" i="1" smtClean="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  <m:r>
                                            <a:rPr lang="en-CA" sz="2000" b="1" i="1" smtClean="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.</m:t>
                                          </m:r>
                                          <m:r>
                                            <a:rPr lang="en-CA" sz="2000" b="1" i="1" smtClean="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𝟎𝟑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CA" sz="20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</m:oMath>
                          </a14:m>
                          <a:endParaRPr lang="en-CA" sz="2000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CA" sz="2000" dirty="0">
                              <a:effectLst/>
                            </a:rPr>
                            <a:t>Present Value of Cost (</a:t>
                          </a:r>
                          <a:r>
                            <a:rPr lang="en-CA" sz="2000" dirty="0" err="1">
                              <a:effectLst/>
                            </a:rPr>
                            <a:t>ΔCt</a:t>
                          </a:r>
                          <a:r>
                            <a:rPr lang="en-CA" sz="2000" dirty="0">
                              <a:effectLst/>
                            </a:rPr>
                            <a:t>​)</a:t>
                          </a:r>
                          <a:endParaRPr lang="en-CA" sz="2000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CA" sz="2000" dirty="0">
                              <a:effectLst/>
                            </a:rPr>
                            <a:t>Present Value of Health (</a:t>
                          </a:r>
                          <a:r>
                            <a:rPr lang="en-CA" sz="2000" dirty="0" err="1">
                              <a:effectLst/>
                            </a:rPr>
                            <a:t>ΔEt</a:t>
                          </a:r>
                          <a:r>
                            <a:rPr lang="en-CA" sz="2000" dirty="0">
                              <a:effectLst/>
                            </a:rPr>
                            <a:t>​)</a:t>
                          </a:r>
                          <a:endParaRPr lang="en-CA" sz="2000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CA" sz="2000" dirty="0">
                              <a:effectLst/>
                            </a:rPr>
                            <a:t>Resulting ICER</a:t>
                          </a:r>
                          <a:endParaRPr lang="en-CA" sz="2000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214119601"/>
                      </a:ext>
                    </a:extLst>
                  </a:tr>
                  <a:tr h="794079"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CA" sz="2000">
                              <a:effectLst/>
                            </a:rPr>
                            <a:t>Year 0</a:t>
                          </a:r>
                          <a:endParaRPr lang="en-CA" sz="200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CA" sz="2000" smtClean="0">
                                    <a:latin typeface="Cambria Math" panose="02040503050406030204" pitchFamily="18" charset="0"/>
                                  </a:rPr>
                                  <m:t>1.000</m:t>
                                </m:r>
                              </m:oMath>
                            </m:oMathPara>
                          </a14:m>
                          <a:endParaRPr lang="en-CA" sz="2000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CA" sz="2000" smtClean="0"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CA" sz="2000">
                                    <a:latin typeface="Cambria Math" panose="02040503050406030204" pitchFamily="18" charset="0"/>
                                  </a:rPr>
                                  <m:t>15,000</m:t>
                                </m:r>
                              </m:oMath>
                            </m:oMathPara>
                          </a14:m>
                          <a:endParaRPr lang="en-CA" sz="2000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CA" sz="2000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  <m:r>
                                  <m:rPr>
                                    <m:nor/>
                                  </m:rPr>
                                  <a:rPr lang="en-CA" sz="2000" i="0"/>
                                  <m:t> QALYs</m:t>
                                </m:r>
                              </m:oMath>
                            </m:oMathPara>
                          </a14:m>
                          <a:endParaRPr lang="en-CA" sz="200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CA" sz="2000" smtClean="0">
                                  <a:latin typeface="Cambria Math" panose="02040503050406030204" pitchFamily="18" charset="0"/>
                                </a:rPr>
                                <m:t>$</m:t>
                              </m:r>
                              <m:r>
                                <a:rPr lang="en-CA" sz="2000">
                                  <a:latin typeface="Cambria Math" panose="02040503050406030204" pitchFamily="18" charset="0"/>
                                </a:rPr>
                                <m:t>6,000</m:t>
                              </m:r>
                            </m:oMath>
                          </a14:m>
                          <a:r>
                            <a:rPr lang="en-CA" sz="2000" dirty="0">
                              <a:effectLst/>
                            </a:rPr>
                            <a:t>/ QALY</a:t>
                          </a:r>
                          <a:endParaRPr lang="en-CA" sz="2000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4265732126"/>
                      </a:ext>
                    </a:extLst>
                  </a:tr>
                  <a:tr h="794079"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CA" sz="2000">
                              <a:effectLst/>
                            </a:rPr>
                            <a:t>Year 10</a:t>
                          </a:r>
                          <a:endParaRPr lang="en-CA" sz="200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CA" sz="2000" smtClean="0">
                                    <a:latin typeface="Cambria Math" panose="02040503050406030204" pitchFamily="18" charset="0"/>
                                  </a:rPr>
                                  <m:t>0.744</m:t>
                                </m:r>
                              </m:oMath>
                            </m:oMathPara>
                          </a14:m>
                          <a:endParaRPr lang="en-CA" sz="200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CA" sz="2000" smtClean="0"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CA" sz="2000">
                                    <a:latin typeface="Cambria Math" panose="02040503050406030204" pitchFamily="18" charset="0"/>
                                  </a:rPr>
                                  <m:t>11,161</m:t>
                                </m:r>
                              </m:oMath>
                            </m:oMathPara>
                          </a14:m>
                          <a:endParaRPr lang="en-CA" sz="200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CA" sz="2000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  <m:r>
                                  <m:rPr>
                                    <m:nor/>
                                  </m:rPr>
                                  <a:rPr lang="en-CA" sz="2000" i="0"/>
                                  <m:t> QALYs</m:t>
                                </m:r>
                              </m:oMath>
                            </m:oMathPara>
                          </a14:m>
                          <a:endParaRPr lang="en-CA" sz="2000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CA" sz="2000" smtClean="0">
                                  <a:latin typeface="Cambria Math" panose="02040503050406030204" pitchFamily="18" charset="0"/>
                                </a:rPr>
                                <m:t>$</m:t>
                              </m:r>
                              <m:r>
                                <a:rPr lang="en-CA" sz="2000">
                                  <a:latin typeface="Cambria Math" panose="02040503050406030204" pitchFamily="18" charset="0"/>
                                </a:rPr>
                                <m:t>4,464</m:t>
                              </m:r>
                            </m:oMath>
                          </a14:m>
                          <a:r>
                            <a:rPr lang="en-CA" sz="2000">
                              <a:effectLst/>
                            </a:rPr>
                            <a:t>/ QALY</a:t>
                          </a:r>
                          <a:endParaRPr lang="en-CA" sz="200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84613305"/>
                      </a:ext>
                    </a:extLst>
                  </a:tr>
                  <a:tr h="794079"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CA" sz="2000">
                              <a:effectLst/>
                            </a:rPr>
                            <a:t>Year 30</a:t>
                          </a:r>
                          <a:endParaRPr lang="en-CA" sz="200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CA" sz="2000" smtClean="0">
                                    <a:latin typeface="Cambria Math" panose="02040503050406030204" pitchFamily="18" charset="0"/>
                                  </a:rPr>
                                  <m:t>0.412</m:t>
                                </m:r>
                              </m:oMath>
                            </m:oMathPara>
                          </a14:m>
                          <a:endParaRPr lang="en-CA" sz="200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CA" sz="2000" smtClean="0"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CA" sz="2000">
                                    <a:latin typeface="Cambria Math" panose="02040503050406030204" pitchFamily="18" charset="0"/>
                                  </a:rPr>
                                  <m:t>6,180</m:t>
                                </m:r>
                              </m:oMath>
                            </m:oMathPara>
                          </a14:m>
                          <a:endParaRPr lang="en-CA" sz="200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CA" sz="2000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  <m:r>
                                  <m:rPr>
                                    <m:nor/>
                                  </m:rPr>
                                  <a:rPr lang="en-CA" sz="2000" i="0"/>
                                  <m:t> QALYs</m:t>
                                </m:r>
                              </m:oMath>
                            </m:oMathPara>
                          </a14:m>
                          <a:endParaRPr lang="en-CA" sz="2000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CA" sz="2000" smtClean="0">
                                  <a:latin typeface="Cambria Math" panose="02040503050406030204" pitchFamily="18" charset="0"/>
                                </a:rPr>
                                <m:t>$</m:t>
                              </m:r>
                              <m:r>
                                <a:rPr lang="en-CA" sz="2000">
                                  <a:latin typeface="Cambria Math" panose="02040503050406030204" pitchFamily="18" charset="0"/>
                                </a:rPr>
                                <m:t>2,472</m:t>
                              </m:r>
                            </m:oMath>
                          </a14:m>
                          <a:r>
                            <a:rPr lang="en-CA" sz="2000" dirty="0">
                              <a:effectLst/>
                            </a:rPr>
                            <a:t>/ QALY</a:t>
                          </a:r>
                          <a:endParaRPr lang="en-CA" sz="2000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457081452"/>
                      </a:ext>
                    </a:extLst>
                  </a:tr>
                  <a:tr h="794079"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CA" sz="2000">
                              <a:effectLst/>
                            </a:rPr>
                            <a:t>Year 50</a:t>
                          </a:r>
                          <a:endParaRPr lang="en-CA" sz="200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CA" sz="2000" smtClean="0">
                                    <a:latin typeface="Cambria Math" panose="02040503050406030204" pitchFamily="18" charset="0"/>
                                  </a:rPr>
                                  <m:t>0.228</m:t>
                                </m:r>
                              </m:oMath>
                            </m:oMathPara>
                          </a14:m>
                          <a:endParaRPr lang="en-CA" sz="200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CA" sz="2000" smtClean="0"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  <m:r>
                                  <a:rPr lang="en-CA" sz="2000">
                                    <a:latin typeface="Cambria Math" panose="02040503050406030204" pitchFamily="18" charset="0"/>
                                  </a:rPr>
                                  <m:t>3,420</m:t>
                                </m:r>
                              </m:oMath>
                            </m:oMathPara>
                          </a14:m>
                          <a:endParaRPr lang="en-CA" sz="200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CA" sz="2000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  <m:r>
                                  <m:rPr>
                                    <m:nor/>
                                  </m:rPr>
                                  <a:rPr lang="en-CA" sz="2000" i="0"/>
                                  <m:t> QALYs</m:t>
                                </m:r>
                              </m:oMath>
                            </m:oMathPara>
                          </a14:m>
                          <a:endParaRPr lang="en-CA" sz="200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CA" sz="2000" smtClean="0">
                                  <a:latin typeface="Cambria Math" panose="02040503050406030204" pitchFamily="18" charset="0"/>
                                </a:rPr>
                                <m:t>$</m:t>
                              </m:r>
                              <m:r>
                                <a:rPr lang="en-CA" sz="2000">
                                  <a:latin typeface="Cambria Math" panose="02040503050406030204" pitchFamily="18" charset="0"/>
                                </a:rPr>
                                <m:t>1,368</m:t>
                              </m:r>
                            </m:oMath>
                          </a14:m>
                          <a:r>
                            <a:rPr lang="en-CA" sz="2000" dirty="0">
                              <a:effectLst/>
                            </a:rPr>
                            <a:t>/ QALY</a:t>
                          </a:r>
                          <a:endParaRPr lang="en-CA" sz="2000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022626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857F7C3-21EF-DCFD-A6EF-F666399FBF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7628411"/>
                  </p:ext>
                </p:extLst>
              </p:nvPr>
            </p:nvGraphicFramePr>
            <p:xfrm>
              <a:off x="520699" y="2094271"/>
              <a:ext cx="10619250" cy="4449936"/>
            </p:xfrm>
            <a:graphic>
              <a:graphicData uri="http://schemas.openxmlformats.org/drawingml/2006/table">
                <a:tbl>
                  <a:tblPr firstRow="1">
                    <a:tableStyleId>{21E4AEA4-8DFA-4A89-87EB-49C32662AFE0}</a:tableStyleId>
                  </a:tblPr>
                  <a:tblGrid>
                    <a:gridCol w="2123850">
                      <a:extLst>
                        <a:ext uri="{9D8B030D-6E8A-4147-A177-3AD203B41FA5}">
                          <a16:colId xmlns:a16="http://schemas.microsoft.com/office/drawing/2014/main" val="3289123939"/>
                        </a:ext>
                      </a:extLst>
                    </a:gridCol>
                    <a:gridCol w="2123850">
                      <a:extLst>
                        <a:ext uri="{9D8B030D-6E8A-4147-A177-3AD203B41FA5}">
                          <a16:colId xmlns:a16="http://schemas.microsoft.com/office/drawing/2014/main" val="882156259"/>
                        </a:ext>
                      </a:extLst>
                    </a:gridCol>
                    <a:gridCol w="2123850">
                      <a:extLst>
                        <a:ext uri="{9D8B030D-6E8A-4147-A177-3AD203B41FA5}">
                          <a16:colId xmlns:a16="http://schemas.microsoft.com/office/drawing/2014/main" val="1852204275"/>
                        </a:ext>
                      </a:extLst>
                    </a:gridCol>
                    <a:gridCol w="2123850">
                      <a:extLst>
                        <a:ext uri="{9D8B030D-6E8A-4147-A177-3AD203B41FA5}">
                          <a16:colId xmlns:a16="http://schemas.microsoft.com/office/drawing/2014/main" val="133858778"/>
                        </a:ext>
                      </a:extLst>
                    </a:gridCol>
                    <a:gridCol w="2123850">
                      <a:extLst>
                        <a:ext uri="{9D8B030D-6E8A-4147-A177-3AD203B41FA5}">
                          <a16:colId xmlns:a16="http://schemas.microsoft.com/office/drawing/2014/main" val="1450204609"/>
                        </a:ext>
                      </a:extLst>
                    </a:gridCol>
                  </a:tblGrid>
                  <a:tr h="1273620"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endParaRPr lang="en-CA" sz="2000" dirty="0">
                            <a:effectLst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2"/>
                          <a:stretch>
                            <a:fillRect l="-100575" t="-478" r="-301724" b="-2507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CA" sz="2000" dirty="0">
                              <a:effectLst/>
                            </a:rPr>
                            <a:t>Present Value of Cost (</a:t>
                          </a:r>
                          <a:r>
                            <a:rPr lang="en-CA" sz="2000" dirty="0" err="1">
                              <a:effectLst/>
                            </a:rPr>
                            <a:t>ΔCt</a:t>
                          </a:r>
                          <a:r>
                            <a:rPr lang="en-CA" sz="2000" dirty="0">
                              <a:effectLst/>
                            </a:rPr>
                            <a:t>​)</a:t>
                          </a:r>
                          <a:endParaRPr lang="en-CA" sz="2000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CA" sz="2000" dirty="0">
                              <a:effectLst/>
                            </a:rPr>
                            <a:t>Present Value of Health (</a:t>
                          </a:r>
                          <a:r>
                            <a:rPr lang="en-CA" sz="2000" dirty="0" err="1">
                              <a:effectLst/>
                            </a:rPr>
                            <a:t>ΔEt</a:t>
                          </a:r>
                          <a:r>
                            <a:rPr lang="en-CA" sz="2000" dirty="0">
                              <a:effectLst/>
                            </a:rPr>
                            <a:t>​)</a:t>
                          </a:r>
                          <a:endParaRPr lang="en-CA" sz="2000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CA" sz="2000" dirty="0">
                              <a:effectLst/>
                            </a:rPr>
                            <a:t>Resulting ICER</a:t>
                          </a:r>
                          <a:endParaRPr lang="en-CA" sz="2000" dirty="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214119601"/>
                      </a:ext>
                    </a:extLst>
                  </a:tr>
                  <a:tr h="794079"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CA" sz="2000">
                              <a:effectLst/>
                            </a:rPr>
                            <a:t>Year 0</a:t>
                          </a:r>
                          <a:endParaRPr lang="en-CA" sz="200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2"/>
                          <a:stretch>
                            <a:fillRect l="-100575" t="-160305" r="-30172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2"/>
                          <a:stretch>
                            <a:fillRect l="-200000" t="-160305" r="-20086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2"/>
                          <a:stretch>
                            <a:fillRect l="-300862" t="-160305" r="-10143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2"/>
                          <a:stretch>
                            <a:fillRect l="-399713" t="-160305" r="-1146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5732126"/>
                      </a:ext>
                    </a:extLst>
                  </a:tr>
                  <a:tr h="794079"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CA" sz="2000">
                              <a:effectLst/>
                            </a:rPr>
                            <a:t>Year 10</a:t>
                          </a:r>
                          <a:endParaRPr lang="en-CA" sz="200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2"/>
                          <a:stretch>
                            <a:fillRect l="-100575" t="-262308" r="-301724" b="-20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2"/>
                          <a:stretch>
                            <a:fillRect l="-200000" t="-262308" r="-200860" b="-20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2"/>
                          <a:stretch>
                            <a:fillRect l="-300862" t="-262308" r="-101437" b="-20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2"/>
                          <a:stretch>
                            <a:fillRect l="-399713" t="-262308" r="-1146" b="-20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613305"/>
                      </a:ext>
                    </a:extLst>
                  </a:tr>
                  <a:tr h="794079"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CA" sz="2000">
                              <a:effectLst/>
                            </a:rPr>
                            <a:t>Year 30</a:t>
                          </a:r>
                          <a:endParaRPr lang="en-CA" sz="200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2"/>
                          <a:stretch>
                            <a:fillRect l="-100575" t="-359542" r="-301724" b="-1007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2"/>
                          <a:stretch>
                            <a:fillRect l="-200000" t="-359542" r="-200860" b="-1007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2"/>
                          <a:stretch>
                            <a:fillRect l="-300862" t="-359542" r="-101437" b="-1007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2"/>
                          <a:stretch>
                            <a:fillRect l="-399713" t="-359542" r="-1146" b="-1007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7081452"/>
                      </a:ext>
                    </a:extLst>
                  </a:tr>
                  <a:tr h="794079">
                    <a:tc>
                      <a:txBody>
                        <a:bodyPr/>
                        <a:lstStyle/>
                        <a:p>
                          <a:pPr marL="0" marR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CA" sz="2000">
                              <a:effectLst/>
                            </a:rPr>
                            <a:t>Year 50</a:t>
                          </a:r>
                          <a:endParaRPr lang="en-CA" sz="2000"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2"/>
                          <a:stretch>
                            <a:fillRect l="-100575" t="-463077" r="-301724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2"/>
                          <a:stretch>
                            <a:fillRect l="-200000" t="-463077" r="-200860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2"/>
                          <a:stretch>
                            <a:fillRect l="-300862" t="-463077" r="-101437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2"/>
                          <a:stretch>
                            <a:fillRect l="-399713" t="-463077" r="-1146" b="-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62636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32855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901403-DF6F-BC11-9782-F4AD8F006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621" y="845575"/>
            <a:ext cx="9700757" cy="577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30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0A14B-4A95-20AB-4966-1A9072B0F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is the Keeler-Cretin Paradox a Paradox?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9E09C3-8C7F-0CF9-D4F0-4E20B5AD63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CA" dirty="0"/>
                  <a:t>Discount rates are chosen because there is an alternative use of money through investment.</a:t>
                </a:r>
              </a:p>
              <a:p>
                <a:r>
                  <a:rPr lang="en-CA" dirty="0"/>
                  <a:t>We can’t invest health the same way we do with money, so in principle it </a:t>
                </a:r>
                <a:r>
                  <a:rPr lang="en-CA" i="1" dirty="0"/>
                  <a:t>makes sense</a:t>
                </a:r>
                <a:r>
                  <a:rPr lang="en-CA" b="1" i="1" dirty="0"/>
                  <a:t> </a:t>
                </a:r>
                <a:r>
                  <a:rPr lang="en-CA" dirty="0"/>
                  <a:t>not to discount with a money-based discount rate.</a:t>
                </a:r>
              </a:p>
              <a:p>
                <a:r>
                  <a:rPr lang="en-CA" dirty="0"/>
                  <a:t>If this occurs, we will introduce a downward bias to all computed ICERs.</a:t>
                </a:r>
              </a:p>
              <a:p>
                <a:r>
                  <a:rPr lang="en-CA" dirty="0"/>
                  <a:t>Further we can “hack” the cost effectiveness estimates easily by changing the sequence of costs. </a:t>
                </a:r>
              </a:p>
              <a:p>
                <a:r>
                  <a:rPr lang="en-CA" dirty="0"/>
                  <a:t>This is easy if we are working with a public payer who finances healthcare (in part) with debt.</a:t>
                </a:r>
              </a:p>
              <a:p>
                <a:r>
                  <a:rPr lang="en-CA" dirty="0"/>
                  <a:t>To summarize: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CA" dirty="0"/>
                  <a:t>Health Can't be invested the same way as money.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CA" dirty="0"/>
                  <a:t>Discount rate should be lower or zero for health.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CA" dirty="0"/>
                  <a:t>However, any treatment can be made cost effective with enough delay.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CA" b="1" dirty="0"/>
                  <a:t>THE COST EFFECTIVENESS RULE </a:t>
                </a:r>
                <a14:m>
                  <m:oMath xmlns:m="http://schemas.openxmlformats.org/officeDocument/2006/math">
                    <m:r>
                      <a:rPr lang="en-CA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1" i="0" smtClean="0">
                        <a:latin typeface="Cambria Math" panose="02040503050406030204" pitchFamily="18" charset="0"/>
                      </a:rPr>
                      <m:t>𝐈𝐂𝐄𝐑</m:t>
                    </m:r>
                    <m:r>
                      <a:rPr lang="en-CA" b="1" i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CA" b="1" i="0" smtClean="0"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r>
                  <a:rPr lang="en-CA" b="1" dirty="0"/>
                  <a:t> BECOMES IRRELVANT.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9E09C3-8C7F-0CF9-D4F0-4E20B5AD6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3" t="-485" b="-16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9879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7ED3D-0C9D-ABB5-689A-0B619DB72A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The Ramsey Equation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A63C6-61D6-4FD3-FD6B-001EE358B9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9710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91266-44EF-7364-AC66-D21B077E3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Ramsey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972383-AE15-2E6E-9FCA-E7078A8418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4147126"/>
                <a:ext cx="11155680" cy="2198809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CA" dirty="0"/>
                  <a:t>In health economics and public policy, the </a:t>
                </a:r>
                <a:r>
                  <a:rPr lang="en-CA" b="1" dirty="0"/>
                  <a:t>Ramsey equation</a:t>
                </a:r>
                <a:r>
                  <a:rPr lang="en-CA" dirty="0"/>
                  <a:t> (or Ramsey rule) is a foundational formula used to calculate the social discount rate (r).</a:t>
                </a:r>
              </a:p>
              <a:p>
                <a:r>
                  <a:rPr lang="en-CA" dirty="0"/>
                  <a:t>The standard formula for this discount rate is: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CA" b="0" dirty="0"/>
              </a:p>
              <a:p>
                <a:r>
                  <a:rPr lang="en-CA" dirty="0"/>
                  <a:t>Where: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CA" dirty="0"/>
                  <a:t>: the pure rate of time preference.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CA" dirty="0"/>
                  <a:t>: the elasticity of the marginal utility of consumption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CA" dirty="0"/>
                  <a:t>: the growth rate of per capita consumption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972383-AE15-2E6E-9FCA-E7078A8418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4147126"/>
                <a:ext cx="11155680" cy="2198809"/>
              </a:xfrm>
              <a:blipFill>
                <a:blip r:embed="rId2"/>
                <a:stretch>
                  <a:fillRect l="-164" t="-554" b="-221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68F9F2D1-6F29-0611-4CF3-56E8F313B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684" y="1709928"/>
            <a:ext cx="4780935" cy="236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815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0DCA531-00AE-454C-616B-F7B8737AB47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CA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/>
                  <a:t>the pure rate of time preference.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0DCA531-00AE-454C-616B-F7B8737AB4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875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2377A-2822-7376-05E4-0AB41CFC3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first part of the </a:t>
            </a:r>
            <a:r>
              <a:rPr lang="en-CA" dirty="0" err="1"/>
              <a:t>ramsey</a:t>
            </a:r>
            <a:r>
              <a:rPr lang="en-CA" dirty="0"/>
              <a:t> equation is the rate of “pure time preference”.</a:t>
            </a:r>
          </a:p>
          <a:p>
            <a:r>
              <a:rPr lang="en-CA" dirty="0"/>
              <a:t>This captures intrinsic human impatience—how much we prefer utility right now over utility in the future, all else equal.</a:t>
            </a:r>
          </a:p>
          <a:p>
            <a:r>
              <a:rPr lang="en-CA" dirty="0"/>
              <a:t>In practice: we calibrate this with the baseline </a:t>
            </a:r>
            <a:r>
              <a:rPr lang="en-CA" b="1" dirty="0"/>
              <a:t>country level hazard rate of death</a:t>
            </a:r>
            <a:r>
              <a:rPr lang="en-CA" dirty="0"/>
              <a:t> (i.e. the instantaneous probability that individuals face dying in Canada).</a:t>
            </a:r>
          </a:p>
          <a:p>
            <a:r>
              <a:rPr lang="en-CA" dirty="0"/>
              <a:t>This is often a very small number in developed countries.</a:t>
            </a:r>
          </a:p>
          <a:p>
            <a:r>
              <a:rPr lang="en-CA" dirty="0"/>
              <a:t>Source: </a:t>
            </a:r>
            <a:r>
              <a:rPr lang="en-CA" dirty="0">
                <a:hlinkClick r:id="rId3"/>
              </a:rPr>
              <a:t>Crude Death Rate Canada (World Bank)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43692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35A0225-15DD-8D08-30A0-5F6D7B81043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CA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/>
                  <a:t>the elasticity of the marginal utility of consumption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35A0225-15DD-8D08-30A0-5F6D7B8104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40" t="-8750" b="-175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F505CF-310F-1133-7D93-6514215107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CA" dirty="0"/>
                  <a:t> represents how fast the value of an extra dollar shrinks as a society gets richer.</a:t>
                </a:r>
              </a:p>
              <a:p>
                <a:r>
                  <a:rPr lang="en-CA" dirty="0"/>
                  <a:t>In practice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CA" dirty="0"/>
                  <a:t> corresponds to society’s </a:t>
                </a:r>
                <a:r>
                  <a:rPr lang="en-CA" b="1" dirty="0"/>
                  <a:t>RELATIVE RISK AVERSION </a:t>
                </a:r>
                <a:r>
                  <a:rPr lang="en-CA" dirty="0"/>
                  <a:t>associated with investing. (formally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CA" dirty="0"/>
                  <a:t> corresponds to the coefficient of relative risk aversion).</a:t>
                </a:r>
              </a:p>
              <a:p>
                <a:r>
                  <a:rPr lang="en-CA" dirty="0"/>
                  <a:t>This is calibrated by empirically by simply looking at the following formula: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CA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CA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CA" b="0" dirty="0"/>
              </a:p>
              <a:p>
                <a:r>
                  <a:rPr lang="en-CA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CA" dirty="0"/>
                  <a:t> is the tax rate of the rich (Q4) and average income earners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CA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CA" dirty="0"/>
                  <a:t> is the rich and average income.</a:t>
                </a:r>
              </a:p>
              <a:p>
                <a:r>
                  <a:rPr lang="en-CA" dirty="0"/>
                  <a:t>We wont get into the math on this but this is the formula which would be applied.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F505CF-310F-1133-7D93-6514215107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83" t="-80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4370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B00496-63ED-CB36-9BEB-028AEC6B064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18160" y="742434"/>
                <a:ext cx="11155680" cy="146304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CA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/>
                  <a:t>the growth rate of per capita consumption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B00496-63ED-CB36-9BEB-028AEC6B06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18160" y="742434"/>
                <a:ext cx="11155680" cy="1463040"/>
              </a:xfrm>
              <a:blipFill>
                <a:blip r:embed="rId2"/>
                <a:stretch>
                  <a:fillRect l="-2186" t="-8750" b="-1791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7C71A-5E56-E872-596F-33C06A0C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98" y="2096828"/>
            <a:ext cx="4296599" cy="3767328"/>
          </a:xfrm>
        </p:spPr>
        <p:txBody>
          <a:bodyPr/>
          <a:lstStyle/>
          <a:p>
            <a:r>
              <a:rPr lang="en-CA" dirty="0"/>
              <a:t>This is a country level estimate that considers the growth exclusively in the consumption component of GDP.</a:t>
            </a:r>
          </a:p>
          <a:p>
            <a:r>
              <a:rPr lang="en-CA" dirty="0"/>
              <a:t>It captures this natural idea that there are other assets (which may not be related to health) that yield a baseline return.</a:t>
            </a:r>
          </a:p>
          <a:p>
            <a:r>
              <a:rPr lang="en-CA" dirty="0"/>
              <a:t>We need to account for the opportunity cost associated with forgoing </a:t>
            </a:r>
            <a:r>
              <a:rPr lang="en-CA" b="1" dirty="0"/>
              <a:t>all other possible household improving investments.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E09550-38BC-B240-930A-F59B4B542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929" y="1724180"/>
            <a:ext cx="6122449" cy="505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757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42C14-106A-8D3A-B0C2-D4F9783D6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the Ramsey equation is really about.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942B5A-1A8E-EC85-DDE9-6FF3B59A80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A" sz="30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CA" sz="3000" i="1" smtClean="0">
                          <a:latin typeface="Cambria Math" panose="02040503050406030204" pitchFamily="18" charset="0"/>
                        </a:rPr>
                        <m:t>=   </m:t>
                      </m:r>
                      <m:r>
                        <a:rPr lang="en-CA" sz="300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CA" sz="3000" b="0" i="1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CA" sz="30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sz="3000" b="0" i="1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CA" sz="3000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CA" sz="30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3000" i="1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CA" sz="3000" dirty="0"/>
              </a:p>
              <a:p>
                <a:pPr marL="0" indent="0">
                  <a:buNone/>
                </a:pPr>
                <a:br>
                  <a:rPr lang="en-CA" dirty="0"/>
                </a:br>
                <a:br>
                  <a:rPr lang="en-CA" dirty="0"/>
                </a:br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The social rate of discount is often not related to any particular asset, rather it has to do with the core idea of the “best alternative use of capital”. </a:t>
                </a:r>
                <a:endParaRPr lang="en-CA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942B5A-1A8E-EC85-DDE9-6FF3B59A80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Brace 4">
            <a:extLst>
              <a:ext uri="{FF2B5EF4-FFF2-40B4-BE49-F238E27FC236}">
                <a16:creationId xmlns:a16="http://schemas.microsoft.com/office/drawing/2014/main" id="{CE1A04BB-7B6C-A2D6-833B-1F3074C80825}"/>
              </a:ext>
            </a:extLst>
          </p:cNvPr>
          <p:cNvSpPr/>
          <p:nvPr/>
        </p:nvSpPr>
        <p:spPr>
          <a:xfrm rot="16200000">
            <a:off x="4463585" y="2849419"/>
            <a:ext cx="314036" cy="674252"/>
          </a:xfrm>
          <a:prstGeom prst="leftBrac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82E0CF70-BFED-7FBB-411D-B1965B1DA35F}"/>
              </a:ext>
            </a:extLst>
          </p:cNvPr>
          <p:cNvSpPr/>
          <p:nvPr/>
        </p:nvSpPr>
        <p:spPr>
          <a:xfrm rot="16200000">
            <a:off x="8006700" y="2845881"/>
            <a:ext cx="314036" cy="889146"/>
          </a:xfrm>
          <a:prstGeom prst="leftBrac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6818CB-4BA6-39AC-737C-25001B7C8BBA}"/>
              </a:ext>
            </a:extLst>
          </p:cNvPr>
          <p:cNvSpPr txBox="1"/>
          <p:nvPr/>
        </p:nvSpPr>
        <p:spPr>
          <a:xfrm>
            <a:off x="4004401" y="3343563"/>
            <a:ext cx="1597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Risk of Death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68481F-18B8-2CFB-8052-5AC4B37E4244}"/>
              </a:ext>
            </a:extLst>
          </p:cNvPr>
          <p:cNvSpPr txBox="1"/>
          <p:nvPr/>
        </p:nvSpPr>
        <p:spPr>
          <a:xfrm>
            <a:off x="7487594" y="3447472"/>
            <a:ext cx="2324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Risk adjusted return</a:t>
            </a:r>
            <a:br>
              <a:rPr lang="en-CA" b="1" dirty="0"/>
            </a:br>
            <a:r>
              <a:rPr lang="en-CA" b="1" dirty="0"/>
              <a:t>from other assets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7A5E03-3631-A9C1-059B-CEE856F6247B}"/>
              </a:ext>
            </a:extLst>
          </p:cNvPr>
          <p:cNvSpPr txBox="1"/>
          <p:nvPr/>
        </p:nvSpPr>
        <p:spPr>
          <a:xfrm>
            <a:off x="1610861" y="2240033"/>
            <a:ext cx="2393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Social Discount Rate</a:t>
            </a:r>
          </a:p>
        </p:txBody>
      </p:sp>
    </p:spTree>
    <p:extLst>
      <p:ext uri="{BB962C8B-B14F-4D97-AF65-F5344CB8AC3E}">
        <p14:creationId xmlns:p14="http://schemas.microsoft.com/office/powerpoint/2010/main" val="2690334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C84C8-BAC7-DF44-ADA5-8423A222BA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Discount Rates and the ICER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B6167-D750-194F-F40E-9C789FD7CF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8444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272A8-9B44-5E20-7C58-6A1357F3E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Changing Discount Rates? Anything can happen!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E763E8-D9CB-F63D-2BD1-73B6FE5A42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441448"/>
                <a:ext cx="11155680" cy="390448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CA" dirty="0"/>
                  <a:t>Among one of the most important variables to conduct a sensitivity analysis on is the </a:t>
                </a:r>
                <a:r>
                  <a:rPr lang="en-CA" dirty="0" err="1"/>
                  <a:t>varyin</a:t>
                </a:r>
                <a:r>
                  <a:rPr lang="en-CA" dirty="0"/>
                  <a:t> of the discount Rate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CA" dirty="0"/>
                  <a:t>.</a:t>
                </a:r>
              </a:p>
              <a:p>
                <a:r>
                  <a:rPr lang="en-CA" dirty="0"/>
                  <a:t>Some variables in our models we have some hunches regarding the direction of the sensitivity analysis.</a:t>
                </a:r>
              </a:p>
              <a:p>
                <a:pPr lvl="1"/>
                <a:r>
                  <a:rPr lang="en-CA" dirty="0"/>
                  <a:t>Higher utilities will generate better cost effectiveness ratios and lower ones will make them worse.</a:t>
                </a:r>
              </a:p>
              <a:p>
                <a:pPr lvl="1"/>
                <a:r>
                  <a:rPr lang="en-CA" dirty="0"/>
                  <a:t>Higher probabilities of adverse events in a symmetric tree will improve  the standing of the treatment options over standard care options.</a:t>
                </a:r>
              </a:p>
              <a:p>
                <a:r>
                  <a:rPr lang="en-CA" b="1" dirty="0"/>
                  <a:t>WITH DISCOUNT RATES ANYTHING CAN HAPPEN.</a:t>
                </a:r>
              </a:p>
              <a:p>
                <a:r>
                  <a:rPr lang="en-CA" dirty="0"/>
                  <a:t>This is because the ICER is a fraction that depends on a sum of fractions!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ICER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f>
                              <m:fPr>
                                <m:ctrlPr>
                                  <a:rPr lang="en-US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f>
                              <m:fPr>
                                <m:ctrlPr>
                                  <a:rPr lang="en-US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den>
                    </m:f>
                  </m:oMath>
                </a14:m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E763E8-D9CB-F63D-2BD1-73B6FE5A42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441448"/>
                <a:ext cx="11155680" cy="3904488"/>
              </a:xfrm>
              <a:blipFill>
                <a:blip r:embed="rId2"/>
                <a:stretch>
                  <a:fillRect l="-383" t="-93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8533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C44B9-16E2-A0CA-F492-369BB591A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i="1" dirty="0"/>
              <a:t>“</a:t>
            </a:r>
            <a:r>
              <a:rPr lang="en-CA" i="1" dirty="0" err="1"/>
              <a:t>Reswitching</a:t>
            </a:r>
            <a:r>
              <a:rPr lang="en-CA" i="1" dirty="0"/>
              <a:t>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8597DB-40C0-DDE4-0875-9DC22EDDAA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5112" y="2273808"/>
                <a:ext cx="5159156" cy="376732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CA" dirty="0"/>
                  <a:t>One of the strange things that can happen when changing discount rates is that </a:t>
                </a:r>
                <a:r>
                  <a:rPr lang="en-CA" b="1" dirty="0" err="1"/>
                  <a:t>reswitching</a:t>
                </a:r>
                <a:r>
                  <a:rPr lang="en-CA" dirty="0"/>
                  <a:t>. May occur.</a:t>
                </a:r>
              </a:p>
              <a:p>
                <a:r>
                  <a:rPr lang="en-CA" dirty="0"/>
                  <a:t>To explain what this is, usually under a sensitivity analysis, a treatment will go from </a:t>
                </a:r>
                <a:br>
                  <a:rPr lang="en-CA" dirty="0"/>
                </a:br>
                <a:r>
                  <a:rPr lang="en-CA" dirty="0"/>
                  <a:t>being cost effective to either remaining cost effective of becoming not cost effective.</a:t>
                </a:r>
              </a:p>
              <a:p>
                <a:r>
                  <a:rPr lang="en-CA" dirty="0"/>
                  <a:t>For two treatments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CA" dirty="0"/>
                  <a:t> and B we would expect </a:t>
                </a:r>
                <a:br>
                  <a:rPr lang="en-CA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CA" dirty="0"/>
              </a:p>
              <a:p>
                <a:r>
                  <a:rPr lang="en-CA" dirty="0"/>
                  <a:t>What happens when </a:t>
                </a:r>
                <a:r>
                  <a:rPr lang="en-CA" dirty="0" err="1"/>
                  <a:t>reswitching</a:t>
                </a:r>
                <a:r>
                  <a:rPr lang="en-CA" dirty="0"/>
                  <a:t> occurs is that as we change discount rate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CA" dirty="0"/>
                  <a:t> we have: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CA" dirty="0"/>
              </a:p>
              <a:p>
                <a:r>
                  <a:rPr lang="en-CA" dirty="0"/>
                  <a:t>This is a problem </a:t>
                </a:r>
                <a:r>
                  <a:rPr lang="en-CA" b="1" i="1" dirty="0"/>
                  <a:t>unique</a:t>
                </a:r>
                <a:r>
                  <a:rPr lang="en-CA" i="1" dirty="0"/>
                  <a:t> </a:t>
                </a:r>
                <a:r>
                  <a:rPr lang="en-CA" b="1" i="1" dirty="0"/>
                  <a:t> </a:t>
                </a:r>
                <a:r>
                  <a:rPr lang="en-CA" dirty="0"/>
                  <a:t>to discount rates.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8597DB-40C0-DDE4-0875-9DC22EDDAA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5112" y="2273808"/>
                <a:ext cx="5159156" cy="3767328"/>
              </a:xfrm>
              <a:blipFill>
                <a:blip r:embed="rId2"/>
                <a:stretch>
                  <a:fillRect l="-591" t="-11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E8D9CC0-6278-D3AF-AF17-89C6D6B09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183" y="1908994"/>
            <a:ext cx="5090856" cy="494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75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4919C-EEFA-82E8-151A-A3C9C28E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4199-D562-50D0-784C-9EBCFCEEF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i="1" dirty="0"/>
              <a:t>“</a:t>
            </a:r>
            <a:r>
              <a:rPr lang="en-CA" i="1" dirty="0" err="1"/>
              <a:t>Reswitching</a:t>
            </a:r>
            <a:r>
              <a:rPr lang="en-CA" i="1" dirty="0"/>
              <a:t>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1B13CF-B823-98BF-F7BD-863E42FD6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5112" y="2273808"/>
                <a:ext cx="5159156" cy="3767328"/>
              </a:xfrm>
            </p:spPr>
            <p:txBody>
              <a:bodyPr>
                <a:normAutofit/>
              </a:bodyPr>
              <a:lstStyle/>
              <a:p>
                <a:pPr marL="285750" indent="-285750"/>
                <a:r>
                  <a:rPr lang="en-US" dirty="0"/>
                  <a:t>The outer envelope tells us that in 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[0,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CA" dirty="0"/>
                  <a:t> project A yields the lowest ICER , from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Project B has the lowest ICER and from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</m:oMath>
                </a14:m>
                <a:r>
                  <a:rPr lang="en-CA" dirty="0"/>
                  <a:t> Project A is now the lowest ICER .</a:t>
                </a:r>
              </a:p>
              <a:p>
                <a:pPr marL="285750" indent="-285750"/>
                <a:r>
                  <a:rPr lang="en-CA" b="1" dirty="0" err="1"/>
                  <a:t>Reswitching</a:t>
                </a:r>
                <a:r>
                  <a:rPr lang="en-CA" b="1" dirty="0"/>
                  <a:t> is a problem because of the unpredictable change in rank of projects.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1B13CF-B823-98BF-F7BD-863E42FD6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5112" y="2273808"/>
                <a:ext cx="5159156" cy="3767328"/>
              </a:xfrm>
              <a:blipFill>
                <a:blip r:embed="rId2"/>
                <a:stretch>
                  <a:fillRect l="-827" t="-32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98A4473-493C-F623-334F-C2F507278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183" y="1908994"/>
            <a:ext cx="5090856" cy="494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573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79D3F-2258-8DC8-5A75-543B973B6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guidelines changing on discount rates are a bad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F5894-F0DF-5B5A-8093-D18F5A420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Economic evaluations is research that is relevant to both budget holders and academics.</a:t>
            </a:r>
          </a:p>
          <a:p>
            <a:r>
              <a:rPr lang="en-CA" dirty="0"/>
              <a:t>They are relevant to budget holders because it tells them if new treatments generate  value for money.</a:t>
            </a:r>
          </a:p>
          <a:p>
            <a:r>
              <a:rPr lang="en-CA" dirty="0"/>
              <a:t>They are relevant to academics because the provide a map of the clinical pathway and application of specific treatments within a broader healthcare systems.</a:t>
            </a:r>
          </a:p>
          <a:p>
            <a:pPr lvl="1"/>
            <a:r>
              <a:rPr lang="en-CA" dirty="0"/>
              <a:t>Models can be easily adapted to different circumstances!</a:t>
            </a:r>
          </a:p>
          <a:p>
            <a:r>
              <a:rPr lang="en-CA" dirty="0"/>
              <a:t>When guidelines on discount rates are changed, </a:t>
            </a:r>
            <a:r>
              <a:rPr lang="en-CA" b="1" dirty="0"/>
              <a:t>WE CAN NO LONGER USE PAST STUDIES AS EVIDENCE OF COST EFFECTIVENESS.</a:t>
            </a:r>
          </a:p>
          <a:p>
            <a:r>
              <a:rPr lang="en-CA" dirty="0"/>
              <a:t>This is because of the problem of </a:t>
            </a:r>
            <a:r>
              <a:rPr lang="en-CA" dirty="0" err="1"/>
              <a:t>reswitching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74306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86E5C-D8FA-35FE-470D-45398B9E4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two sides of the debate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F25303-6110-68A6-7843-67A9238C8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93" y="1793169"/>
            <a:ext cx="4749024" cy="50648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0D8F2E-4896-8C56-DBDA-61DB91B15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48906"/>
            <a:ext cx="5752056" cy="26416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A1F4E0-5B8B-DF2F-A101-9E844BCEC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5032" y="4325584"/>
            <a:ext cx="6238875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689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AAD6B-FC76-8273-A779-CBCCE47C92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Valuing Treatment Decisions Under ROI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2BBC9-657A-3AE6-DA8C-A2EBB266AB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64442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78DD9-FEE9-5BBB-CD75-DA4B984A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 Alternative– Valuing under ROI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D8ABC-FF84-5EB6-F7B1-1FC83C1F68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A" dirty="0"/>
                  <a:t>In Theory, we can get around this issue of “</a:t>
                </a:r>
                <a:r>
                  <a:rPr lang="en-CA" dirty="0" err="1"/>
                  <a:t>Reswitching</a:t>
                </a:r>
                <a:r>
                  <a:rPr lang="en-CA" dirty="0"/>
                  <a:t>” if instead of conducting cost effectiveness analysis and instead do a </a:t>
                </a:r>
                <a:r>
                  <a:rPr lang="en-CA" b="1" dirty="0"/>
                  <a:t>RETURN ON INVESTMENT </a:t>
                </a:r>
                <a:r>
                  <a:rPr lang="en-CA" dirty="0"/>
                  <a:t> analysis.</a:t>
                </a:r>
              </a:p>
              <a:p>
                <a:r>
                  <a:rPr lang="en-CA" dirty="0"/>
                  <a:t>ROI is defined as:</a:t>
                </a:r>
                <a:br>
                  <a:rPr lang="en-CA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ROI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𝐼𝐶𝐸𝑅</m:t>
                        </m:r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CA" b="0" dirty="0"/>
              </a:p>
              <a:p>
                <a:r>
                  <a:rPr lang="en-CA" dirty="0"/>
                  <a:t>In this case we “freeze in time” the ICER estimates and the thresholds and use the discount 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CA" dirty="0"/>
                  <a:t> as a threshold.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D8ABC-FF84-5EB6-F7B1-1FC83C1F68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83" t="-48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22979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DB67F-FCFD-1A2B-C360-553485044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 Alternative– Valuing under ROI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49BB32-E05C-F173-1647-6F868DB5C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1856509"/>
                <a:ext cx="11155680" cy="4558253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CA" b="1" dirty="0"/>
                  <a:t>Setup:</a:t>
                </a:r>
                <a:endParaRPr lang="en-CA" dirty="0"/>
              </a:p>
              <a:p>
                <a:pPr lvl="1"/>
                <a:r>
                  <a:rPr lang="en-CA" dirty="0"/>
                  <a:t>Incremental Cost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/>
                      <m:t>Δ</m:t>
                    </m:r>
                    <m:r>
                      <a:rPr lang="en-CA" i="1"/>
                      <m:t>𝐶</m:t>
                    </m:r>
                  </m:oMath>
                </a14:m>
                <a:r>
                  <a:rPr lang="en-CA" dirty="0"/>
                  <a:t>) = </a:t>
                </a:r>
                <a14:m>
                  <m:oMath xmlns:m="http://schemas.openxmlformats.org/officeDocument/2006/math">
                    <m:r>
                      <a:rPr lang="en-CA"/>
                      <m:t>$40,000</m:t>
                    </m:r>
                  </m:oMath>
                </a14:m>
                <a:endParaRPr lang="en-CA" dirty="0"/>
              </a:p>
              <a:p>
                <a:pPr lvl="1"/>
                <a:r>
                  <a:rPr lang="en-CA" dirty="0"/>
                  <a:t>Incremental Effect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/>
                      <m:t>Δ</m:t>
                    </m:r>
                    <m:r>
                      <a:rPr lang="en-CA" i="1"/>
                      <m:t>𝐸</m:t>
                    </m:r>
                  </m:oMath>
                </a14:m>
                <a:r>
                  <a:rPr lang="en-CA" dirty="0"/>
                  <a:t>) = </a:t>
                </a:r>
                <a14:m>
                  <m:oMath xmlns:m="http://schemas.openxmlformats.org/officeDocument/2006/math">
                    <m:r>
                      <a:rPr lang="en-CA"/>
                      <m:t>1.6</m:t>
                    </m:r>
                    <m:r>
                      <m:rPr>
                        <m:nor/>
                      </m:rPr>
                      <a:rPr lang="en-CA"/>
                      <m:t> QALYs</m:t>
                    </m:r>
                  </m:oMath>
                </a14:m>
                <a:endParaRPr lang="en-CA" dirty="0"/>
              </a:p>
              <a:p>
                <a:pPr lvl="1"/>
                <a:r>
                  <a:rPr lang="en-CA" dirty="0"/>
                  <a:t>Willingness-to-Pay Threshold (</a:t>
                </a:r>
                <a14:m>
                  <m:oMath xmlns:m="http://schemas.openxmlformats.org/officeDocument/2006/math">
                    <m:r>
                      <a:rPr lang="en-CA" i="1"/>
                      <m:t>𝜆</m:t>
                    </m:r>
                  </m:oMath>
                </a14:m>
                <a:r>
                  <a:rPr lang="en-CA" dirty="0"/>
                  <a:t>) = </a:t>
                </a:r>
                <a14:m>
                  <m:oMath xmlns:m="http://schemas.openxmlformats.org/officeDocument/2006/math">
                    <m:r>
                      <a:rPr lang="en-CA"/>
                      <m:t>$50,000</m:t>
                    </m:r>
                    <m:r>
                      <m:rPr>
                        <m:nor/>
                      </m:rPr>
                      <a:rPr lang="en-CA"/>
                      <m:t> per QALY</m:t>
                    </m:r>
                  </m:oMath>
                </a14:m>
                <a:endParaRPr lang="en-CA" dirty="0"/>
              </a:p>
              <a:p>
                <a:pPr marL="0" lvl="0" indent="0">
                  <a:buNone/>
                </a:pPr>
                <a:r>
                  <a:rPr lang="en-CA" b="1" dirty="0"/>
                  <a:t>Step 1: Calculate ICER</a:t>
                </a:r>
                <a:endParaRPr lang="en-CA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CA"/>
                        <m:t>ICER</m:t>
                      </m:r>
                      <m:r>
                        <a:rPr lang="en-CA"/>
                        <m:t>=</m:t>
                      </m:r>
                      <m:f>
                        <m:fPr>
                          <m:ctrlPr>
                            <a:rPr lang="en-CA"/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CA"/>
                            <m:t>Δ</m:t>
                          </m:r>
                          <m:r>
                            <a:rPr lang="en-CA" i="1"/>
                            <m:t>𝐶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CA"/>
                            <m:t>Δ</m:t>
                          </m:r>
                          <m:r>
                            <a:rPr lang="en-CA" i="1"/>
                            <m:t>𝐸</m:t>
                          </m:r>
                        </m:den>
                      </m:f>
                      <m:r>
                        <a:rPr lang="en-CA"/>
                        <m:t>=</m:t>
                      </m:r>
                      <m:f>
                        <m:fPr>
                          <m:ctrlPr>
                            <a:rPr lang="en-CA"/>
                          </m:ctrlPr>
                        </m:fPr>
                        <m:num>
                          <m:r>
                            <a:rPr lang="en-CA"/>
                            <m:t>$40,000</m:t>
                          </m:r>
                        </m:num>
                        <m:den>
                          <m:r>
                            <a:rPr lang="en-CA"/>
                            <m:t>1.6</m:t>
                          </m:r>
                        </m:den>
                      </m:f>
                      <m:r>
                        <a:rPr lang="en-CA"/>
                        <m:t>=$25,000</m:t>
                      </m:r>
                      <m:r>
                        <m:rPr>
                          <m:nor/>
                        </m:rPr>
                        <a:rPr lang="en-CA"/>
                        <m:t> per QALY</m:t>
                      </m:r>
                    </m:oMath>
                  </m:oMathPara>
                </a14:m>
                <a:endParaRPr lang="en-CA" dirty="0"/>
              </a:p>
              <a:p>
                <a:pPr marL="0" lvl="0" indent="0">
                  <a:buNone/>
                </a:pPr>
                <a:r>
                  <a:rPr lang="en-CA" i="1" dirty="0"/>
                  <a:t>(Cost-effective since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CA"/>
                      <m:t>ICER</m:t>
                    </m:r>
                    <m:r>
                      <a:rPr lang="en-CA"/>
                      <m:t>&lt;</m:t>
                    </m:r>
                    <m:r>
                      <a:rPr lang="en-CA" i="1"/>
                      <m:t>𝜆</m:t>
                    </m:r>
                  </m:oMath>
                </a14:m>
                <a:r>
                  <a:rPr lang="en-CA" i="1" dirty="0"/>
                  <a:t>)</a:t>
                </a:r>
                <a:endParaRPr lang="en-CA" dirty="0"/>
              </a:p>
              <a:p>
                <a:pPr marL="0" lvl="0" indent="0">
                  <a:buNone/>
                </a:pPr>
                <a:r>
                  <a:rPr lang="en-CA" b="1" dirty="0"/>
                  <a:t>Step 2: Calculate ROI</a:t>
                </a:r>
                <a:endParaRPr lang="en-CA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CA"/>
                        <m:t>ROI</m:t>
                      </m:r>
                      <m:r>
                        <a:rPr lang="en-CA"/>
                        <m:t>=</m:t>
                      </m:r>
                      <m:f>
                        <m:fPr>
                          <m:ctrlPr>
                            <a:rPr lang="en-CA" i="1"/>
                          </m:ctrlPr>
                        </m:fPr>
                        <m:num>
                          <m:r>
                            <a:rPr lang="en-CA" i="1"/>
                            <m:t>𝜆</m:t>
                          </m:r>
                          <m:r>
                            <m:rPr>
                              <m:sty m:val="p"/>
                            </m:rPr>
                            <a:rPr lang="en-CA"/>
                            <m:t>Δ</m:t>
                          </m:r>
                          <m:r>
                            <a:rPr lang="en-CA" i="1"/>
                            <m:t>𝐸</m:t>
                          </m:r>
                          <m:r>
                            <a:rPr lang="en-CA"/>
                            <m:t>−</m:t>
                          </m:r>
                          <m:r>
                            <m:rPr>
                              <m:sty m:val="p"/>
                            </m:rPr>
                            <a:rPr lang="en-CA"/>
                            <m:t>Δ</m:t>
                          </m:r>
                          <m:r>
                            <a:rPr lang="en-CA" i="1"/>
                            <m:t>𝐶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CA"/>
                            <m:t>Δ</m:t>
                          </m:r>
                          <m:r>
                            <a:rPr lang="en-CA" i="1"/>
                            <m:t>𝐶</m:t>
                          </m:r>
                        </m:den>
                      </m:f>
                      <m:r>
                        <a:rPr lang="en-CA"/>
                        <m:t>=</m:t>
                      </m:r>
                      <m:f>
                        <m:fPr>
                          <m:ctrlPr>
                            <a:rPr lang="en-CA" i="1"/>
                          </m:ctrlPr>
                        </m:fPr>
                        <m:num>
                          <m:d>
                            <m:dPr>
                              <m:ctrlPr>
                                <a:rPr lang="en-CA"/>
                              </m:ctrlPr>
                            </m:dPr>
                            <m:e>
                              <m:r>
                                <a:rPr lang="en-CA"/>
                                <m:t>$50,000×1.6</m:t>
                              </m:r>
                            </m:e>
                          </m:d>
                          <m:r>
                            <a:rPr lang="en-CA"/>
                            <m:t>−$40,000</m:t>
                          </m:r>
                        </m:num>
                        <m:den>
                          <m:r>
                            <a:rPr lang="en-CA"/>
                            <m:t>$40,000</m:t>
                          </m:r>
                        </m:den>
                      </m:f>
                      <m:r>
                        <a:rPr lang="en-CA"/>
                        <m:t>=1.0</m:t>
                      </m:r>
                      <m:r>
                        <m:rPr>
                          <m:nor/>
                        </m:rPr>
                        <a:rPr lang="en-CA"/>
                        <m:t> </m:t>
                      </m:r>
                      <m:d>
                        <m:dPr>
                          <m:ctrlPr>
                            <a:rPr lang="en-CA"/>
                          </m:ctrlPr>
                        </m:dPr>
                        <m:e>
                          <m:r>
                            <a:rPr lang="en-CA"/>
                            <m:t>100%</m:t>
                          </m:r>
                        </m:e>
                      </m:d>
                    </m:oMath>
                  </m:oMathPara>
                </a14:m>
                <a:endParaRPr lang="en-CA" dirty="0"/>
              </a:p>
              <a:p>
                <a:pPr marL="0" lvl="0" indent="0">
                  <a:buNone/>
                </a:pPr>
                <a:r>
                  <a:rPr lang="en-CA" i="1" dirty="0"/>
                  <a:t>Alternatively: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CA"/>
                      <m:t>ROI</m:t>
                    </m:r>
                    <m:r>
                      <a:rPr lang="en-CA"/>
                      <m:t>=</m:t>
                    </m:r>
                    <m:f>
                      <m:fPr>
                        <m:ctrlPr>
                          <a:rPr lang="en-CA" i="1"/>
                        </m:ctrlPr>
                      </m:fPr>
                      <m:num>
                        <m:r>
                          <a:rPr lang="en-CA" i="1"/>
                          <m:t>𝜆</m:t>
                        </m:r>
                      </m:num>
                      <m:den>
                        <m:r>
                          <m:rPr>
                            <m:nor/>
                          </m:rPr>
                          <a:rPr lang="en-CA"/>
                          <m:t>ICER</m:t>
                        </m:r>
                      </m:den>
                    </m:f>
                    <m:r>
                      <a:rPr lang="en-CA"/>
                      <m:t>−1=</m:t>
                    </m:r>
                    <m:f>
                      <m:fPr>
                        <m:ctrlPr>
                          <a:rPr lang="en-CA"/>
                        </m:ctrlPr>
                      </m:fPr>
                      <m:num>
                        <m:r>
                          <a:rPr lang="en-CA"/>
                          <m:t>$50,000</m:t>
                        </m:r>
                      </m:num>
                      <m:den>
                        <m:r>
                          <a:rPr lang="en-CA"/>
                          <m:t>$25,000</m:t>
                        </m:r>
                      </m:den>
                    </m:f>
                    <m:r>
                      <a:rPr lang="en-CA"/>
                      <m:t>−1=1.0</m:t>
                    </m:r>
                    <m:r>
                      <m:rPr>
                        <m:nor/>
                      </m:rPr>
                      <a:rPr lang="en-CA"/>
                      <m:t> </m:t>
                    </m:r>
                    <m:d>
                      <m:dPr>
                        <m:ctrlPr>
                          <a:rPr lang="en-CA"/>
                        </m:ctrlPr>
                      </m:dPr>
                      <m:e>
                        <m:r>
                          <a:rPr lang="en-CA"/>
                          <m:t>100%</m:t>
                        </m:r>
                      </m:e>
                    </m:d>
                  </m:oMath>
                </a14:m>
                <a:endParaRPr lang="en-CA" dirty="0"/>
              </a:p>
              <a:p>
                <a:pPr marL="0" lvl="0" indent="0">
                  <a:buNone/>
                </a:pPr>
                <a:r>
                  <a:rPr lang="en-CA" b="1" dirty="0"/>
                  <a:t>Key Takeaway:</a:t>
                </a:r>
                <a:r>
                  <a:rPr lang="en-CA" dirty="0"/>
                  <a:t> An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CA"/>
                      <m:t>ROI</m:t>
                    </m:r>
                    <m:r>
                      <a:rPr lang="en-CA"/>
                      <m:t>&gt;0</m:t>
                    </m:r>
                  </m:oMath>
                </a14:m>
                <a:r>
                  <a:rPr lang="en-CA" dirty="0"/>
                  <a:t>matches an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CA"/>
                      <m:t>ICER</m:t>
                    </m:r>
                    <m:r>
                      <a:rPr lang="en-CA"/>
                      <m:t>&lt;</m:t>
                    </m:r>
                    <m:r>
                      <a:rPr lang="en-CA" i="1"/>
                      <m:t>𝜆</m:t>
                    </m:r>
                  </m:oMath>
                </a14:m>
                <a:r>
                  <a:rPr lang="en-CA" dirty="0"/>
                  <a:t>, but formulating decisions as an ROI allows linear ranking of projects, avoiding </a:t>
                </a:r>
                <a:r>
                  <a:rPr lang="en-CA" dirty="0" err="1"/>
                  <a:t>reswitching</a:t>
                </a:r>
                <a:r>
                  <a:rPr lang="en-CA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49BB32-E05C-F173-1647-6F868DB5C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1856509"/>
                <a:ext cx="11155680" cy="4558253"/>
              </a:xfrm>
              <a:blipFill>
                <a:blip r:embed="rId2"/>
                <a:stretch>
                  <a:fillRect l="-383" t="-107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7042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23BE3-45C3-B690-8B41-131C94E35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The unfortunate nature of health technology assessment.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30C00-0A9B-7552-7FB9-6C11B1BE5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32889"/>
            <a:ext cx="5112676" cy="3767328"/>
          </a:xfrm>
        </p:spPr>
        <p:txBody>
          <a:bodyPr/>
          <a:lstStyle/>
          <a:p>
            <a:r>
              <a:rPr lang="en-CA" dirty="0"/>
              <a:t>While this transformation works. It Changes the analysis type and rules of the game.</a:t>
            </a:r>
          </a:p>
          <a:p>
            <a:r>
              <a:rPr lang="en-CA" dirty="0"/>
              <a:t>As such you are now working with a data type that is different from others.</a:t>
            </a:r>
          </a:p>
          <a:p>
            <a:r>
              <a:rPr lang="en-CA" i="1" dirty="0"/>
              <a:t>If the standard is to report the ICER, why Report ROI??</a:t>
            </a:r>
          </a:p>
        </p:txBody>
      </p:sp>
      <p:pic>
        <p:nvPicPr>
          <p:cNvPr id="12" name="Picture 11" descr="3D Chess (Star Trek TOS) by mageb | Download free STL model | Printables.com">
            <a:extLst>
              <a:ext uri="{FF2B5EF4-FFF2-40B4-BE49-F238E27FC236}">
                <a16:creationId xmlns:a16="http://schemas.microsoft.com/office/drawing/2014/main" id="{09F5C1DD-E297-8C5C-32E9-DDB22964C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168" y="1945579"/>
            <a:ext cx="3684762" cy="451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1326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7E975-8AA3-C90F-8A1A-D8812E0427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The Reality of Economic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23132-2A7D-D80A-561F-DF34DA149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24636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B2779-7A04-97C0-BFE7-5FBC18D7C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Concluding Remarks: Economic Evaluations must follow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B1597-984C-F71F-B704-67EBC2630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5260756" cy="3767328"/>
          </a:xfrm>
        </p:spPr>
        <p:txBody>
          <a:bodyPr/>
          <a:lstStyle/>
          <a:p>
            <a:r>
              <a:rPr lang="en-CA" dirty="0"/>
              <a:t>To get anywhere with economic evaluation, whether in industry, academia or in government, you need to follow rules.</a:t>
            </a:r>
          </a:p>
          <a:p>
            <a:r>
              <a:rPr lang="en-CA" dirty="0" err="1"/>
              <a:t>Reswitching</a:t>
            </a:r>
            <a:r>
              <a:rPr lang="en-CA" dirty="0"/>
              <a:t> exists, but current decision makers do not consider it because discount rates are very small (ranging between 0%-5%) even on a continuous frame, this is rare.</a:t>
            </a:r>
          </a:p>
          <a:p>
            <a:r>
              <a:rPr lang="en-CA" dirty="0"/>
              <a:t>This does not mean it cant happen though.</a:t>
            </a:r>
          </a:p>
          <a:p>
            <a:r>
              <a:rPr lang="en-CA" b="1" dirty="0"/>
              <a:t>FINAL WORD:</a:t>
            </a:r>
            <a:r>
              <a:rPr lang="en-CA" dirty="0"/>
              <a:t> If you want your work to go </a:t>
            </a:r>
            <a:r>
              <a:rPr lang="en-CA" dirty="0" err="1"/>
              <a:t>anwhere</a:t>
            </a:r>
            <a:r>
              <a:rPr lang="en-CA" dirty="0"/>
              <a:t>, follow guidelines.</a:t>
            </a:r>
            <a:endParaRPr lang="en-CA" b="1" dirty="0"/>
          </a:p>
          <a:p>
            <a:endParaRPr lang="en-CA" dirty="0"/>
          </a:p>
          <a:p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F7DE2B-3C26-A486-A0D9-E704F83F4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1991" y="2578608"/>
            <a:ext cx="5730727" cy="392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52792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9194</TotalTime>
  <Words>2017</Words>
  <Application>Microsoft Office PowerPoint</Application>
  <PresentationFormat>Widescreen</PresentationFormat>
  <Paragraphs>191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Arial</vt:lpstr>
      <vt:lpstr>Bierstadt</vt:lpstr>
      <vt:lpstr>Cambria Math</vt:lpstr>
      <vt:lpstr>Google Sans Text</vt:lpstr>
      <vt:lpstr>GestaltVTI</vt:lpstr>
      <vt:lpstr>Advanced Topics in Economic Evaluation and Healthcare</vt:lpstr>
      <vt:lpstr>Lecture Overview</vt:lpstr>
      <vt:lpstr>Why We Discount</vt:lpstr>
      <vt:lpstr>Sequences of Benefits and Costs</vt:lpstr>
      <vt:lpstr>On the intuition of Present Value and QALYS</vt:lpstr>
      <vt:lpstr>The Keeler-Cretin Paradox</vt:lpstr>
      <vt:lpstr>“QALYS Are Not Financial” and the Keeler-Cretin Paradox</vt:lpstr>
      <vt:lpstr>An Example of the Keeler-Cretin Paradox</vt:lpstr>
      <vt:lpstr>Numerical Results</vt:lpstr>
      <vt:lpstr>PowerPoint Presentation</vt:lpstr>
      <vt:lpstr>Why is the Keeler-Cretin Paradox a Paradox?</vt:lpstr>
      <vt:lpstr>The Ramsey Equation</vt:lpstr>
      <vt:lpstr>The Ramsey Equation</vt:lpstr>
      <vt:lpstr>ρ the pure rate of time preference.</vt:lpstr>
      <vt:lpstr>η the elasticity of the marginal utility of consumption</vt:lpstr>
      <vt:lpstr>g the growth rate of per capita consumption</vt:lpstr>
      <vt:lpstr>What the Ramsey equation is really about.</vt:lpstr>
      <vt:lpstr>Discount Rates and the ICER</vt:lpstr>
      <vt:lpstr>Changing Discount Rates? Anything can happen!</vt:lpstr>
      <vt:lpstr>“Reswitching”</vt:lpstr>
      <vt:lpstr>“Reswitching”</vt:lpstr>
      <vt:lpstr>Why guidelines changing on discount rates are a bad idea</vt:lpstr>
      <vt:lpstr>The two sides of the debate</vt:lpstr>
      <vt:lpstr>Valuing Treatment Decisions Under ROI</vt:lpstr>
      <vt:lpstr>An Alternative– Valuing under ROI</vt:lpstr>
      <vt:lpstr>An Alternative– Valuing under ROI</vt:lpstr>
      <vt:lpstr>The unfortunate nature of health technology assessment.</vt:lpstr>
      <vt:lpstr>The Reality of Economic Evaluation</vt:lpstr>
      <vt:lpstr>Concluding Remarks: Economic Evaluations must follow guidelines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Smith</dc:creator>
  <cp:lastModifiedBy>Jacob Smith</cp:lastModifiedBy>
  <cp:revision>57</cp:revision>
  <dcterms:created xsi:type="dcterms:W3CDTF">2026-08-17T03:21:10Z</dcterms:created>
  <dcterms:modified xsi:type="dcterms:W3CDTF">2026-09-18T04:20:16Z</dcterms:modified>
</cp:coreProperties>
</file>