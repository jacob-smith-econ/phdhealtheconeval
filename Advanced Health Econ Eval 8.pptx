
<file path=[Content_Types].xml><?xml version="1.0" encoding="utf-8"?>
<Types xmlns="http://schemas.openxmlformats.org/package/2006/content-types">
  <Default Extension="jpeg" ContentType="image/jpeg"/>
  <Default Extension="jpg" ContentType="image/jpeg"/>
  <Default Extension="org&amp;utm_campaign=index&amp;utm_content=original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1" r:id="rId1"/>
  </p:sldMasterIdLst>
  <p:notesMasterIdLst>
    <p:notesMasterId r:id="rId44"/>
  </p:notesMasterIdLst>
  <p:sldIdLst>
    <p:sldId id="256" r:id="rId2"/>
    <p:sldId id="257" r:id="rId3"/>
    <p:sldId id="274" r:id="rId4"/>
    <p:sldId id="300" r:id="rId5"/>
    <p:sldId id="301" r:id="rId6"/>
    <p:sldId id="302" r:id="rId7"/>
    <p:sldId id="303" r:id="rId8"/>
    <p:sldId id="306" r:id="rId9"/>
    <p:sldId id="305" r:id="rId10"/>
    <p:sldId id="290" r:id="rId11"/>
    <p:sldId id="289" r:id="rId12"/>
    <p:sldId id="291" r:id="rId13"/>
    <p:sldId id="292" r:id="rId14"/>
    <p:sldId id="293" r:id="rId15"/>
    <p:sldId id="294" r:id="rId16"/>
    <p:sldId id="316" r:id="rId17"/>
    <p:sldId id="268" r:id="rId18"/>
    <p:sldId id="264" r:id="rId19"/>
    <p:sldId id="265" r:id="rId20"/>
    <p:sldId id="266" r:id="rId21"/>
    <p:sldId id="267" r:id="rId22"/>
    <p:sldId id="269" r:id="rId23"/>
    <p:sldId id="270" r:id="rId24"/>
    <p:sldId id="320" r:id="rId25"/>
    <p:sldId id="271" r:id="rId26"/>
    <p:sldId id="272" r:id="rId27"/>
    <p:sldId id="273" r:id="rId28"/>
    <p:sldId id="307" r:id="rId29"/>
    <p:sldId id="296" r:id="rId30"/>
    <p:sldId id="299" r:id="rId31"/>
    <p:sldId id="282" r:id="rId32"/>
    <p:sldId id="295" r:id="rId33"/>
    <p:sldId id="308" r:id="rId34"/>
    <p:sldId id="309" r:id="rId35"/>
    <p:sldId id="314" r:id="rId36"/>
    <p:sldId id="321" r:id="rId37"/>
    <p:sldId id="310" r:id="rId38"/>
    <p:sldId id="318" r:id="rId39"/>
    <p:sldId id="317" r:id="rId40"/>
    <p:sldId id="319" r:id="rId41"/>
    <p:sldId id="313" r:id="rId42"/>
    <p:sldId id="311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DFD0"/>
    <a:srgbClr val="CFCF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4" autoAdjust="0"/>
    <p:restoredTop sz="92996" autoAdjust="0"/>
  </p:normalViewPr>
  <p:slideViewPr>
    <p:cSldViewPr snapToGrid="0">
      <p:cViewPr varScale="1">
        <p:scale>
          <a:sx n="100" d="100"/>
          <a:sy n="100" d="100"/>
        </p:scale>
        <p:origin x="25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85F2B-9DB3-46C6-BD28-BD611964EFEF}" type="datetimeFigureOut">
              <a:rPr lang="en-CA" smtClean="0"/>
              <a:t>2026-10-28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E760D0-8468-434B-992C-0B7D2D9301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54136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024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97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826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187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767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92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889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749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25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280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958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053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70" r:id="rId6"/>
    <p:sldLayoutId id="2147483775" r:id="rId7"/>
    <p:sldLayoutId id="2147483771" r:id="rId8"/>
    <p:sldLayoutId id="2147483772" r:id="rId9"/>
    <p:sldLayoutId id="2147483773" r:id="rId10"/>
    <p:sldLayoutId id="2147483774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org&amp;utm_campaign=index&amp;utm_content=origi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7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40.png"/><Relationship Id="rId10" Type="http://schemas.openxmlformats.org/officeDocument/2006/relationships/image" Target="../media/image90.png"/><Relationship Id="rId4" Type="http://schemas.openxmlformats.org/officeDocument/2006/relationships/image" Target="../media/image3.png"/><Relationship Id="rId9" Type="http://schemas.openxmlformats.org/officeDocument/2006/relationships/image" Target="../media/image8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7" Type="http://schemas.openxmlformats.org/officeDocument/2006/relationships/image" Target="../media/image130.png"/><Relationship Id="rId12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11" Type="http://schemas.openxmlformats.org/officeDocument/2006/relationships/image" Target="../media/image17.png"/><Relationship Id="rId5" Type="http://schemas.openxmlformats.org/officeDocument/2006/relationships/image" Target="../media/image110.png"/><Relationship Id="rId10" Type="http://schemas.openxmlformats.org/officeDocument/2006/relationships/image" Target="../media/image16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7" Type="http://schemas.openxmlformats.org/officeDocument/2006/relationships/image" Target="../media/image52.png"/><Relationship Id="rId12" Type="http://schemas.openxmlformats.org/officeDocument/2006/relationships/image" Target="../media/image10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91.png"/><Relationship Id="rId5" Type="http://schemas.openxmlformats.org/officeDocument/2006/relationships/image" Target="../media/image32.png"/><Relationship Id="rId10" Type="http://schemas.openxmlformats.org/officeDocument/2006/relationships/image" Target="../media/image81.png"/><Relationship Id="rId9" Type="http://schemas.openxmlformats.org/officeDocument/2006/relationships/image" Target="../media/image7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111.png"/><Relationship Id="rId18" Type="http://schemas.openxmlformats.org/officeDocument/2006/relationships/image" Target="../media/image160.png"/><Relationship Id="rId7" Type="http://schemas.openxmlformats.org/officeDocument/2006/relationships/image" Target="../media/image52.png"/><Relationship Id="rId12" Type="http://schemas.openxmlformats.org/officeDocument/2006/relationships/image" Target="../media/image100.png"/><Relationship Id="rId17" Type="http://schemas.openxmlformats.org/officeDocument/2006/relationships/image" Target="../media/image150.png"/><Relationship Id="rId2" Type="http://schemas.openxmlformats.org/officeDocument/2006/relationships/image" Target="../media/image24.png"/><Relationship Id="rId16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91.png"/><Relationship Id="rId5" Type="http://schemas.openxmlformats.org/officeDocument/2006/relationships/image" Target="../media/image32.png"/><Relationship Id="rId15" Type="http://schemas.openxmlformats.org/officeDocument/2006/relationships/image" Target="../media/image131.png"/><Relationship Id="rId10" Type="http://schemas.openxmlformats.org/officeDocument/2006/relationships/image" Target="../media/image81.png"/><Relationship Id="rId9" Type="http://schemas.openxmlformats.org/officeDocument/2006/relationships/image" Target="../media/image71.png"/><Relationship Id="rId14" Type="http://schemas.openxmlformats.org/officeDocument/2006/relationships/image" Target="../media/image12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png"/><Relationship Id="rId13" Type="http://schemas.openxmlformats.org/officeDocument/2006/relationships/image" Target="../media/image26.png"/><Relationship Id="rId7" Type="http://schemas.openxmlformats.org/officeDocument/2006/relationships/image" Target="../media/image200.png"/><Relationship Id="rId12" Type="http://schemas.openxmlformats.org/officeDocument/2006/relationships/image" Target="../media/image250.png"/><Relationship Id="rId17" Type="http://schemas.openxmlformats.org/officeDocument/2006/relationships/image" Target="../media/image30.png"/><Relationship Id="rId2" Type="http://schemas.openxmlformats.org/officeDocument/2006/relationships/image" Target="../media/image25.png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11" Type="http://schemas.openxmlformats.org/officeDocument/2006/relationships/image" Target="../media/image240.png"/><Relationship Id="rId5" Type="http://schemas.openxmlformats.org/officeDocument/2006/relationships/image" Target="../media/image180.png"/><Relationship Id="rId15" Type="http://schemas.openxmlformats.org/officeDocument/2006/relationships/image" Target="../media/image28.png"/><Relationship Id="rId10" Type="http://schemas.openxmlformats.org/officeDocument/2006/relationships/image" Target="../media/image230.png"/><Relationship Id="rId9" Type="http://schemas.openxmlformats.org/officeDocument/2006/relationships/image" Target="../media/image220.png"/><Relationship Id="rId1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813863-F928-09F7-33F8-93C103CEA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3397649" cy="330376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dirty="0"/>
              <a:t>Advanced Topics in Economic Evaluation and Healthcare</a:t>
            </a:r>
            <a:endParaRPr lang="en-CA" sz="37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04B19C-1926-B464-1194-E2E07EBD9E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354633"/>
            <a:ext cx="3397649" cy="1706533"/>
          </a:xfrm>
        </p:spPr>
        <p:txBody>
          <a:bodyPr anchor="t">
            <a:normAutofit/>
          </a:bodyPr>
          <a:lstStyle/>
          <a:p>
            <a:r>
              <a:rPr lang="en-US" dirty="0"/>
              <a:t>Lecture #8: Value of Information Analysis</a:t>
            </a:r>
            <a:endParaRPr lang="en-CA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Logo Request Form - McMaster Brand">
            <a:extLst>
              <a:ext uri="{FF2B5EF4-FFF2-40B4-BE49-F238E27FC236}">
                <a16:creationId xmlns:a16="http://schemas.microsoft.com/office/drawing/2014/main" id="{9B664600-1FAC-3307-6550-FD235344C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625" y="5679630"/>
            <a:ext cx="5192171" cy="100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306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F6E60-F5BA-A6D4-3430-A55ACD269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Lecture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DC954-6BFF-A611-E096-EA34B0A79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In this lecture we will discuss: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The Valuation of Diagnostic Tests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A Non Technical Overview of The Expected Value of Perfect Information (EVPI)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A Technical Overview of EVPI and Expected Value of Perfect Parameter Information (EVPPI)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EVPI Curves.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A Model free Approach to EVPI and EVPI is the same as the value of “minimized regret”.</a:t>
            </a:r>
          </a:p>
          <a:p>
            <a:r>
              <a:rPr lang="en-CA" dirty="0"/>
              <a:t>By the end of this lecture we will understand what value of information analysis is, appreciate its theoretical grounding and how to compute it practically.</a:t>
            </a:r>
          </a:p>
        </p:txBody>
      </p:sp>
    </p:spTree>
    <p:extLst>
      <p:ext uri="{BB962C8B-B14F-4D97-AF65-F5344CB8AC3E}">
        <p14:creationId xmlns:p14="http://schemas.microsoft.com/office/powerpoint/2010/main" val="3609778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FAD80-5067-25CA-F6FB-18E4F3279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Valuation of Diagnostic Tests.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A2670-D372-A4A5-59A9-670DED35E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4374065" cy="3767328"/>
          </a:xfrm>
        </p:spPr>
        <p:txBody>
          <a:bodyPr/>
          <a:lstStyle/>
          <a:p>
            <a:r>
              <a:rPr lang="en-CA" dirty="0"/>
              <a:t>Diagnostic tests are not therapeutic.</a:t>
            </a:r>
          </a:p>
          <a:p>
            <a:r>
              <a:rPr lang="en-CA" dirty="0"/>
              <a:t>They do not improve an individual's health state.</a:t>
            </a:r>
          </a:p>
          <a:p>
            <a:r>
              <a:rPr lang="en-CA" dirty="0"/>
              <a:t>However, they can inform treatment decisions.</a:t>
            </a:r>
            <a:endParaRPr lang="en-CA" b="1" dirty="0"/>
          </a:p>
          <a:p>
            <a:pPr marL="0" indent="0">
              <a:buNone/>
            </a:pPr>
            <a:r>
              <a:rPr lang="en-CA" b="1" dirty="0"/>
              <a:t>Today we address: what is the value of perfect test which resolves some or all uncertainty about a patients health status,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1549B4-B46B-44D0-5FD6-70A9075FC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0126" y="2441448"/>
            <a:ext cx="6589874" cy="359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650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CABFB-B1F2-B6AF-FC9E-49AB177215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A “Non Technical” Overview of The Expected Value of Perfect Information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88D894-EE1C-D3ED-9DEA-0CF0E9354F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16592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2D861-77B7-12A4-DCCA-162F2B4AF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70ACB-6B8B-9C73-73D3-4DDE53793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Not all information is worth the price.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439E2-3B84-8A58-BD9C-D8784D370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4854356" cy="3767328"/>
          </a:xfrm>
        </p:spPr>
        <p:txBody>
          <a:bodyPr/>
          <a:lstStyle/>
          <a:p>
            <a:r>
              <a:rPr lang="en-CA" dirty="0"/>
              <a:t>Suppose we are playing a game of heads or tails.</a:t>
            </a:r>
          </a:p>
          <a:p>
            <a:r>
              <a:rPr lang="en-CA" dirty="0"/>
              <a:t>If you pick the right face, before the coin lands, you win 1 dollar if you pick the wrong face you lose 1 dollar.</a:t>
            </a:r>
          </a:p>
          <a:p>
            <a:r>
              <a:rPr lang="en-CA" dirty="0"/>
              <a:t>The expected payoff is 50 cents under normal rules.</a:t>
            </a:r>
          </a:p>
          <a:p>
            <a:r>
              <a:rPr lang="en-CA" dirty="0"/>
              <a:t>Both Heads and Tails are equally good choices.</a:t>
            </a:r>
          </a:p>
        </p:txBody>
      </p:sp>
      <p:pic>
        <p:nvPicPr>
          <p:cNvPr id="5" name="Picture 4" descr="Coin flipping - Wikipedia">
            <a:extLst>
              <a:ext uri="{FF2B5EF4-FFF2-40B4-BE49-F238E27FC236}">
                <a16:creationId xmlns:a16="http://schemas.microsoft.com/office/drawing/2014/main" id="{007CC81E-5B2D-393C-7D71-7E4EDFF74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254" y="2853436"/>
            <a:ext cx="2757626" cy="349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931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01D10-3961-AEE7-2DE0-B8A0D13B0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5E5EC-4C66-EAF1-CC20-99CE99ABE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Not all information is worth the price.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1F34E-44C3-0F1C-9702-08CF8DD77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4854356" cy="3767328"/>
          </a:xfrm>
        </p:spPr>
        <p:txBody>
          <a:bodyPr/>
          <a:lstStyle/>
          <a:p>
            <a:r>
              <a:rPr lang="en-CA" dirty="0"/>
              <a:t>Suppose now instead of taking a bet at the start of the game, you observe the coin landing and then must choose.</a:t>
            </a:r>
          </a:p>
          <a:p>
            <a:r>
              <a:rPr lang="en-CA" dirty="0"/>
              <a:t>That is you observe the “true state of nature” and then decide what the best choice is.</a:t>
            </a:r>
          </a:p>
          <a:p>
            <a:r>
              <a:rPr lang="en-CA" b="1" dirty="0"/>
              <a:t>HERE YOU WILL ALWAYS WIN BECAUSE YOU SEE IF THE COIN IS HEADS OR TAILS BEFORE CHOOSING.</a:t>
            </a:r>
          </a:p>
          <a:p>
            <a:r>
              <a:rPr lang="en-CA" i="1" dirty="0"/>
              <a:t>Question: How much are you willing to pay for a game with this new set of rules?</a:t>
            </a:r>
          </a:p>
          <a:p>
            <a:pPr marL="0" indent="0">
              <a:buNone/>
            </a:pPr>
            <a:endParaRPr lang="en-CA" dirty="0"/>
          </a:p>
        </p:txBody>
      </p:sp>
      <p:pic>
        <p:nvPicPr>
          <p:cNvPr id="4" name="Picture 3" descr="Understanding Money: Common Questions - Bank of Canada Museum">
            <a:extLst>
              <a:ext uri="{FF2B5EF4-FFF2-40B4-BE49-F238E27FC236}">
                <a16:creationId xmlns:a16="http://schemas.microsoft.com/office/drawing/2014/main" id="{75A5819D-085A-954D-A0FF-AF37F78EB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847" y="2651453"/>
            <a:ext cx="5565058" cy="2662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120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5C220-4CCC-3629-A5CB-32913D92B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78E19-66A4-C1D9-8774-4E12EAAD4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Not all information is worth the price.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880D1-40B5-11DA-BA23-F9DA4E53F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4854356" cy="3767328"/>
          </a:xfrm>
        </p:spPr>
        <p:txBody>
          <a:bodyPr/>
          <a:lstStyle/>
          <a:p>
            <a:r>
              <a:rPr lang="en-CA" dirty="0"/>
              <a:t>Suppose now instead of taking a bet at the start of the game, you observe the coin landing and then must choose.</a:t>
            </a:r>
          </a:p>
          <a:p>
            <a:r>
              <a:rPr lang="en-CA" dirty="0"/>
              <a:t>That is you observe the “true state of nature” and then decide what the best choice is.</a:t>
            </a:r>
          </a:p>
          <a:p>
            <a:r>
              <a:rPr lang="en-CA" b="1" dirty="0"/>
              <a:t>HERE YOU WILL ALWAYS WIN BECAUSE YOU SEE IF THE COIN IS HEADS OR TAILS BEFORE CHOOSING.</a:t>
            </a:r>
          </a:p>
          <a:p>
            <a:r>
              <a:rPr lang="en-CA" i="1" dirty="0"/>
              <a:t>Question: How much are you willing to pay for a game with this new set of rules?</a:t>
            </a:r>
          </a:p>
          <a:p>
            <a:pPr marL="0" indent="0">
              <a:buNone/>
            </a:pPr>
            <a:endParaRPr lang="en-CA" dirty="0"/>
          </a:p>
        </p:txBody>
      </p:sp>
      <p:pic>
        <p:nvPicPr>
          <p:cNvPr id="4" name="Picture 3" descr="Understanding Money: Common Questions - Bank of Canada Museum">
            <a:extLst>
              <a:ext uri="{FF2B5EF4-FFF2-40B4-BE49-F238E27FC236}">
                <a16:creationId xmlns:a16="http://schemas.microsoft.com/office/drawing/2014/main" id="{B9E6FFBC-87C7-9F4D-3C3D-1CBA3F91B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847" y="2651453"/>
            <a:ext cx="5565058" cy="26621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A374FD-AA26-6E4F-AC98-748663DE0BF1}"/>
              </a:ext>
            </a:extLst>
          </p:cNvPr>
          <p:cNvSpPr txBox="1"/>
          <p:nvPr/>
        </p:nvSpPr>
        <p:spPr>
          <a:xfrm>
            <a:off x="6286976" y="5427406"/>
            <a:ext cx="5265929" cy="646331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CA" b="1" dirty="0">
                <a:solidFill>
                  <a:srgbClr val="C00000"/>
                </a:solidFill>
              </a:rPr>
              <a:t>YOU WILL NOT PAY MORE THAN A DOLLAR  FOR </a:t>
            </a:r>
            <a:br>
              <a:rPr lang="en-CA" b="1" dirty="0">
                <a:solidFill>
                  <a:srgbClr val="C00000"/>
                </a:solidFill>
              </a:rPr>
            </a:br>
            <a:r>
              <a:rPr lang="en-CA" b="1" dirty="0">
                <a:solidFill>
                  <a:srgbClr val="C00000"/>
                </a:solidFill>
              </a:rPr>
              <a:t>THIS NEW SET OF RULES</a:t>
            </a:r>
          </a:p>
        </p:txBody>
      </p:sp>
    </p:spTree>
    <p:extLst>
      <p:ext uri="{BB962C8B-B14F-4D97-AF65-F5344CB8AC3E}">
        <p14:creationId xmlns:p14="http://schemas.microsoft.com/office/powerpoint/2010/main" val="1263928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AC554-85CC-CD45-2059-27521FAA43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The Expected Value of Perfect Information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71C328-6FAC-5C40-CAA9-BE072E4261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49418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96FAA-BFEB-5827-6B98-8B0E5DE78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D0EA0-D0A7-705C-431B-CE30886C3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>
            <a:normAutofit fontScale="90000"/>
          </a:bodyPr>
          <a:lstStyle/>
          <a:p>
            <a:r>
              <a:rPr lang="en-CA" sz="4800" dirty="0"/>
              <a:t>The Expected Value of Perfect Information.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934232-5688-42A2-9E53-D6B899AD1F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2600" y="1943100"/>
                <a:ext cx="10506991" cy="3936491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The Expected Value of Perfect Information Is mathematically Defined as follows:</a:t>
                </a:r>
                <a:br>
                  <a:rPr lang="en-CA" dirty="0"/>
                </a:b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𝐸𝑉𝑃𝐼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  <m:sup/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CA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CA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𝒥</m:t>
                                </m:r>
                              </m:lim>
                            </m:limLow>
                          </m:fName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𝑁𝐵</m:t>
                                </m:r>
                                <m:d>
                                  <m:dPr>
                                    <m:ctrlP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</m:e>
                    </m:d>
                    <m:r>
                      <a:rPr lang="en-CA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CA" b="0" i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CA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𝒥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m:rPr>
                                    <m:sty m:val="p"/>
                                  </m:rPr>
                                  <a:rPr lang="en-CA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sub>
                              <m:sup/>
                              <m:e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  <m:d>
                              <m:dPr>
                                <m:begChr m:val="["/>
                                <m:endChr m:val="]"/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𝑁𝐵</m:t>
                                </m:r>
                                <m:d>
                                  <m:d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</m:e>
                    </m:func>
                    <m:r>
                      <a:rPr lang="en-CA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CA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In plain language this is:</a:t>
                </a:r>
                <a:br>
                  <a:rPr lang="en-CA" dirty="0"/>
                </a:br>
                <a:br>
                  <a:rPr lang="en-CA" dirty="0"/>
                </a:b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𝐸𝑉𝑃𝐼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sty m:val="p"/>
                            </m:rPr>
                            <a:rPr lang="en-CA" i="0">
                              <a:latin typeface="Cambria Math" panose="02040503050406030204" pitchFamily="18" charset="0"/>
                            </a:rPr>
                            <m:t>Expected</m:t>
                          </m:r>
                          <m:r>
                            <a:rPr lang="en-CA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CA" i="0">
                              <a:latin typeface="Cambria Math" panose="02040503050406030204" pitchFamily="18" charset="0"/>
                            </a:rPr>
                            <m:t>Value</m:t>
                          </m:r>
                        </m:e>
                      </m:mr>
                      <m:mr>
                        <m: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with</m:t>
                          </m:r>
                          <m:r>
                            <a:rPr lang="en-CA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Perfect</m:t>
                          </m:r>
                          <m:r>
                            <a:rPr lang="en-CA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Information</m:t>
                          </m:r>
                        </m:e>
                      </m:mr>
                    </m:m>
                    <m:r>
                      <a:rPr lang="en-CA" b="0" i="0" smtClean="0">
                        <a:latin typeface="Cambria Math" panose="02040503050406030204" pitchFamily="18" charset="0"/>
                      </a:rPr>
                      <m:t>−</m:t>
                    </m:r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sty m:val="p"/>
                            </m:rPr>
                            <a:rPr lang="en-CA" i="0">
                              <a:latin typeface="Cambria Math" panose="02040503050406030204" pitchFamily="18" charset="0"/>
                            </a:rPr>
                            <m:t>Expected</m:t>
                          </m:r>
                          <m:r>
                            <a:rPr lang="en-CA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CA" i="0">
                              <a:latin typeface="Cambria Math" panose="02040503050406030204" pitchFamily="18" charset="0"/>
                            </a:rPr>
                            <m:t>Value</m:t>
                          </m:r>
                        </m:e>
                      </m:mr>
                      <m:mr>
                        <m:e>
                          <m:r>
                            <m:rPr>
                              <m:sty m:val="p"/>
                            </m:rPr>
                            <a:rPr lang="en-CA" i="0">
                              <a:latin typeface="Cambria Math" panose="02040503050406030204" pitchFamily="18" charset="0"/>
                            </a:rPr>
                            <m:t>with</m:t>
                          </m:r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out</m:t>
                          </m:r>
                          <m:r>
                            <a:rPr lang="en-CA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CA" i="0">
                              <a:latin typeface="Cambria Math" panose="02040503050406030204" pitchFamily="18" charset="0"/>
                            </a:rPr>
                            <m:t>Perfect</m:t>
                          </m:r>
                          <m:r>
                            <a:rPr lang="en-CA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CA" i="0">
                              <a:latin typeface="Cambria Math" panose="02040503050406030204" pitchFamily="18" charset="0"/>
                            </a:rPr>
                            <m:t>Information</m:t>
                          </m:r>
                        </m:e>
                      </m:mr>
                    </m:m>
                  </m:oMath>
                </a14:m>
                <a:endParaRPr lang="en-CA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b="1" dirty="0"/>
                  <a:t>WE WONT GET INTO THE DEFINTION OF THE ABOVE COMPLEX EQUATION BUT WILL ILLUSTRATE THE COMPUTATION WITH A EXAMPLE.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934232-5688-42A2-9E53-D6B899AD1F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2600" y="1943100"/>
                <a:ext cx="10506991" cy="3936491"/>
              </a:xfrm>
              <a:blipFill>
                <a:blip r:embed="rId2"/>
                <a:stretch>
                  <a:fillRect l="-348" t="-62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232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847C4-4D59-065E-4791-EFA2CD206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82C5B-87B3-DD05-110B-9D623C421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An Example from a Data 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AA9ED2-F359-97F7-296D-3D416A1DDE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6340" y="1714499"/>
                <a:ext cx="10506991" cy="4333875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Suppose we collect the following data on the costs and effects of two  treatments over equally likely two possible true states of the world.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endParaRPr lang="en-CA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endParaRPr lang="en-CA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endParaRPr lang="en-CA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endParaRPr lang="en-CA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Where Net benefit of treatment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CA" dirty="0"/>
                  <a:t> is:</a:t>
                </a:r>
                <a:br>
                  <a:rPr lang="en-CA" dirty="0"/>
                </a:b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𝑁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CA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b="1" dirty="0"/>
                  <a:t>NOTE: This is different from how we defined net monetary benefit last lecture as we are not evaluating incremental change.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AA9ED2-F359-97F7-296D-3D416A1DDE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6340" y="1714499"/>
                <a:ext cx="10506991" cy="4333875"/>
              </a:xfrm>
              <a:blipFill>
                <a:blip r:embed="rId2"/>
                <a:stretch>
                  <a:fillRect l="-406" t="-42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657ABD8-3CE1-FA1A-E24A-7FACC53DFE0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82600" y="2617849"/>
              <a:ext cx="10636143" cy="12635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1406">
                      <a:extLst>
                        <a:ext uri="{9D8B030D-6E8A-4147-A177-3AD203B41FA5}">
                          <a16:colId xmlns:a16="http://schemas.microsoft.com/office/drawing/2014/main" val="3952234104"/>
                        </a:ext>
                      </a:extLst>
                    </a:gridCol>
                    <a:gridCol w="1501902">
                      <a:extLst>
                        <a:ext uri="{9D8B030D-6E8A-4147-A177-3AD203B41FA5}">
                          <a16:colId xmlns:a16="http://schemas.microsoft.com/office/drawing/2014/main" val="3335537457"/>
                        </a:ext>
                      </a:extLst>
                    </a:gridCol>
                    <a:gridCol w="1311406">
                      <a:extLst>
                        <a:ext uri="{9D8B030D-6E8A-4147-A177-3AD203B41FA5}">
                          <a16:colId xmlns:a16="http://schemas.microsoft.com/office/drawing/2014/main" val="2231303964"/>
                        </a:ext>
                      </a:extLst>
                    </a:gridCol>
                    <a:gridCol w="1607077">
                      <a:extLst>
                        <a:ext uri="{9D8B030D-6E8A-4147-A177-3AD203B41FA5}">
                          <a16:colId xmlns:a16="http://schemas.microsoft.com/office/drawing/2014/main" val="2356441948"/>
                        </a:ext>
                      </a:extLst>
                    </a:gridCol>
                    <a:gridCol w="1257300">
                      <a:extLst>
                        <a:ext uri="{9D8B030D-6E8A-4147-A177-3AD203B41FA5}">
                          <a16:colId xmlns:a16="http://schemas.microsoft.com/office/drawing/2014/main" val="3016797212"/>
                        </a:ext>
                      </a:extLst>
                    </a:gridCol>
                    <a:gridCol w="1304925">
                      <a:extLst>
                        <a:ext uri="{9D8B030D-6E8A-4147-A177-3AD203B41FA5}">
                          <a16:colId xmlns:a16="http://schemas.microsoft.com/office/drawing/2014/main" val="1968013198"/>
                        </a:ext>
                      </a:extLst>
                    </a:gridCol>
                    <a:gridCol w="2342127">
                      <a:extLst>
                        <a:ext uri="{9D8B030D-6E8A-4147-A177-3AD203B41FA5}">
                          <a16:colId xmlns:a16="http://schemas.microsoft.com/office/drawing/2014/main" val="99930435"/>
                        </a:ext>
                      </a:extLst>
                    </a:gridCol>
                  </a:tblGrid>
                  <a:tr h="361316"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State of the World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Costs of </a:t>
                          </a:r>
                          <a:br>
                            <a:rPr lang="en-CA" sz="1400" dirty="0"/>
                          </a:br>
                          <a:r>
                            <a:rPr lang="en-CA" sz="1400" dirty="0"/>
                            <a:t>Treatment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QALYs from Treatment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sz="1400" dirty="0"/>
                            <a:t>Net Benefit of A</a:t>
                          </a:r>
                          <a:br>
                            <a:rPr lang="en-CA" sz="1400" dirty="0"/>
                          </a:br>
                          <a:r>
                            <a:rPr lang="en-CA" sz="1400" dirty="0"/>
                            <a:t> 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  <m:t>𝝀</m:t>
                                  </m:r>
                                </m:e>
                                <m:sup>
                                  <m: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=$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𝟓𝟎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𝟎𝟎𝟎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CA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Costs of Treatment 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sz="1400" dirty="0"/>
                            <a:t>QALYs from Treatment 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sz="1400" dirty="0"/>
                            <a:t>Net Benefit of B</a:t>
                          </a:r>
                          <a:br>
                            <a:rPr lang="en-CA" sz="1400" dirty="0"/>
                          </a:br>
                          <a:r>
                            <a:rPr lang="en-CA" sz="1400" dirty="0"/>
                            <a:t> 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  <m:t>𝝀</m:t>
                                  </m:r>
                                </m:e>
                                <m:sup>
                                  <m: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=$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𝟓𝟎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𝟎𝟎𝟎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CA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300950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$12,000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$20,000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$20,000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54135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54092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657ABD8-3CE1-FA1A-E24A-7FACC53DFE0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82600" y="2617849"/>
              <a:ext cx="10636143" cy="12635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1406">
                      <a:extLst>
                        <a:ext uri="{9D8B030D-6E8A-4147-A177-3AD203B41FA5}">
                          <a16:colId xmlns:a16="http://schemas.microsoft.com/office/drawing/2014/main" val="3952234104"/>
                        </a:ext>
                      </a:extLst>
                    </a:gridCol>
                    <a:gridCol w="1501902">
                      <a:extLst>
                        <a:ext uri="{9D8B030D-6E8A-4147-A177-3AD203B41FA5}">
                          <a16:colId xmlns:a16="http://schemas.microsoft.com/office/drawing/2014/main" val="3335537457"/>
                        </a:ext>
                      </a:extLst>
                    </a:gridCol>
                    <a:gridCol w="1311406">
                      <a:extLst>
                        <a:ext uri="{9D8B030D-6E8A-4147-A177-3AD203B41FA5}">
                          <a16:colId xmlns:a16="http://schemas.microsoft.com/office/drawing/2014/main" val="2231303964"/>
                        </a:ext>
                      </a:extLst>
                    </a:gridCol>
                    <a:gridCol w="1607077">
                      <a:extLst>
                        <a:ext uri="{9D8B030D-6E8A-4147-A177-3AD203B41FA5}">
                          <a16:colId xmlns:a16="http://schemas.microsoft.com/office/drawing/2014/main" val="2356441948"/>
                        </a:ext>
                      </a:extLst>
                    </a:gridCol>
                    <a:gridCol w="1257300">
                      <a:extLst>
                        <a:ext uri="{9D8B030D-6E8A-4147-A177-3AD203B41FA5}">
                          <a16:colId xmlns:a16="http://schemas.microsoft.com/office/drawing/2014/main" val="3016797212"/>
                        </a:ext>
                      </a:extLst>
                    </a:gridCol>
                    <a:gridCol w="1304925">
                      <a:extLst>
                        <a:ext uri="{9D8B030D-6E8A-4147-A177-3AD203B41FA5}">
                          <a16:colId xmlns:a16="http://schemas.microsoft.com/office/drawing/2014/main" val="1968013198"/>
                        </a:ext>
                      </a:extLst>
                    </a:gridCol>
                    <a:gridCol w="2342127">
                      <a:extLst>
                        <a:ext uri="{9D8B030D-6E8A-4147-A177-3AD203B41FA5}">
                          <a16:colId xmlns:a16="http://schemas.microsoft.com/office/drawing/2014/main" val="99930435"/>
                        </a:ext>
                      </a:extLst>
                    </a:gridCol>
                  </a:tblGrid>
                  <a:tr h="521907"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State of the World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Costs of </a:t>
                          </a:r>
                          <a:br>
                            <a:rPr lang="en-CA" sz="1400" dirty="0"/>
                          </a:br>
                          <a:r>
                            <a:rPr lang="en-CA" sz="1400" dirty="0"/>
                            <a:t>Treatment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QALYs from Treatment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57795" t="-1163" r="-307985" b="-1593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Costs of Treatment 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sz="1400" dirty="0"/>
                            <a:t>QALYs from Treatment 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54688" t="-1163" r="-1302" b="-1593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300950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65" t="-142623" r="-713953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$12,000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$20,000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$20,000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54135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65" t="-242623" r="-713953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540923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63451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6AAD2-AC6D-06D2-C18D-1A31EFA9A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AEB0B-E3AA-E2C9-C741-2BF005216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An Example from a Data 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BBC5DA-92BD-01A1-7DFD-931C7115FF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6340" y="3228975"/>
                <a:ext cx="10506991" cy="2819399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To compute the expected value of perfect information we need:</a:t>
                </a:r>
                <a:br>
                  <a:rPr lang="en-CA" dirty="0"/>
                </a:b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𝐸𝑉𝑃𝐼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=</m:t>
                    </m:r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Expected</m:t>
                          </m:r>
                          <m:r>
                            <a:rPr lang="en-CA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Value</m:t>
                          </m:r>
                        </m:e>
                      </m:mr>
                      <m:mr>
                        <m:e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with</m:t>
                          </m:r>
                          <m:r>
                            <a:rPr lang="en-CA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Perfect</m:t>
                          </m:r>
                          <m:r>
                            <a:rPr lang="en-CA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Information</m:t>
                          </m:r>
                        </m:e>
                      </m:mr>
                    </m:m>
                    <m:r>
                      <a:rPr lang="en-CA">
                        <a:latin typeface="Cambria Math" panose="02040503050406030204" pitchFamily="18" charset="0"/>
                      </a:rPr>
                      <m:t>−</m:t>
                    </m:r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Expected</m:t>
                          </m:r>
                          <m:r>
                            <a:rPr lang="en-CA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Value</m:t>
                          </m:r>
                        </m:e>
                      </m:mr>
                      <m:mr>
                        <m:e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without</m:t>
                          </m:r>
                          <m:r>
                            <a:rPr lang="en-CA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Perfect</m:t>
                          </m:r>
                          <m:r>
                            <a:rPr lang="en-CA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Information</m:t>
                          </m:r>
                        </m:e>
                      </m:mr>
                    </m:m>
                  </m:oMath>
                </a14:m>
                <a:br>
                  <a:rPr lang="en-CA" dirty="0"/>
                </a:br>
                <a:br>
                  <a:rPr lang="en-CA" dirty="0"/>
                </a:b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𝐸𝑉𝑃𝐼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𝐸𝑉𝑤𝑃𝐼</m:t>
                    </m:r>
                    <m:r>
                      <a:rPr lang="en-CA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𝐸𝑉𝑤𝑜𝑃𝐼</m:t>
                    </m:r>
                  </m:oMath>
                </a14:m>
                <a:endParaRPr lang="en-CA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endParaRPr lang="en-CA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endParaRPr lang="en-CA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endParaRPr lang="en-CA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endParaRPr lang="en-CA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BBC5DA-92BD-01A1-7DFD-931C7115FF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6340" y="3228975"/>
                <a:ext cx="10506991" cy="2819399"/>
              </a:xfrm>
              <a:blipFill>
                <a:blip r:embed="rId2"/>
                <a:stretch>
                  <a:fillRect l="-813" t="-173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A18A2B3-9FE8-CC0C-3121-3F2B20FAAC5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17188" y="1714500"/>
              <a:ext cx="10636143" cy="12635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1406">
                      <a:extLst>
                        <a:ext uri="{9D8B030D-6E8A-4147-A177-3AD203B41FA5}">
                          <a16:colId xmlns:a16="http://schemas.microsoft.com/office/drawing/2014/main" val="3952234104"/>
                        </a:ext>
                      </a:extLst>
                    </a:gridCol>
                    <a:gridCol w="1501902">
                      <a:extLst>
                        <a:ext uri="{9D8B030D-6E8A-4147-A177-3AD203B41FA5}">
                          <a16:colId xmlns:a16="http://schemas.microsoft.com/office/drawing/2014/main" val="3335537457"/>
                        </a:ext>
                      </a:extLst>
                    </a:gridCol>
                    <a:gridCol w="1311406">
                      <a:extLst>
                        <a:ext uri="{9D8B030D-6E8A-4147-A177-3AD203B41FA5}">
                          <a16:colId xmlns:a16="http://schemas.microsoft.com/office/drawing/2014/main" val="2231303964"/>
                        </a:ext>
                      </a:extLst>
                    </a:gridCol>
                    <a:gridCol w="1607077">
                      <a:extLst>
                        <a:ext uri="{9D8B030D-6E8A-4147-A177-3AD203B41FA5}">
                          <a16:colId xmlns:a16="http://schemas.microsoft.com/office/drawing/2014/main" val="2356441948"/>
                        </a:ext>
                      </a:extLst>
                    </a:gridCol>
                    <a:gridCol w="1257300">
                      <a:extLst>
                        <a:ext uri="{9D8B030D-6E8A-4147-A177-3AD203B41FA5}">
                          <a16:colId xmlns:a16="http://schemas.microsoft.com/office/drawing/2014/main" val="3016797212"/>
                        </a:ext>
                      </a:extLst>
                    </a:gridCol>
                    <a:gridCol w="1304925">
                      <a:extLst>
                        <a:ext uri="{9D8B030D-6E8A-4147-A177-3AD203B41FA5}">
                          <a16:colId xmlns:a16="http://schemas.microsoft.com/office/drawing/2014/main" val="1968013198"/>
                        </a:ext>
                      </a:extLst>
                    </a:gridCol>
                    <a:gridCol w="2342127">
                      <a:extLst>
                        <a:ext uri="{9D8B030D-6E8A-4147-A177-3AD203B41FA5}">
                          <a16:colId xmlns:a16="http://schemas.microsoft.com/office/drawing/2014/main" val="99930435"/>
                        </a:ext>
                      </a:extLst>
                    </a:gridCol>
                  </a:tblGrid>
                  <a:tr h="361316"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State of the World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Costs of </a:t>
                          </a:r>
                          <a:br>
                            <a:rPr lang="en-CA" sz="1400" dirty="0"/>
                          </a:br>
                          <a:r>
                            <a:rPr lang="en-CA" sz="1400" dirty="0"/>
                            <a:t>Treatment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QALYs from Treatment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sz="1400" dirty="0"/>
                            <a:t>Net Benefit of A</a:t>
                          </a:r>
                          <a:br>
                            <a:rPr lang="en-CA" sz="1400" dirty="0"/>
                          </a:br>
                          <a:r>
                            <a:rPr lang="en-CA" sz="1400" dirty="0"/>
                            <a:t> 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  <m:t>𝝀</m:t>
                                  </m:r>
                                </m:e>
                                <m:sup>
                                  <m: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=$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𝟓𝟎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𝟎𝟎𝟎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CA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Costs of Treatment 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sz="1400" dirty="0"/>
                            <a:t>QALYs from Treatment 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sz="1400" dirty="0"/>
                            <a:t>Net Benefit of B</a:t>
                          </a:r>
                          <a:br>
                            <a:rPr lang="en-CA" sz="1400" dirty="0"/>
                          </a:br>
                          <a:r>
                            <a:rPr lang="en-CA" sz="1400" dirty="0"/>
                            <a:t> 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  <m:t>𝝀</m:t>
                                  </m:r>
                                </m:e>
                                <m:sup>
                                  <m: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=$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𝟓𝟎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𝟎𝟎𝟎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CA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300950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$12,000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$20,000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$20,000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54135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54092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A18A2B3-9FE8-CC0C-3121-3F2B20FAAC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97712939"/>
                  </p:ext>
                </p:extLst>
              </p:nvPr>
            </p:nvGraphicFramePr>
            <p:xfrm>
              <a:off x="417188" y="1714500"/>
              <a:ext cx="10636143" cy="12635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1406">
                      <a:extLst>
                        <a:ext uri="{9D8B030D-6E8A-4147-A177-3AD203B41FA5}">
                          <a16:colId xmlns:a16="http://schemas.microsoft.com/office/drawing/2014/main" val="3952234104"/>
                        </a:ext>
                      </a:extLst>
                    </a:gridCol>
                    <a:gridCol w="1501902">
                      <a:extLst>
                        <a:ext uri="{9D8B030D-6E8A-4147-A177-3AD203B41FA5}">
                          <a16:colId xmlns:a16="http://schemas.microsoft.com/office/drawing/2014/main" val="3335537457"/>
                        </a:ext>
                      </a:extLst>
                    </a:gridCol>
                    <a:gridCol w="1311406">
                      <a:extLst>
                        <a:ext uri="{9D8B030D-6E8A-4147-A177-3AD203B41FA5}">
                          <a16:colId xmlns:a16="http://schemas.microsoft.com/office/drawing/2014/main" val="2231303964"/>
                        </a:ext>
                      </a:extLst>
                    </a:gridCol>
                    <a:gridCol w="1607077">
                      <a:extLst>
                        <a:ext uri="{9D8B030D-6E8A-4147-A177-3AD203B41FA5}">
                          <a16:colId xmlns:a16="http://schemas.microsoft.com/office/drawing/2014/main" val="2356441948"/>
                        </a:ext>
                      </a:extLst>
                    </a:gridCol>
                    <a:gridCol w="1257300">
                      <a:extLst>
                        <a:ext uri="{9D8B030D-6E8A-4147-A177-3AD203B41FA5}">
                          <a16:colId xmlns:a16="http://schemas.microsoft.com/office/drawing/2014/main" val="3016797212"/>
                        </a:ext>
                      </a:extLst>
                    </a:gridCol>
                    <a:gridCol w="1304925">
                      <a:extLst>
                        <a:ext uri="{9D8B030D-6E8A-4147-A177-3AD203B41FA5}">
                          <a16:colId xmlns:a16="http://schemas.microsoft.com/office/drawing/2014/main" val="1968013198"/>
                        </a:ext>
                      </a:extLst>
                    </a:gridCol>
                    <a:gridCol w="2342127">
                      <a:extLst>
                        <a:ext uri="{9D8B030D-6E8A-4147-A177-3AD203B41FA5}">
                          <a16:colId xmlns:a16="http://schemas.microsoft.com/office/drawing/2014/main" val="99930435"/>
                        </a:ext>
                      </a:extLst>
                    </a:gridCol>
                  </a:tblGrid>
                  <a:tr h="521907"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State of the World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Costs of </a:t>
                          </a:r>
                          <a:br>
                            <a:rPr lang="en-CA" sz="1400" dirty="0"/>
                          </a:br>
                          <a:r>
                            <a:rPr lang="en-CA" sz="1400" dirty="0"/>
                            <a:t>Treatment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QALYs from Treatment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56818" t="-1163" r="-306439" b="-1593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Costs of Treatment 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sz="1400" dirty="0"/>
                            <a:t>QALYs from Treatment 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54948" t="-1163" r="-1042" b="-1593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300950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65" t="-142623" r="-713953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$12,000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$20,000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$20,000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54135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65" t="-242623" r="-713953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540923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21875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90721-29ED-48E1-0031-7DF9319D7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75DAF-0DCB-520A-FBF3-792FE38AC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An Example from a Data 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459A51-E35C-B26A-958E-9B4B672947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6340" y="3228975"/>
                <a:ext cx="10712210" cy="2619375"/>
              </a:xfrm>
            </p:spPr>
            <p:txBody>
              <a:bodyPr>
                <a:normAutofit fontScale="92500" lnSpcReduction="20000"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To compute expected value with perfect information we use the following formula:</a:t>
                </a:r>
                <a:br>
                  <a:rPr lang="en-CA" dirty="0"/>
                </a:br>
                <a:br>
                  <a:rPr lang="en-CA" dirty="0"/>
                </a:b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𝐸𝑉𝑤𝑃𝐼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)</m:t>
                    </m:r>
                    <m:func>
                      <m:funcPr>
                        <m:ctrlPr>
                          <a:rPr lang="en-CA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sSub>
                              <m:sSub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sSub>
                              <m:sSub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func>
                    <m:r>
                      <a:rPr lang="en-CA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)</m:t>
                    </m:r>
                    <m:func>
                      <m:funcPr>
                        <m:ctrlPr>
                          <a:rPr lang="en-CA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sSub>
                              <m:sSub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),</m:t>
                            </m:r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sSub>
                              <m:sSub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func>
                  </m:oMath>
                </a14:m>
                <a:endParaRPr lang="en-CA" dirty="0"/>
              </a:p>
              <a:p>
                <a:r>
                  <a:rPr lang="en-CA" dirty="0"/>
                  <a:t>Note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CA" dirty="0"/>
                  <a:t>:</a:t>
                </a:r>
                <a:br>
                  <a:rPr lang="en-CA" dirty="0"/>
                </a:b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𝐸𝑉𝑤𝑃𝐼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en-CA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20,000,15,000</m:t>
                            </m:r>
                          </m:e>
                        </m:d>
                      </m:e>
                    </m:func>
                    <m:r>
                      <a:rPr lang="en-CA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en-CA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10,000,15,000</m:t>
                            </m:r>
                          </m:e>
                        </m:d>
                      </m:e>
                    </m:func>
                  </m:oMath>
                </a14:m>
                <a:br>
                  <a:rPr lang="en-CA" dirty="0"/>
                </a:br>
                <a:endParaRPr lang="en-CA" dirty="0"/>
              </a:p>
              <a:p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𝐸𝑉𝑤𝑃𝐼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CA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CA" b="0" i="1" smtClean="0">
                        <a:latin typeface="Cambria Math" panose="02040503050406030204" pitchFamily="18" charset="0"/>
                      </a:rPr>
                      <m:t>20,000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CA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CA" b="0" i="1" smtClean="0">
                        <a:latin typeface="Cambria Math" panose="02040503050406030204" pitchFamily="18" charset="0"/>
                      </a:rPr>
                      <m:t>15,000</m:t>
                    </m:r>
                  </m:oMath>
                </a14:m>
                <a:br>
                  <a:rPr lang="en-CA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𝐸𝑉𝑤𝑃𝐼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=17,500</m:t>
                    </m:r>
                  </m:oMath>
                </a14:m>
                <a:endParaRPr lang="en-CA" dirty="0"/>
              </a:p>
              <a:p>
                <a:endParaRPr lang="en-CA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endParaRPr lang="en-CA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endParaRPr lang="en-CA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459A51-E35C-B26A-958E-9B4B672947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6340" y="3228975"/>
                <a:ext cx="10712210" cy="2619375"/>
              </a:xfrm>
              <a:blipFill>
                <a:blip r:embed="rId2"/>
                <a:stretch>
                  <a:fillRect l="-285" t="-186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D861CFC-A8F8-128F-C300-2DF3ED725AC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17188" y="1714500"/>
              <a:ext cx="10636143" cy="12635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1406">
                      <a:extLst>
                        <a:ext uri="{9D8B030D-6E8A-4147-A177-3AD203B41FA5}">
                          <a16:colId xmlns:a16="http://schemas.microsoft.com/office/drawing/2014/main" val="3952234104"/>
                        </a:ext>
                      </a:extLst>
                    </a:gridCol>
                    <a:gridCol w="1501902">
                      <a:extLst>
                        <a:ext uri="{9D8B030D-6E8A-4147-A177-3AD203B41FA5}">
                          <a16:colId xmlns:a16="http://schemas.microsoft.com/office/drawing/2014/main" val="3335537457"/>
                        </a:ext>
                      </a:extLst>
                    </a:gridCol>
                    <a:gridCol w="1311406">
                      <a:extLst>
                        <a:ext uri="{9D8B030D-6E8A-4147-A177-3AD203B41FA5}">
                          <a16:colId xmlns:a16="http://schemas.microsoft.com/office/drawing/2014/main" val="2231303964"/>
                        </a:ext>
                      </a:extLst>
                    </a:gridCol>
                    <a:gridCol w="1607077">
                      <a:extLst>
                        <a:ext uri="{9D8B030D-6E8A-4147-A177-3AD203B41FA5}">
                          <a16:colId xmlns:a16="http://schemas.microsoft.com/office/drawing/2014/main" val="2356441948"/>
                        </a:ext>
                      </a:extLst>
                    </a:gridCol>
                    <a:gridCol w="1257300">
                      <a:extLst>
                        <a:ext uri="{9D8B030D-6E8A-4147-A177-3AD203B41FA5}">
                          <a16:colId xmlns:a16="http://schemas.microsoft.com/office/drawing/2014/main" val="3016797212"/>
                        </a:ext>
                      </a:extLst>
                    </a:gridCol>
                    <a:gridCol w="1304925">
                      <a:extLst>
                        <a:ext uri="{9D8B030D-6E8A-4147-A177-3AD203B41FA5}">
                          <a16:colId xmlns:a16="http://schemas.microsoft.com/office/drawing/2014/main" val="1968013198"/>
                        </a:ext>
                      </a:extLst>
                    </a:gridCol>
                    <a:gridCol w="2342127">
                      <a:extLst>
                        <a:ext uri="{9D8B030D-6E8A-4147-A177-3AD203B41FA5}">
                          <a16:colId xmlns:a16="http://schemas.microsoft.com/office/drawing/2014/main" val="99930435"/>
                        </a:ext>
                      </a:extLst>
                    </a:gridCol>
                  </a:tblGrid>
                  <a:tr h="361316"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State of the World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Costs of </a:t>
                          </a:r>
                          <a:br>
                            <a:rPr lang="en-CA" sz="1400" dirty="0"/>
                          </a:br>
                          <a:r>
                            <a:rPr lang="en-CA" sz="1400" dirty="0"/>
                            <a:t>Treatment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QALYs from Treatment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sz="1400" dirty="0"/>
                            <a:t>Net Benefit of A</a:t>
                          </a:r>
                          <a:br>
                            <a:rPr lang="en-CA" sz="1400" dirty="0"/>
                          </a:br>
                          <a:r>
                            <a:rPr lang="en-CA" sz="1400" dirty="0"/>
                            <a:t> 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  <m:t>𝝀</m:t>
                                  </m:r>
                                </m:e>
                                <m:sup>
                                  <m: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=$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𝟓𝟎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𝟎𝟎𝟎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CA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Costs of Treatment 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sz="1400" dirty="0"/>
                            <a:t>QALYs from Treatment 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sz="1400" dirty="0"/>
                            <a:t>Net Benefit of B</a:t>
                          </a:r>
                          <a:br>
                            <a:rPr lang="en-CA" sz="1400" dirty="0"/>
                          </a:br>
                          <a:r>
                            <a:rPr lang="en-CA" sz="1400" dirty="0"/>
                            <a:t> 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  <m:t>𝝀</m:t>
                                  </m:r>
                                </m:e>
                                <m:sup>
                                  <m: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=$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𝟓𝟎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𝟎𝟎𝟎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CA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300950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$12,000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$20,000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$20,000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54135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54092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D861CFC-A8F8-128F-C300-2DF3ED725AC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17188" y="1714500"/>
              <a:ext cx="10636143" cy="12635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1406">
                      <a:extLst>
                        <a:ext uri="{9D8B030D-6E8A-4147-A177-3AD203B41FA5}">
                          <a16:colId xmlns:a16="http://schemas.microsoft.com/office/drawing/2014/main" val="3952234104"/>
                        </a:ext>
                      </a:extLst>
                    </a:gridCol>
                    <a:gridCol w="1501902">
                      <a:extLst>
                        <a:ext uri="{9D8B030D-6E8A-4147-A177-3AD203B41FA5}">
                          <a16:colId xmlns:a16="http://schemas.microsoft.com/office/drawing/2014/main" val="3335537457"/>
                        </a:ext>
                      </a:extLst>
                    </a:gridCol>
                    <a:gridCol w="1311406">
                      <a:extLst>
                        <a:ext uri="{9D8B030D-6E8A-4147-A177-3AD203B41FA5}">
                          <a16:colId xmlns:a16="http://schemas.microsoft.com/office/drawing/2014/main" val="2231303964"/>
                        </a:ext>
                      </a:extLst>
                    </a:gridCol>
                    <a:gridCol w="1607077">
                      <a:extLst>
                        <a:ext uri="{9D8B030D-6E8A-4147-A177-3AD203B41FA5}">
                          <a16:colId xmlns:a16="http://schemas.microsoft.com/office/drawing/2014/main" val="2356441948"/>
                        </a:ext>
                      </a:extLst>
                    </a:gridCol>
                    <a:gridCol w="1257300">
                      <a:extLst>
                        <a:ext uri="{9D8B030D-6E8A-4147-A177-3AD203B41FA5}">
                          <a16:colId xmlns:a16="http://schemas.microsoft.com/office/drawing/2014/main" val="3016797212"/>
                        </a:ext>
                      </a:extLst>
                    </a:gridCol>
                    <a:gridCol w="1304925">
                      <a:extLst>
                        <a:ext uri="{9D8B030D-6E8A-4147-A177-3AD203B41FA5}">
                          <a16:colId xmlns:a16="http://schemas.microsoft.com/office/drawing/2014/main" val="1968013198"/>
                        </a:ext>
                      </a:extLst>
                    </a:gridCol>
                    <a:gridCol w="2342127">
                      <a:extLst>
                        <a:ext uri="{9D8B030D-6E8A-4147-A177-3AD203B41FA5}">
                          <a16:colId xmlns:a16="http://schemas.microsoft.com/office/drawing/2014/main" val="99930435"/>
                        </a:ext>
                      </a:extLst>
                    </a:gridCol>
                  </a:tblGrid>
                  <a:tr h="521907"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State of the World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Costs of </a:t>
                          </a:r>
                          <a:br>
                            <a:rPr lang="en-CA" sz="1400" dirty="0"/>
                          </a:br>
                          <a:r>
                            <a:rPr lang="en-CA" sz="1400" dirty="0"/>
                            <a:t>Treatment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QALYs from Treatment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56818" t="-1163" r="-306439" b="-1593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Costs of Treatment 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sz="1400" dirty="0"/>
                            <a:t>QALYs from Treatment 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54948" t="-1163" r="-1042" b="-1593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300950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65" t="-142623" r="-713953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$12,000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$20,000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$20,000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54135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65" t="-242623" r="-713953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540923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87051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DCD2F-F616-C372-DF83-03359B18A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5A4DD-6FF4-04C4-CC0C-21A21E9F9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An Example from a Data 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FCCCEF-2F01-E854-2B51-5DD544E9A3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6340" y="3228975"/>
                <a:ext cx="10712210" cy="2619375"/>
              </a:xfrm>
            </p:spPr>
            <p:txBody>
              <a:bodyPr>
                <a:normAutofit fontScale="92500" lnSpcReduction="10000"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To compute expected value </a:t>
                </a:r>
                <a:r>
                  <a:rPr lang="en-CA" b="1" dirty="0"/>
                  <a:t>without</a:t>
                </a:r>
                <a:r>
                  <a:rPr lang="en-CA" dirty="0"/>
                  <a:t> perfect information we use the following formula:</a:t>
                </a:r>
                <a:br>
                  <a:rPr lang="en-CA" dirty="0"/>
                </a:br>
                <a:br>
                  <a:rPr lang="en-CA" dirty="0"/>
                </a:b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𝐸𝑉𝑤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𝑃𝐼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CA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sSub>
                              <m:sSub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sSub>
                              <m:sSub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sSub>
                              <m:sSub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sSub>
                              <m:sSub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CA" dirty="0"/>
              </a:p>
              <a:p>
                <a:r>
                  <a:rPr lang="en-CA" dirty="0"/>
                  <a:t>Note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CA" dirty="0"/>
                  <a:t>:</a:t>
                </a:r>
                <a:br>
                  <a:rPr lang="en-CA" dirty="0"/>
                </a:b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𝐸𝑉𝑤𝑜𝑃𝐼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CA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20000+</m:t>
                            </m:r>
                            <m:f>
                              <m:f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10000,</m:t>
                            </m:r>
                            <m:f>
                              <m:f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15000+</m:t>
                            </m:r>
                            <m:f>
                              <m:f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15000</m:t>
                            </m:r>
                          </m:e>
                        </m:d>
                      </m:e>
                    </m:func>
                  </m:oMath>
                </a14:m>
                <a:br>
                  <a:rPr lang="en-CA" dirty="0"/>
                </a:br>
                <a:endParaRPr lang="en-CA" dirty="0"/>
              </a:p>
              <a:p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𝐸𝑉𝑤𝑜𝑃𝐼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CA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15000</m:t>
                            </m:r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15000</m:t>
                            </m:r>
                          </m:e>
                        </m:d>
                      </m:e>
                    </m:func>
                  </m:oMath>
                </a14:m>
                <a:br>
                  <a:rPr lang="en-CA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𝐸𝑉𝑤𝑜𝑃𝐼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=15000</m:t>
                    </m:r>
                  </m:oMath>
                </a14:m>
                <a:endParaRPr lang="en-CA" dirty="0"/>
              </a:p>
              <a:p>
                <a:endParaRPr lang="en-CA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endParaRPr lang="en-CA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endParaRPr lang="en-CA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FCCCEF-2F01-E854-2B51-5DD544E9A3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6340" y="3228975"/>
                <a:ext cx="10712210" cy="2619375"/>
              </a:xfrm>
              <a:blipFill>
                <a:blip r:embed="rId2"/>
                <a:stretch>
                  <a:fillRect l="-285" t="-93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A49C2BD8-9D9C-8056-1134-32CDE0BEC45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17188" y="1714500"/>
              <a:ext cx="10636143" cy="12635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1406">
                      <a:extLst>
                        <a:ext uri="{9D8B030D-6E8A-4147-A177-3AD203B41FA5}">
                          <a16:colId xmlns:a16="http://schemas.microsoft.com/office/drawing/2014/main" val="3952234104"/>
                        </a:ext>
                      </a:extLst>
                    </a:gridCol>
                    <a:gridCol w="1501902">
                      <a:extLst>
                        <a:ext uri="{9D8B030D-6E8A-4147-A177-3AD203B41FA5}">
                          <a16:colId xmlns:a16="http://schemas.microsoft.com/office/drawing/2014/main" val="3335537457"/>
                        </a:ext>
                      </a:extLst>
                    </a:gridCol>
                    <a:gridCol w="1311406">
                      <a:extLst>
                        <a:ext uri="{9D8B030D-6E8A-4147-A177-3AD203B41FA5}">
                          <a16:colId xmlns:a16="http://schemas.microsoft.com/office/drawing/2014/main" val="2231303964"/>
                        </a:ext>
                      </a:extLst>
                    </a:gridCol>
                    <a:gridCol w="1607077">
                      <a:extLst>
                        <a:ext uri="{9D8B030D-6E8A-4147-A177-3AD203B41FA5}">
                          <a16:colId xmlns:a16="http://schemas.microsoft.com/office/drawing/2014/main" val="2356441948"/>
                        </a:ext>
                      </a:extLst>
                    </a:gridCol>
                    <a:gridCol w="1257300">
                      <a:extLst>
                        <a:ext uri="{9D8B030D-6E8A-4147-A177-3AD203B41FA5}">
                          <a16:colId xmlns:a16="http://schemas.microsoft.com/office/drawing/2014/main" val="3016797212"/>
                        </a:ext>
                      </a:extLst>
                    </a:gridCol>
                    <a:gridCol w="1304925">
                      <a:extLst>
                        <a:ext uri="{9D8B030D-6E8A-4147-A177-3AD203B41FA5}">
                          <a16:colId xmlns:a16="http://schemas.microsoft.com/office/drawing/2014/main" val="1968013198"/>
                        </a:ext>
                      </a:extLst>
                    </a:gridCol>
                    <a:gridCol w="2342127">
                      <a:extLst>
                        <a:ext uri="{9D8B030D-6E8A-4147-A177-3AD203B41FA5}">
                          <a16:colId xmlns:a16="http://schemas.microsoft.com/office/drawing/2014/main" val="99930435"/>
                        </a:ext>
                      </a:extLst>
                    </a:gridCol>
                  </a:tblGrid>
                  <a:tr h="361316"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State of the World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Costs of </a:t>
                          </a:r>
                          <a:br>
                            <a:rPr lang="en-CA" sz="1400" dirty="0"/>
                          </a:br>
                          <a:r>
                            <a:rPr lang="en-CA" sz="1400" dirty="0"/>
                            <a:t>Treatment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QALYs from Treatment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sz="1400" dirty="0"/>
                            <a:t>Net Benefit of A</a:t>
                          </a:r>
                          <a:br>
                            <a:rPr lang="en-CA" sz="1400" dirty="0"/>
                          </a:br>
                          <a:r>
                            <a:rPr lang="en-CA" sz="1400" dirty="0"/>
                            <a:t> 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  <m:t>𝝀</m:t>
                                  </m:r>
                                </m:e>
                                <m:sup>
                                  <m: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=$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𝟓𝟎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𝟎𝟎𝟎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CA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Costs of Treatment 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sz="1400" dirty="0"/>
                            <a:t>QALYs from Treatment 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sz="1400" dirty="0"/>
                            <a:t>Net Benefit of B</a:t>
                          </a:r>
                          <a:br>
                            <a:rPr lang="en-CA" sz="1400" dirty="0"/>
                          </a:br>
                          <a:r>
                            <a:rPr lang="en-CA" sz="1400" dirty="0"/>
                            <a:t> 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  <m:t>𝝀</m:t>
                                  </m:r>
                                </m:e>
                                <m:sup>
                                  <m: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=$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𝟓𝟎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𝟎𝟎𝟎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CA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300950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$12,000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$20,000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$20,000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54135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54092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A49C2BD8-9D9C-8056-1134-32CDE0BEC45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17188" y="1714500"/>
              <a:ext cx="10636143" cy="12635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1406">
                      <a:extLst>
                        <a:ext uri="{9D8B030D-6E8A-4147-A177-3AD203B41FA5}">
                          <a16:colId xmlns:a16="http://schemas.microsoft.com/office/drawing/2014/main" val="3952234104"/>
                        </a:ext>
                      </a:extLst>
                    </a:gridCol>
                    <a:gridCol w="1501902">
                      <a:extLst>
                        <a:ext uri="{9D8B030D-6E8A-4147-A177-3AD203B41FA5}">
                          <a16:colId xmlns:a16="http://schemas.microsoft.com/office/drawing/2014/main" val="3335537457"/>
                        </a:ext>
                      </a:extLst>
                    </a:gridCol>
                    <a:gridCol w="1311406">
                      <a:extLst>
                        <a:ext uri="{9D8B030D-6E8A-4147-A177-3AD203B41FA5}">
                          <a16:colId xmlns:a16="http://schemas.microsoft.com/office/drawing/2014/main" val="2231303964"/>
                        </a:ext>
                      </a:extLst>
                    </a:gridCol>
                    <a:gridCol w="1607077">
                      <a:extLst>
                        <a:ext uri="{9D8B030D-6E8A-4147-A177-3AD203B41FA5}">
                          <a16:colId xmlns:a16="http://schemas.microsoft.com/office/drawing/2014/main" val="2356441948"/>
                        </a:ext>
                      </a:extLst>
                    </a:gridCol>
                    <a:gridCol w="1257300">
                      <a:extLst>
                        <a:ext uri="{9D8B030D-6E8A-4147-A177-3AD203B41FA5}">
                          <a16:colId xmlns:a16="http://schemas.microsoft.com/office/drawing/2014/main" val="3016797212"/>
                        </a:ext>
                      </a:extLst>
                    </a:gridCol>
                    <a:gridCol w="1304925">
                      <a:extLst>
                        <a:ext uri="{9D8B030D-6E8A-4147-A177-3AD203B41FA5}">
                          <a16:colId xmlns:a16="http://schemas.microsoft.com/office/drawing/2014/main" val="1968013198"/>
                        </a:ext>
                      </a:extLst>
                    </a:gridCol>
                    <a:gridCol w="2342127">
                      <a:extLst>
                        <a:ext uri="{9D8B030D-6E8A-4147-A177-3AD203B41FA5}">
                          <a16:colId xmlns:a16="http://schemas.microsoft.com/office/drawing/2014/main" val="99930435"/>
                        </a:ext>
                      </a:extLst>
                    </a:gridCol>
                  </a:tblGrid>
                  <a:tr h="521907"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State of the World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Costs of </a:t>
                          </a:r>
                          <a:br>
                            <a:rPr lang="en-CA" sz="1400" dirty="0"/>
                          </a:br>
                          <a:r>
                            <a:rPr lang="en-CA" sz="1400" dirty="0"/>
                            <a:t>Treatment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QALYs from Treatment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56818" t="-1163" r="-306439" b="-1593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Costs of Treatment 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sz="1400" dirty="0"/>
                            <a:t>QALYs from Treatment 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54948" t="-1163" r="-1042" b="-1593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300950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65" t="-142623" r="-713953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$12,000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$20,000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$20,000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54135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65" t="-242623" r="-713953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540923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80371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76F8D-539B-A59A-CB83-92A2AABA1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4D14A-09C3-F1FB-16D0-BC04C4584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An Example from a Data 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BDF2D9-3008-66FE-5008-CCE2E4DFBE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6340" y="3228975"/>
                <a:ext cx="10712210" cy="2619375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Using </a:t>
                </a:r>
                <a:r>
                  <a:rPr lang="en-CA" dirty="0" err="1"/>
                  <a:t>EVwPI</a:t>
                </a:r>
                <a:r>
                  <a:rPr lang="en-CA" dirty="0"/>
                  <a:t> and </a:t>
                </a:r>
                <a:r>
                  <a:rPr lang="en-CA" dirty="0" err="1"/>
                  <a:t>EVwoPI</a:t>
                </a:r>
                <a:r>
                  <a:rPr lang="en-CA" dirty="0"/>
                  <a:t> we can compute the Expected Value of Perfect Information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=50000</m:t>
                    </m:r>
                    <m:r>
                      <a:rPr lang="en-CA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br>
                  <a:rPr lang="en-CA" b="0" dirty="0"/>
                </a:b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𝐸𝑉𝑃𝐼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𝐸𝑉𝑤𝑃𝐼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𝐸𝑉𝑤𝑜𝑃𝐼</m:t>
                    </m:r>
                  </m:oMath>
                </a14:m>
                <a:br>
                  <a:rPr lang="en-CA" dirty="0"/>
                </a:b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𝐸𝑉𝑃𝐼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=17,500−15,000</m:t>
                    </m:r>
                  </m:oMath>
                </a14:m>
                <a:br>
                  <a:rPr lang="en-CA" b="0" dirty="0"/>
                </a:b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𝐸𝑉𝑃𝐼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=2500</m:t>
                    </m:r>
                  </m:oMath>
                </a14:m>
                <a:endParaRPr lang="en-CA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What does this tell us? At a WTP of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50000</m:t>
                    </m:r>
                  </m:oMath>
                </a14:m>
                <a:r>
                  <a:rPr lang="en-CA" dirty="0"/>
                  <a:t> $/QALY the expected value of perfect information is 2500. This means, any test or research which costs more than this price should be rejected.</a:t>
                </a:r>
              </a:p>
              <a:p>
                <a:endParaRPr lang="en-CA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endParaRPr lang="en-CA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endParaRPr lang="en-CA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BDF2D9-3008-66FE-5008-CCE2E4DFBE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6340" y="3228975"/>
                <a:ext cx="10712210" cy="2619375"/>
              </a:xfrm>
              <a:blipFill>
                <a:blip r:embed="rId2"/>
                <a:stretch>
                  <a:fillRect l="-398" t="-93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AE1C7B16-3FB8-D966-B2C3-D011EB828C3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17188" y="1714500"/>
              <a:ext cx="10636143" cy="12635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1406">
                      <a:extLst>
                        <a:ext uri="{9D8B030D-6E8A-4147-A177-3AD203B41FA5}">
                          <a16:colId xmlns:a16="http://schemas.microsoft.com/office/drawing/2014/main" val="3952234104"/>
                        </a:ext>
                      </a:extLst>
                    </a:gridCol>
                    <a:gridCol w="1501902">
                      <a:extLst>
                        <a:ext uri="{9D8B030D-6E8A-4147-A177-3AD203B41FA5}">
                          <a16:colId xmlns:a16="http://schemas.microsoft.com/office/drawing/2014/main" val="3335537457"/>
                        </a:ext>
                      </a:extLst>
                    </a:gridCol>
                    <a:gridCol w="1311406">
                      <a:extLst>
                        <a:ext uri="{9D8B030D-6E8A-4147-A177-3AD203B41FA5}">
                          <a16:colId xmlns:a16="http://schemas.microsoft.com/office/drawing/2014/main" val="2231303964"/>
                        </a:ext>
                      </a:extLst>
                    </a:gridCol>
                    <a:gridCol w="1607077">
                      <a:extLst>
                        <a:ext uri="{9D8B030D-6E8A-4147-A177-3AD203B41FA5}">
                          <a16:colId xmlns:a16="http://schemas.microsoft.com/office/drawing/2014/main" val="2356441948"/>
                        </a:ext>
                      </a:extLst>
                    </a:gridCol>
                    <a:gridCol w="1257300">
                      <a:extLst>
                        <a:ext uri="{9D8B030D-6E8A-4147-A177-3AD203B41FA5}">
                          <a16:colId xmlns:a16="http://schemas.microsoft.com/office/drawing/2014/main" val="3016797212"/>
                        </a:ext>
                      </a:extLst>
                    </a:gridCol>
                    <a:gridCol w="1304925">
                      <a:extLst>
                        <a:ext uri="{9D8B030D-6E8A-4147-A177-3AD203B41FA5}">
                          <a16:colId xmlns:a16="http://schemas.microsoft.com/office/drawing/2014/main" val="1968013198"/>
                        </a:ext>
                      </a:extLst>
                    </a:gridCol>
                    <a:gridCol w="2342127">
                      <a:extLst>
                        <a:ext uri="{9D8B030D-6E8A-4147-A177-3AD203B41FA5}">
                          <a16:colId xmlns:a16="http://schemas.microsoft.com/office/drawing/2014/main" val="99930435"/>
                        </a:ext>
                      </a:extLst>
                    </a:gridCol>
                  </a:tblGrid>
                  <a:tr h="361316"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State of the World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Costs of </a:t>
                          </a:r>
                          <a:br>
                            <a:rPr lang="en-CA" sz="1400" dirty="0"/>
                          </a:br>
                          <a:r>
                            <a:rPr lang="en-CA" sz="1400" dirty="0"/>
                            <a:t>Treatment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QALYs from Treatment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sz="1400" dirty="0"/>
                            <a:t>Net Benefit of A</a:t>
                          </a:r>
                          <a:br>
                            <a:rPr lang="en-CA" sz="1400" dirty="0"/>
                          </a:br>
                          <a:r>
                            <a:rPr lang="en-CA" sz="1400" dirty="0"/>
                            <a:t> 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  <m:t>𝝀</m:t>
                                  </m:r>
                                </m:e>
                                <m:sup>
                                  <m: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=$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𝟓𝟎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𝟎𝟎𝟎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CA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Costs of Treatment 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sz="1400" dirty="0"/>
                            <a:t>QALYs from Treatment 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sz="1400" dirty="0"/>
                            <a:t>Net Benefit of B</a:t>
                          </a:r>
                          <a:br>
                            <a:rPr lang="en-CA" sz="1400" dirty="0"/>
                          </a:br>
                          <a:r>
                            <a:rPr lang="en-CA" sz="1400" dirty="0"/>
                            <a:t> 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  <m:t>𝝀</m:t>
                                  </m:r>
                                </m:e>
                                <m:sup>
                                  <m: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=$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𝟓𝟎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𝟎𝟎𝟎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CA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300950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$12,000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$20,000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$20,000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54135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54092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AE1C7B16-3FB8-D966-B2C3-D011EB828C3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17188" y="1714500"/>
              <a:ext cx="10636143" cy="12635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1406">
                      <a:extLst>
                        <a:ext uri="{9D8B030D-6E8A-4147-A177-3AD203B41FA5}">
                          <a16:colId xmlns:a16="http://schemas.microsoft.com/office/drawing/2014/main" val="3952234104"/>
                        </a:ext>
                      </a:extLst>
                    </a:gridCol>
                    <a:gridCol w="1501902">
                      <a:extLst>
                        <a:ext uri="{9D8B030D-6E8A-4147-A177-3AD203B41FA5}">
                          <a16:colId xmlns:a16="http://schemas.microsoft.com/office/drawing/2014/main" val="3335537457"/>
                        </a:ext>
                      </a:extLst>
                    </a:gridCol>
                    <a:gridCol w="1311406">
                      <a:extLst>
                        <a:ext uri="{9D8B030D-6E8A-4147-A177-3AD203B41FA5}">
                          <a16:colId xmlns:a16="http://schemas.microsoft.com/office/drawing/2014/main" val="2231303964"/>
                        </a:ext>
                      </a:extLst>
                    </a:gridCol>
                    <a:gridCol w="1607077">
                      <a:extLst>
                        <a:ext uri="{9D8B030D-6E8A-4147-A177-3AD203B41FA5}">
                          <a16:colId xmlns:a16="http://schemas.microsoft.com/office/drawing/2014/main" val="2356441948"/>
                        </a:ext>
                      </a:extLst>
                    </a:gridCol>
                    <a:gridCol w="1257300">
                      <a:extLst>
                        <a:ext uri="{9D8B030D-6E8A-4147-A177-3AD203B41FA5}">
                          <a16:colId xmlns:a16="http://schemas.microsoft.com/office/drawing/2014/main" val="3016797212"/>
                        </a:ext>
                      </a:extLst>
                    </a:gridCol>
                    <a:gridCol w="1304925">
                      <a:extLst>
                        <a:ext uri="{9D8B030D-6E8A-4147-A177-3AD203B41FA5}">
                          <a16:colId xmlns:a16="http://schemas.microsoft.com/office/drawing/2014/main" val="1968013198"/>
                        </a:ext>
                      </a:extLst>
                    </a:gridCol>
                    <a:gridCol w="2342127">
                      <a:extLst>
                        <a:ext uri="{9D8B030D-6E8A-4147-A177-3AD203B41FA5}">
                          <a16:colId xmlns:a16="http://schemas.microsoft.com/office/drawing/2014/main" val="99930435"/>
                        </a:ext>
                      </a:extLst>
                    </a:gridCol>
                  </a:tblGrid>
                  <a:tr h="521907"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State of the World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Costs of </a:t>
                          </a:r>
                          <a:br>
                            <a:rPr lang="en-CA" sz="1400" dirty="0"/>
                          </a:br>
                          <a:r>
                            <a:rPr lang="en-CA" sz="1400" dirty="0"/>
                            <a:t>Treatment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QALYs from Treatment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56818" t="-1163" r="-306439" b="-1593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Costs of Treatment 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sz="1400" dirty="0"/>
                            <a:t>QALYs from Treatment 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54948" t="-1163" r="-1042" b="-1593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300950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65" t="-142623" r="-713953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$12,000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$20,000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$20,000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54135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65" t="-242623" r="-713953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540923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35673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97ECE-5F2D-28D5-7A53-DB103FFB7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EB06E-989A-C65E-F67E-B26A7F15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What EVPI is really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1D7B5B-E6D5-F8CA-B53A-1DA2EE2947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2600" y="1943100"/>
                <a:ext cx="10506991" cy="3936491"/>
              </a:xfrm>
            </p:spPr>
            <p:txBody>
              <a:bodyPr/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The expected value of perfect information is the difference between two terms.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CA" i="1">
                          <a:latin typeface="Cambria Math" panose="02040503050406030204" pitchFamily="18" charset="0"/>
                        </a:rPr>
                        <m:t>𝐸𝑉𝑃𝐼</m:t>
                      </m:r>
                      <m:r>
                        <a:rPr lang="en-CA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i="1">
                          <a:latin typeface="Cambria Math" panose="02040503050406030204" pitchFamily="18" charset="0"/>
                        </a:rPr>
                        <m:t>𝐸𝑉𝑤𝑃𝐼</m:t>
                      </m:r>
                      <m:r>
                        <a:rPr lang="en-CA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CA" i="1">
                          <a:latin typeface="Cambria Math" panose="02040503050406030204" pitchFamily="18" charset="0"/>
                        </a:rPr>
                        <m:t>𝐸𝑉𝑤𝑜𝑃𝐼</m:t>
                      </m:r>
                    </m:oMath>
                  </m:oMathPara>
                </a14:m>
                <a:br>
                  <a:rPr lang="en-CA" dirty="0"/>
                </a:br>
                <a:endParaRPr lang="en-CA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CA" dirty="0"/>
                  <a:t>The expected value with perfect information assumes we observe the true state of the world first and then make a decision.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CA" dirty="0"/>
                  <a:t>The expected value without perfect information is just the standard optimal decision where we are making a choice between treatments with uncertainty.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1D7B5B-E6D5-F8CA-B53A-1DA2EE2947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2600" y="1943100"/>
                <a:ext cx="10506991" cy="3936491"/>
              </a:xfrm>
              <a:blipFill>
                <a:blip r:embed="rId2"/>
                <a:stretch>
                  <a:fillRect l="-348" t="-620" r="-17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41796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A200B-BD35-E580-4F1E-FFCE6DEE88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WARNING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BBCE83-5DC9-78F1-386E-31C49F3BD9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The Next Couple of Slides May Be More Technical Than Needed!</a:t>
            </a:r>
          </a:p>
        </p:txBody>
      </p:sp>
      <p:pic>
        <p:nvPicPr>
          <p:cNvPr id="4" name="Picture 3" descr="Buckle Up Vector Art, Icons, and Graphics for Free Download">
            <a:extLst>
              <a:ext uri="{FF2B5EF4-FFF2-40B4-BE49-F238E27FC236}">
                <a16:creationId xmlns:a16="http://schemas.microsoft.com/office/drawing/2014/main" id="{27AC1E9B-6C3D-C6A6-D82E-038015285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1701" y="1228724"/>
            <a:ext cx="5357812" cy="3834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0643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78AC9-8C6D-41A9-D441-1A3923DB9A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The Expected Value of Perfect Information visualized in Decision Trees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0AA01A-3EFD-55F7-F5FC-5AEACF1CEE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A Technical Overview</a:t>
            </a:r>
          </a:p>
        </p:txBody>
      </p:sp>
    </p:spTree>
    <p:extLst>
      <p:ext uri="{BB962C8B-B14F-4D97-AF65-F5344CB8AC3E}">
        <p14:creationId xmlns:p14="http://schemas.microsoft.com/office/powerpoint/2010/main" val="29962853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89C15-D238-4C2A-B7D2-FA97CDEC6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791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CA" dirty="0"/>
              <a:t>What is the Expected Value of Perfect Information?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B00519-06E2-4A89-898E-B8B9A21186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27632"/>
                <a:ext cx="10743001" cy="5647033"/>
              </a:xfrm>
            </p:spPr>
            <p:txBody>
              <a:bodyPr>
                <a:normAutofit/>
              </a:bodyPr>
              <a:lstStyle/>
              <a:p>
                <a:r>
                  <a:rPr lang="en-CA" sz="1600" dirty="0"/>
                  <a:t>The formula for the expected value of perfect information is:</a:t>
                </a:r>
                <a:br>
                  <a:rPr lang="en-CA" sz="1600" dirty="0"/>
                </a:br>
                <a:br>
                  <a:rPr lang="en-CA" sz="1600" dirty="0"/>
                </a:br>
                <a14:m>
                  <m:oMath xmlns:m="http://schemas.openxmlformats.org/officeDocument/2006/math">
                    <m:r>
                      <a:rPr lang="en-CA" sz="1600" b="0" i="1" smtClean="0">
                        <a:latin typeface="Cambria Math" panose="02040503050406030204" pitchFamily="18" charset="0"/>
                      </a:rPr>
                      <m:t>𝐸𝑉𝑃𝐼</m:t>
                    </m:r>
                    <m:r>
                      <a:rPr lang="en-CA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600" b="0" i="1" smtClean="0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CA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func>
                      <m:funcPr>
                        <m:ctrlPr>
                          <a:rPr lang="en-CA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CA" sz="1600" b="0" i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CA" sz="16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CA" sz="16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CA" sz="1600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CA" sz="1600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lim>
                        </m:limLow>
                      </m:fName>
                      <m:e>
                        <m:r>
                          <a:rPr lang="en-CA" sz="1600" b="0" i="1" smtClean="0">
                            <a:latin typeface="Cambria Math" panose="02040503050406030204" pitchFamily="18" charset="0"/>
                          </a:rPr>
                          <m:t>𝑁𝐵</m:t>
                        </m:r>
                        <m:r>
                          <a:rPr lang="en-CA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CA" sz="1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CA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CA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CA" sz="1600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CA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CA" sz="1600" b="0" i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CA" sz="16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CA" sz="16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CA" sz="1600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CA" sz="1600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CA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600" b="0" i="1" smtClean="0">
                                <a:latin typeface="Cambria Math" panose="02040503050406030204" pitchFamily="18" charset="0"/>
                              </a:rPr>
                              <m:t>𝔼</m:t>
                            </m:r>
                          </m:e>
                          <m:sub>
                            <m:r>
                              <a:rPr lang="en-CA" sz="16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CA" sz="1600" b="0" i="1" smtClean="0">
                            <a:latin typeface="Cambria Math" panose="02040503050406030204" pitchFamily="18" charset="0"/>
                          </a:rPr>
                          <m:t>𝑁𝐵</m:t>
                        </m:r>
                        <m:d>
                          <m:dPr>
                            <m:ctrlPr>
                              <a:rPr lang="en-CA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sz="16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CA" sz="16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sz="16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</m:oMath>
                </a14:m>
                <a:endParaRPr lang="en-CA" sz="1600" dirty="0"/>
              </a:p>
              <a:p>
                <a:pPr marL="0" indent="0">
                  <a:buNone/>
                </a:pPr>
                <a:r>
                  <a:rPr lang="en-CA" sz="1600" dirty="0"/>
                  <a:t>Where </a:t>
                </a:r>
                <a14:m>
                  <m:oMath xmlns:m="http://schemas.openxmlformats.org/officeDocument/2006/math">
                    <m:r>
                      <a:rPr lang="en-CA" sz="16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CA" sz="1600" dirty="0"/>
                  <a:t> is a particular state of nature from a finite list of states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sz="1600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CA" sz="1600" dirty="0"/>
                  <a:t> and </a:t>
                </a:r>
                <a14:m>
                  <m:oMath xmlns:m="http://schemas.openxmlformats.org/officeDocument/2006/math">
                    <m:r>
                      <a:rPr lang="en-CA" sz="16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CA" sz="1600" dirty="0"/>
                  <a:t> is a particular intervention from a list of treatments </a:t>
                </a:r>
                <a14:m>
                  <m:oMath xmlns:m="http://schemas.openxmlformats.org/officeDocument/2006/math">
                    <m:r>
                      <a:rPr lang="en-CA" sz="1600" b="0" i="1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CA" sz="1600" dirty="0"/>
                  <a:t>.</a:t>
                </a:r>
              </a:p>
              <a:p>
                <a:r>
                  <a:rPr lang="en-CA" sz="1600" dirty="0"/>
                  <a:t>We note further that: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func>
                        <m:funcPr>
                          <m:ctrlPr>
                            <a:rPr lang="en-CA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CA" sz="1600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CA" sz="16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CA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CA" sz="16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CA" sz="16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lim>
                          </m:limLow>
                        </m:fName>
                        <m:e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𝑁𝐵</m:t>
                          </m:r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CA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CA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CA" sz="1600" b="0" i="0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sub>
                        <m:sup/>
                        <m:e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limLow>
                            <m:limLowPr>
                              <m:ctrlPr>
                                <a:rPr lang="en-CA" sz="1600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CA" sz="16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CA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CA" sz="16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CA" sz="16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lim>
                          </m:limLow>
                          <m:d>
                            <m:dPr>
                              <m:begChr m:val="{"/>
                              <m:endChr m:val="}"/>
                              <m:ctrlPr>
                                <a:rPr lang="en-CA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sz="1600" b="0" i="1" smtClean="0">
                                  <a:latin typeface="Cambria Math" panose="02040503050406030204" pitchFamily="18" charset="0"/>
                                </a:rPr>
                                <m:t>𝑁𝐵</m:t>
                              </m:r>
                              <m:d>
                                <m:dPr>
                                  <m:ctrlPr>
                                    <a:rPr lang="en-CA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sz="16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CA" sz="16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sz="16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CA" sz="16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CA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CA" sz="1600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CA" sz="16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CA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CA" sz="16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CA" sz="16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CA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600" b="0" i="1" smtClean="0">
                                  <a:latin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r>
                                <a:rPr lang="en-CA" sz="16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𝑁𝐵</m:t>
                          </m:r>
                          <m:d>
                            <m:dPr>
                              <m:ctrlPr>
                                <a:rPr lang="en-CA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CA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A" sz="16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CA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CA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CA" sz="1600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CA" sz="16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CA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CA" sz="16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CA" sz="16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CA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CA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CA" sz="16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CA" sz="1600" b="0" i="1" smtClean="0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CA" sz="1600" b="0" i="0" smtClean="0"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sub>
                                <m:sup/>
                                <m:e>
                                  <m:r>
                                    <a:rPr lang="en-CA" sz="16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CA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sz="1600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  <m:r>
                                    <a:rPr lang="en-CA" sz="1600" b="0" i="1" smtClean="0">
                                      <a:latin typeface="Cambria Math" panose="02040503050406030204" pitchFamily="18" charset="0"/>
                                    </a:rPr>
                                    <m:t>𝑁𝐵</m:t>
                                  </m:r>
                                  <m:d>
                                    <m:dPr>
                                      <m:ctrlPr>
                                        <a:rPr lang="en-CA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sz="16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CA" sz="16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CA" sz="1600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</m:func>
                    </m:oMath>
                  </m:oMathPara>
                </a14:m>
                <a:endParaRPr lang="en-CA" sz="1600" b="0" i="1" dirty="0">
                  <a:latin typeface="Cambria Math" panose="02040503050406030204" pitchFamily="18" charset="0"/>
                </a:endParaRPr>
              </a:p>
              <a:p>
                <a:r>
                  <a:rPr lang="en-CA" sz="1600" dirty="0"/>
                  <a:t>Where </a:t>
                </a:r>
                <a14:m>
                  <m:oMath xmlns:m="http://schemas.openxmlformats.org/officeDocument/2006/math">
                    <m:r>
                      <a:rPr lang="en-CA" sz="1600" i="1">
                        <a:latin typeface="Cambria Math" panose="02040503050406030204" pitchFamily="18" charset="0"/>
                      </a:rPr>
                      <m:t>𝑁𝐵</m:t>
                    </m:r>
                    <m:d>
                      <m:dPr>
                        <m:ctrlPr>
                          <a:rPr lang="en-CA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16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CA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sz="1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CA" sz="1600" b="0" i="1" dirty="0">
                    <a:latin typeface="Cambria Math" panose="02040503050406030204" pitchFamily="18" charset="0"/>
                  </a:rPr>
                  <a:t> </a:t>
                </a:r>
                <a:r>
                  <a:rPr lang="en-CA" sz="1600" dirty="0"/>
                  <a:t>is the net benefit from treatment </a:t>
                </a:r>
                <a14:m>
                  <m:oMath xmlns:m="http://schemas.openxmlformats.org/officeDocument/2006/math">
                    <m:r>
                      <a:rPr lang="en-CA" sz="16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CA" sz="1600" b="0" i="1" dirty="0">
                    <a:latin typeface="Cambria Math" panose="02040503050406030204" pitchFamily="18" charset="0"/>
                  </a:rPr>
                  <a:t> </a:t>
                </a:r>
                <a:r>
                  <a:rPr lang="en-CA" sz="1600" b="0" dirty="0"/>
                  <a:t>in state of nature </a:t>
                </a:r>
                <a14:m>
                  <m:oMath xmlns:m="http://schemas.openxmlformats.org/officeDocument/2006/math">
                    <m:r>
                      <a:rPr lang="en-CA" sz="16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CA" sz="1600" b="0" i="1" dirty="0">
                    <a:latin typeface="Cambria Math" panose="02040503050406030204" pitchFamily="18" charset="0"/>
                  </a:rPr>
                  <a:t> </a:t>
                </a:r>
                <a:r>
                  <a:rPr lang="en-CA" sz="1600" b="0" dirty="0"/>
                  <a:t>written as:</a:t>
                </a:r>
                <a:br>
                  <a:rPr lang="en-CA" sz="1600" b="0" dirty="0"/>
                </a:br>
                <a:br>
                  <a:rPr lang="en-CA" sz="1600" b="0" dirty="0"/>
                </a:br>
                <a14:m>
                  <m:oMath xmlns:m="http://schemas.openxmlformats.org/officeDocument/2006/math">
                    <m:r>
                      <a:rPr lang="en-CA" sz="1600" b="0" i="1" smtClean="0">
                        <a:latin typeface="Cambria Math" panose="02040503050406030204" pitchFamily="18" charset="0"/>
                      </a:rPr>
                      <m:t>𝑁𝐵</m:t>
                    </m:r>
                    <m:d>
                      <m:dPr>
                        <m:ctrlPr>
                          <a:rPr lang="en-CA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1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CA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CA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sz="1600" b="0" i="1" smtClean="0">
                        <a:latin typeface="Cambria Math" panose="02040503050406030204" pitchFamily="18" charset="0"/>
                      </a:rPr>
                      <m:t>𝜆</m:t>
                    </m:r>
                    <m:sSub>
                      <m:sSubPr>
                        <m:ctrlPr>
                          <a:rPr lang="en-CA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6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CA" sz="1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CA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CA" sz="16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CA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CA" sz="1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CA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sz="16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CA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sz="1600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B00519-06E2-4A89-898E-B8B9A21186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27632"/>
                <a:ext cx="10743001" cy="5647033"/>
              </a:xfrm>
              <a:blipFill>
                <a:blip r:embed="rId2"/>
                <a:stretch>
                  <a:fillRect l="-341" t="-10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50D9E422-A02F-436E-BC53-E919C4D99F1D}"/>
              </a:ext>
            </a:extLst>
          </p:cNvPr>
          <p:cNvSpPr/>
          <p:nvPr/>
        </p:nvSpPr>
        <p:spPr>
          <a:xfrm>
            <a:off x="4011562" y="2123768"/>
            <a:ext cx="4021394" cy="511278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547B28-4D39-490B-8C9D-471BA3D25B3E}"/>
              </a:ext>
            </a:extLst>
          </p:cNvPr>
          <p:cNvSpPr/>
          <p:nvPr/>
        </p:nvSpPr>
        <p:spPr>
          <a:xfrm>
            <a:off x="4100052" y="3588881"/>
            <a:ext cx="4286864" cy="1475642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31FEF7-3D76-4007-A4D2-B05484E797E1}"/>
              </a:ext>
            </a:extLst>
          </p:cNvPr>
          <p:cNvSpPr/>
          <p:nvPr/>
        </p:nvSpPr>
        <p:spPr>
          <a:xfrm>
            <a:off x="4367113" y="5663844"/>
            <a:ext cx="3520440" cy="451104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32102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192"/>
    </mc:Choice>
    <mc:Fallback xmlns="">
      <p:transition spd="slow" advTm="62192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D51B9-7F83-455C-93B6-CD5AA6A5E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20" y="734046"/>
            <a:ext cx="11155680" cy="1463040"/>
          </a:xfrm>
        </p:spPr>
        <p:txBody>
          <a:bodyPr/>
          <a:lstStyle/>
          <a:p>
            <a:r>
              <a:rPr lang="en-CA" dirty="0"/>
              <a:t>Expected Value with Perfect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1E5A7B-5FB2-4280-8430-FEA6E9D48A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5048" y="1371476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func>
                        <m:func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CA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CA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lim>
                          </m:limLow>
                        </m:fName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𝑁𝐵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sub>
                        <m:sup/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limLow>
                            <m:limLowPr>
                              <m:ctrlPr>
                                <a:rPr lang="en-CA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CA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lim>
                          </m:limLow>
                          <m:d>
                            <m:dPr>
                              <m:begChr m:val="{"/>
                              <m:endChr m:val="}"/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𝑁𝐵</m:t>
                              </m:r>
                              <m:d>
                                <m:d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1E5A7B-5FB2-4280-8430-FEA6E9D48A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5048" y="1371476"/>
                <a:ext cx="10515600" cy="4351338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E176E4D-CA79-48CF-8177-95921AD8CD7C}"/>
              </a:ext>
            </a:extLst>
          </p:cNvPr>
          <p:cNvCxnSpPr>
            <a:cxnSpLocks/>
            <a:stCxn id="11" idx="6"/>
            <a:endCxn id="23" idx="1"/>
          </p:cNvCxnSpPr>
          <p:nvPr/>
        </p:nvCxnSpPr>
        <p:spPr>
          <a:xfrm>
            <a:off x="1519428" y="4717574"/>
            <a:ext cx="1274064" cy="1157525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120F9E95-9078-44FB-9911-F9F84D452A7F}"/>
              </a:ext>
            </a:extLst>
          </p:cNvPr>
          <p:cNvSpPr/>
          <p:nvPr/>
        </p:nvSpPr>
        <p:spPr>
          <a:xfrm>
            <a:off x="1062228" y="4485513"/>
            <a:ext cx="457200" cy="464121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ED7320B-3290-4BBD-8A21-0CDFA0D53FF7}"/>
              </a:ext>
            </a:extLst>
          </p:cNvPr>
          <p:cNvCxnSpPr>
            <a:cxnSpLocks/>
            <a:endCxn id="11" idx="2"/>
          </p:cNvCxnSpPr>
          <p:nvPr/>
        </p:nvCxnSpPr>
        <p:spPr>
          <a:xfrm>
            <a:off x="175260" y="4717573"/>
            <a:ext cx="886968" cy="1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EB8C9561-8535-44F9-8C79-D4F99D2F1C54}"/>
              </a:ext>
            </a:extLst>
          </p:cNvPr>
          <p:cNvSpPr/>
          <p:nvPr/>
        </p:nvSpPr>
        <p:spPr>
          <a:xfrm>
            <a:off x="2793492" y="5651071"/>
            <a:ext cx="420624" cy="44805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75C1F97-032E-48DE-9894-ED4ACBF7C3E5}"/>
              </a:ext>
            </a:extLst>
          </p:cNvPr>
          <p:cNvCxnSpPr>
            <a:cxnSpLocks/>
            <a:stCxn id="11" idx="6"/>
            <a:endCxn id="27" idx="1"/>
          </p:cNvCxnSpPr>
          <p:nvPr/>
        </p:nvCxnSpPr>
        <p:spPr>
          <a:xfrm flipV="1">
            <a:off x="1519428" y="3683190"/>
            <a:ext cx="1274064" cy="1034384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650DD52A-B540-4D52-82E4-CAB11D6A869A}"/>
              </a:ext>
            </a:extLst>
          </p:cNvPr>
          <p:cNvSpPr/>
          <p:nvPr/>
        </p:nvSpPr>
        <p:spPr>
          <a:xfrm>
            <a:off x="2793492" y="3459162"/>
            <a:ext cx="420624" cy="44805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05DFFB21-DB14-4367-B025-AC8D69702738}"/>
              </a:ext>
            </a:extLst>
          </p:cNvPr>
          <p:cNvSpPr/>
          <p:nvPr/>
        </p:nvSpPr>
        <p:spPr>
          <a:xfrm>
            <a:off x="3214116" y="3166554"/>
            <a:ext cx="2790444" cy="585216"/>
          </a:xfrm>
          <a:custGeom>
            <a:avLst/>
            <a:gdLst>
              <a:gd name="connsiteX0" fmla="*/ 0 w 2971800"/>
              <a:gd name="connsiteY0" fmla="*/ 658368 h 658368"/>
              <a:gd name="connsiteX1" fmla="*/ 896112 w 2971800"/>
              <a:gd name="connsiteY1" fmla="*/ 9144 h 658368"/>
              <a:gd name="connsiteX2" fmla="*/ 2971800 w 2971800"/>
              <a:gd name="connsiteY2" fmla="*/ 0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0" h="658368">
                <a:moveTo>
                  <a:pt x="0" y="658368"/>
                </a:moveTo>
                <a:lnTo>
                  <a:pt x="896112" y="9144"/>
                </a:lnTo>
                <a:lnTo>
                  <a:pt x="2971800" y="0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D1DECB6B-DDCA-46DB-83FD-6E1BA46EBC96}"/>
              </a:ext>
            </a:extLst>
          </p:cNvPr>
          <p:cNvSpPr/>
          <p:nvPr/>
        </p:nvSpPr>
        <p:spPr>
          <a:xfrm>
            <a:off x="3214116" y="5358463"/>
            <a:ext cx="2790444" cy="585216"/>
          </a:xfrm>
          <a:custGeom>
            <a:avLst/>
            <a:gdLst>
              <a:gd name="connsiteX0" fmla="*/ 0 w 2971800"/>
              <a:gd name="connsiteY0" fmla="*/ 658368 h 658368"/>
              <a:gd name="connsiteX1" fmla="*/ 896112 w 2971800"/>
              <a:gd name="connsiteY1" fmla="*/ 9144 h 658368"/>
              <a:gd name="connsiteX2" fmla="*/ 2971800 w 2971800"/>
              <a:gd name="connsiteY2" fmla="*/ 0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0" h="658368">
                <a:moveTo>
                  <a:pt x="0" y="658368"/>
                </a:moveTo>
                <a:lnTo>
                  <a:pt x="896112" y="9144"/>
                </a:lnTo>
                <a:lnTo>
                  <a:pt x="2971800" y="0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7EF9A736-A87C-4D75-A244-252E85C7FB9D}"/>
              </a:ext>
            </a:extLst>
          </p:cNvPr>
          <p:cNvSpPr/>
          <p:nvPr/>
        </p:nvSpPr>
        <p:spPr>
          <a:xfrm flipV="1">
            <a:off x="3214116" y="3755016"/>
            <a:ext cx="2790444" cy="585216"/>
          </a:xfrm>
          <a:custGeom>
            <a:avLst/>
            <a:gdLst>
              <a:gd name="connsiteX0" fmla="*/ 0 w 2971800"/>
              <a:gd name="connsiteY0" fmla="*/ 658368 h 658368"/>
              <a:gd name="connsiteX1" fmla="*/ 896112 w 2971800"/>
              <a:gd name="connsiteY1" fmla="*/ 9144 h 658368"/>
              <a:gd name="connsiteX2" fmla="*/ 2971800 w 2971800"/>
              <a:gd name="connsiteY2" fmla="*/ 0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0" h="658368">
                <a:moveTo>
                  <a:pt x="0" y="658368"/>
                </a:moveTo>
                <a:lnTo>
                  <a:pt x="896112" y="9144"/>
                </a:lnTo>
                <a:lnTo>
                  <a:pt x="2971800" y="0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16453B0D-71D4-469F-AA2B-D5842191117B}"/>
              </a:ext>
            </a:extLst>
          </p:cNvPr>
          <p:cNvSpPr/>
          <p:nvPr/>
        </p:nvSpPr>
        <p:spPr>
          <a:xfrm flipV="1">
            <a:off x="3232404" y="5944235"/>
            <a:ext cx="2790444" cy="585216"/>
          </a:xfrm>
          <a:custGeom>
            <a:avLst/>
            <a:gdLst>
              <a:gd name="connsiteX0" fmla="*/ 0 w 2971800"/>
              <a:gd name="connsiteY0" fmla="*/ 658368 h 658368"/>
              <a:gd name="connsiteX1" fmla="*/ 896112 w 2971800"/>
              <a:gd name="connsiteY1" fmla="*/ 9144 h 658368"/>
              <a:gd name="connsiteX2" fmla="*/ 2971800 w 2971800"/>
              <a:gd name="connsiteY2" fmla="*/ 0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0" h="658368">
                <a:moveTo>
                  <a:pt x="0" y="658368"/>
                </a:moveTo>
                <a:lnTo>
                  <a:pt x="896112" y="9144"/>
                </a:lnTo>
                <a:lnTo>
                  <a:pt x="2971800" y="0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2BF29C0-7077-43A2-A1CC-70963C78EF19}"/>
              </a:ext>
            </a:extLst>
          </p:cNvPr>
          <p:cNvSpPr txBox="1"/>
          <p:nvPr/>
        </p:nvSpPr>
        <p:spPr>
          <a:xfrm>
            <a:off x="9668256" y="3841991"/>
            <a:ext cx="2432304" cy="120032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dirty="0"/>
              <a:t>What is the average payoff if  we best respond in every state of nature?</a:t>
            </a: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52FD04C1-6AF3-427B-84D0-A9C911F7A27A}"/>
              </a:ext>
            </a:extLst>
          </p:cNvPr>
          <p:cNvSpPr/>
          <p:nvPr/>
        </p:nvSpPr>
        <p:spPr>
          <a:xfrm rot="16200000">
            <a:off x="5974815" y="2918645"/>
            <a:ext cx="475548" cy="473959"/>
          </a:xfrm>
          <a:prstGeom prst="triangle">
            <a:avLst>
              <a:gd name="adj" fmla="val 48951"/>
            </a:avLst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2450B747-ADCA-484E-86C9-61387D32FF71}"/>
              </a:ext>
            </a:extLst>
          </p:cNvPr>
          <p:cNvSpPr/>
          <p:nvPr/>
        </p:nvSpPr>
        <p:spPr>
          <a:xfrm rot="16200000">
            <a:off x="6022054" y="4103252"/>
            <a:ext cx="475548" cy="473959"/>
          </a:xfrm>
          <a:prstGeom prst="triangle">
            <a:avLst>
              <a:gd name="adj" fmla="val 48951"/>
            </a:avLst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D74397CE-34ED-4100-8112-DF48201030EF}"/>
              </a:ext>
            </a:extLst>
          </p:cNvPr>
          <p:cNvSpPr/>
          <p:nvPr/>
        </p:nvSpPr>
        <p:spPr>
          <a:xfrm rot="16200000">
            <a:off x="6022054" y="5111110"/>
            <a:ext cx="475548" cy="473959"/>
          </a:xfrm>
          <a:prstGeom prst="triangle">
            <a:avLst>
              <a:gd name="adj" fmla="val 48951"/>
            </a:avLst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8B1DC718-BBA0-4199-A398-9B0EF7003A9D}"/>
              </a:ext>
            </a:extLst>
          </p:cNvPr>
          <p:cNvSpPr/>
          <p:nvPr/>
        </p:nvSpPr>
        <p:spPr>
          <a:xfrm rot="16200000">
            <a:off x="6022055" y="6276118"/>
            <a:ext cx="475548" cy="473959"/>
          </a:xfrm>
          <a:prstGeom prst="triangle">
            <a:avLst>
              <a:gd name="adj" fmla="val 48951"/>
            </a:avLst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A269753-315B-4D1D-BDB5-7FD63DF1FBD3}"/>
                  </a:ext>
                </a:extLst>
              </p:cNvPr>
              <p:cNvSpPr txBox="1"/>
              <p:nvPr/>
            </p:nvSpPr>
            <p:spPr>
              <a:xfrm>
                <a:off x="6496808" y="2917850"/>
                <a:ext cx="24176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𝑁𝐵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e>
                      </m:d>
                      <m:r>
                        <a:rPr lang="en-CA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A269753-315B-4D1D-BDB5-7FD63DF1F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6808" y="2917850"/>
                <a:ext cx="241765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56A5250-B43E-4112-85AF-08617C290B85}"/>
                  </a:ext>
                </a:extLst>
              </p:cNvPr>
              <p:cNvSpPr txBox="1"/>
              <p:nvPr/>
            </p:nvSpPr>
            <p:spPr>
              <a:xfrm>
                <a:off x="6496808" y="4147057"/>
                <a:ext cx="24282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𝑁𝐵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2,1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56A5250-B43E-4112-85AF-08617C290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6808" y="4147057"/>
                <a:ext cx="242829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011DB59-DB92-4FE1-BCC9-CEF908AFE477}"/>
                  </a:ext>
                </a:extLst>
              </p:cNvPr>
              <p:cNvSpPr txBox="1"/>
              <p:nvPr/>
            </p:nvSpPr>
            <p:spPr>
              <a:xfrm>
                <a:off x="6515096" y="5143722"/>
                <a:ext cx="24176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𝑁𝐵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011DB59-DB92-4FE1-BCC9-CEF908AFE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5096" y="5143722"/>
                <a:ext cx="241765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FB7ED4E-A050-4729-8502-F8A9512AEC6F}"/>
                  </a:ext>
                </a:extLst>
              </p:cNvPr>
              <p:cNvSpPr txBox="1"/>
              <p:nvPr/>
            </p:nvSpPr>
            <p:spPr>
              <a:xfrm>
                <a:off x="6566741" y="6328431"/>
                <a:ext cx="24282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𝑁𝐵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2,2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FB7ED4E-A050-4729-8502-F8A9512AEC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741" y="6328431"/>
                <a:ext cx="242829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2C0FC591-8510-4481-B99D-7CE6D327AE83}"/>
              </a:ext>
            </a:extLst>
          </p:cNvPr>
          <p:cNvSpPr txBox="1"/>
          <p:nvPr/>
        </p:nvSpPr>
        <p:spPr>
          <a:xfrm>
            <a:off x="4203698" y="2802703"/>
            <a:ext cx="1399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ambria Math" panose="02040503050406030204" pitchFamily="18" charset="0"/>
                <a:ea typeface="Cambria Math" panose="02040503050406030204" pitchFamily="18" charset="0"/>
              </a:rPr>
              <a:t>Treatment 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5020CA4-65FF-4C82-8BF3-E2332E498598}"/>
              </a:ext>
            </a:extLst>
          </p:cNvPr>
          <p:cNvSpPr txBox="1"/>
          <p:nvPr/>
        </p:nvSpPr>
        <p:spPr>
          <a:xfrm>
            <a:off x="4205475" y="3957045"/>
            <a:ext cx="1399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ambria Math" panose="02040503050406030204" pitchFamily="18" charset="0"/>
                <a:ea typeface="Cambria Math" panose="02040503050406030204" pitchFamily="18" charset="0"/>
              </a:rPr>
              <a:t>Treatment 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227654D-35E7-45D8-9BD2-10909D15EBB7}"/>
              </a:ext>
            </a:extLst>
          </p:cNvPr>
          <p:cNvSpPr txBox="1"/>
          <p:nvPr/>
        </p:nvSpPr>
        <p:spPr>
          <a:xfrm>
            <a:off x="4203698" y="6160119"/>
            <a:ext cx="1399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ambria Math" panose="02040503050406030204" pitchFamily="18" charset="0"/>
                <a:ea typeface="Cambria Math" panose="02040503050406030204" pitchFamily="18" charset="0"/>
              </a:rPr>
              <a:t>Treatment 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8CD0AD2-330F-4917-920A-7E529939DF63}"/>
              </a:ext>
            </a:extLst>
          </p:cNvPr>
          <p:cNvSpPr txBox="1"/>
          <p:nvPr/>
        </p:nvSpPr>
        <p:spPr>
          <a:xfrm>
            <a:off x="4203698" y="5031188"/>
            <a:ext cx="1399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ambria Math" panose="02040503050406030204" pitchFamily="18" charset="0"/>
                <a:ea typeface="Cambria Math" panose="02040503050406030204" pitchFamily="18" charset="0"/>
              </a:rPr>
              <a:t>Treatment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97C66BF-EB45-4AED-A023-586196D67AF6}"/>
                  </a:ext>
                </a:extLst>
              </p:cNvPr>
              <p:cNvSpPr txBox="1"/>
              <p:nvPr/>
            </p:nvSpPr>
            <p:spPr>
              <a:xfrm>
                <a:off x="955844" y="5321244"/>
                <a:ext cx="11271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=2)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97C66BF-EB45-4AED-A023-586196D67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844" y="5321244"/>
                <a:ext cx="1127168" cy="369332"/>
              </a:xfrm>
              <a:prstGeom prst="rect">
                <a:avLst/>
              </a:prstGeom>
              <a:blipFill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0A909B0-E177-437F-8269-C81C2F7F7F23}"/>
                  </a:ext>
                </a:extLst>
              </p:cNvPr>
              <p:cNvSpPr txBox="1"/>
              <p:nvPr/>
            </p:nvSpPr>
            <p:spPr>
              <a:xfrm>
                <a:off x="959090" y="3760928"/>
                <a:ext cx="11271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=1)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0A909B0-E177-437F-8269-C81C2F7F7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090" y="3760928"/>
                <a:ext cx="1127168" cy="369332"/>
              </a:xfrm>
              <a:prstGeom prst="rect">
                <a:avLst/>
              </a:prstGeom>
              <a:blipFill>
                <a:blip r:embed="rId10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5139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195"/>
    </mc:Choice>
    <mc:Fallback xmlns="">
      <p:transition spd="slow" advTm="45195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ECAEE-C77B-4B77-B16D-A3408D883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474" y="702966"/>
            <a:ext cx="11155680" cy="1463040"/>
          </a:xfrm>
        </p:spPr>
        <p:txBody>
          <a:bodyPr/>
          <a:lstStyle/>
          <a:p>
            <a:r>
              <a:rPr lang="en-CA" dirty="0"/>
              <a:t>Expected Value without Perfect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D57315-C1BE-4489-B107-D93610E6D7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7705" y="1822678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CA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CA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𝑁𝐵</m:t>
                          </m:r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CA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CA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CA" b="0" i="0" smtClean="0"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sub>
                                <m:sup/>
                                <m:e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𝑁𝐵</m:t>
                                  </m:r>
                                  <m:d>
                                    <m:dPr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</m:func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D57315-C1BE-4489-B107-D93610E6D7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7705" y="1822678"/>
                <a:ext cx="10515600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80942CF-9670-4285-9E81-6F067CF6EDB0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1473708" y="4626133"/>
            <a:ext cx="1274064" cy="1157526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145E449-C773-435E-91D5-8D57A5A20B86}"/>
              </a:ext>
            </a:extLst>
          </p:cNvPr>
          <p:cNvCxnSpPr>
            <a:cxnSpLocks/>
            <a:stCxn id="14" idx="3"/>
            <a:endCxn id="18" idx="2"/>
          </p:cNvCxnSpPr>
          <p:nvPr/>
        </p:nvCxnSpPr>
        <p:spPr>
          <a:xfrm flipV="1">
            <a:off x="1473708" y="3629247"/>
            <a:ext cx="1274064" cy="996886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12542E-FD57-467D-8E64-0F86723670DC}"/>
              </a:ext>
            </a:extLst>
          </p:cNvPr>
          <p:cNvSpPr/>
          <p:nvPr/>
        </p:nvSpPr>
        <p:spPr>
          <a:xfrm>
            <a:off x="3168396" y="3075114"/>
            <a:ext cx="2790444" cy="585216"/>
          </a:xfrm>
          <a:custGeom>
            <a:avLst/>
            <a:gdLst>
              <a:gd name="connsiteX0" fmla="*/ 0 w 2971800"/>
              <a:gd name="connsiteY0" fmla="*/ 658368 h 658368"/>
              <a:gd name="connsiteX1" fmla="*/ 896112 w 2971800"/>
              <a:gd name="connsiteY1" fmla="*/ 9144 h 658368"/>
              <a:gd name="connsiteX2" fmla="*/ 2971800 w 2971800"/>
              <a:gd name="connsiteY2" fmla="*/ 0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0" h="658368">
                <a:moveTo>
                  <a:pt x="0" y="658368"/>
                </a:moveTo>
                <a:lnTo>
                  <a:pt x="896112" y="9144"/>
                </a:lnTo>
                <a:lnTo>
                  <a:pt x="2971800" y="0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C3B03DB-34C1-4269-B537-1D60279F147D}"/>
              </a:ext>
            </a:extLst>
          </p:cNvPr>
          <p:cNvSpPr/>
          <p:nvPr/>
        </p:nvSpPr>
        <p:spPr>
          <a:xfrm>
            <a:off x="3168396" y="5267023"/>
            <a:ext cx="2790444" cy="585216"/>
          </a:xfrm>
          <a:custGeom>
            <a:avLst/>
            <a:gdLst>
              <a:gd name="connsiteX0" fmla="*/ 0 w 2971800"/>
              <a:gd name="connsiteY0" fmla="*/ 658368 h 658368"/>
              <a:gd name="connsiteX1" fmla="*/ 896112 w 2971800"/>
              <a:gd name="connsiteY1" fmla="*/ 9144 h 658368"/>
              <a:gd name="connsiteX2" fmla="*/ 2971800 w 2971800"/>
              <a:gd name="connsiteY2" fmla="*/ 0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0" h="658368">
                <a:moveTo>
                  <a:pt x="0" y="658368"/>
                </a:moveTo>
                <a:lnTo>
                  <a:pt x="896112" y="9144"/>
                </a:lnTo>
                <a:lnTo>
                  <a:pt x="2971800" y="0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768BBE5-97DC-4A21-9E34-067FE8C8C065}"/>
              </a:ext>
            </a:extLst>
          </p:cNvPr>
          <p:cNvSpPr/>
          <p:nvPr/>
        </p:nvSpPr>
        <p:spPr>
          <a:xfrm flipV="1">
            <a:off x="3168396" y="3663576"/>
            <a:ext cx="2790444" cy="585216"/>
          </a:xfrm>
          <a:custGeom>
            <a:avLst/>
            <a:gdLst>
              <a:gd name="connsiteX0" fmla="*/ 0 w 2971800"/>
              <a:gd name="connsiteY0" fmla="*/ 658368 h 658368"/>
              <a:gd name="connsiteX1" fmla="*/ 896112 w 2971800"/>
              <a:gd name="connsiteY1" fmla="*/ 9144 h 658368"/>
              <a:gd name="connsiteX2" fmla="*/ 2971800 w 2971800"/>
              <a:gd name="connsiteY2" fmla="*/ 0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0" h="658368">
                <a:moveTo>
                  <a:pt x="0" y="658368"/>
                </a:moveTo>
                <a:lnTo>
                  <a:pt x="896112" y="9144"/>
                </a:lnTo>
                <a:lnTo>
                  <a:pt x="2971800" y="0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D87B324-D0A7-4E86-89E4-46B77F9341DB}"/>
              </a:ext>
            </a:extLst>
          </p:cNvPr>
          <p:cNvSpPr/>
          <p:nvPr/>
        </p:nvSpPr>
        <p:spPr>
          <a:xfrm flipV="1">
            <a:off x="3186684" y="5852795"/>
            <a:ext cx="2790444" cy="585216"/>
          </a:xfrm>
          <a:custGeom>
            <a:avLst/>
            <a:gdLst>
              <a:gd name="connsiteX0" fmla="*/ 0 w 2971800"/>
              <a:gd name="connsiteY0" fmla="*/ 658368 h 658368"/>
              <a:gd name="connsiteX1" fmla="*/ 896112 w 2971800"/>
              <a:gd name="connsiteY1" fmla="*/ 9144 h 658368"/>
              <a:gd name="connsiteX2" fmla="*/ 2971800 w 2971800"/>
              <a:gd name="connsiteY2" fmla="*/ 0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0" h="658368">
                <a:moveTo>
                  <a:pt x="0" y="658368"/>
                </a:moveTo>
                <a:lnTo>
                  <a:pt x="896112" y="9144"/>
                </a:lnTo>
                <a:lnTo>
                  <a:pt x="2971800" y="0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5D9853-724E-45A3-A42B-8857147D5C9C}"/>
              </a:ext>
            </a:extLst>
          </p:cNvPr>
          <p:cNvSpPr/>
          <p:nvPr/>
        </p:nvSpPr>
        <p:spPr>
          <a:xfrm>
            <a:off x="1053084" y="4402105"/>
            <a:ext cx="420624" cy="44805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DC85296-D2CE-4060-BED7-D0AE8A18BBA5}"/>
              </a:ext>
            </a:extLst>
          </p:cNvPr>
          <p:cNvSpPr/>
          <p:nvPr/>
        </p:nvSpPr>
        <p:spPr>
          <a:xfrm>
            <a:off x="2747772" y="3374136"/>
            <a:ext cx="438912" cy="510222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7D4C699-20DC-4A4D-9DF1-BD2F7955CB9D}"/>
              </a:ext>
            </a:extLst>
          </p:cNvPr>
          <p:cNvSpPr/>
          <p:nvPr/>
        </p:nvSpPr>
        <p:spPr>
          <a:xfrm>
            <a:off x="2747772" y="5566601"/>
            <a:ext cx="438912" cy="510222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C58606CB-B9E1-42D8-8BCF-A444E597F354}"/>
              </a:ext>
            </a:extLst>
          </p:cNvPr>
          <p:cNvSpPr/>
          <p:nvPr/>
        </p:nvSpPr>
        <p:spPr>
          <a:xfrm rot="16200000">
            <a:off x="5904711" y="2830940"/>
            <a:ext cx="475548" cy="473959"/>
          </a:xfrm>
          <a:prstGeom prst="triangle">
            <a:avLst>
              <a:gd name="adj" fmla="val 48951"/>
            </a:avLst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4169DBC7-EDC9-48A4-B6F6-F7792A22A2C7}"/>
              </a:ext>
            </a:extLst>
          </p:cNvPr>
          <p:cNvSpPr/>
          <p:nvPr/>
        </p:nvSpPr>
        <p:spPr>
          <a:xfrm rot="16200000">
            <a:off x="5958046" y="4012090"/>
            <a:ext cx="475548" cy="473959"/>
          </a:xfrm>
          <a:prstGeom prst="triangle">
            <a:avLst>
              <a:gd name="adj" fmla="val 48951"/>
            </a:avLst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3F3DB01C-4718-4DEE-8B1C-F52E8F9EEE62}"/>
              </a:ext>
            </a:extLst>
          </p:cNvPr>
          <p:cNvSpPr/>
          <p:nvPr/>
        </p:nvSpPr>
        <p:spPr>
          <a:xfrm rot="16200000">
            <a:off x="5958046" y="5043233"/>
            <a:ext cx="475548" cy="473959"/>
          </a:xfrm>
          <a:prstGeom prst="triangle">
            <a:avLst>
              <a:gd name="adj" fmla="val 48951"/>
            </a:avLst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2CBC30C9-5B6F-4349-AA18-F1B70E688FA5}"/>
              </a:ext>
            </a:extLst>
          </p:cNvPr>
          <p:cNvSpPr/>
          <p:nvPr/>
        </p:nvSpPr>
        <p:spPr>
          <a:xfrm rot="16200000">
            <a:off x="5958047" y="6201031"/>
            <a:ext cx="475548" cy="473959"/>
          </a:xfrm>
          <a:prstGeom prst="triangle">
            <a:avLst>
              <a:gd name="adj" fmla="val 48951"/>
            </a:avLst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DFCC76F-B9E3-4989-9F4E-EE739E8D292F}"/>
                  </a:ext>
                </a:extLst>
              </p:cNvPr>
              <p:cNvSpPr txBox="1"/>
              <p:nvPr/>
            </p:nvSpPr>
            <p:spPr>
              <a:xfrm>
                <a:off x="6507092" y="2830145"/>
                <a:ext cx="24176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𝑁𝐵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e>
                      </m:d>
                      <m:r>
                        <a:rPr lang="en-CA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DFCC76F-B9E3-4989-9F4E-EE739E8D29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7092" y="2830145"/>
                <a:ext cx="241765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8031CB4-98AB-4326-8D28-74CD327EC835}"/>
                  </a:ext>
                </a:extLst>
              </p:cNvPr>
              <p:cNvSpPr txBox="1"/>
              <p:nvPr/>
            </p:nvSpPr>
            <p:spPr>
              <a:xfrm>
                <a:off x="6507092" y="4059352"/>
                <a:ext cx="24282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𝑁𝐵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8031CB4-98AB-4326-8D28-74CD327EC8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7092" y="4059352"/>
                <a:ext cx="242829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3852BEB-57BF-4994-A125-A6F1F7A6F96F}"/>
                  </a:ext>
                </a:extLst>
              </p:cNvPr>
              <p:cNvSpPr txBox="1"/>
              <p:nvPr/>
            </p:nvSpPr>
            <p:spPr>
              <a:xfrm>
                <a:off x="6525380" y="5056017"/>
                <a:ext cx="24176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𝑁𝐵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2,1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3852BEB-57BF-4994-A125-A6F1F7A6F9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5380" y="5056017"/>
                <a:ext cx="241765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6D20FB7-F268-40BD-9CC5-4D8D5FE1D4B2}"/>
                  </a:ext>
                </a:extLst>
              </p:cNvPr>
              <p:cNvSpPr txBox="1"/>
              <p:nvPr/>
            </p:nvSpPr>
            <p:spPr>
              <a:xfrm>
                <a:off x="6577025" y="6240726"/>
                <a:ext cx="24282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𝑁𝐵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2,2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6D20FB7-F268-40BD-9CC5-4D8D5FE1D4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7025" y="6240726"/>
                <a:ext cx="242829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CBB3D3-B122-48C5-8CC4-CF6DE61262A7}"/>
                  </a:ext>
                </a:extLst>
              </p:cNvPr>
              <p:cNvSpPr txBox="1"/>
              <p:nvPr/>
            </p:nvSpPr>
            <p:spPr>
              <a:xfrm>
                <a:off x="230727" y="3292488"/>
                <a:ext cx="2026196" cy="6735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b="0" dirty="0">
                    <a:latin typeface="Cambria Math" panose="02040503050406030204" pitchFamily="18" charset="0"/>
                  </a:rPr>
                  <a:t>Treatment 1</a:t>
                </a:r>
                <a:br>
                  <a:rPr lang="en-CA" b="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∈[1,2]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𝑁𝐵</m:t>
                      </m:r>
                      <m:d>
                        <m:dPr>
                          <m:ctrlPr>
                            <a:rPr lang="en-CA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0" smtClean="0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CBB3D3-B122-48C5-8CC4-CF6DE61262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727" y="3292488"/>
                <a:ext cx="2026196" cy="673518"/>
              </a:xfrm>
              <a:prstGeom prst="rect">
                <a:avLst/>
              </a:prstGeom>
              <a:blipFill>
                <a:blip r:embed="rId9"/>
                <a:stretch>
                  <a:fillRect t="-5405" b="-450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18BFDA2-B00A-4A19-9963-2E11911C00EB}"/>
                  </a:ext>
                </a:extLst>
              </p:cNvPr>
              <p:cNvSpPr txBox="1"/>
              <p:nvPr/>
            </p:nvSpPr>
            <p:spPr>
              <a:xfrm>
                <a:off x="248489" y="5335463"/>
                <a:ext cx="1990673" cy="6735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CA" b="0" i="0" smtClean="0">
                          <a:latin typeface="Cambria Math" panose="02040503050406030204" pitchFamily="18" charset="0"/>
                        </a:rPr>
                        <m:t>Treatment</m:t>
                      </m:r>
                      <m:r>
                        <a:rPr lang="en-CA" b="0" i="0" smtClean="0">
                          <a:latin typeface="Cambria Math" panose="02040503050406030204" pitchFamily="18" charset="0"/>
                        </a:rPr>
                        <m:t> 2</m:t>
                      </m:r>
                    </m:oMath>
                  </m:oMathPara>
                </a14:m>
                <a:endParaRPr lang="en-CA" b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∈[1,2]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𝑁𝐵</m:t>
                      </m:r>
                      <m:d>
                        <m:dPr>
                          <m:ctrlPr>
                            <a:rPr lang="en-CA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0" smtClean="0"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18BFDA2-B00A-4A19-9963-2E11911C0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489" y="5335463"/>
                <a:ext cx="1990673" cy="673518"/>
              </a:xfrm>
              <a:prstGeom prst="rect">
                <a:avLst/>
              </a:prstGeom>
              <a:blipFill>
                <a:blip r:embed="rId10"/>
                <a:stretch>
                  <a:fillRect b="-450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4B4FD176-EB0F-4834-A045-6FCB5108D2F9}"/>
              </a:ext>
            </a:extLst>
          </p:cNvPr>
          <p:cNvSpPr txBox="1"/>
          <p:nvPr/>
        </p:nvSpPr>
        <p:spPr>
          <a:xfrm>
            <a:off x="9573768" y="3075114"/>
            <a:ext cx="2080386" cy="204552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dirty="0"/>
              <a:t>This is simply just communicating that we pick </a:t>
            </a:r>
            <a:br>
              <a:rPr lang="en-CA" dirty="0"/>
            </a:br>
            <a:r>
              <a:rPr lang="en-CA" dirty="0"/>
              <a:t>the treatment with the maximum expected </a:t>
            </a:r>
            <a:br>
              <a:rPr lang="en-CA" dirty="0"/>
            </a:br>
            <a:r>
              <a:rPr lang="en-CA" dirty="0"/>
              <a:t>net benefit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41ED59-8CE0-4659-BCE6-192E25D64967}"/>
                  </a:ext>
                </a:extLst>
              </p:cNvPr>
              <p:cNvSpPr txBox="1"/>
              <p:nvPr/>
            </p:nvSpPr>
            <p:spPr>
              <a:xfrm>
                <a:off x="2718991" y="3998347"/>
                <a:ext cx="11271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=2)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41ED59-8CE0-4659-BCE6-192E25D649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8991" y="3998347"/>
                <a:ext cx="1127168" cy="369332"/>
              </a:xfrm>
              <a:prstGeom prst="rect">
                <a:avLst/>
              </a:prstGeom>
              <a:blipFill>
                <a:blip r:embed="rId11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3FCD577-4DB8-4B2F-A1D4-8F19D21A6C6D}"/>
                  </a:ext>
                </a:extLst>
              </p:cNvPr>
              <p:cNvSpPr txBox="1"/>
              <p:nvPr/>
            </p:nvSpPr>
            <p:spPr>
              <a:xfrm>
                <a:off x="2794814" y="2888825"/>
                <a:ext cx="11271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=1)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3FCD577-4DB8-4B2F-A1D4-8F19D21A6C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814" y="2888825"/>
                <a:ext cx="1127168" cy="369332"/>
              </a:xfrm>
              <a:prstGeom prst="rect">
                <a:avLst/>
              </a:prstGeom>
              <a:blipFill>
                <a:blip r:embed="rId1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8A29D98-AEA2-4BBD-9F59-957C91B8F130}"/>
                  </a:ext>
                </a:extLst>
              </p:cNvPr>
              <p:cNvSpPr txBox="1"/>
              <p:nvPr/>
            </p:nvSpPr>
            <p:spPr>
              <a:xfrm>
                <a:off x="2601166" y="6187813"/>
                <a:ext cx="11271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=2)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8A29D98-AEA2-4BBD-9F59-957C91B8F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1166" y="6187813"/>
                <a:ext cx="1127168" cy="369332"/>
              </a:xfrm>
              <a:prstGeom prst="rect">
                <a:avLst/>
              </a:prstGeom>
              <a:blipFill>
                <a:blip r:embed="rId1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B39A738-BD73-47C6-A7D0-450588188661}"/>
                  </a:ext>
                </a:extLst>
              </p:cNvPr>
              <p:cNvSpPr txBox="1"/>
              <p:nvPr/>
            </p:nvSpPr>
            <p:spPr>
              <a:xfrm>
                <a:off x="2676989" y="5078291"/>
                <a:ext cx="11271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=1)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B39A738-BD73-47C6-A7D0-450588188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6989" y="5078291"/>
                <a:ext cx="1127168" cy="369332"/>
              </a:xfrm>
              <a:prstGeom prst="rect">
                <a:avLst/>
              </a:prstGeom>
              <a:blipFill>
                <a:blip r:embed="rId1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5056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68"/>
    </mc:Choice>
    <mc:Fallback xmlns="">
      <p:transition spd="slow" advTm="30068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A0ADD-4E12-44C4-B274-423B7BFBA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54685"/>
            <a:ext cx="10515600" cy="1325563"/>
          </a:xfrm>
        </p:spPr>
        <p:txBody>
          <a:bodyPr/>
          <a:lstStyle/>
          <a:p>
            <a:r>
              <a:rPr lang="en-CA" dirty="0"/>
              <a:t>Computing EVPI in Excel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074E38-1538-4A0C-9C07-32F7CEABAA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805118"/>
                <a:ext cx="10515600" cy="5870002"/>
              </a:xfrm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r>
                  <a:rPr lang="en-CA" dirty="0"/>
                  <a:t>Now that we know what each of the terms in our EVPI calculation means, lets see how we would calculate it in the context of a simple spreadsheet exercise.</a:t>
                </a:r>
              </a:p>
              <a:p>
                <a:r>
                  <a:rPr lang="en-CA" dirty="0"/>
                  <a:t>Suppose we have the following data with costs and effects for two treatments, where our threshold value we are considering is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endParaRPr lang="en-CA" dirty="0"/>
              </a:p>
              <a:p>
                <a:pPr marL="0" indent="0">
                  <a:buNone/>
                </a:pPr>
                <a:endParaRPr lang="en-CA" dirty="0"/>
              </a:p>
              <a:p>
                <a:endParaRPr lang="en-CA" dirty="0"/>
              </a:p>
              <a:p>
                <a:pPr marL="0" indent="0">
                  <a:buNone/>
                </a:pPr>
                <a:endParaRPr lang="en-CA" dirty="0"/>
              </a:p>
              <a:p>
                <a:endParaRPr lang="en-CA" dirty="0"/>
              </a:p>
              <a:p>
                <a:pPr marL="0" indent="0">
                  <a:buNone/>
                </a:pPr>
                <a:endParaRPr lang="en-CA" dirty="0"/>
              </a:p>
              <a:p>
                <a:endParaRPr lang="en-CA" dirty="0"/>
              </a:p>
              <a:p>
                <a:r>
                  <a:rPr lang="en-CA" dirty="0"/>
                  <a:t>The Excel formula which would calculate EVPI is:</a:t>
                </a:r>
              </a:p>
              <a:p>
                <a:pPr marL="0" indent="0">
                  <a:buNone/>
                </a:pPr>
                <a:br>
                  <a:rPr lang="en-CA" dirty="0"/>
                </a:br>
                <a:r>
                  <a:rPr lang="en-CA" sz="1900" b="1" i="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=AVERAGE(</a:t>
                </a:r>
                <a:r>
                  <a:rPr lang="en-CA" sz="1900" b="1" i="0" dirty="0">
                    <a:solidFill>
                      <a:srgbClr val="C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Max Benefit</a:t>
                </a:r>
                <a:r>
                  <a:rPr lang="en-CA" sz="1900" b="1" i="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)-Max(Average(</a:t>
                </a:r>
                <a:r>
                  <a:rPr lang="en-CA" sz="1900" b="1" i="0" dirty="0">
                    <a:solidFill>
                      <a:srgbClr val="0070C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Net Benefit 1</a:t>
                </a:r>
                <a:r>
                  <a:rPr lang="en-CA" sz="19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CA" sz="1900" b="1" i="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, </a:t>
                </a:r>
                <a:r>
                  <a:rPr lang="en-CA" sz="19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Average(</a:t>
                </a:r>
                <a:r>
                  <a:rPr lang="en-CA" sz="1900" b="1" i="0" dirty="0">
                    <a:solidFill>
                      <a:srgbClr val="7030A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Net Benefit 2</a:t>
                </a:r>
                <a:r>
                  <a:rPr lang="en-CA" sz="1900" b="1" i="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))</a:t>
                </a:r>
              </a:p>
              <a:p>
                <a:pPr marL="0" indent="0">
                  <a:buNone/>
                </a:pPr>
                <a:endParaRPr lang="en-CA" sz="1900" b="1" i="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r>
                  <a:rPr lang="en-CA" dirty="0"/>
                  <a:t>EVPI in this case is 60. as we change our threshold our value will change.</a:t>
                </a:r>
                <a:endParaRPr lang="en-CA" b="0" i="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endParaRPr lang="en-CA" sz="19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074E38-1538-4A0C-9C07-32F7CEABAA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805118"/>
                <a:ext cx="10515600" cy="5870002"/>
              </a:xfrm>
              <a:blipFill>
                <a:blip r:embed="rId2"/>
                <a:stretch>
                  <a:fillRect l="-522" t="-104" r="-2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6606990-4C91-4150-A10C-F99D51B05FF8}"/>
              </a:ext>
            </a:extLst>
          </p:cNvPr>
          <p:cNvGraphicFramePr>
            <a:graphicFrameLocks noGrp="1"/>
          </p:cNvGraphicFramePr>
          <p:nvPr/>
        </p:nvGraphicFramePr>
        <p:xfrm>
          <a:off x="2022162" y="2490297"/>
          <a:ext cx="7638585" cy="1877406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744776">
                  <a:extLst>
                    <a:ext uri="{9D8B030D-6E8A-4147-A177-3AD203B41FA5}">
                      <a16:colId xmlns:a16="http://schemas.microsoft.com/office/drawing/2014/main" val="1750721431"/>
                    </a:ext>
                  </a:extLst>
                </a:gridCol>
                <a:gridCol w="922465">
                  <a:extLst>
                    <a:ext uri="{9D8B030D-6E8A-4147-A177-3AD203B41FA5}">
                      <a16:colId xmlns:a16="http://schemas.microsoft.com/office/drawing/2014/main" val="4182013299"/>
                    </a:ext>
                  </a:extLst>
                </a:gridCol>
                <a:gridCol w="921623">
                  <a:extLst>
                    <a:ext uri="{9D8B030D-6E8A-4147-A177-3AD203B41FA5}">
                      <a16:colId xmlns:a16="http://schemas.microsoft.com/office/drawing/2014/main" val="1410956620"/>
                    </a:ext>
                  </a:extLst>
                </a:gridCol>
                <a:gridCol w="1286431">
                  <a:extLst>
                    <a:ext uri="{9D8B030D-6E8A-4147-A177-3AD203B41FA5}">
                      <a16:colId xmlns:a16="http://schemas.microsoft.com/office/drawing/2014/main" val="687737692"/>
                    </a:ext>
                  </a:extLst>
                </a:gridCol>
                <a:gridCol w="1286431">
                  <a:extLst>
                    <a:ext uri="{9D8B030D-6E8A-4147-A177-3AD203B41FA5}">
                      <a16:colId xmlns:a16="http://schemas.microsoft.com/office/drawing/2014/main" val="3518167736"/>
                    </a:ext>
                  </a:extLst>
                </a:gridCol>
                <a:gridCol w="1286431">
                  <a:extLst>
                    <a:ext uri="{9D8B030D-6E8A-4147-A177-3AD203B41FA5}">
                      <a16:colId xmlns:a16="http://schemas.microsoft.com/office/drawing/2014/main" val="2705802423"/>
                    </a:ext>
                  </a:extLst>
                </a:gridCol>
                <a:gridCol w="1190428">
                  <a:extLst>
                    <a:ext uri="{9D8B030D-6E8A-4147-A177-3AD203B41FA5}">
                      <a16:colId xmlns:a16="http://schemas.microsoft.com/office/drawing/2014/main" val="3617150039"/>
                    </a:ext>
                  </a:extLst>
                </a:gridCol>
              </a:tblGrid>
              <a:tr h="302932"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b="1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Cost 1</a:t>
                      </a:r>
                      <a:endParaRPr lang="en-CA" sz="1100" b="1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b="1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Cost 2</a:t>
                      </a:r>
                      <a:endParaRPr lang="en-CA" sz="1100" b="1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b="1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Effect 1</a:t>
                      </a:r>
                      <a:endParaRPr lang="en-CA" sz="1100" b="1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b="1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Effect 2</a:t>
                      </a:r>
                      <a:endParaRPr lang="en-CA" sz="1100" b="1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b="1" u="none" strike="noStrike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Net Benefit 1</a:t>
                      </a:r>
                      <a:endParaRPr lang="en-CA" sz="1100" b="1" i="0" u="none" strike="noStrike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b="1" u="none" strike="noStrike" dirty="0">
                          <a:solidFill>
                            <a:srgbClr val="7030A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Net Benefit 2</a:t>
                      </a:r>
                      <a:endParaRPr lang="en-CA" sz="1100" b="1" i="0" u="none" strike="noStrike" dirty="0">
                        <a:solidFill>
                          <a:srgbClr val="7030A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b="1" u="none" strike="noStrike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Max Benefit</a:t>
                      </a:r>
                      <a:endParaRPr lang="en-CA" sz="1100" b="1" i="0" u="none" strike="noStrike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332737"/>
                  </a:ext>
                </a:extLst>
              </a:tr>
              <a:tr h="302932"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</a:t>
                      </a: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96</a:t>
                      </a: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198</a:t>
                      </a: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198</a:t>
                      </a: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66132730"/>
                  </a:ext>
                </a:extLst>
              </a:tr>
              <a:tr h="302932"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6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</a:t>
                      </a: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194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397</a:t>
                      </a: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397</a:t>
                      </a: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58953817"/>
                  </a:ext>
                </a:extLst>
              </a:tr>
              <a:tr h="302932"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395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95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395</a:t>
                      </a: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34745845"/>
                  </a:ext>
                </a:extLst>
              </a:tr>
              <a:tr h="362746"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7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</a:t>
                      </a: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193</a:t>
                      </a: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298</a:t>
                      </a: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298</a:t>
                      </a: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9897653"/>
                  </a:ext>
                </a:extLst>
              </a:tr>
              <a:tr h="302932"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</a:t>
                      </a: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495</a:t>
                      </a: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496</a:t>
                      </a: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496</a:t>
                      </a: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5858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2747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576"/>
    </mc:Choice>
    <mc:Fallback xmlns="">
      <p:transition spd="slow" advTm="74576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210B2-016A-B163-4375-5315F725B1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The Expected Value of Perfect Parameter Information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AF397F-BDD9-9C60-A854-E0DBE7B11B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A Technical Overview</a:t>
            </a:r>
          </a:p>
        </p:txBody>
      </p:sp>
    </p:spTree>
    <p:extLst>
      <p:ext uri="{BB962C8B-B14F-4D97-AF65-F5344CB8AC3E}">
        <p14:creationId xmlns:p14="http://schemas.microsoft.com/office/powerpoint/2010/main" val="4559280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E9620-CC64-435A-9E7E-783B27A8C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579823"/>
            <a:ext cx="11155680" cy="1463040"/>
          </a:xfrm>
        </p:spPr>
        <p:txBody>
          <a:bodyPr/>
          <a:lstStyle/>
          <a:p>
            <a:r>
              <a:rPr lang="en-CA" dirty="0"/>
              <a:t>What is EVPPI?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C2107D-8474-4A90-9FAB-F24C87C17E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33966"/>
                <a:ext cx="11137900" cy="5497186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CA" dirty="0"/>
                  <a:t>The </a:t>
                </a:r>
                <a:r>
                  <a:rPr lang="en-CA" b="1" dirty="0"/>
                  <a:t>expected value of perfect parameter information (EVPPI) </a:t>
                </a:r>
                <a:r>
                  <a:rPr lang="en-CA" dirty="0"/>
                  <a:t>from parameter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CA" dirty="0"/>
                  <a:t> is:</a:t>
                </a:r>
                <a:br>
                  <a:rPr lang="en-CA" dirty="0"/>
                </a:br>
                <a:br>
                  <a:rPr lang="en-CA" dirty="0"/>
                </a:b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𝐸𝑉𝑃𝑃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sub>
                    </m:sSub>
                    <m:func>
                      <m:func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CA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CA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𝔼</m:t>
                                </m:r>
                              </m:e>
                              <m:sub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d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𝑁𝐵</m:t>
                                </m:r>
                                <m:d>
                                  <m:dPr>
                                    <m:ctrlP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</m:e>
                    </m:func>
                    <m:r>
                      <a:rPr lang="en-CA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CA" b="0" i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CA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𝔼</m:t>
                                </m:r>
                              </m:e>
                              <m:sub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𝑁𝐵</m:t>
                                </m:r>
                                <m:d>
                                  <m:d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CA" dirty="0"/>
              </a:p>
              <a:p>
                <a:pPr marL="0" indent="0">
                  <a:buNone/>
                </a:pPr>
                <a:endParaRPr lang="en-CA" dirty="0"/>
              </a:p>
              <a:p>
                <a:pPr marL="0" indent="0">
                  <a:buNone/>
                </a:pPr>
                <a:r>
                  <a:rPr lang="en-CA" dirty="0"/>
                  <a:t>Where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</m:sSub>
                      <m:func>
                        <m:func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CA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CA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  <m:sub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𝛾</m:t>
                                      </m:r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𝑁𝐵</m:t>
                                  </m:r>
                                  <m:d>
                                    <m:dPr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𝛾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func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</m:sub>
                        <m:sup/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CA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CA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∈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CA">
                                          <a:latin typeface="Cambria Math" panose="02040503050406030204" pitchFamily="18" charset="0"/>
                                        </a:rPr>
                                        <m:t>Φ</m:t>
                                      </m:r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sub>
                                    <m:sup/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nary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𝑁𝐵</m:t>
                                      </m:r>
                                      <m:d>
                                        <m:dPr>
                                          <m:ctrlP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  <m: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CA" b="0" i="1" smtClean="0">
                                              <a:latin typeface="Cambria Math" panose="02040503050406030204" pitchFamily="18" charset="0"/>
                                            </a:rPr>
                                            <m:t>𝛾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br>
                  <a:rPr lang="en-CA" b="0" i="1" dirty="0">
                    <a:latin typeface="Cambria Math" panose="02040503050406030204" pitchFamily="18" charset="0"/>
                  </a:rPr>
                </a:br>
                <a:endParaRPr lang="en-CA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CA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CA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  <m:sub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𝑁𝐵</m:t>
                                  </m:r>
                                  <m:d>
                                    <m:d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func>
                      <m:r>
                        <a:rPr lang="en-CA" i="1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CA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𝐽</m:t>
                          </m:r>
                        </m:lim>
                      </m:limLow>
                      <m:nary>
                        <m:naryPr>
                          <m:chr m:val="∑"/>
                          <m:supHide m:val="on"/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Θ</m:t>
                          </m:r>
                        </m:sub>
                        <m:sup/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𝑁𝐵</m:t>
                          </m:r>
                          <m:d>
                            <m:d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nary>
                    </m:oMath>
                    <m:oMath>
                      <m:r>
                        <m:rPr>
                          <m:sty m:val="p"/>
                        </m:rPr>
                        <a:rPr lang="en-CA"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en-CA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Θ</m:t>
                          </m:r>
                          <m:r>
                            <a:rPr lang="en-CA" b="0" i="0" smtClean="0">
                              <a:latin typeface="Cambria Math" panose="02040503050406030204" pitchFamily="18" charset="0"/>
                            </a:rPr>
                            <m:t>\</m:t>
                          </m:r>
                          <m:r>
                            <m:rPr>
                              <m:sty m:val="p"/>
                            </m:rPr>
                            <a:rPr lang="en-CA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</m:d>
                      <m:r>
                        <a:rPr lang="en-CA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CA" b="0" i="0" smtClean="0"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⊆</m:t>
                      </m:r>
                      <m:r>
                        <m:rPr>
                          <m:sty m:val="p"/>
                        </m:rPr>
                        <a:rPr lang="en-CA" b="0" i="0" smtClean="0">
                          <a:latin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br>
                  <a:rPr lang="en-CA" dirty="0"/>
                </a:br>
                <a:endParaRPr lang="en-CA" dirty="0"/>
              </a:p>
              <a:p>
                <a:r>
                  <a:rPr lang="en-CA" dirty="0"/>
                  <a:t>Where:</a:t>
                </a:r>
                <a:br>
                  <a:rPr lang="en-CA" dirty="0"/>
                </a:br>
                <a:r>
                  <a:rPr lang="en-CA" dirty="0"/>
                  <a:t>-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CA" dirty="0"/>
                  <a:t> the parameter which we can observe </a:t>
                </a:r>
                <a:br>
                  <a:rPr lang="en-CA" dirty="0"/>
                </a:br>
                <a:r>
                  <a:rPr lang="en-CA" dirty="0"/>
                  <a:t>-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CA" dirty="0"/>
                  <a:t> is the index for all other uncertain variables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CA">
                        <a:latin typeface="Cambria Math" panose="02040503050406030204" pitchFamily="18" charset="0"/>
                      </a:rPr>
                      <m:t>Θ</m:t>
                    </m:r>
                    <m:r>
                      <a:rPr lang="en-CA">
                        <a:latin typeface="Cambria Math" panose="02040503050406030204" pitchFamily="18" charset="0"/>
                      </a:rPr>
                      <m:t>\</m:t>
                    </m:r>
                    <m:r>
                      <m:rPr>
                        <m:sty m:val="p"/>
                      </m:rPr>
                      <a:rPr lang="en-CA"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br>
                  <a:rPr lang="en-CA" dirty="0"/>
                </a:br>
                <a:r>
                  <a:rPr lang="en-CA" dirty="0"/>
                  <a:t>-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CA" dirty="0"/>
                  <a:t> is the index for current knowledge on all other parameters in the model given the list of states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br>
                  <a:rPr lang="en-CA" b="0" dirty="0"/>
                </a:br>
                <a:r>
                  <a:rPr lang="en-CA" b="0" dirty="0"/>
                  <a:t>-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CA" b="0" dirty="0"/>
                  <a:t> is a particular treatment from a list of possible treatments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CA" b="0" dirty="0"/>
                  <a:t>.</a:t>
                </a:r>
              </a:p>
              <a:p>
                <a:r>
                  <a:rPr lang="en-CA" b="0" dirty="0"/>
                  <a:t>Note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b="0" i="0" smtClean="0">
                        <a:latin typeface="Cambria Math" panose="02040503050406030204" pitchFamily="18" charset="0"/>
                      </a:rPr>
                      <m:t>Γ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CA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CA" b="0" dirty="0"/>
                  <a:t> then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𝐸𝑉𝑃𝑃𝐼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𝐸𝑉𝑃𝐼</m:t>
                    </m:r>
                  </m:oMath>
                </a14:m>
                <a:r>
                  <a:rPr lang="en-CA" b="0" dirty="0"/>
                  <a:t>.</a:t>
                </a:r>
              </a:p>
              <a:p>
                <a:r>
                  <a:rPr lang="en-CA" dirty="0"/>
                  <a:t>We like to calculate this statistic because identifies the value of doing some inspection before making a decision. (</a:t>
                </a:r>
                <a:r>
                  <a:rPr lang="en-CA" dirty="0" err="1"/>
                  <a:t>ie</a:t>
                </a:r>
                <a:r>
                  <a:rPr lang="en-CA" dirty="0"/>
                  <a:t>. Like with medical testing).</a:t>
                </a:r>
                <a:endParaRPr lang="en-CA" b="0" dirty="0"/>
              </a:p>
              <a:p>
                <a:r>
                  <a:rPr lang="en-CA" b="0" dirty="0"/>
                  <a:t>As said in the previous video this is a lot to take in, lets consider a simple decision tree with two treatments and four states of the world.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C2107D-8474-4A90-9FAB-F24C87C17E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33966"/>
                <a:ext cx="11137900" cy="5497186"/>
              </a:xfrm>
              <a:blipFill>
                <a:blip r:embed="rId4"/>
                <a:stretch>
                  <a:fillRect l="-164" t="-55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E523356E-F8DC-47F6-94B1-5F3B1628D8AA}"/>
              </a:ext>
            </a:extLst>
          </p:cNvPr>
          <p:cNvSpPr/>
          <p:nvPr/>
        </p:nvSpPr>
        <p:spPr>
          <a:xfrm>
            <a:off x="3273552" y="1690688"/>
            <a:ext cx="6108192" cy="585216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2D9C29-AC11-457E-BD45-1B96D41EDE5B}"/>
              </a:ext>
            </a:extLst>
          </p:cNvPr>
          <p:cNvSpPr/>
          <p:nvPr/>
        </p:nvSpPr>
        <p:spPr>
          <a:xfrm>
            <a:off x="2404872" y="2651760"/>
            <a:ext cx="7772400" cy="1819656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95381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536"/>
    </mc:Choice>
    <mc:Fallback xmlns="">
      <p:transition spd="slow" advTm="94536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7A0F0-1E8F-6589-1C6D-205417CF6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8B26D-251C-A50C-3CA9-D802FDA74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579823"/>
            <a:ext cx="11155680" cy="1463040"/>
          </a:xfrm>
        </p:spPr>
        <p:txBody>
          <a:bodyPr/>
          <a:lstStyle/>
          <a:p>
            <a:r>
              <a:rPr lang="en-CA" dirty="0"/>
              <a:t>What is EVPPI?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DAE51B-B5AC-2607-39B9-D8177F5754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33966"/>
                <a:ext cx="11137900" cy="5497186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CA" dirty="0"/>
                  <a:t>The </a:t>
                </a:r>
                <a:r>
                  <a:rPr lang="en-CA" b="1" dirty="0"/>
                  <a:t>expected value of perfect parameter information (EVPPI) </a:t>
                </a:r>
                <a:r>
                  <a:rPr lang="en-CA" dirty="0"/>
                  <a:t>from parameter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CA" dirty="0"/>
                  <a:t> is:</a:t>
                </a:r>
                <a:br>
                  <a:rPr lang="en-CA" dirty="0"/>
                </a:br>
                <a:br>
                  <a:rPr lang="en-CA" dirty="0"/>
                </a:b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𝐸𝑉𝑃𝑃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sub>
                    </m:sSub>
                    <m:func>
                      <m:func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CA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CA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𝔼</m:t>
                                </m:r>
                              </m:e>
                              <m:sub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d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𝑁𝐵</m:t>
                                </m:r>
                                <m:d>
                                  <m:dPr>
                                    <m:ctrlP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</m:e>
                    </m:func>
                    <m:r>
                      <a:rPr lang="en-CA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CA" b="0" i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CA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𝔼</m:t>
                                </m:r>
                              </m:e>
                              <m:sub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𝑁𝐵</m:t>
                                </m:r>
                                <m:d>
                                  <m:d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CA" dirty="0"/>
              </a:p>
              <a:p>
                <a:pPr marL="0" indent="0">
                  <a:buNone/>
                </a:pPr>
                <a:endParaRPr lang="en-CA" dirty="0"/>
              </a:p>
              <a:p>
                <a:pPr marL="0" indent="0">
                  <a:buNone/>
                </a:pPr>
                <a:r>
                  <a:rPr lang="en-CA" dirty="0"/>
                  <a:t>Where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</m:sSub>
                      <m:func>
                        <m:func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CA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CA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  <m:sub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𝛾</m:t>
                                      </m:r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𝑁𝐵</m:t>
                                  </m:r>
                                  <m:d>
                                    <m:dPr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𝛾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func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</m:sub>
                        <m:sup/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CA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CA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∈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CA">
                                          <a:latin typeface="Cambria Math" panose="02040503050406030204" pitchFamily="18" charset="0"/>
                                        </a:rPr>
                                        <m:t>Φ</m:t>
                                      </m:r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sub>
                                    <m:sup/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nary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𝑁𝐵</m:t>
                                      </m:r>
                                      <m:d>
                                        <m:dPr>
                                          <m:ctrlP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  <m: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CA" b="0" i="1" smtClean="0">
                                              <a:latin typeface="Cambria Math" panose="02040503050406030204" pitchFamily="18" charset="0"/>
                                            </a:rPr>
                                            <m:t>𝛾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br>
                  <a:rPr lang="en-CA" b="0" i="1" dirty="0">
                    <a:latin typeface="Cambria Math" panose="02040503050406030204" pitchFamily="18" charset="0"/>
                  </a:rPr>
                </a:br>
                <a:endParaRPr lang="en-CA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CA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CA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  <m:sub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𝑁𝐵</m:t>
                                  </m:r>
                                  <m:d>
                                    <m:d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func>
                      <m:r>
                        <a:rPr lang="en-CA" i="1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CA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𝐽</m:t>
                          </m:r>
                        </m:lim>
                      </m:limLow>
                      <m:nary>
                        <m:naryPr>
                          <m:chr m:val="∑"/>
                          <m:supHide m:val="on"/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Θ</m:t>
                          </m:r>
                        </m:sub>
                        <m:sup/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𝑁𝐵</m:t>
                          </m:r>
                          <m:d>
                            <m:d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nary>
                    </m:oMath>
                    <m:oMath>
                      <m:r>
                        <m:rPr>
                          <m:sty m:val="p"/>
                        </m:rPr>
                        <a:rPr lang="en-CA"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en-CA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Θ</m:t>
                          </m:r>
                          <m:r>
                            <a:rPr lang="en-CA" b="0" i="0" smtClean="0">
                              <a:latin typeface="Cambria Math" panose="02040503050406030204" pitchFamily="18" charset="0"/>
                            </a:rPr>
                            <m:t>\</m:t>
                          </m:r>
                          <m:r>
                            <m:rPr>
                              <m:sty m:val="p"/>
                            </m:rPr>
                            <a:rPr lang="en-CA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</m:d>
                      <m:r>
                        <a:rPr lang="en-CA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CA" b="0" i="0" smtClean="0"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⊆</m:t>
                      </m:r>
                      <m:r>
                        <m:rPr>
                          <m:sty m:val="p"/>
                        </m:rPr>
                        <a:rPr lang="en-CA" b="0" i="0" smtClean="0">
                          <a:latin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br>
                  <a:rPr lang="en-CA" dirty="0"/>
                </a:br>
                <a:endParaRPr lang="en-CA" dirty="0"/>
              </a:p>
              <a:p>
                <a:r>
                  <a:rPr lang="en-CA" dirty="0"/>
                  <a:t>Where:</a:t>
                </a:r>
                <a:br>
                  <a:rPr lang="en-CA" dirty="0"/>
                </a:br>
                <a:r>
                  <a:rPr lang="en-CA" dirty="0"/>
                  <a:t>-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CA" dirty="0"/>
                  <a:t> the parameter which we can observe </a:t>
                </a:r>
                <a:br>
                  <a:rPr lang="en-CA" dirty="0"/>
                </a:br>
                <a:r>
                  <a:rPr lang="en-CA" dirty="0"/>
                  <a:t>-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CA" dirty="0"/>
                  <a:t> is the index for all other uncertain variables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CA">
                        <a:latin typeface="Cambria Math" panose="02040503050406030204" pitchFamily="18" charset="0"/>
                      </a:rPr>
                      <m:t>Θ</m:t>
                    </m:r>
                    <m:r>
                      <a:rPr lang="en-CA">
                        <a:latin typeface="Cambria Math" panose="02040503050406030204" pitchFamily="18" charset="0"/>
                      </a:rPr>
                      <m:t>\</m:t>
                    </m:r>
                    <m:r>
                      <m:rPr>
                        <m:sty m:val="p"/>
                      </m:rPr>
                      <a:rPr lang="en-CA"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br>
                  <a:rPr lang="en-CA" dirty="0"/>
                </a:br>
                <a:r>
                  <a:rPr lang="en-CA" dirty="0"/>
                  <a:t>-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CA" dirty="0"/>
                  <a:t> is the index for current knowledge on all other parameters in the model given the list of states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br>
                  <a:rPr lang="en-CA" b="0" dirty="0"/>
                </a:br>
                <a:r>
                  <a:rPr lang="en-CA" b="0" dirty="0"/>
                  <a:t>-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CA" b="0" dirty="0"/>
                  <a:t> is a particular treatment from a list of possible treatments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CA" b="0" dirty="0"/>
                  <a:t>.</a:t>
                </a:r>
              </a:p>
              <a:p>
                <a:r>
                  <a:rPr lang="en-CA" b="0" dirty="0"/>
                  <a:t>Note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b="0" i="0" smtClean="0">
                        <a:latin typeface="Cambria Math" panose="02040503050406030204" pitchFamily="18" charset="0"/>
                      </a:rPr>
                      <m:t>Γ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CA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CA" b="0" dirty="0"/>
                  <a:t> then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𝐸𝑉𝑃𝑃𝐼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𝐸𝑉𝑃𝐼</m:t>
                    </m:r>
                  </m:oMath>
                </a14:m>
                <a:r>
                  <a:rPr lang="en-CA" b="0" dirty="0"/>
                  <a:t>.</a:t>
                </a:r>
              </a:p>
              <a:p>
                <a:r>
                  <a:rPr lang="en-CA" dirty="0"/>
                  <a:t>We like to calculate this statistic because identifies the value of doing some inspection before making a decision. (</a:t>
                </a:r>
                <a:r>
                  <a:rPr lang="en-CA" dirty="0" err="1"/>
                  <a:t>ie</a:t>
                </a:r>
                <a:r>
                  <a:rPr lang="en-CA" dirty="0"/>
                  <a:t>. Like with medical testing).</a:t>
                </a:r>
                <a:endParaRPr lang="en-CA" b="0" dirty="0"/>
              </a:p>
              <a:p>
                <a:r>
                  <a:rPr lang="en-CA" b="0" dirty="0"/>
                  <a:t>As said in the previous video this is a lot to take in, lets consider a simple decision tree with two treatments and four states of the world.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C2107D-8474-4A90-9FAB-F24C87C17E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33966"/>
                <a:ext cx="11137900" cy="5497186"/>
              </a:xfrm>
              <a:blipFill>
                <a:blip r:embed="rId4"/>
                <a:stretch>
                  <a:fillRect l="-164" t="-55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C451968B-5898-A967-3710-895DEBF4488C}"/>
              </a:ext>
            </a:extLst>
          </p:cNvPr>
          <p:cNvSpPr/>
          <p:nvPr/>
        </p:nvSpPr>
        <p:spPr>
          <a:xfrm>
            <a:off x="3273552" y="1690688"/>
            <a:ext cx="6108192" cy="585216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48CD74-8282-F627-CDC6-B9E21418E654}"/>
              </a:ext>
            </a:extLst>
          </p:cNvPr>
          <p:cNvSpPr/>
          <p:nvPr/>
        </p:nvSpPr>
        <p:spPr>
          <a:xfrm>
            <a:off x="2404872" y="2651760"/>
            <a:ext cx="7772400" cy="1819656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B05971-F438-3763-8342-76B926BB4F83}"/>
              </a:ext>
            </a:extLst>
          </p:cNvPr>
          <p:cNvSpPr txBox="1"/>
          <p:nvPr/>
        </p:nvSpPr>
        <p:spPr>
          <a:xfrm rot="20351177">
            <a:off x="1462487" y="2301115"/>
            <a:ext cx="9439049" cy="2862322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sz="6000" b="1" dirty="0">
                <a:solidFill>
                  <a:srgbClr val="C00000"/>
                </a:solidFill>
              </a:rPr>
              <a:t>DON’T GET STRESSED OUT ABOUT THIS, LETS LOOK AT SOME PICTURES</a:t>
            </a:r>
          </a:p>
        </p:txBody>
      </p:sp>
    </p:spTree>
    <p:extLst>
      <p:ext uri="{BB962C8B-B14F-4D97-AF65-F5344CB8AC3E}">
        <p14:creationId xmlns:p14="http://schemas.microsoft.com/office/powerpoint/2010/main" val="403434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536"/>
    </mc:Choice>
    <mc:Fallback xmlns="">
      <p:transition spd="slow" advTm="94536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2B80E-31AD-4364-9EE8-E81C4A6B0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4025" y="74520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CA" dirty="0"/>
              <a:t>Expected Value without Perfect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687A47-8D9F-41EC-9C68-C46F8030E1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4192" y="1708013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CA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CA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  <m:sub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𝑁𝐵</m:t>
                                  </m:r>
                                  <m:d>
                                    <m:dPr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687A47-8D9F-41EC-9C68-C46F8030E1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4192" y="1708013"/>
                <a:ext cx="10515600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52045E9-E913-4D4B-A7AB-C0FBFB4EC7D8}"/>
              </a:ext>
            </a:extLst>
          </p:cNvPr>
          <p:cNvCxnSpPr>
            <a:cxnSpLocks/>
            <a:stCxn id="43" idx="3"/>
          </p:cNvCxnSpPr>
          <p:nvPr/>
        </p:nvCxnSpPr>
        <p:spPr>
          <a:xfrm>
            <a:off x="3104339" y="4590585"/>
            <a:ext cx="763573" cy="1119803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2D3AEF4-65CF-403A-89C8-444C29624F0A}"/>
              </a:ext>
            </a:extLst>
          </p:cNvPr>
          <p:cNvCxnSpPr>
            <a:cxnSpLocks/>
            <a:stCxn id="43" idx="3"/>
          </p:cNvCxnSpPr>
          <p:nvPr/>
        </p:nvCxnSpPr>
        <p:spPr>
          <a:xfrm flipV="1">
            <a:off x="3104339" y="3568923"/>
            <a:ext cx="471346" cy="1021662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3F42095-E419-4CE3-B783-A95DF8272467}"/>
              </a:ext>
            </a:extLst>
          </p:cNvPr>
          <p:cNvSpPr/>
          <p:nvPr/>
        </p:nvSpPr>
        <p:spPr>
          <a:xfrm>
            <a:off x="4002405" y="3001843"/>
            <a:ext cx="1232535" cy="475937"/>
          </a:xfrm>
          <a:custGeom>
            <a:avLst/>
            <a:gdLst>
              <a:gd name="connsiteX0" fmla="*/ 0 w 2971800"/>
              <a:gd name="connsiteY0" fmla="*/ 658368 h 658368"/>
              <a:gd name="connsiteX1" fmla="*/ 896112 w 2971800"/>
              <a:gd name="connsiteY1" fmla="*/ 9144 h 658368"/>
              <a:gd name="connsiteX2" fmla="*/ 2971800 w 2971800"/>
              <a:gd name="connsiteY2" fmla="*/ 0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0" h="658368">
                <a:moveTo>
                  <a:pt x="0" y="658368"/>
                </a:moveTo>
                <a:lnTo>
                  <a:pt x="896112" y="9144"/>
                </a:lnTo>
                <a:lnTo>
                  <a:pt x="2971800" y="0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CEE5417-D903-4674-851C-8B6C42B671DD}"/>
              </a:ext>
            </a:extLst>
          </p:cNvPr>
          <p:cNvSpPr/>
          <p:nvPr/>
        </p:nvSpPr>
        <p:spPr>
          <a:xfrm>
            <a:off x="4288537" y="5193751"/>
            <a:ext cx="1188714" cy="585773"/>
          </a:xfrm>
          <a:custGeom>
            <a:avLst/>
            <a:gdLst>
              <a:gd name="connsiteX0" fmla="*/ 0 w 2971800"/>
              <a:gd name="connsiteY0" fmla="*/ 658368 h 658368"/>
              <a:gd name="connsiteX1" fmla="*/ 896112 w 2971800"/>
              <a:gd name="connsiteY1" fmla="*/ 9144 h 658368"/>
              <a:gd name="connsiteX2" fmla="*/ 2971800 w 2971800"/>
              <a:gd name="connsiteY2" fmla="*/ 0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0" h="658368">
                <a:moveTo>
                  <a:pt x="0" y="658368"/>
                </a:moveTo>
                <a:lnTo>
                  <a:pt x="896112" y="9144"/>
                </a:lnTo>
                <a:lnTo>
                  <a:pt x="2971800" y="0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52EFF3E-8CF1-4BA0-88CE-863F1DEE66A3}"/>
              </a:ext>
            </a:extLst>
          </p:cNvPr>
          <p:cNvSpPr/>
          <p:nvPr/>
        </p:nvSpPr>
        <p:spPr>
          <a:xfrm flipV="1">
            <a:off x="3996309" y="3582763"/>
            <a:ext cx="1325879" cy="600102"/>
          </a:xfrm>
          <a:custGeom>
            <a:avLst/>
            <a:gdLst>
              <a:gd name="connsiteX0" fmla="*/ 0 w 2971800"/>
              <a:gd name="connsiteY0" fmla="*/ 658368 h 658368"/>
              <a:gd name="connsiteX1" fmla="*/ 896112 w 2971800"/>
              <a:gd name="connsiteY1" fmla="*/ 9144 h 658368"/>
              <a:gd name="connsiteX2" fmla="*/ 2971800 w 2971800"/>
              <a:gd name="connsiteY2" fmla="*/ 0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0" h="658368">
                <a:moveTo>
                  <a:pt x="0" y="658368"/>
                </a:moveTo>
                <a:lnTo>
                  <a:pt x="896112" y="9144"/>
                </a:lnTo>
                <a:lnTo>
                  <a:pt x="2971800" y="0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3CE974A-08F9-45BE-8B1A-440DAB3B8406}"/>
              </a:ext>
            </a:extLst>
          </p:cNvPr>
          <p:cNvSpPr/>
          <p:nvPr/>
        </p:nvSpPr>
        <p:spPr>
          <a:xfrm flipV="1">
            <a:off x="4315304" y="5755570"/>
            <a:ext cx="1212053" cy="638138"/>
          </a:xfrm>
          <a:custGeom>
            <a:avLst/>
            <a:gdLst>
              <a:gd name="connsiteX0" fmla="*/ 0 w 2971800"/>
              <a:gd name="connsiteY0" fmla="*/ 658368 h 658368"/>
              <a:gd name="connsiteX1" fmla="*/ 896112 w 2971800"/>
              <a:gd name="connsiteY1" fmla="*/ 9144 h 658368"/>
              <a:gd name="connsiteX2" fmla="*/ 2971800 w 2971800"/>
              <a:gd name="connsiteY2" fmla="*/ 0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0" h="658368">
                <a:moveTo>
                  <a:pt x="0" y="658368"/>
                </a:moveTo>
                <a:lnTo>
                  <a:pt x="896112" y="9144"/>
                </a:lnTo>
                <a:lnTo>
                  <a:pt x="2971800" y="0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CF963C0-9FAF-4C34-BB0E-7584A9B38C9F}"/>
              </a:ext>
            </a:extLst>
          </p:cNvPr>
          <p:cNvSpPr/>
          <p:nvPr/>
        </p:nvSpPr>
        <p:spPr>
          <a:xfrm>
            <a:off x="5328902" y="3872711"/>
            <a:ext cx="457200" cy="464121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C550625-1EF7-4997-9AEB-64AC3F9F0805}"/>
              </a:ext>
            </a:extLst>
          </p:cNvPr>
          <p:cNvSpPr/>
          <p:nvPr/>
        </p:nvSpPr>
        <p:spPr>
          <a:xfrm>
            <a:off x="5530977" y="6108992"/>
            <a:ext cx="457200" cy="464121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1A8B3BD-C31D-4A47-97B5-F9AB45C1A218}"/>
              </a:ext>
            </a:extLst>
          </p:cNvPr>
          <p:cNvSpPr/>
          <p:nvPr/>
        </p:nvSpPr>
        <p:spPr>
          <a:xfrm flipV="1">
            <a:off x="5981416" y="6306812"/>
            <a:ext cx="1434043" cy="416197"/>
          </a:xfrm>
          <a:custGeom>
            <a:avLst/>
            <a:gdLst>
              <a:gd name="connsiteX0" fmla="*/ 0 w 2971800"/>
              <a:gd name="connsiteY0" fmla="*/ 658368 h 658368"/>
              <a:gd name="connsiteX1" fmla="*/ 896112 w 2971800"/>
              <a:gd name="connsiteY1" fmla="*/ 9144 h 658368"/>
              <a:gd name="connsiteX2" fmla="*/ 2971800 w 2971800"/>
              <a:gd name="connsiteY2" fmla="*/ 0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0" h="658368">
                <a:moveTo>
                  <a:pt x="0" y="658368"/>
                </a:moveTo>
                <a:lnTo>
                  <a:pt x="896112" y="9144"/>
                </a:lnTo>
                <a:lnTo>
                  <a:pt x="2971800" y="0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56B0D0A6-738F-4EEA-85EF-B4297772FA9C}"/>
              </a:ext>
            </a:extLst>
          </p:cNvPr>
          <p:cNvSpPr/>
          <p:nvPr/>
        </p:nvSpPr>
        <p:spPr>
          <a:xfrm>
            <a:off x="5999701" y="5890616"/>
            <a:ext cx="1354126" cy="416198"/>
          </a:xfrm>
          <a:custGeom>
            <a:avLst/>
            <a:gdLst>
              <a:gd name="connsiteX0" fmla="*/ 0 w 2971800"/>
              <a:gd name="connsiteY0" fmla="*/ 658368 h 658368"/>
              <a:gd name="connsiteX1" fmla="*/ 896112 w 2971800"/>
              <a:gd name="connsiteY1" fmla="*/ 9144 h 658368"/>
              <a:gd name="connsiteX2" fmla="*/ 2971800 w 2971800"/>
              <a:gd name="connsiteY2" fmla="*/ 0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0" h="658368">
                <a:moveTo>
                  <a:pt x="0" y="658368"/>
                </a:moveTo>
                <a:lnTo>
                  <a:pt x="896112" y="9144"/>
                </a:lnTo>
                <a:lnTo>
                  <a:pt x="2971800" y="0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9E2113B9-6A55-42A6-9905-A4545212DB71}"/>
              </a:ext>
            </a:extLst>
          </p:cNvPr>
          <p:cNvSpPr/>
          <p:nvPr/>
        </p:nvSpPr>
        <p:spPr>
          <a:xfrm flipV="1">
            <a:off x="5919784" y="5174465"/>
            <a:ext cx="1434043" cy="416197"/>
          </a:xfrm>
          <a:custGeom>
            <a:avLst/>
            <a:gdLst>
              <a:gd name="connsiteX0" fmla="*/ 0 w 2971800"/>
              <a:gd name="connsiteY0" fmla="*/ 658368 h 658368"/>
              <a:gd name="connsiteX1" fmla="*/ 896112 w 2971800"/>
              <a:gd name="connsiteY1" fmla="*/ 9144 h 658368"/>
              <a:gd name="connsiteX2" fmla="*/ 2971800 w 2971800"/>
              <a:gd name="connsiteY2" fmla="*/ 0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0" h="658368">
                <a:moveTo>
                  <a:pt x="0" y="658368"/>
                </a:moveTo>
                <a:lnTo>
                  <a:pt x="896112" y="9144"/>
                </a:lnTo>
                <a:lnTo>
                  <a:pt x="2971800" y="0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D079F156-F0AA-400A-8813-173B9E82A2B9}"/>
              </a:ext>
            </a:extLst>
          </p:cNvPr>
          <p:cNvSpPr/>
          <p:nvPr/>
        </p:nvSpPr>
        <p:spPr>
          <a:xfrm>
            <a:off x="5919308" y="4821645"/>
            <a:ext cx="1434519" cy="416198"/>
          </a:xfrm>
          <a:custGeom>
            <a:avLst/>
            <a:gdLst>
              <a:gd name="connsiteX0" fmla="*/ 0 w 2971800"/>
              <a:gd name="connsiteY0" fmla="*/ 658368 h 658368"/>
              <a:gd name="connsiteX1" fmla="*/ 896112 w 2971800"/>
              <a:gd name="connsiteY1" fmla="*/ 9144 h 658368"/>
              <a:gd name="connsiteX2" fmla="*/ 2971800 w 2971800"/>
              <a:gd name="connsiteY2" fmla="*/ 0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0" h="658368">
                <a:moveTo>
                  <a:pt x="0" y="658368"/>
                </a:moveTo>
                <a:lnTo>
                  <a:pt x="896112" y="9144"/>
                </a:lnTo>
                <a:lnTo>
                  <a:pt x="2971800" y="0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0C9E0D9-2210-425A-8AB5-EBCB7F8631D6}"/>
              </a:ext>
            </a:extLst>
          </p:cNvPr>
          <p:cNvSpPr/>
          <p:nvPr/>
        </p:nvSpPr>
        <p:spPr>
          <a:xfrm flipV="1">
            <a:off x="5786340" y="4075248"/>
            <a:ext cx="1567487" cy="416197"/>
          </a:xfrm>
          <a:custGeom>
            <a:avLst/>
            <a:gdLst>
              <a:gd name="connsiteX0" fmla="*/ 0 w 2971800"/>
              <a:gd name="connsiteY0" fmla="*/ 658368 h 658368"/>
              <a:gd name="connsiteX1" fmla="*/ 896112 w 2971800"/>
              <a:gd name="connsiteY1" fmla="*/ 9144 h 658368"/>
              <a:gd name="connsiteX2" fmla="*/ 2971800 w 2971800"/>
              <a:gd name="connsiteY2" fmla="*/ 0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0" h="658368">
                <a:moveTo>
                  <a:pt x="0" y="658368"/>
                </a:moveTo>
                <a:lnTo>
                  <a:pt x="896112" y="9144"/>
                </a:lnTo>
                <a:lnTo>
                  <a:pt x="2971800" y="0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3C0199BE-9D83-4DAB-9956-9E2EA5F5F4F7}"/>
              </a:ext>
            </a:extLst>
          </p:cNvPr>
          <p:cNvSpPr/>
          <p:nvPr/>
        </p:nvSpPr>
        <p:spPr>
          <a:xfrm>
            <a:off x="5785864" y="3722429"/>
            <a:ext cx="1568192" cy="416198"/>
          </a:xfrm>
          <a:custGeom>
            <a:avLst/>
            <a:gdLst>
              <a:gd name="connsiteX0" fmla="*/ 0 w 2971800"/>
              <a:gd name="connsiteY0" fmla="*/ 658368 h 658368"/>
              <a:gd name="connsiteX1" fmla="*/ 896112 w 2971800"/>
              <a:gd name="connsiteY1" fmla="*/ 9144 h 658368"/>
              <a:gd name="connsiteX2" fmla="*/ 2971800 w 2971800"/>
              <a:gd name="connsiteY2" fmla="*/ 0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0" h="658368">
                <a:moveTo>
                  <a:pt x="0" y="658368"/>
                </a:moveTo>
                <a:lnTo>
                  <a:pt x="896112" y="9144"/>
                </a:lnTo>
                <a:lnTo>
                  <a:pt x="2971800" y="0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F40EE038-301F-40FC-B103-DCF004CE3E5D}"/>
              </a:ext>
            </a:extLst>
          </p:cNvPr>
          <p:cNvSpPr/>
          <p:nvPr/>
        </p:nvSpPr>
        <p:spPr>
          <a:xfrm flipV="1">
            <a:off x="5649182" y="2976032"/>
            <a:ext cx="1704645" cy="392580"/>
          </a:xfrm>
          <a:custGeom>
            <a:avLst/>
            <a:gdLst>
              <a:gd name="connsiteX0" fmla="*/ 0 w 2971800"/>
              <a:gd name="connsiteY0" fmla="*/ 658368 h 658368"/>
              <a:gd name="connsiteX1" fmla="*/ 896112 w 2971800"/>
              <a:gd name="connsiteY1" fmla="*/ 9144 h 658368"/>
              <a:gd name="connsiteX2" fmla="*/ 2971800 w 2971800"/>
              <a:gd name="connsiteY2" fmla="*/ 0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0" h="658368">
                <a:moveTo>
                  <a:pt x="0" y="658368"/>
                </a:moveTo>
                <a:lnTo>
                  <a:pt x="896112" y="9144"/>
                </a:lnTo>
                <a:lnTo>
                  <a:pt x="2971800" y="0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0BA4AE13-DB75-43B1-A398-3816AB51684D}"/>
              </a:ext>
            </a:extLst>
          </p:cNvPr>
          <p:cNvSpPr/>
          <p:nvPr/>
        </p:nvSpPr>
        <p:spPr>
          <a:xfrm>
            <a:off x="5648706" y="2623211"/>
            <a:ext cx="1705260" cy="392581"/>
          </a:xfrm>
          <a:custGeom>
            <a:avLst/>
            <a:gdLst>
              <a:gd name="connsiteX0" fmla="*/ 0 w 2971800"/>
              <a:gd name="connsiteY0" fmla="*/ 658368 h 658368"/>
              <a:gd name="connsiteX1" fmla="*/ 896112 w 2971800"/>
              <a:gd name="connsiteY1" fmla="*/ 9144 h 658368"/>
              <a:gd name="connsiteX2" fmla="*/ 2971800 w 2971800"/>
              <a:gd name="connsiteY2" fmla="*/ 0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0" h="658368">
                <a:moveTo>
                  <a:pt x="0" y="658368"/>
                </a:moveTo>
                <a:lnTo>
                  <a:pt x="896112" y="9144"/>
                </a:lnTo>
                <a:lnTo>
                  <a:pt x="2971800" y="0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4E80BA5-264E-4C2E-AA3E-141637AE23B5}"/>
              </a:ext>
            </a:extLst>
          </p:cNvPr>
          <p:cNvSpPr/>
          <p:nvPr/>
        </p:nvSpPr>
        <p:spPr>
          <a:xfrm>
            <a:off x="5214647" y="2808694"/>
            <a:ext cx="457200" cy="464121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6D70363-6EC9-4E87-A588-130DD6A70677}"/>
              </a:ext>
            </a:extLst>
          </p:cNvPr>
          <p:cNvSpPr/>
          <p:nvPr/>
        </p:nvSpPr>
        <p:spPr>
          <a:xfrm>
            <a:off x="5477250" y="4969429"/>
            <a:ext cx="457200" cy="464121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E724658-7582-4358-830A-1850635EF2F6}"/>
              </a:ext>
            </a:extLst>
          </p:cNvPr>
          <p:cNvSpPr/>
          <p:nvPr/>
        </p:nvSpPr>
        <p:spPr>
          <a:xfrm>
            <a:off x="2683715" y="4366557"/>
            <a:ext cx="420624" cy="44805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479A412-4268-41D5-96D4-3C159CD90142}"/>
              </a:ext>
            </a:extLst>
          </p:cNvPr>
          <p:cNvSpPr/>
          <p:nvPr/>
        </p:nvSpPr>
        <p:spPr>
          <a:xfrm>
            <a:off x="3570208" y="3270540"/>
            <a:ext cx="457200" cy="464121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B93FA4B-8774-4F56-AAC9-F499A4ACC38C}"/>
              </a:ext>
            </a:extLst>
          </p:cNvPr>
          <p:cNvSpPr/>
          <p:nvPr/>
        </p:nvSpPr>
        <p:spPr>
          <a:xfrm>
            <a:off x="3846004" y="5455316"/>
            <a:ext cx="457200" cy="464121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9CDFF36-1212-4A46-838C-B92262E440A8}"/>
              </a:ext>
            </a:extLst>
          </p:cNvPr>
          <p:cNvSpPr txBox="1"/>
          <p:nvPr/>
        </p:nvSpPr>
        <p:spPr>
          <a:xfrm>
            <a:off x="2075689" y="3411495"/>
            <a:ext cx="1500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Treatment A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84EAF93-45B6-4CDA-A774-3D3F19CE7825}"/>
              </a:ext>
            </a:extLst>
          </p:cNvPr>
          <p:cNvSpPr txBox="1"/>
          <p:nvPr/>
        </p:nvSpPr>
        <p:spPr>
          <a:xfrm>
            <a:off x="2158288" y="5114977"/>
            <a:ext cx="1334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/>
              <a:t>Treatment B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327C782-D3DF-49E0-B56F-591203EA9CDC}"/>
              </a:ext>
            </a:extLst>
          </p:cNvPr>
          <p:cNvSpPr txBox="1"/>
          <p:nvPr/>
        </p:nvSpPr>
        <p:spPr>
          <a:xfrm>
            <a:off x="4362756" y="3005966"/>
            <a:ext cx="885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State 1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29CED72-60E1-4347-8DA9-59E04D9783EA}"/>
              </a:ext>
            </a:extLst>
          </p:cNvPr>
          <p:cNvSpPr txBox="1"/>
          <p:nvPr/>
        </p:nvSpPr>
        <p:spPr>
          <a:xfrm>
            <a:off x="4362756" y="3780827"/>
            <a:ext cx="885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State 2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C595E6A-8F89-410D-A39C-726AC268C916}"/>
              </a:ext>
            </a:extLst>
          </p:cNvPr>
          <p:cNvSpPr txBox="1"/>
          <p:nvPr/>
        </p:nvSpPr>
        <p:spPr>
          <a:xfrm>
            <a:off x="4671762" y="5197150"/>
            <a:ext cx="885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State 1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3FE9808-8398-4B7D-A597-C808C075CB07}"/>
              </a:ext>
            </a:extLst>
          </p:cNvPr>
          <p:cNvSpPr txBox="1"/>
          <p:nvPr/>
        </p:nvSpPr>
        <p:spPr>
          <a:xfrm>
            <a:off x="4671762" y="5972011"/>
            <a:ext cx="885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State 2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CB22AEA-72F7-4042-85CB-4B313D1A6809}"/>
              </a:ext>
            </a:extLst>
          </p:cNvPr>
          <p:cNvSpPr txBox="1"/>
          <p:nvPr/>
        </p:nvSpPr>
        <p:spPr>
          <a:xfrm>
            <a:off x="6183877" y="2594064"/>
            <a:ext cx="1220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Outcome 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87A0F3D-BC78-4E2E-8D83-FC8920652604}"/>
              </a:ext>
            </a:extLst>
          </p:cNvPr>
          <p:cNvSpPr txBox="1"/>
          <p:nvPr/>
        </p:nvSpPr>
        <p:spPr>
          <a:xfrm>
            <a:off x="6186113" y="3023747"/>
            <a:ext cx="1220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Outcome 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6FF575A-F179-4904-8806-DCCD8A1AFCB3}"/>
              </a:ext>
            </a:extLst>
          </p:cNvPr>
          <p:cNvSpPr txBox="1"/>
          <p:nvPr/>
        </p:nvSpPr>
        <p:spPr>
          <a:xfrm>
            <a:off x="6119903" y="3688045"/>
            <a:ext cx="1220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Outcome 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AB5D7A7-1A37-4903-ACFB-5609A2A66FAE}"/>
              </a:ext>
            </a:extLst>
          </p:cNvPr>
          <p:cNvSpPr txBox="1"/>
          <p:nvPr/>
        </p:nvSpPr>
        <p:spPr>
          <a:xfrm>
            <a:off x="6151825" y="4169589"/>
            <a:ext cx="1220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Outcome 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D60AB2E-D9AF-43D0-956D-28DA80174E5D}"/>
              </a:ext>
            </a:extLst>
          </p:cNvPr>
          <p:cNvSpPr txBox="1"/>
          <p:nvPr/>
        </p:nvSpPr>
        <p:spPr>
          <a:xfrm>
            <a:off x="6269065" y="4777125"/>
            <a:ext cx="1220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Outcome 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5108E91-792F-4541-8F4E-BEAF877A2D91}"/>
              </a:ext>
            </a:extLst>
          </p:cNvPr>
          <p:cNvSpPr txBox="1"/>
          <p:nvPr/>
        </p:nvSpPr>
        <p:spPr>
          <a:xfrm>
            <a:off x="6271301" y="5206808"/>
            <a:ext cx="1220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Outcome 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255A144-C1D6-4ED1-A30A-CE6AC99917EB}"/>
              </a:ext>
            </a:extLst>
          </p:cNvPr>
          <p:cNvSpPr txBox="1"/>
          <p:nvPr/>
        </p:nvSpPr>
        <p:spPr>
          <a:xfrm>
            <a:off x="6280461" y="5874748"/>
            <a:ext cx="1220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Outcome 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3CE9984-A180-4740-BC46-74A421D75CBC}"/>
              </a:ext>
            </a:extLst>
          </p:cNvPr>
          <p:cNvSpPr txBox="1"/>
          <p:nvPr/>
        </p:nvSpPr>
        <p:spPr>
          <a:xfrm>
            <a:off x="6280461" y="6357992"/>
            <a:ext cx="1220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Outcome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29A85E-A186-410B-821D-9855C87E93ED}"/>
                  </a:ext>
                </a:extLst>
              </p:cNvPr>
              <p:cNvSpPr txBox="1"/>
              <p:nvPr/>
            </p:nvSpPr>
            <p:spPr>
              <a:xfrm>
                <a:off x="7404147" y="2458061"/>
                <a:ext cx="13098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29A85E-A186-410B-821D-9855C87E9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4147" y="2458061"/>
                <a:ext cx="130984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F63CC2D-D4F7-49CD-BD4F-CD219E9CFB7B}"/>
                  </a:ext>
                </a:extLst>
              </p:cNvPr>
              <p:cNvSpPr txBox="1"/>
              <p:nvPr/>
            </p:nvSpPr>
            <p:spPr>
              <a:xfrm>
                <a:off x="7356975" y="3141539"/>
                <a:ext cx="1321067" cy="394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F63CC2D-D4F7-49CD-BD4F-CD219E9CFB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6975" y="3141539"/>
                <a:ext cx="1321067" cy="394916"/>
              </a:xfrm>
              <a:prstGeom prst="rect">
                <a:avLst/>
              </a:prstGeom>
              <a:blipFill>
                <a:blip r:embed="rId6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84FE3FD-D0DE-4813-B96A-312D42CC6A40}"/>
                  </a:ext>
                </a:extLst>
              </p:cNvPr>
              <p:cNvSpPr txBox="1"/>
              <p:nvPr/>
            </p:nvSpPr>
            <p:spPr>
              <a:xfrm>
                <a:off x="7340173" y="3579853"/>
                <a:ext cx="13098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84FE3FD-D0DE-4813-B96A-312D42CC6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0173" y="3579853"/>
                <a:ext cx="130984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4AE2292-D8D8-40CD-A866-82523F35F0CC}"/>
                  </a:ext>
                </a:extLst>
              </p:cNvPr>
              <p:cNvSpPr txBox="1"/>
              <p:nvPr/>
            </p:nvSpPr>
            <p:spPr>
              <a:xfrm>
                <a:off x="7436574" y="4235936"/>
                <a:ext cx="13098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4AE2292-D8D8-40CD-A866-82523F35F0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6574" y="4235936"/>
                <a:ext cx="130984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F67FB99-061E-4197-81AA-E56C2CD2920F}"/>
                  </a:ext>
                </a:extLst>
              </p:cNvPr>
              <p:cNvSpPr txBox="1"/>
              <p:nvPr/>
            </p:nvSpPr>
            <p:spPr>
              <a:xfrm>
                <a:off x="7397747" y="4605268"/>
                <a:ext cx="13360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F67FB99-061E-4197-81AA-E56C2CD292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7747" y="4605268"/>
                <a:ext cx="1336007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7498801-7A06-4B0D-AA0E-B4271EF771C1}"/>
                  </a:ext>
                </a:extLst>
              </p:cNvPr>
              <p:cNvSpPr txBox="1"/>
              <p:nvPr/>
            </p:nvSpPr>
            <p:spPr>
              <a:xfrm>
                <a:off x="7543788" y="5334732"/>
                <a:ext cx="13360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7498801-7A06-4B0D-AA0E-B4271EF771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3788" y="5334732"/>
                <a:ext cx="1336007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D4B1FAE-0C0D-4287-8ADC-69737F4572E8}"/>
                  </a:ext>
                </a:extLst>
              </p:cNvPr>
              <p:cNvSpPr txBox="1"/>
              <p:nvPr/>
            </p:nvSpPr>
            <p:spPr>
              <a:xfrm>
                <a:off x="7543788" y="5729383"/>
                <a:ext cx="13360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D4B1FAE-0C0D-4287-8ADC-69737F4572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3788" y="5729383"/>
                <a:ext cx="1336007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5BF62EB1-3CA1-41EB-9E89-C674D79DFC19}"/>
                  </a:ext>
                </a:extLst>
              </p:cNvPr>
              <p:cNvSpPr txBox="1"/>
              <p:nvPr/>
            </p:nvSpPr>
            <p:spPr>
              <a:xfrm>
                <a:off x="7543938" y="6460226"/>
                <a:ext cx="13360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5BF62EB1-3CA1-41EB-9E89-C674D79DFC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3938" y="6460226"/>
                <a:ext cx="1336007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3451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175"/>
    </mc:Choice>
    <mc:Fallback xmlns="">
      <p:transition spd="slow" advTm="28175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2B80E-31AD-4364-9EE8-E81C4A6B0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632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CA" dirty="0"/>
              <a:t>Expected Value without Perfect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687A47-8D9F-41EC-9C68-C46F8030E1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4192" y="1708013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CA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CA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  <m:sub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𝑁𝐵</m:t>
                                  </m:r>
                                  <m:d>
                                    <m:dPr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687A47-8D9F-41EC-9C68-C46F8030E1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4192" y="1708013"/>
                <a:ext cx="10515600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52045E9-E913-4D4B-A7AB-C0FBFB4EC7D8}"/>
              </a:ext>
            </a:extLst>
          </p:cNvPr>
          <p:cNvCxnSpPr>
            <a:cxnSpLocks/>
            <a:stCxn id="43" idx="3"/>
          </p:cNvCxnSpPr>
          <p:nvPr/>
        </p:nvCxnSpPr>
        <p:spPr>
          <a:xfrm>
            <a:off x="3104339" y="4590585"/>
            <a:ext cx="763573" cy="1119803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2D3AEF4-65CF-403A-89C8-444C29624F0A}"/>
              </a:ext>
            </a:extLst>
          </p:cNvPr>
          <p:cNvCxnSpPr>
            <a:cxnSpLocks/>
            <a:stCxn id="43" idx="3"/>
          </p:cNvCxnSpPr>
          <p:nvPr/>
        </p:nvCxnSpPr>
        <p:spPr>
          <a:xfrm flipV="1">
            <a:off x="3104339" y="3568923"/>
            <a:ext cx="471346" cy="1021662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3F42095-E419-4CE3-B783-A95DF8272467}"/>
              </a:ext>
            </a:extLst>
          </p:cNvPr>
          <p:cNvSpPr/>
          <p:nvPr/>
        </p:nvSpPr>
        <p:spPr>
          <a:xfrm>
            <a:off x="4002405" y="3001843"/>
            <a:ext cx="1232535" cy="475937"/>
          </a:xfrm>
          <a:custGeom>
            <a:avLst/>
            <a:gdLst>
              <a:gd name="connsiteX0" fmla="*/ 0 w 2971800"/>
              <a:gd name="connsiteY0" fmla="*/ 658368 h 658368"/>
              <a:gd name="connsiteX1" fmla="*/ 896112 w 2971800"/>
              <a:gd name="connsiteY1" fmla="*/ 9144 h 658368"/>
              <a:gd name="connsiteX2" fmla="*/ 2971800 w 2971800"/>
              <a:gd name="connsiteY2" fmla="*/ 0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0" h="658368">
                <a:moveTo>
                  <a:pt x="0" y="658368"/>
                </a:moveTo>
                <a:lnTo>
                  <a:pt x="896112" y="9144"/>
                </a:lnTo>
                <a:lnTo>
                  <a:pt x="2971800" y="0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CEE5417-D903-4674-851C-8B6C42B671DD}"/>
              </a:ext>
            </a:extLst>
          </p:cNvPr>
          <p:cNvSpPr/>
          <p:nvPr/>
        </p:nvSpPr>
        <p:spPr>
          <a:xfrm>
            <a:off x="4288537" y="5193751"/>
            <a:ext cx="1188714" cy="585773"/>
          </a:xfrm>
          <a:custGeom>
            <a:avLst/>
            <a:gdLst>
              <a:gd name="connsiteX0" fmla="*/ 0 w 2971800"/>
              <a:gd name="connsiteY0" fmla="*/ 658368 h 658368"/>
              <a:gd name="connsiteX1" fmla="*/ 896112 w 2971800"/>
              <a:gd name="connsiteY1" fmla="*/ 9144 h 658368"/>
              <a:gd name="connsiteX2" fmla="*/ 2971800 w 2971800"/>
              <a:gd name="connsiteY2" fmla="*/ 0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0" h="658368">
                <a:moveTo>
                  <a:pt x="0" y="658368"/>
                </a:moveTo>
                <a:lnTo>
                  <a:pt x="896112" y="9144"/>
                </a:lnTo>
                <a:lnTo>
                  <a:pt x="2971800" y="0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52EFF3E-8CF1-4BA0-88CE-863F1DEE66A3}"/>
              </a:ext>
            </a:extLst>
          </p:cNvPr>
          <p:cNvSpPr/>
          <p:nvPr/>
        </p:nvSpPr>
        <p:spPr>
          <a:xfrm flipV="1">
            <a:off x="3996309" y="3582763"/>
            <a:ext cx="1325879" cy="600102"/>
          </a:xfrm>
          <a:custGeom>
            <a:avLst/>
            <a:gdLst>
              <a:gd name="connsiteX0" fmla="*/ 0 w 2971800"/>
              <a:gd name="connsiteY0" fmla="*/ 658368 h 658368"/>
              <a:gd name="connsiteX1" fmla="*/ 896112 w 2971800"/>
              <a:gd name="connsiteY1" fmla="*/ 9144 h 658368"/>
              <a:gd name="connsiteX2" fmla="*/ 2971800 w 2971800"/>
              <a:gd name="connsiteY2" fmla="*/ 0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0" h="658368">
                <a:moveTo>
                  <a:pt x="0" y="658368"/>
                </a:moveTo>
                <a:lnTo>
                  <a:pt x="896112" y="9144"/>
                </a:lnTo>
                <a:lnTo>
                  <a:pt x="2971800" y="0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3CE974A-08F9-45BE-8B1A-440DAB3B8406}"/>
              </a:ext>
            </a:extLst>
          </p:cNvPr>
          <p:cNvSpPr/>
          <p:nvPr/>
        </p:nvSpPr>
        <p:spPr>
          <a:xfrm flipV="1">
            <a:off x="4315304" y="5755570"/>
            <a:ext cx="1212053" cy="638138"/>
          </a:xfrm>
          <a:custGeom>
            <a:avLst/>
            <a:gdLst>
              <a:gd name="connsiteX0" fmla="*/ 0 w 2971800"/>
              <a:gd name="connsiteY0" fmla="*/ 658368 h 658368"/>
              <a:gd name="connsiteX1" fmla="*/ 896112 w 2971800"/>
              <a:gd name="connsiteY1" fmla="*/ 9144 h 658368"/>
              <a:gd name="connsiteX2" fmla="*/ 2971800 w 2971800"/>
              <a:gd name="connsiteY2" fmla="*/ 0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0" h="658368">
                <a:moveTo>
                  <a:pt x="0" y="658368"/>
                </a:moveTo>
                <a:lnTo>
                  <a:pt x="896112" y="9144"/>
                </a:lnTo>
                <a:lnTo>
                  <a:pt x="2971800" y="0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CF963C0-9FAF-4C34-BB0E-7584A9B38C9F}"/>
              </a:ext>
            </a:extLst>
          </p:cNvPr>
          <p:cNvSpPr/>
          <p:nvPr/>
        </p:nvSpPr>
        <p:spPr>
          <a:xfrm>
            <a:off x="5328902" y="3872711"/>
            <a:ext cx="457200" cy="464121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C550625-1EF7-4997-9AEB-64AC3F9F0805}"/>
              </a:ext>
            </a:extLst>
          </p:cNvPr>
          <p:cNvSpPr/>
          <p:nvPr/>
        </p:nvSpPr>
        <p:spPr>
          <a:xfrm>
            <a:off x="5530977" y="6108992"/>
            <a:ext cx="457200" cy="464121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1A8B3BD-C31D-4A47-97B5-F9AB45C1A218}"/>
              </a:ext>
            </a:extLst>
          </p:cNvPr>
          <p:cNvSpPr/>
          <p:nvPr/>
        </p:nvSpPr>
        <p:spPr>
          <a:xfrm flipV="1">
            <a:off x="5981416" y="6306812"/>
            <a:ext cx="1434043" cy="416197"/>
          </a:xfrm>
          <a:custGeom>
            <a:avLst/>
            <a:gdLst>
              <a:gd name="connsiteX0" fmla="*/ 0 w 2971800"/>
              <a:gd name="connsiteY0" fmla="*/ 658368 h 658368"/>
              <a:gd name="connsiteX1" fmla="*/ 896112 w 2971800"/>
              <a:gd name="connsiteY1" fmla="*/ 9144 h 658368"/>
              <a:gd name="connsiteX2" fmla="*/ 2971800 w 2971800"/>
              <a:gd name="connsiteY2" fmla="*/ 0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0" h="658368">
                <a:moveTo>
                  <a:pt x="0" y="658368"/>
                </a:moveTo>
                <a:lnTo>
                  <a:pt x="896112" y="9144"/>
                </a:lnTo>
                <a:lnTo>
                  <a:pt x="2971800" y="0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56B0D0A6-738F-4EEA-85EF-B4297772FA9C}"/>
              </a:ext>
            </a:extLst>
          </p:cNvPr>
          <p:cNvSpPr/>
          <p:nvPr/>
        </p:nvSpPr>
        <p:spPr>
          <a:xfrm>
            <a:off x="5999701" y="5890616"/>
            <a:ext cx="1354126" cy="416198"/>
          </a:xfrm>
          <a:custGeom>
            <a:avLst/>
            <a:gdLst>
              <a:gd name="connsiteX0" fmla="*/ 0 w 2971800"/>
              <a:gd name="connsiteY0" fmla="*/ 658368 h 658368"/>
              <a:gd name="connsiteX1" fmla="*/ 896112 w 2971800"/>
              <a:gd name="connsiteY1" fmla="*/ 9144 h 658368"/>
              <a:gd name="connsiteX2" fmla="*/ 2971800 w 2971800"/>
              <a:gd name="connsiteY2" fmla="*/ 0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0" h="658368">
                <a:moveTo>
                  <a:pt x="0" y="658368"/>
                </a:moveTo>
                <a:lnTo>
                  <a:pt x="896112" y="9144"/>
                </a:lnTo>
                <a:lnTo>
                  <a:pt x="2971800" y="0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9E2113B9-6A55-42A6-9905-A4545212DB71}"/>
              </a:ext>
            </a:extLst>
          </p:cNvPr>
          <p:cNvSpPr/>
          <p:nvPr/>
        </p:nvSpPr>
        <p:spPr>
          <a:xfrm flipV="1">
            <a:off x="5919784" y="5174465"/>
            <a:ext cx="1434043" cy="416197"/>
          </a:xfrm>
          <a:custGeom>
            <a:avLst/>
            <a:gdLst>
              <a:gd name="connsiteX0" fmla="*/ 0 w 2971800"/>
              <a:gd name="connsiteY0" fmla="*/ 658368 h 658368"/>
              <a:gd name="connsiteX1" fmla="*/ 896112 w 2971800"/>
              <a:gd name="connsiteY1" fmla="*/ 9144 h 658368"/>
              <a:gd name="connsiteX2" fmla="*/ 2971800 w 2971800"/>
              <a:gd name="connsiteY2" fmla="*/ 0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0" h="658368">
                <a:moveTo>
                  <a:pt x="0" y="658368"/>
                </a:moveTo>
                <a:lnTo>
                  <a:pt x="896112" y="9144"/>
                </a:lnTo>
                <a:lnTo>
                  <a:pt x="2971800" y="0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D079F156-F0AA-400A-8813-173B9E82A2B9}"/>
              </a:ext>
            </a:extLst>
          </p:cNvPr>
          <p:cNvSpPr/>
          <p:nvPr/>
        </p:nvSpPr>
        <p:spPr>
          <a:xfrm>
            <a:off x="5919308" y="4821645"/>
            <a:ext cx="1434519" cy="416198"/>
          </a:xfrm>
          <a:custGeom>
            <a:avLst/>
            <a:gdLst>
              <a:gd name="connsiteX0" fmla="*/ 0 w 2971800"/>
              <a:gd name="connsiteY0" fmla="*/ 658368 h 658368"/>
              <a:gd name="connsiteX1" fmla="*/ 896112 w 2971800"/>
              <a:gd name="connsiteY1" fmla="*/ 9144 h 658368"/>
              <a:gd name="connsiteX2" fmla="*/ 2971800 w 2971800"/>
              <a:gd name="connsiteY2" fmla="*/ 0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0" h="658368">
                <a:moveTo>
                  <a:pt x="0" y="658368"/>
                </a:moveTo>
                <a:lnTo>
                  <a:pt x="896112" y="9144"/>
                </a:lnTo>
                <a:lnTo>
                  <a:pt x="2971800" y="0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0C9E0D9-2210-425A-8AB5-EBCB7F8631D6}"/>
              </a:ext>
            </a:extLst>
          </p:cNvPr>
          <p:cNvSpPr/>
          <p:nvPr/>
        </p:nvSpPr>
        <p:spPr>
          <a:xfrm flipV="1">
            <a:off x="5786340" y="4075248"/>
            <a:ext cx="1567487" cy="416197"/>
          </a:xfrm>
          <a:custGeom>
            <a:avLst/>
            <a:gdLst>
              <a:gd name="connsiteX0" fmla="*/ 0 w 2971800"/>
              <a:gd name="connsiteY0" fmla="*/ 658368 h 658368"/>
              <a:gd name="connsiteX1" fmla="*/ 896112 w 2971800"/>
              <a:gd name="connsiteY1" fmla="*/ 9144 h 658368"/>
              <a:gd name="connsiteX2" fmla="*/ 2971800 w 2971800"/>
              <a:gd name="connsiteY2" fmla="*/ 0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0" h="658368">
                <a:moveTo>
                  <a:pt x="0" y="658368"/>
                </a:moveTo>
                <a:lnTo>
                  <a:pt x="896112" y="9144"/>
                </a:lnTo>
                <a:lnTo>
                  <a:pt x="2971800" y="0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3C0199BE-9D83-4DAB-9956-9E2EA5F5F4F7}"/>
              </a:ext>
            </a:extLst>
          </p:cNvPr>
          <p:cNvSpPr/>
          <p:nvPr/>
        </p:nvSpPr>
        <p:spPr>
          <a:xfrm>
            <a:off x="5785864" y="3722429"/>
            <a:ext cx="1568192" cy="416198"/>
          </a:xfrm>
          <a:custGeom>
            <a:avLst/>
            <a:gdLst>
              <a:gd name="connsiteX0" fmla="*/ 0 w 2971800"/>
              <a:gd name="connsiteY0" fmla="*/ 658368 h 658368"/>
              <a:gd name="connsiteX1" fmla="*/ 896112 w 2971800"/>
              <a:gd name="connsiteY1" fmla="*/ 9144 h 658368"/>
              <a:gd name="connsiteX2" fmla="*/ 2971800 w 2971800"/>
              <a:gd name="connsiteY2" fmla="*/ 0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0" h="658368">
                <a:moveTo>
                  <a:pt x="0" y="658368"/>
                </a:moveTo>
                <a:lnTo>
                  <a:pt x="896112" y="9144"/>
                </a:lnTo>
                <a:lnTo>
                  <a:pt x="2971800" y="0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F40EE038-301F-40FC-B103-DCF004CE3E5D}"/>
              </a:ext>
            </a:extLst>
          </p:cNvPr>
          <p:cNvSpPr/>
          <p:nvPr/>
        </p:nvSpPr>
        <p:spPr>
          <a:xfrm flipV="1">
            <a:off x="5649182" y="2976032"/>
            <a:ext cx="1704645" cy="392580"/>
          </a:xfrm>
          <a:custGeom>
            <a:avLst/>
            <a:gdLst>
              <a:gd name="connsiteX0" fmla="*/ 0 w 2971800"/>
              <a:gd name="connsiteY0" fmla="*/ 658368 h 658368"/>
              <a:gd name="connsiteX1" fmla="*/ 896112 w 2971800"/>
              <a:gd name="connsiteY1" fmla="*/ 9144 h 658368"/>
              <a:gd name="connsiteX2" fmla="*/ 2971800 w 2971800"/>
              <a:gd name="connsiteY2" fmla="*/ 0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0" h="658368">
                <a:moveTo>
                  <a:pt x="0" y="658368"/>
                </a:moveTo>
                <a:lnTo>
                  <a:pt x="896112" y="9144"/>
                </a:lnTo>
                <a:lnTo>
                  <a:pt x="2971800" y="0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0BA4AE13-DB75-43B1-A398-3816AB51684D}"/>
              </a:ext>
            </a:extLst>
          </p:cNvPr>
          <p:cNvSpPr/>
          <p:nvPr/>
        </p:nvSpPr>
        <p:spPr>
          <a:xfrm>
            <a:off x="5648706" y="2623211"/>
            <a:ext cx="1705260" cy="392581"/>
          </a:xfrm>
          <a:custGeom>
            <a:avLst/>
            <a:gdLst>
              <a:gd name="connsiteX0" fmla="*/ 0 w 2971800"/>
              <a:gd name="connsiteY0" fmla="*/ 658368 h 658368"/>
              <a:gd name="connsiteX1" fmla="*/ 896112 w 2971800"/>
              <a:gd name="connsiteY1" fmla="*/ 9144 h 658368"/>
              <a:gd name="connsiteX2" fmla="*/ 2971800 w 2971800"/>
              <a:gd name="connsiteY2" fmla="*/ 0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0" h="658368">
                <a:moveTo>
                  <a:pt x="0" y="658368"/>
                </a:moveTo>
                <a:lnTo>
                  <a:pt x="896112" y="9144"/>
                </a:lnTo>
                <a:lnTo>
                  <a:pt x="2971800" y="0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4E80BA5-264E-4C2E-AA3E-141637AE23B5}"/>
              </a:ext>
            </a:extLst>
          </p:cNvPr>
          <p:cNvSpPr/>
          <p:nvPr/>
        </p:nvSpPr>
        <p:spPr>
          <a:xfrm>
            <a:off x="5214647" y="2808694"/>
            <a:ext cx="457200" cy="464121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6D70363-6EC9-4E87-A588-130DD6A70677}"/>
              </a:ext>
            </a:extLst>
          </p:cNvPr>
          <p:cNvSpPr/>
          <p:nvPr/>
        </p:nvSpPr>
        <p:spPr>
          <a:xfrm>
            <a:off x="5477250" y="4969429"/>
            <a:ext cx="457200" cy="464121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E724658-7582-4358-830A-1850635EF2F6}"/>
              </a:ext>
            </a:extLst>
          </p:cNvPr>
          <p:cNvSpPr/>
          <p:nvPr/>
        </p:nvSpPr>
        <p:spPr>
          <a:xfrm>
            <a:off x="2683715" y="4366557"/>
            <a:ext cx="420624" cy="44805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479A412-4268-41D5-96D4-3C159CD90142}"/>
              </a:ext>
            </a:extLst>
          </p:cNvPr>
          <p:cNvSpPr/>
          <p:nvPr/>
        </p:nvSpPr>
        <p:spPr>
          <a:xfrm>
            <a:off x="3570208" y="3270540"/>
            <a:ext cx="457200" cy="464121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B93FA4B-8774-4F56-AAC9-F499A4ACC38C}"/>
              </a:ext>
            </a:extLst>
          </p:cNvPr>
          <p:cNvSpPr/>
          <p:nvPr/>
        </p:nvSpPr>
        <p:spPr>
          <a:xfrm>
            <a:off x="3846004" y="5455316"/>
            <a:ext cx="457200" cy="464121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9CDFF36-1212-4A46-838C-B92262E440A8}"/>
              </a:ext>
            </a:extLst>
          </p:cNvPr>
          <p:cNvSpPr txBox="1"/>
          <p:nvPr/>
        </p:nvSpPr>
        <p:spPr>
          <a:xfrm>
            <a:off x="2075689" y="3411495"/>
            <a:ext cx="1500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Treatment A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84EAF93-45B6-4CDA-A774-3D3F19CE7825}"/>
              </a:ext>
            </a:extLst>
          </p:cNvPr>
          <p:cNvSpPr txBox="1"/>
          <p:nvPr/>
        </p:nvSpPr>
        <p:spPr>
          <a:xfrm>
            <a:off x="2158288" y="5114977"/>
            <a:ext cx="1334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/>
              <a:t>Treatment B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327C782-D3DF-49E0-B56F-591203EA9CDC}"/>
              </a:ext>
            </a:extLst>
          </p:cNvPr>
          <p:cNvSpPr txBox="1"/>
          <p:nvPr/>
        </p:nvSpPr>
        <p:spPr>
          <a:xfrm>
            <a:off x="4362756" y="3005966"/>
            <a:ext cx="885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State 1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29CED72-60E1-4347-8DA9-59E04D9783EA}"/>
              </a:ext>
            </a:extLst>
          </p:cNvPr>
          <p:cNvSpPr txBox="1"/>
          <p:nvPr/>
        </p:nvSpPr>
        <p:spPr>
          <a:xfrm>
            <a:off x="4362756" y="3780827"/>
            <a:ext cx="885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State 2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C595E6A-8F89-410D-A39C-726AC268C916}"/>
              </a:ext>
            </a:extLst>
          </p:cNvPr>
          <p:cNvSpPr txBox="1"/>
          <p:nvPr/>
        </p:nvSpPr>
        <p:spPr>
          <a:xfrm>
            <a:off x="4671762" y="5197150"/>
            <a:ext cx="885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State 1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3FE9808-8398-4B7D-A597-C808C075CB07}"/>
              </a:ext>
            </a:extLst>
          </p:cNvPr>
          <p:cNvSpPr txBox="1"/>
          <p:nvPr/>
        </p:nvSpPr>
        <p:spPr>
          <a:xfrm>
            <a:off x="4671762" y="5972011"/>
            <a:ext cx="885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State 2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CB22AEA-72F7-4042-85CB-4B313D1A6809}"/>
              </a:ext>
            </a:extLst>
          </p:cNvPr>
          <p:cNvSpPr txBox="1"/>
          <p:nvPr/>
        </p:nvSpPr>
        <p:spPr>
          <a:xfrm>
            <a:off x="6183877" y="2594064"/>
            <a:ext cx="1220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Outcome 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87A0F3D-BC78-4E2E-8D83-FC8920652604}"/>
              </a:ext>
            </a:extLst>
          </p:cNvPr>
          <p:cNvSpPr txBox="1"/>
          <p:nvPr/>
        </p:nvSpPr>
        <p:spPr>
          <a:xfrm>
            <a:off x="6186113" y="3023747"/>
            <a:ext cx="1220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Outcome 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6FF575A-F179-4904-8806-DCCD8A1AFCB3}"/>
              </a:ext>
            </a:extLst>
          </p:cNvPr>
          <p:cNvSpPr txBox="1"/>
          <p:nvPr/>
        </p:nvSpPr>
        <p:spPr>
          <a:xfrm>
            <a:off x="6119903" y="3688045"/>
            <a:ext cx="1220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Outcome 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AB5D7A7-1A37-4903-ACFB-5609A2A66FAE}"/>
              </a:ext>
            </a:extLst>
          </p:cNvPr>
          <p:cNvSpPr txBox="1"/>
          <p:nvPr/>
        </p:nvSpPr>
        <p:spPr>
          <a:xfrm>
            <a:off x="6151825" y="4169589"/>
            <a:ext cx="1220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Outcome 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D60AB2E-D9AF-43D0-956D-28DA80174E5D}"/>
              </a:ext>
            </a:extLst>
          </p:cNvPr>
          <p:cNvSpPr txBox="1"/>
          <p:nvPr/>
        </p:nvSpPr>
        <p:spPr>
          <a:xfrm>
            <a:off x="6269065" y="4777125"/>
            <a:ext cx="1220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Outcome 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5108E91-792F-4541-8F4E-BEAF877A2D91}"/>
              </a:ext>
            </a:extLst>
          </p:cNvPr>
          <p:cNvSpPr txBox="1"/>
          <p:nvPr/>
        </p:nvSpPr>
        <p:spPr>
          <a:xfrm>
            <a:off x="6271301" y="5206808"/>
            <a:ext cx="1220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Outcome 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255A144-C1D6-4ED1-A30A-CE6AC99917EB}"/>
              </a:ext>
            </a:extLst>
          </p:cNvPr>
          <p:cNvSpPr txBox="1"/>
          <p:nvPr/>
        </p:nvSpPr>
        <p:spPr>
          <a:xfrm>
            <a:off x="6280461" y="5874748"/>
            <a:ext cx="1220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Outcome 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3CE9984-A180-4740-BC46-74A421D75CBC}"/>
              </a:ext>
            </a:extLst>
          </p:cNvPr>
          <p:cNvSpPr txBox="1"/>
          <p:nvPr/>
        </p:nvSpPr>
        <p:spPr>
          <a:xfrm>
            <a:off x="6280461" y="6357992"/>
            <a:ext cx="1220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Outcome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29A85E-A186-410B-821D-9855C87E93ED}"/>
                  </a:ext>
                </a:extLst>
              </p:cNvPr>
              <p:cNvSpPr txBox="1"/>
              <p:nvPr/>
            </p:nvSpPr>
            <p:spPr>
              <a:xfrm>
                <a:off x="7404147" y="2458061"/>
                <a:ext cx="13098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29A85E-A186-410B-821D-9855C87E9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4147" y="2458061"/>
                <a:ext cx="130984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F63CC2D-D4F7-49CD-BD4F-CD219E9CFB7B}"/>
                  </a:ext>
                </a:extLst>
              </p:cNvPr>
              <p:cNvSpPr txBox="1"/>
              <p:nvPr/>
            </p:nvSpPr>
            <p:spPr>
              <a:xfrm>
                <a:off x="7356975" y="3141539"/>
                <a:ext cx="1321067" cy="394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F63CC2D-D4F7-49CD-BD4F-CD219E9CFB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6975" y="3141539"/>
                <a:ext cx="1321067" cy="394916"/>
              </a:xfrm>
              <a:prstGeom prst="rect">
                <a:avLst/>
              </a:prstGeom>
              <a:blipFill>
                <a:blip r:embed="rId6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84FE3FD-D0DE-4813-B96A-312D42CC6A40}"/>
                  </a:ext>
                </a:extLst>
              </p:cNvPr>
              <p:cNvSpPr txBox="1"/>
              <p:nvPr/>
            </p:nvSpPr>
            <p:spPr>
              <a:xfrm>
                <a:off x="7340173" y="3579853"/>
                <a:ext cx="13098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84FE3FD-D0DE-4813-B96A-312D42CC6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0173" y="3579853"/>
                <a:ext cx="130984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4AE2292-D8D8-40CD-A866-82523F35F0CC}"/>
                  </a:ext>
                </a:extLst>
              </p:cNvPr>
              <p:cNvSpPr txBox="1"/>
              <p:nvPr/>
            </p:nvSpPr>
            <p:spPr>
              <a:xfrm>
                <a:off x="7436574" y="4235936"/>
                <a:ext cx="13098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4AE2292-D8D8-40CD-A866-82523F35F0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6574" y="4235936"/>
                <a:ext cx="130984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F67FB99-061E-4197-81AA-E56C2CD2920F}"/>
                  </a:ext>
                </a:extLst>
              </p:cNvPr>
              <p:cNvSpPr txBox="1"/>
              <p:nvPr/>
            </p:nvSpPr>
            <p:spPr>
              <a:xfrm>
                <a:off x="7397747" y="4605268"/>
                <a:ext cx="13360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F67FB99-061E-4197-81AA-E56C2CD292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7747" y="4605268"/>
                <a:ext cx="1336007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7498801-7A06-4B0D-AA0E-B4271EF771C1}"/>
                  </a:ext>
                </a:extLst>
              </p:cNvPr>
              <p:cNvSpPr txBox="1"/>
              <p:nvPr/>
            </p:nvSpPr>
            <p:spPr>
              <a:xfrm>
                <a:off x="7543788" y="5334732"/>
                <a:ext cx="13360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7498801-7A06-4B0D-AA0E-B4271EF771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3788" y="5334732"/>
                <a:ext cx="1336007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D4B1FAE-0C0D-4287-8ADC-69737F4572E8}"/>
                  </a:ext>
                </a:extLst>
              </p:cNvPr>
              <p:cNvSpPr txBox="1"/>
              <p:nvPr/>
            </p:nvSpPr>
            <p:spPr>
              <a:xfrm>
                <a:off x="7543788" y="5729383"/>
                <a:ext cx="13360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D4B1FAE-0C0D-4287-8ADC-69737F4572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3788" y="5729383"/>
                <a:ext cx="1336007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5BF62EB1-3CA1-41EB-9E89-C674D79DFC19}"/>
                  </a:ext>
                </a:extLst>
              </p:cNvPr>
              <p:cNvSpPr txBox="1"/>
              <p:nvPr/>
            </p:nvSpPr>
            <p:spPr>
              <a:xfrm>
                <a:off x="7543938" y="6460226"/>
                <a:ext cx="13360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5BF62EB1-3CA1-41EB-9E89-C674D79DFC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3938" y="6460226"/>
                <a:ext cx="1336007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0A15A83-138F-4177-9BCB-75345AA2083A}"/>
                  </a:ext>
                </a:extLst>
              </p:cNvPr>
              <p:cNvSpPr txBox="1"/>
              <p:nvPr/>
            </p:nvSpPr>
            <p:spPr>
              <a:xfrm>
                <a:off x="3628231" y="3299900"/>
                <a:ext cx="3656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CA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0A15A83-138F-4177-9BCB-75345AA208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8231" y="3299900"/>
                <a:ext cx="365613" cy="369332"/>
              </a:xfrm>
              <a:prstGeom prst="rect">
                <a:avLst/>
              </a:prstGeom>
              <a:blipFill>
                <a:blip r:embed="rId13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84DFF298-F9FA-40E6-8F17-19CA13996313}"/>
                  </a:ext>
                </a:extLst>
              </p:cNvPr>
              <p:cNvSpPr txBox="1"/>
              <p:nvPr/>
            </p:nvSpPr>
            <p:spPr>
              <a:xfrm>
                <a:off x="3915769" y="5480149"/>
                <a:ext cx="3656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CA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84DFF298-F9FA-40E6-8F17-19CA13996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5769" y="5480149"/>
                <a:ext cx="365613" cy="369332"/>
              </a:xfrm>
              <a:prstGeom prst="rect">
                <a:avLst/>
              </a:prstGeom>
              <a:blipFill>
                <a:blip r:embed="rId14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E6F3519-C6EB-4D23-A38E-38DD59F83F0C}"/>
                  </a:ext>
                </a:extLst>
              </p:cNvPr>
              <p:cNvSpPr txBox="1"/>
              <p:nvPr/>
            </p:nvSpPr>
            <p:spPr>
              <a:xfrm>
                <a:off x="5248511" y="2839081"/>
                <a:ext cx="4966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E6F3519-C6EB-4D23-A38E-38DD59F83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8511" y="2839081"/>
                <a:ext cx="496674" cy="369332"/>
              </a:xfrm>
              <a:prstGeom prst="rect">
                <a:avLst/>
              </a:prstGeom>
              <a:blipFill>
                <a:blip r:embed="rId1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7A8DEE25-0E66-4583-A24A-72E003C74999}"/>
                  </a:ext>
                </a:extLst>
              </p:cNvPr>
              <p:cNvSpPr txBox="1"/>
              <p:nvPr/>
            </p:nvSpPr>
            <p:spPr>
              <a:xfrm>
                <a:off x="5362653" y="3914014"/>
                <a:ext cx="501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7A8DEE25-0E66-4583-A24A-72E003C749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2653" y="3914014"/>
                <a:ext cx="501996" cy="369332"/>
              </a:xfrm>
              <a:prstGeom prst="rect">
                <a:avLst/>
              </a:prstGeom>
              <a:blipFill>
                <a:blip r:embed="rId16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8011BE4-EA58-4343-95CB-2DDDBD7C338B}"/>
                  </a:ext>
                </a:extLst>
              </p:cNvPr>
              <p:cNvSpPr txBox="1"/>
              <p:nvPr/>
            </p:nvSpPr>
            <p:spPr>
              <a:xfrm>
                <a:off x="5468648" y="5009085"/>
                <a:ext cx="4966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8011BE4-EA58-4343-95CB-2DDDBD7C33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8648" y="5009085"/>
                <a:ext cx="496674" cy="369332"/>
              </a:xfrm>
              <a:prstGeom prst="rect">
                <a:avLst/>
              </a:prstGeom>
              <a:blipFill>
                <a:blip r:embed="rId1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7AE290D-4A3B-4B2A-B842-4471EEC8F7C4}"/>
                  </a:ext>
                </a:extLst>
              </p:cNvPr>
              <p:cNvSpPr txBox="1"/>
              <p:nvPr/>
            </p:nvSpPr>
            <p:spPr>
              <a:xfrm>
                <a:off x="5566816" y="6168003"/>
                <a:ext cx="3719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7AE290D-4A3B-4B2A-B842-4471EEC8F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6816" y="6168003"/>
                <a:ext cx="371939" cy="369332"/>
              </a:xfrm>
              <a:prstGeom prst="rect">
                <a:avLst/>
              </a:prstGeom>
              <a:blipFill>
                <a:blip r:embed="rId18"/>
                <a:stretch>
                  <a:fillRect l="-3279" r="-9836" b="-1333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0984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241"/>
    </mc:Choice>
    <mc:Fallback xmlns="">
      <p:transition spd="slow" advTm="3024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B8A44-F626-4FF1-A157-9DF62AE12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444" y="498798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CA" dirty="0"/>
              <a:t>Expected Value with Perfect Parameter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160A2F-2868-4A09-8EFE-1CB8D2E7F4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0900" y="1519966"/>
                <a:ext cx="10515600" cy="102066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</m:sSub>
                      <m:func>
                        <m:func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CA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CA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  <m:sub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𝛾</m:t>
                                      </m:r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𝑁𝐵</m:t>
                                  </m:r>
                                  <m:d>
                                    <m:d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𝛾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func>
                      <m:r>
                        <a:rPr lang="en-CA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Γ</m:t>
                          </m:r>
                        </m:sub>
                        <m:sup/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CA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CA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∈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CA">
                                          <a:latin typeface="Cambria Math" panose="02040503050406030204" pitchFamily="18" charset="0"/>
                                        </a:rPr>
                                        <m:t>Φ</m:t>
                                      </m:r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sub>
                                    <m:sup/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nary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𝑁𝐵</m:t>
                                      </m:r>
                                      <m:d>
                                        <m:dPr>
                                          <m:ctrlP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  <m: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CA" b="0" i="1" smtClean="0">
                                              <a:latin typeface="Cambria Math" panose="02040503050406030204" pitchFamily="18" charset="0"/>
                                            </a:rPr>
                                            <m:t>𝛾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br>
                  <a:rPr lang="en-CA" dirty="0"/>
                </a:br>
                <a:endParaRPr lang="en-CA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160A2F-2868-4A09-8EFE-1CB8D2E7F4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0900" y="1519966"/>
                <a:ext cx="10515600" cy="102066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40B6AE1-7A11-41BD-9219-119FE68C3297}"/>
              </a:ext>
            </a:extLst>
          </p:cNvPr>
          <p:cNvCxnSpPr>
            <a:cxnSpLocks/>
            <a:stCxn id="5" idx="6"/>
            <a:endCxn id="6" idx="1"/>
          </p:cNvCxnSpPr>
          <p:nvPr/>
        </p:nvCxnSpPr>
        <p:spPr>
          <a:xfrm>
            <a:off x="3412236" y="4401242"/>
            <a:ext cx="752856" cy="1120803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0D896BCD-7770-4244-862B-8BC14FE8FCA8}"/>
              </a:ext>
            </a:extLst>
          </p:cNvPr>
          <p:cNvSpPr/>
          <p:nvPr/>
        </p:nvSpPr>
        <p:spPr>
          <a:xfrm>
            <a:off x="2955036" y="4169181"/>
            <a:ext cx="457200" cy="464121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22E53B-C49F-429D-99BF-0AE61B7328DB}"/>
              </a:ext>
            </a:extLst>
          </p:cNvPr>
          <p:cNvSpPr/>
          <p:nvPr/>
        </p:nvSpPr>
        <p:spPr>
          <a:xfrm>
            <a:off x="4165092" y="5298017"/>
            <a:ext cx="420624" cy="44805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88AC714-5D23-457C-BCF5-51E3FB7D4282}"/>
              </a:ext>
            </a:extLst>
          </p:cNvPr>
          <p:cNvCxnSpPr>
            <a:cxnSpLocks/>
            <a:stCxn id="5" idx="6"/>
            <a:endCxn id="8" idx="1"/>
          </p:cNvCxnSpPr>
          <p:nvPr/>
        </p:nvCxnSpPr>
        <p:spPr>
          <a:xfrm flipV="1">
            <a:off x="3412236" y="3380580"/>
            <a:ext cx="460629" cy="1020662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39593D71-A31E-4E9F-AFAB-29916BA764A5}"/>
              </a:ext>
            </a:extLst>
          </p:cNvPr>
          <p:cNvSpPr/>
          <p:nvPr/>
        </p:nvSpPr>
        <p:spPr>
          <a:xfrm>
            <a:off x="3872865" y="3156552"/>
            <a:ext cx="420624" cy="44805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9F2456B-331F-42BC-825E-73244BB2659C}"/>
              </a:ext>
            </a:extLst>
          </p:cNvPr>
          <p:cNvSpPr/>
          <p:nvPr/>
        </p:nvSpPr>
        <p:spPr>
          <a:xfrm>
            <a:off x="4299585" y="2813500"/>
            <a:ext cx="1232535" cy="475937"/>
          </a:xfrm>
          <a:custGeom>
            <a:avLst/>
            <a:gdLst>
              <a:gd name="connsiteX0" fmla="*/ 0 w 2971800"/>
              <a:gd name="connsiteY0" fmla="*/ 658368 h 658368"/>
              <a:gd name="connsiteX1" fmla="*/ 896112 w 2971800"/>
              <a:gd name="connsiteY1" fmla="*/ 9144 h 658368"/>
              <a:gd name="connsiteX2" fmla="*/ 2971800 w 2971800"/>
              <a:gd name="connsiteY2" fmla="*/ 0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0" h="658368">
                <a:moveTo>
                  <a:pt x="0" y="658368"/>
                </a:moveTo>
                <a:lnTo>
                  <a:pt x="896112" y="9144"/>
                </a:lnTo>
                <a:lnTo>
                  <a:pt x="2971800" y="0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ACAF2E-8718-4300-AB67-72A8747B343D}"/>
              </a:ext>
            </a:extLst>
          </p:cNvPr>
          <p:cNvSpPr/>
          <p:nvPr/>
        </p:nvSpPr>
        <p:spPr>
          <a:xfrm>
            <a:off x="4585716" y="5005408"/>
            <a:ext cx="1212053" cy="585773"/>
          </a:xfrm>
          <a:custGeom>
            <a:avLst/>
            <a:gdLst>
              <a:gd name="connsiteX0" fmla="*/ 0 w 2971800"/>
              <a:gd name="connsiteY0" fmla="*/ 658368 h 658368"/>
              <a:gd name="connsiteX1" fmla="*/ 896112 w 2971800"/>
              <a:gd name="connsiteY1" fmla="*/ 9144 h 658368"/>
              <a:gd name="connsiteX2" fmla="*/ 2971800 w 2971800"/>
              <a:gd name="connsiteY2" fmla="*/ 0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0" h="658368">
                <a:moveTo>
                  <a:pt x="0" y="658368"/>
                </a:moveTo>
                <a:lnTo>
                  <a:pt x="896112" y="9144"/>
                </a:lnTo>
                <a:lnTo>
                  <a:pt x="2971800" y="0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EB28B04-9C81-453B-9D6A-22EB0F00FCD1}"/>
              </a:ext>
            </a:extLst>
          </p:cNvPr>
          <p:cNvSpPr/>
          <p:nvPr/>
        </p:nvSpPr>
        <p:spPr>
          <a:xfrm flipV="1">
            <a:off x="4293489" y="3394420"/>
            <a:ext cx="1325879" cy="600102"/>
          </a:xfrm>
          <a:custGeom>
            <a:avLst/>
            <a:gdLst>
              <a:gd name="connsiteX0" fmla="*/ 0 w 2971800"/>
              <a:gd name="connsiteY0" fmla="*/ 658368 h 658368"/>
              <a:gd name="connsiteX1" fmla="*/ 896112 w 2971800"/>
              <a:gd name="connsiteY1" fmla="*/ 9144 h 658368"/>
              <a:gd name="connsiteX2" fmla="*/ 2971800 w 2971800"/>
              <a:gd name="connsiteY2" fmla="*/ 0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0" h="658368">
                <a:moveTo>
                  <a:pt x="0" y="658368"/>
                </a:moveTo>
                <a:lnTo>
                  <a:pt x="896112" y="9144"/>
                </a:lnTo>
                <a:lnTo>
                  <a:pt x="2971800" y="0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8B3CD8A-9900-45EA-A545-8D1D61F40DA0}"/>
              </a:ext>
            </a:extLst>
          </p:cNvPr>
          <p:cNvSpPr/>
          <p:nvPr/>
        </p:nvSpPr>
        <p:spPr>
          <a:xfrm flipV="1">
            <a:off x="4612484" y="5567227"/>
            <a:ext cx="1212053" cy="638138"/>
          </a:xfrm>
          <a:custGeom>
            <a:avLst/>
            <a:gdLst>
              <a:gd name="connsiteX0" fmla="*/ 0 w 2971800"/>
              <a:gd name="connsiteY0" fmla="*/ 658368 h 658368"/>
              <a:gd name="connsiteX1" fmla="*/ 896112 w 2971800"/>
              <a:gd name="connsiteY1" fmla="*/ 9144 h 658368"/>
              <a:gd name="connsiteX2" fmla="*/ 2971800 w 2971800"/>
              <a:gd name="connsiteY2" fmla="*/ 0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0" h="658368">
                <a:moveTo>
                  <a:pt x="0" y="658368"/>
                </a:moveTo>
                <a:lnTo>
                  <a:pt x="896112" y="9144"/>
                </a:lnTo>
                <a:lnTo>
                  <a:pt x="2971800" y="0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D33030D-AFEF-46BA-863C-BA128AAD7D1A}"/>
              </a:ext>
            </a:extLst>
          </p:cNvPr>
          <p:cNvSpPr/>
          <p:nvPr/>
        </p:nvSpPr>
        <p:spPr>
          <a:xfrm>
            <a:off x="5627244" y="3738590"/>
            <a:ext cx="457200" cy="464121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92A83F3-24BE-4203-90BE-8FDAFD71EA3B}"/>
              </a:ext>
            </a:extLst>
          </p:cNvPr>
          <p:cNvSpPr/>
          <p:nvPr/>
        </p:nvSpPr>
        <p:spPr>
          <a:xfrm>
            <a:off x="5828157" y="5920649"/>
            <a:ext cx="457200" cy="464121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2E30CE3D-B8F0-48EB-A8E2-6E0B21815DE2}"/>
              </a:ext>
            </a:extLst>
          </p:cNvPr>
          <p:cNvSpPr/>
          <p:nvPr/>
        </p:nvSpPr>
        <p:spPr>
          <a:xfrm flipV="1">
            <a:off x="6278597" y="6118469"/>
            <a:ext cx="1743252" cy="416197"/>
          </a:xfrm>
          <a:custGeom>
            <a:avLst/>
            <a:gdLst>
              <a:gd name="connsiteX0" fmla="*/ 0 w 2971800"/>
              <a:gd name="connsiteY0" fmla="*/ 658368 h 658368"/>
              <a:gd name="connsiteX1" fmla="*/ 896112 w 2971800"/>
              <a:gd name="connsiteY1" fmla="*/ 9144 h 658368"/>
              <a:gd name="connsiteX2" fmla="*/ 2971800 w 2971800"/>
              <a:gd name="connsiteY2" fmla="*/ 0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0" h="658368">
                <a:moveTo>
                  <a:pt x="0" y="658368"/>
                </a:moveTo>
                <a:lnTo>
                  <a:pt x="896112" y="9144"/>
                </a:lnTo>
                <a:lnTo>
                  <a:pt x="2971800" y="0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23C2E4B-E511-42B2-B0C4-763055C94AB8}"/>
              </a:ext>
            </a:extLst>
          </p:cNvPr>
          <p:cNvSpPr/>
          <p:nvPr/>
        </p:nvSpPr>
        <p:spPr>
          <a:xfrm>
            <a:off x="6296881" y="5702273"/>
            <a:ext cx="1724968" cy="416198"/>
          </a:xfrm>
          <a:custGeom>
            <a:avLst/>
            <a:gdLst>
              <a:gd name="connsiteX0" fmla="*/ 0 w 2971800"/>
              <a:gd name="connsiteY0" fmla="*/ 658368 h 658368"/>
              <a:gd name="connsiteX1" fmla="*/ 896112 w 2971800"/>
              <a:gd name="connsiteY1" fmla="*/ 9144 h 658368"/>
              <a:gd name="connsiteX2" fmla="*/ 2971800 w 2971800"/>
              <a:gd name="connsiteY2" fmla="*/ 0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0" h="658368">
                <a:moveTo>
                  <a:pt x="0" y="658368"/>
                </a:moveTo>
                <a:lnTo>
                  <a:pt x="896112" y="9144"/>
                </a:lnTo>
                <a:lnTo>
                  <a:pt x="2971800" y="0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1D8B7C14-A01E-4775-8442-56D49F01E030}"/>
              </a:ext>
            </a:extLst>
          </p:cNvPr>
          <p:cNvSpPr/>
          <p:nvPr/>
        </p:nvSpPr>
        <p:spPr>
          <a:xfrm flipV="1">
            <a:off x="6084682" y="3941126"/>
            <a:ext cx="1772620" cy="416197"/>
          </a:xfrm>
          <a:custGeom>
            <a:avLst/>
            <a:gdLst>
              <a:gd name="connsiteX0" fmla="*/ 0 w 2971800"/>
              <a:gd name="connsiteY0" fmla="*/ 658368 h 658368"/>
              <a:gd name="connsiteX1" fmla="*/ 896112 w 2971800"/>
              <a:gd name="connsiteY1" fmla="*/ 9144 h 658368"/>
              <a:gd name="connsiteX2" fmla="*/ 2971800 w 2971800"/>
              <a:gd name="connsiteY2" fmla="*/ 0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0" h="658368">
                <a:moveTo>
                  <a:pt x="0" y="658368"/>
                </a:moveTo>
                <a:lnTo>
                  <a:pt x="896112" y="9144"/>
                </a:lnTo>
                <a:lnTo>
                  <a:pt x="2971800" y="0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F13D981C-AC64-4280-BCC6-44FBD74BD354}"/>
              </a:ext>
            </a:extLst>
          </p:cNvPr>
          <p:cNvSpPr/>
          <p:nvPr/>
        </p:nvSpPr>
        <p:spPr>
          <a:xfrm>
            <a:off x="6084206" y="3588308"/>
            <a:ext cx="1772620" cy="416198"/>
          </a:xfrm>
          <a:custGeom>
            <a:avLst/>
            <a:gdLst>
              <a:gd name="connsiteX0" fmla="*/ 0 w 2971800"/>
              <a:gd name="connsiteY0" fmla="*/ 658368 h 658368"/>
              <a:gd name="connsiteX1" fmla="*/ 896112 w 2971800"/>
              <a:gd name="connsiteY1" fmla="*/ 9144 h 658368"/>
              <a:gd name="connsiteX2" fmla="*/ 2971800 w 2971800"/>
              <a:gd name="connsiteY2" fmla="*/ 0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0" h="658368">
                <a:moveTo>
                  <a:pt x="0" y="658368"/>
                </a:moveTo>
                <a:lnTo>
                  <a:pt x="896112" y="9144"/>
                </a:lnTo>
                <a:lnTo>
                  <a:pt x="2971800" y="0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648A027-1504-48A5-A547-EF6C8D7F88FA}"/>
              </a:ext>
            </a:extLst>
          </p:cNvPr>
          <p:cNvSpPr txBox="1"/>
          <p:nvPr/>
        </p:nvSpPr>
        <p:spPr>
          <a:xfrm>
            <a:off x="4050322" y="2340865"/>
            <a:ext cx="1442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Treatment A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063A546-4B25-40A1-ABBA-C257C5051526}"/>
              </a:ext>
            </a:extLst>
          </p:cNvPr>
          <p:cNvSpPr txBox="1"/>
          <p:nvPr/>
        </p:nvSpPr>
        <p:spPr>
          <a:xfrm>
            <a:off x="4058128" y="4052415"/>
            <a:ext cx="1442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Treatment 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4A17936-01A7-49CD-A565-3F03EF74BFC5}"/>
                  </a:ext>
                </a:extLst>
              </p:cNvPr>
              <p:cNvSpPr txBox="1"/>
              <p:nvPr/>
            </p:nvSpPr>
            <p:spPr>
              <a:xfrm>
                <a:off x="3012392" y="4165282"/>
                <a:ext cx="3656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CA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4A17936-01A7-49CD-A565-3F03EF74BF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392" y="4165282"/>
                <a:ext cx="365613" cy="369332"/>
              </a:xfrm>
              <a:prstGeom prst="rect">
                <a:avLst/>
              </a:prstGeom>
              <a:blipFill>
                <a:blip r:embed="rId5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F6D51D42-6251-435E-A564-2178B67BDE70}"/>
              </a:ext>
            </a:extLst>
          </p:cNvPr>
          <p:cNvSpPr txBox="1"/>
          <p:nvPr/>
        </p:nvSpPr>
        <p:spPr>
          <a:xfrm>
            <a:off x="2884575" y="4980758"/>
            <a:ext cx="885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State 2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089E25F-AA0A-48CB-84C7-B4A7D24647B4}"/>
              </a:ext>
            </a:extLst>
          </p:cNvPr>
          <p:cNvSpPr txBox="1"/>
          <p:nvPr/>
        </p:nvSpPr>
        <p:spPr>
          <a:xfrm>
            <a:off x="4212964" y="4595898"/>
            <a:ext cx="1442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Treatment A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9040AC4-34EE-4C47-8C4C-18CBFE0A1294}"/>
              </a:ext>
            </a:extLst>
          </p:cNvPr>
          <p:cNvSpPr txBox="1"/>
          <p:nvPr/>
        </p:nvSpPr>
        <p:spPr>
          <a:xfrm>
            <a:off x="4220770" y="6307448"/>
            <a:ext cx="1442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Treatment 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8404146-3FFA-4F32-8636-D1DE86085E10}"/>
              </a:ext>
            </a:extLst>
          </p:cNvPr>
          <p:cNvSpPr txBox="1"/>
          <p:nvPr/>
        </p:nvSpPr>
        <p:spPr>
          <a:xfrm>
            <a:off x="6570582" y="3549668"/>
            <a:ext cx="1220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Outcome 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F63BC18-5535-4015-A113-597AEDB3AEE3}"/>
              </a:ext>
            </a:extLst>
          </p:cNvPr>
          <p:cNvSpPr txBox="1"/>
          <p:nvPr/>
        </p:nvSpPr>
        <p:spPr>
          <a:xfrm>
            <a:off x="6518758" y="3976933"/>
            <a:ext cx="1220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Outcome 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90CD6D2-5124-4C7B-896A-88950149E675}"/>
              </a:ext>
            </a:extLst>
          </p:cNvPr>
          <p:cNvSpPr txBox="1"/>
          <p:nvPr/>
        </p:nvSpPr>
        <p:spPr>
          <a:xfrm>
            <a:off x="6647393" y="5682092"/>
            <a:ext cx="1315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Outcome 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61556C9-36FD-4578-838E-8EDE41B3EE9E}"/>
              </a:ext>
            </a:extLst>
          </p:cNvPr>
          <p:cNvSpPr txBox="1"/>
          <p:nvPr/>
        </p:nvSpPr>
        <p:spPr>
          <a:xfrm>
            <a:off x="6647394" y="6165336"/>
            <a:ext cx="1220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Outcome 4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DA67EF8-2C1C-4875-BBE4-3537658EB9E0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1929384" y="4401242"/>
            <a:ext cx="1025652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49426F3-76AC-4DA9-A796-BE4833C60556}"/>
              </a:ext>
            </a:extLst>
          </p:cNvPr>
          <p:cNvSpPr txBox="1"/>
          <p:nvPr/>
        </p:nvSpPr>
        <p:spPr>
          <a:xfrm>
            <a:off x="6544133" y="2416595"/>
            <a:ext cx="1273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Outcome 1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5792DA4-F837-423A-8C52-02767BFCF22B}"/>
              </a:ext>
            </a:extLst>
          </p:cNvPr>
          <p:cNvSpPr txBox="1"/>
          <p:nvPr/>
        </p:nvSpPr>
        <p:spPr>
          <a:xfrm>
            <a:off x="6842615" y="4633302"/>
            <a:ext cx="1273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Outcome 1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7AC6073-758A-48C1-8B5C-365534766C18}"/>
              </a:ext>
            </a:extLst>
          </p:cNvPr>
          <p:cNvSpPr txBox="1"/>
          <p:nvPr/>
        </p:nvSpPr>
        <p:spPr>
          <a:xfrm>
            <a:off x="6519505" y="2842785"/>
            <a:ext cx="1273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Outcome 2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25AB801-E587-4FE6-9E47-E5F44D219E99}"/>
              </a:ext>
            </a:extLst>
          </p:cNvPr>
          <p:cNvSpPr txBox="1"/>
          <p:nvPr/>
        </p:nvSpPr>
        <p:spPr>
          <a:xfrm>
            <a:off x="6842615" y="5054089"/>
            <a:ext cx="1273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Outcome 2 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FAAB3719-8457-4AEA-BE54-4DC1EA5250EA}"/>
              </a:ext>
            </a:extLst>
          </p:cNvPr>
          <p:cNvSpPr/>
          <p:nvPr/>
        </p:nvSpPr>
        <p:spPr>
          <a:xfrm>
            <a:off x="5563258" y="2619782"/>
            <a:ext cx="457200" cy="464121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A701B859-787E-4526-A503-ABD9B2960605}"/>
              </a:ext>
            </a:extLst>
          </p:cNvPr>
          <p:cNvSpPr/>
          <p:nvPr/>
        </p:nvSpPr>
        <p:spPr>
          <a:xfrm flipV="1">
            <a:off x="6020696" y="2822318"/>
            <a:ext cx="1772620" cy="416197"/>
          </a:xfrm>
          <a:custGeom>
            <a:avLst/>
            <a:gdLst>
              <a:gd name="connsiteX0" fmla="*/ 0 w 2971800"/>
              <a:gd name="connsiteY0" fmla="*/ 658368 h 658368"/>
              <a:gd name="connsiteX1" fmla="*/ 896112 w 2971800"/>
              <a:gd name="connsiteY1" fmla="*/ 9144 h 658368"/>
              <a:gd name="connsiteX2" fmla="*/ 2971800 w 2971800"/>
              <a:gd name="connsiteY2" fmla="*/ 0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0" h="658368">
                <a:moveTo>
                  <a:pt x="0" y="658368"/>
                </a:moveTo>
                <a:lnTo>
                  <a:pt x="896112" y="9144"/>
                </a:lnTo>
                <a:lnTo>
                  <a:pt x="2971800" y="0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54CD2D64-CDE4-4EF2-A636-80A7CB652B7F}"/>
              </a:ext>
            </a:extLst>
          </p:cNvPr>
          <p:cNvSpPr/>
          <p:nvPr/>
        </p:nvSpPr>
        <p:spPr>
          <a:xfrm>
            <a:off x="6020220" y="2469500"/>
            <a:ext cx="1772620" cy="416198"/>
          </a:xfrm>
          <a:custGeom>
            <a:avLst/>
            <a:gdLst>
              <a:gd name="connsiteX0" fmla="*/ 0 w 2971800"/>
              <a:gd name="connsiteY0" fmla="*/ 658368 h 658368"/>
              <a:gd name="connsiteX1" fmla="*/ 896112 w 2971800"/>
              <a:gd name="connsiteY1" fmla="*/ 9144 h 658368"/>
              <a:gd name="connsiteX2" fmla="*/ 2971800 w 2971800"/>
              <a:gd name="connsiteY2" fmla="*/ 0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0" h="658368">
                <a:moveTo>
                  <a:pt x="0" y="658368"/>
                </a:moveTo>
                <a:lnTo>
                  <a:pt x="896112" y="9144"/>
                </a:lnTo>
                <a:lnTo>
                  <a:pt x="2971800" y="0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F23B7042-1284-4802-B862-7CBD14F84C64}"/>
              </a:ext>
            </a:extLst>
          </p:cNvPr>
          <p:cNvSpPr/>
          <p:nvPr/>
        </p:nvSpPr>
        <p:spPr>
          <a:xfrm>
            <a:off x="5786197" y="4760011"/>
            <a:ext cx="457200" cy="464121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1F22C915-9BC0-45E7-BEFA-8AF5411D89BA}"/>
              </a:ext>
            </a:extLst>
          </p:cNvPr>
          <p:cNvSpPr/>
          <p:nvPr/>
        </p:nvSpPr>
        <p:spPr>
          <a:xfrm flipV="1">
            <a:off x="6243635" y="4962547"/>
            <a:ext cx="1772620" cy="416197"/>
          </a:xfrm>
          <a:custGeom>
            <a:avLst/>
            <a:gdLst>
              <a:gd name="connsiteX0" fmla="*/ 0 w 2971800"/>
              <a:gd name="connsiteY0" fmla="*/ 658368 h 658368"/>
              <a:gd name="connsiteX1" fmla="*/ 896112 w 2971800"/>
              <a:gd name="connsiteY1" fmla="*/ 9144 h 658368"/>
              <a:gd name="connsiteX2" fmla="*/ 2971800 w 2971800"/>
              <a:gd name="connsiteY2" fmla="*/ 0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0" h="658368">
                <a:moveTo>
                  <a:pt x="0" y="658368"/>
                </a:moveTo>
                <a:lnTo>
                  <a:pt x="896112" y="9144"/>
                </a:lnTo>
                <a:lnTo>
                  <a:pt x="2971800" y="0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8CACD573-77F2-4ECA-9143-7F9676B5FDA0}"/>
              </a:ext>
            </a:extLst>
          </p:cNvPr>
          <p:cNvSpPr/>
          <p:nvPr/>
        </p:nvSpPr>
        <p:spPr>
          <a:xfrm>
            <a:off x="6243159" y="4609729"/>
            <a:ext cx="1772620" cy="416198"/>
          </a:xfrm>
          <a:custGeom>
            <a:avLst/>
            <a:gdLst>
              <a:gd name="connsiteX0" fmla="*/ 0 w 2971800"/>
              <a:gd name="connsiteY0" fmla="*/ 658368 h 658368"/>
              <a:gd name="connsiteX1" fmla="*/ 896112 w 2971800"/>
              <a:gd name="connsiteY1" fmla="*/ 9144 h 658368"/>
              <a:gd name="connsiteX2" fmla="*/ 2971800 w 2971800"/>
              <a:gd name="connsiteY2" fmla="*/ 0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0" h="658368">
                <a:moveTo>
                  <a:pt x="0" y="658368"/>
                </a:moveTo>
                <a:lnTo>
                  <a:pt x="896112" y="9144"/>
                </a:lnTo>
                <a:lnTo>
                  <a:pt x="2971800" y="0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C01F272-7C64-4E3A-BB23-72099F998DF1}"/>
              </a:ext>
            </a:extLst>
          </p:cNvPr>
          <p:cNvSpPr txBox="1"/>
          <p:nvPr/>
        </p:nvSpPr>
        <p:spPr>
          <a:xfrm>
            <a:off x="2778218" y="3499153"/>
            <a:ext cx="885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State 1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6BE67C23-D939-4B7B-BF36-DBD92BEF08FF}"/>
                  </a:ext>
                </a:extLst>
              </p:cNvPr>
              <p:cNvSpPr txBox="1"/>
              <p:nvPr/>
            </p:nvSpPr>
            <p:spPr>
              <a:xfrm>
                <a:off x="7745188" y="2301574"/>
                <a:ext cx="15177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6BE67C23-D939-4B7B-BF36-DBD92BEF08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5188" y="2301574"/>
                <a:ext cx="151772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1D80E867-67C4-44B2-9A84-45E1E3903497}"/>
                  </a:ext>
                </a:extLst>
              </p:cNvPr>
              <p:cNvSpPr txBox="1"/>
              <p:nvPr/>
            </p:nvSpPr>
            <p:spPr>
              <a:xfrm>
                <a:off x="7733967" y="2986461"/>
                <a:ext cx="15177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1D80E867-67C4-44B2-9A84-45E1E39034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3967" y="2986461"/>
                <a:ext cx="151772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7677F989-D373-492F-B42F-82CF27395200}"/>
                  </a:ext>
                </a:extLst>
              </p:cNvPr>
              <p:cNvSpPr txBox="1"/>
              <p:nvPr/>
            </p:nvSpPr>
            <p:spPr>
              <a:xfrm>
                <a:off x="7764156" y="3403499"/>
                <a:ext cx="15209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7677F989-D373-492F-B42F-82CF273952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4156" y="3403499"/>
                <a:ext cx="152092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6990E001-1E75-492E-8E4A-940FE8603B91}"/>
                  </a:ext>
                </a:extLst>
              </p:cNvPr>
              <p:cNvSpPr txBox="1"/>
              <p:nvPr/>
            </p:nvSpPr>
            <p:spPr>
              <a:xfrm>
                <a:off x="7867664" y="4059868"/>
                <a:ext cx="15209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6990E001-1E75-492E-8E4A-940FE8603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7664" y="4059868"/>
                <a:ext cx="152092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BFC5F534-4E19-4715-909C-AC8B98922A3E}"/>
                  </a:ext>
                </a:extLst>
              </p:cNvPr>
              <p:cNvSpPr txBox="1"/>
              <p:nvPr/>
            </p:nvSpPr>
            <p:spPr>
              <a:xfrm>
                <a:off x="7922900" y="4448636"/>
                <a:ext cx="15283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BFC5F534-4E19-4715-909C-AC8B98922A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2900" y="4448636"/>
                <a:ext cx="1528367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F5C05DDB-40F7-4015-A7D0-C90E464859AA}"/>
                  </a:ext>
                </a:extLst>
              </p:cNvPr>
              <p:cNvSpPr txBox="1"/>
              <p:nvPr/>
            </p:nvSpPr>
            <p:spPr>
              <a:xfrm>
                <a:off x="8040690" y="5195513"/>
                <a:ext cx="15283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F5C05DDB-40F7-4015-A7D0-C90E464859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0690" y="5195513"/>
                <a:ext cx="1528367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10F2B59D-C7C9-43F9-AF98-7A5F62D25192}"/>
                  </a:ext>
                </a:extLst>
              </p:cNvPr>
              <p:cNvSpPr txBox="1"/>
              <p:nvPr/>
            </p:nvSpPr>
            <p:spPr>
              <a:xfrm>
                <a:off x="8010517" y="5583912"/>
                <a:ext cx="15315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10F2B59D-C7C9-43F9-AF98-7A5F62D25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0517" y="5583912"/>
                <a:ext cx="1531573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45E373DE-3B00-440D-86C0-4D5395D0CC3D}"/>
                  </a:ext>
                </a:extLst>
              </p:cNvPr>
              <p:cNvSpPr txBox="1"/>
              <p:nvPr/>
            </p:nvSpPr>
            <p:spPr>
              <a:xfrm>
                <a:off x="8069091" y="6303594"/>
                <a:ext cx="15315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45E373DE-3B00-440D-86C0-4D5395D0CC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9091" y="6303594"/>
                <a:ext cx="1531573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6872C86E-B7B2-4CFA-A9FB-83862563BBC1}"/>
                  </a:ext>
                </a:extLst>
              </p:cNvPr>
              <p:cNvSpPr txBox="1"/>
              <p:nvPr/>
            </p:nvSpPr>
            <p:spPr>
              <a:xfrm>
                <a:off x="5586562" y="2628834"/>
                <a:ext cx="4966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6872C86E-B7B2-4CFA-A9FB-83862563B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6562" y="2628834"/>
                <a:ext cx="496674" cy="369332"/>
              </a:xfrm>
              <a:prstGeom prst="rect">
                <a:avLst/>
              </a:prstGeom>
              <a:blipFill>
                <a:blip r:embed="rId1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71E73ADE-C678-4593-BD4D-1CD75F4445E4}"/>
                  </a:ext>
                </a:extLst>
              </p:cNvPr>
              <p:cNvSpPr txBox="1"/>
              <p:nvPr/>
            </p:nvSpPr>
            <p:spPr>
              <a:xfrm>
                <a:off x="5611439" y="3761377"/>
                <a:ext cx="501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71E73ADE-C678-4593-BD4D-1CD75F4445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1439" y="3761377"/>
                <a:ext cx="501996" cy="369332"/>
              </a:xfrm>
              <a:prstGeom prst="rect">
                <a:avLst/>
              </a:prstGeom>
              <a:blipFill>
                <a:blip r:embed="rId1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253446ED-3E27-4858-9687-50C5AE691AC1}"/>
                  </a:ext>
                </a:extLst>
              </p:cNvPr>
              <p:cNvSpPr txBox="1"/>
              <p:nvPr/>
            </p:nvSpPr>
            <p:spPr>
              <a:xfrm>
                <a:off x="5806699" y="4798838"/>
                <a:ext cx="4966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253446ED-3E27-4858-9687-50C5AE691A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6699" y="4798838"/>
                <a:ext cx="496674" cy="369332"/>
              </a:xfrm>
              <a:prstGeom prst="rect">
                <a:avLst/>
              </a:prstGeom>
              <a:blipFill>
                <a:blip r:embed="rId16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12BBEA64-1085-4D9E-BB5E-11146223EB76}"/>
                  </a:ext>
                </a:extLst>
              </p:cNvPr>
              <p:cNvSpPr txBox="1"/>
              <p:nvPr/>
            </p:nvSpPr>
            <p:spPr>
              <a:xfrm>
                <a:off x="5851305" y="5920649"/>
                <a:ext cx="3719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12BBEA64-1085-4D9E-BB5E-11146223EB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1305" y="5920649"/>
                <a:ext cx="371939" cy="369332"/>
              </a:xfrm>
              <a:prstGeom prst="rect">
                <a:avLst/>
              </a:prstGeom>
              <a:blipFill>
                <a:blip r:embed="rId17"/>
                <a:stretch>
                  <a:fillRect l="-4918" r="-8197" b="-1147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4631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140"/>
    </mc:Choice>
    <mc:Fallback xmlns="">
      <p:transition spd="slow" advTm="8014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4FC82-F42B-6926-2319-EB558E0D73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EVPI Curves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B82C36-C0B5-F02A-A86F-F468015A81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54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DAD89-3457-1F01-57C3-5EB5B82E9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54713-9FEB-587F-C4BA-965E65D26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175" y="597408"/>
            <a:ext cx="10634472" cy="1117092"/>
          </a:xfrm>
        </p:spPr>
        <p:txBody>
          <a:bodyPr/>
          <a:lstStyle/>
          <a:p>
            <a:r>
              <a:rPr lang="en-CA" sz="4800" dirty="0"/>
              <a:t>Graphically Representing EVPI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D86DE4-9393-7B17-5FC8-627F702E0B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2600" y="1943100"/>
                <a:ext cx="5680075" cy="3936491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Note that the EVPI which was calculated in the previous example depended on a predefined threshold value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CA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CA" dirty="0"/>
                  <a:t>.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Just like the CEAC, we want to vary the threshold value to see how our expected value of perfect information changes.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This curve looks stranger than other curves.</a:t>
                </a:r>
                <a:br>
                  <a:rPr lang="en-CA" dirty="0"/>
                </a:br>
                <a:r>
                  <a:rPr lang="en-CA" dirty="0"/>
                  <a:t>- Theres a kink in the curve.</a:t>
                </a:r>
                <a:br>
                  <a:rPr lang="en-CA" dirty="0"/>
                </a:br>
                <a:r>
                  <a:rPr lang="en-CA" dirty="0"/>
                  <a:t>- There seems to be a decline in the value of information over a small range.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D86DE4-9393-7B17-5FC8-627F702E0B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2600" y="1943100"/>
                <a:ext cx="5680075" cy="3936491"/>
              </a:xfrm>
              <a:blipFill>
                <a:blip r:embed="rId2"/>
                <a:stretch>
                  <a:fillRect l="-644" t="-62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Fig. 3">
            <a:extLst>
              <a:ext uri="{FF2B5EF4-FFF2-40B4-BE49-F238E27FC236}">
                <a16:creationId xmlns:a16="http://schemas.microsoft.com/office/drawing/2014/main" id="{BB4C335B-7A34-9F66-08A6-CEB5B6895A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309" y="1876424"/>
            <a:ext cx="5325573" cy="3755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3B4093A-2327-C716-5FF3-EE2CAF49D7B5}"/>
              </a:ext>
            </a:extLst>
          </p:cNvPr>
          <p:cNvSpPr txBox="1"/>
          <p:nvPr/>
        </p:nvSpPr>
        <p:spPr>
          <a:xfrm>
            <a:off x="6480809" y="5631939"/>
            <a:ext cx="526407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00" b="1" dirty="0"/>
              <a:t>Source: </a:t>
            </a:r>
            <a:r>
              <a:rPr lang="en-CA" sz="1000" b="1" dirty="0" err="1"/>
              <a:t>Nurchis</a:t>
            </a:r>
            <a:r>
              <a:rPr lang="en-CA" sz="1000" b="1" dirty="0"/>
              <a:t>, M. C., Radio, F. C., </a:t>
            </a:r>
            <a:r>
              <a:rPr lang="en-CA" sz="1000" b="1" dirty="0" err="1"/>
              <a:t>Salmasi</a:t>
            </a:r>
            <a:r>
              <a:rPr lang="en-CA" sz="1000" b="1" dirty="0"/>
              <a:t>, L., Heidar Alizadeh, A., </a:t>
            </a:r>
            <a:r>
              <a:rPr lang="en-CA" sz="1000" b="1" dirty="0" err="1"/>
              <a:t>Raspolini</a:t>
            </a:r>
            <a:r>
              <a:rPr lang="en-CA" sz="1000" b="1" dirty="0"/>
              <a:t>, G. M., Altamura, G., ... &amp; Damiani, G. (2024). Bayesian cost-effectiveness analysis of Whole genome sequencing versus Whole exome sequencing in a pediatric population with suspected genetic disorders. </a:t>
            </a:r>
            <a:r>
              <a:rPr lang="en-CA" sz="1000" b="1" i="1" dirty="0"/>
              <a:t>The European Journal of Health Economics</a:t>
            </a:r>
            <a:r>
              <a:rPr lang="en-CA" sz="1000" b="1" dirty="0"/>
              <a:t>, </a:t>
            </a:r>
            <a:r>
              <a:rPr lang="en-CA" sz="1000" b="1" i="1" dirty="0"/>
              <a:t>25</a:t>
            </a:r>
            <a:r>
              <a:rPr lang="en-CA" sz="1000" b="1" dirty="0"/>
              <a:t>(6), 999-1011.</a:t>
            </a:r>
          </a:p>
        </p:txBody>
      </p:sp>
    </p:spTree>
    <p:extLst>
      <p:ext uri="{BB962C8B-B14F-4D97-AF65-F5344CB8AC3E}">
        <p14:creationId xmlns:p14="http://schemas.microsoft.com/office/powerpoint/2010/main" val="17091826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46650-B649-DF2B-DCB9-490309F22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66E99-75E5-44C6-2E52-CF21CF8DF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175" y="597408"/>
            <a:ext cx="10634472" cy="1117092"/>
          </a:xfrm>
        </p:spPr>
        <p:txBody>
          <a:bodyPr/>
          <a:lstStyle/>
          <a:p>
            <a:r>
              <a:rPr lang="en-CA" sz="4800" dirty="0"/>
              <a:t>Graphically Representing EVPI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098CB-FBDB-40CF-E1F9-16429C686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943100"/>
            <a:ext cx="5680075" cy="3936491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To address each of these issues:</a:t>
            </a:r>
            <a:br>
              <a:rPr lang="en-CA" dirty="0"/>
            </a:br>
            <a:r>
              <a:rPr lang="en-CA" dirty="0"/>
              <a:t>1. The kink in the curve occurs when there is a change in optimal treatment strategy (from treatment B to treatment A) in the </a:t>
            </a:r>
            <a:r>
              <a:rPr lang="en-CA" dirty="0" err="1"/>
              <a:t>EVwoPI</a:t>
            </a:r>
            <a:r>
              <a:rPr lang="en-CA" dirty="0"/>
              <a:t> part of the EVPI calculation.</a:t>
            </a:r>
            <a:br>
              <a:rPr lang="en-CA" dirty="0"/>
            </a:br>
            <a:br>
              <a:rPr lang="en-CA" dirty="0"/>
            </a:br>
            <a:r>
              <a:rPr lang="en-CA" dirty="0"/>
              <a:t>2. The curvature in the EVPI curve is due to combining the EVPI results with our probability of cost effectiveness.</a:t>
            </a:r>
          </a:p>
        </p:txBody>
      </p:sp>
      <p:pic>
        <p:nvPicPr>
          <p:cNvPr id="1026" name="Picture 2" descr="Fig. 3">
            <a:extLst>
              <a:ext uri="{FF2B5EF4-FFF2-40B4-BE49-F238E27FC236}">
                <a16:creationId xmlns:a16="http://schemas.microsoft.com/office/drawing/2014/main" id="{3F165028-644F-F4CB-6672-5D4C33A629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309" y="1876424"/>
            <a:ext cx="5325573" cy="3755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F211F76-4B05-6B41-326B-F1AC6019A832}"/>
              </a:ext>
            </a:extLst>
          </p:cNvPr>
          <p:cNvSpPr txBox="1"/>
          <p:nvPr/>
        </p:nvSpPr>
        <p:spPr>
          <a:xfrm>
            <a:off x="6480809" y="5631939"/>
            <a:ext cx="526407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00" b="1" dirty="0"/>
              <a:t>Source: </a:t>
            </a:r>
            <a:r>
              <a:rPr lang="en-CA" sz="1000" b="1" dirty="0" err="1"/>
              <a:t>Nurchis</a:t>
            </a:r>
            <a:r>
              <a:rPr lang="en-CA" sz="1000" b="1" dirty="0"/>
              <a:t>, M. C., Radio, F. C., </a:t>
            </a:r>
            <a:r>
              <a:rPr lang="en-CA" sz="1000" b="1" dirty="0" err="1"/>
              <a:t>Salmasi</a:t>
            </a:r>
            <a:r>
              <a:rPr lang="en-CA" sz="1000" b="1" dirty="0"/>
              <a:t>, L., Heidar Alizadeh, A., </a:t>
            </a:r>
            <a:r>
              <a:rPr lang="en-CA" sz="1000" b="1" dirty="0" err="1"/>
              <a:t>Raspolini</a:t>
            </a:r>
            <a:r>
              <a:rPr lang="en-CA" sz="1000" b="1" dirty="0"/>
              <a:t>, G. M., Altamura, G., ... &amp; Damiani, G. (2024). Bayesian cost-effectiveness analysis of Whole genome sequencing versus Whole exome sequencing in a pediatric population with suspected genetic disorders. </a:t>
            </a:r>
            <a:r>
              <a:rPr lang="en-CA" sz="1000" b="1" i="1" dirty="0"/>
              <a:t>The European Journal of Health Economics</a:t>
            </a:r>
            <a:r>
              <a:rPr lang="en-CA" sz="1000" b="1" dirty="0"/>
              <a:t>, </a:t>
            </a:r>
            <a:r>
              <a:rPr lang="en-CA" sz="1000" b="1" i="1" dirty="0"/>
              <a:t>25</a:t>
            </a:r>
            <a:r>
              <a:rPr lang="en-CA" sz="1000" b="1" dirty="0"/>
              <a:t>(6), 999-1011.</a:t>
            </a:r>
          </a:p>
        </p:txBody>
      </p:sp>
    </p:spTree>
    <p:extLst>
      <p:ext uri="{BB962C8B-B14F-4D97-AF65-F5344CB8AC3E}">
        <p14:creationId xmlns:p14="http://schemas.microsoft.com/office/powerpoint/2010/main" val="33427213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0A779-8332-6921-2145-4F6796151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A9128-E474-1861-2EAA-17EA14E79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>
            <a:normAutofit fontScale="90000"/>
          </a:bodyPr>
          <a:lstStyle/>
          <a:p>
            <a:r>
              <a:rPr lang="en-CA" sz="4800" dirty="0"/>
              <a:t>Combining EVPI and the Probability of cost effectiveness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09A907-5599-C8E3-F8A2-E26A2C6AE3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2600" y="1943100"/>
                <a:ext cx="10506991" cy="4029075"/>
              </a:xfrm>
            </p:spPr>
            <p:txBody>
              <a:bodyPr>
                <a:normAutofit/>
              </a:bodyPr>
              <a:lstStyle/>
              <a:p>
                <a:r>
                  <a:rPr lang="en-CA" dirty="0"/>
                  <a:t>There is one detail that is often added when plotting EVPI curves that is the probability of making a wrong decision.</a:t>
                </a:r>
              </a:p>
              <a:p>
                <a:r>
                  <a:rPr lang="en-CA" dirty="0"/>
                  <a:t> Definition of EVPI is often modified as :</a:t>
                </a:r>
                <a:br>
                  <a:rPr lang="en-CA" dirty="0"/>
                </a:br>
                <a:br>
                  <a:rPr lang="en-CA" dirty="0"/>
                </a:b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𝐸𝑉𝑃𝐼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func>
                          <m:funcPr>
                            <m:ctrlPr>
                              <a:rPr lang="en-CA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CA" b="0" i="0" smtClean="0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𝐶𝐸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e>
                            </m:d>
                          </m:e>
                        </m:func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𝐸𝑉𝑤𝑃𝐼</m:t>
                        </m:r>
                        <m:d>
                          <m:d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p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𝐸𝑉𝑤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𝑃𝐼</m:t>
                        </m:r>
                        <m:d>
                          <m:d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p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br>
                  <a:rPr lang="en-CA" dirty="0"/>
                </a:br>
                <a:endParaRPr lang="en-CA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Where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1−</m:t>
                        </m:r>
                        <m:func>
                          <m:funcPr>
                            <m:ctrlPr>
                              <a:rPr lang="en-CA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CA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𝐶𝐸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p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en-CA" dirty="0"/>
                  <a:t>is the probability of a treatment being not cost effective at threshold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CA" dirty="0"/>
                  <a:t>.</a:t>
                </a:r>
                <a:br>
                  <a:rPr lang="en-CA" dirty="0"/>
                </a:br>
                <a:endParaRPr lang="en-CA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The logic for doing this is because when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CA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𝐶𝐸</m:t>
                            </m:r>
                          </m:e>
                          <m:e>
                            <m:sSup>
                              <m:sSup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p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</m:e>
                    </m:func>
                    <m:r>
                      <a:rPr lang="en-CA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CA" dirty="0"/>
                  <a:t>, the probability of making a “wrong decision” is zero and the value of information is therefore zero.</a:t>
                </a:r>
                <a:br>
                  <a:rPr lang="en-CA" dirty="0"/>
                </a:br>
                <a:endParaRPr lang="en-CA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 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CA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𝐶𝐸</m:t>
                            </m:r>
                          </m:e>
                          <m:e>
                            <m:sSup>
                              <m:sSup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p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</m:e>
                    </m:func>
                    <m:r>
                      <a:rPr lang="en-CA" b="0" i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CA" dirty="0"/>
                  <a:t> the value of information is measured directly.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09A907-5599-C8E3-F8A2-E26A2C6AE3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2600" y="1943100"/>
                <a:ext cx="10506991" cy="4029075"/>
              </a:xfrm>
              <a:blipFill>
                <a:blip r:embed="rId2"/>
                <a:stretch>
                  <a:fillRect l="-348" t="-60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31632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4CBF2-D1FC-126D-A23A-2A8DC98E3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BBFA9-ECFD-AF3E-3276-B9272FC80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Some remarks on EVPI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43CE8E-E487-8345-5F8B-5BFCA05D66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2600" y="1943100"/>
                <a:ext cx="10506991" cy="3936491"/>
              </a:xfrm>
            </p:spPr>
            <p:txBody>
              <a:bodyPr/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Value of information analysis is conducted to tell us if it makes sense to conduct more research or acquire more information.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The computation of EVPI requires computing the expected value with perfect information (</a:t>
                </a:r>
                <a:r>
                  <a:rPr lang="en-CA" dirty="0" err="1"/>
                  <a:t>EVwPI</a:t>
                </a:r>
                <a:r>
                  <a:rPr lang="en-CA" dirty="0"/>
                  <a:t>) and expected value without information.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Often a modified EVPI formula will be used when plotting the EVPI curve so we need to hold two formulas in mind.</a:t>
                </a:r>
                <a:br>
                  <a:rPr lang="en-CA" dirty="0"/>
                </a:br>
                <a:r>
                  <a:rPr lang="en-CA" dirty="0"/>
                  <a:t>1.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𝐸𝑉𝑃𝐼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  <m:r>
                      <a:rPr lang="en-CA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𝐸𝑉</m:t>
                    </m:r>
                    <m:r>
                      <m:rPr>
                        <m:sty m:val="p"/>
                      </m:rPr>
                      <a:rPr lang="en-CA" b="0" i="0" smtClean="0">
                        <a:latin typeface="Cambria Math" panose="02040503050406030204" pitchFamily="18" charset="0"/>
                      </a:rPr>
                      <m:t>wPI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  <m:r>
                      <a:rPr lang="en-CA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𝐸𝑉𝑤𝑜𝑃𝐼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</m:oMath>
                </a14:m>
                <a:br>
                  <a:rPr lang="en-CA" b="0" dirty="0"/>
                </a:br>
                <a:br>
                  <a:rPr lang="en-CA" dirty="0"/>
                </a:br>
                <a:r>
                  <a:rPr lang="en-CA" dirty="0"/>
                  <a:t>2.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𝐸𝑉𝑃𝐼</m:t>
                    </m:r>
                    <m:d>
                      <m:d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  <m:r>
                      <a:rPr lang="en-CA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1−</m:t>
                        </m:r>
                        <m:func>
                          <m:funcPr>
                            <m:ctrlPr>
                              <a:rPr lang="en-CA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CA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𝐶𝐸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p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e>
                            </m:d>
                          </m:e>
                        </m:func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𝐸𝑉𝑤𝑃𝐼</m:t>
                        </m:r>
                        <m:d>
                          <m:d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p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  <m:r>
                          <a:rPr lang="en-CA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𝐸𝑉𝑤𝑜𝑃𝐼</m:t>
                        </m:r>
                        <m:d>
                          <m:d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p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43CE8E-E487-8345-5F8B-5BFCA05D66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2600" y="1943100"/>
                <a:ext cx="10506991" cy="3936491"/>
              </a:xfrm>
              <a:blipFill>
                <a:blip r:embed="rId2"/>
                <a:stretch>
                  <a:fillRect l="-754" t="-124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88507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93341-D806-0CA6-6819-73D9546110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A Model free approach to EVPI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CF8E53-49A6-D3CA-D49C-2B7F139412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084778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5CA0A-719B-ABCB-C60E-7ACC8C8FE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Value of Information as a “Model Free” Concept.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6AAA0-A250-5DC9-C6AC-6200D8B0D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So far, we have been considering the value of information as defined by reducing model uncertainty.</a:t>
            </a:r>
          </a:p>
          <a:p>
            <a:r>
              <a:rPr lang="en-CA" dirty="0"/>
              <a:t>This is done by figuring out what the best response is over every state of the world.</a:t>
            </a:r>
          </a:p>
          <a:p>
            <a:r>
              <a:rPr lang="en-CA" dirty="0"/>
              <a:t>We can also think of the value of information as the value of the decision that minimizes loss.</a:t>
            </a:r>
          </a:p>
          <a:p>
            <a:pPr marL="0" indent="0">
              <a:buNone/>
            </a:pP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574127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53F98FA-40E6-26EA-CE94-EE5E72A97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339" y="1533708"/>
            <a:ext cx="9971161" cy="3790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9591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C3672-3274-5598-A51C-A7499E616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460D490-4B75-8412-E26F-0D71B2A66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339" y="1533708"/>
            <a:ext cx="9971161" cy="3790583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4C38748-AAB5-C78F-42A3-B6976C030A83}"/>
              </a:ext>
            </a:extLst>
          </p:cNvPr>
          <p:cNvCxnSpPr/>
          <p:nvPr/>
        </p:nvCxnSpPr>
        <p:spPr>
          <a:xfrm flipV="1">
            <a:off x="6096000" y="5210175"/>
            <a:ext cx="1647825" cy="119062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5AABF32-705C-16B6-595E-B1572201209B}"/>
              </a:ext>
            </a:extLst>
          </p:cNvPr>
          <p:cNvSpPr txBox="1"/>
          <p:nvPr/>
        </p:nvSpPr>
        <p:spPr>
          <a:xfrm>
            <a:off x="3582427" y="5744760"/>
            <a:ext cx="25135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The Expected Value </a:t>
            </a:r>
            <a:br>
              <a:rPr lang="en-CA" b="1" dirty="0"/>
            </a:br>
            <a:r>
              <a:rPr lang="en-CA" b="1" dirty="0"/>
              <a:t>of Perfect Information</a:t>
            </a:r>
          </a:p>
        </p:txBody>
      </p:sp>
    </p:spTree>
    <p:extLst>
      <p:ext uri="{BB962C8B-B14F-4D97-AF65-F5344CB8AC3E}">
        <p14:creationId xmlns:p14="http://schemas.microsoft.com/office/powerpoint/2010/main" val="118238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59346-683A-E088-D1C4-2FD8E0765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721233"/>
            <a:ext cx="11155680" cy="1463040"/>
          </a:xfrm>
        </p:spPr>
        <p:txBody>
          <a:bodyPr/>
          <a:lstStyle/>
          <a:p>
            <a:r>
              <a:rPr lang="en-CA" dirty="0"/>
              <a:t>Why Minimal Expected Value of Regret is the Same as EVPI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9B8173-8490-A8ED-2213-1E377404AA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8613" y="2038350"/>
                <a:ext cx="11534774" cy="48196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CA" dirty="0"/>
                  <a:t>The regret of choosing action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CA" dirty="0"/>
                  <a:t>  when the true state of the world is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CA" dirty="0"/>
                  <a:t> is the difference between the maximum possible net benefit and the net benefit of action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br>
                  <a:rPr lang="en-CA" dirty="0"/>
                </a:br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CA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CA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𝒥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𝑁𝐵</m:t>
                              </m:r>
                              <m:d>
                                <m:d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</m:e>
                          </m:d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𝑁𝐵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br>
                  <a:rPr lang="en-CA" dirty="0"/>
                </a:br>
                <a:br>
                  <a:rPr lang="en-CA" dirty="0"/>
                </a:br>
                <a:endParaRPr lang="en-CA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9B8173-8490-A8ED-2213-1E377404AA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8613" y="2038350"/>
                <a:ext cx="11534774" cy="4819650"/>
              </a:xfrm>
              <a:blipFill>
                <a:blip r:embed="rId2"/>
                <a:stretch>
                  <a:fillRect l="-476" t="-37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73162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87F09-6791-2D9D-54C9-9452A1378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02FD7-F9D9-30B4-962D-129AE7230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721233"/>
            <a:ext cx="11155680" cy="1463040"/>
          </a:xfrm>
        </p:spPr>
        <p:txBody>
          <a:bodyPr/>
          <a:lstStyle/>
          <a:p>
            <a:r>
              <a:rPr lang="en-CA" dirty="0"/>
              <a:t>Why Minimal Expected Value of Regret is the Same as EVPI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8FC9CD-9576-2CB8-B652-A56E83D0A8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8613" y="2038350"/>
                <a:ext cx="11534774" cy="48196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CA" dirty="0"/>
                  <a:t>The regret of choosing action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CA" dirty="0"/>
                  <a:t>  when the true state of the world is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CA" dirty="0"/>
                  <a:t> is the difference between the maximum possible net benefit and the net benefit of action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br>
                  <a:rPr lang="en-CA" dirty="0"/>
                </a:br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CA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CA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𝒥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𝑁𝐵</m:t>
                              </m:r>
                              <m:d>
                                <m:d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</m:e>
                          </m:d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𝑁𝐵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br>
                  <a:rPr lang="en-CA" dirty="0"/>
                </a:br>
                <a:r>
                  <a:rPr lang="en-CA" dirty="0"/>
                  <a:t>When there the optimal choice is over risky outcomes,  we would say that the expected  regret from action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CA" dirty="0"/>
                  <a:t> is:</a:t>
                </a:r>
                <a:br>
                  <a:rPr lang="en-CA" dirty="0"/>
                </a:br>
                <a:endParaRPr lang="en-CA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CA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CA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CA" i="1">
                          <a:latin typeface="Cambria Math" panose="02040503050406030204" pitchFamily="18" charset="0"/>
                        </a:rPr>
                        <m:t>]=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Θ</m:t>
                          </m:r>
                        </m:sub>
                        <m:sup/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CA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CA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𝒥</m:t>
                                  </m:r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𝑁𝐵</m:t>
                                  </m:r>
                                  <m:d>
                                    <m:d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d>
                      <m:r>
                        <a:rPr lang="en-CA" i="1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Θ</m:t>
                          </m:r>
                        </m:sub>
                        <m:sup/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𝑁𝐵</m:t>
                          </m:r>
                          <m:d>
                            <m:d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:endParaRPr lang="en-CA" dirty="0"/>
              </a:p>
              <a:p>
                <a:pPr marL="0" indent="0">
                  <a:buNone/>
                </a:pPr>
                <a:br>
                  <a:rPr lang="en-CA" dirty="0"/>
                </a:br>
                <a:endParaRPr lang="en-CA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8FC9CD-9576-2CB8-B652-A56E83D0A8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8613" y="2038350"/>
                <a:ext cx="11534774" cy="4819650"/>
              </a:xfrm>
              <a:blipFill>
                <a:blip r:embed="rId2"/>
                <a:stretch>
                  <a:fillRect l="-476" t="-37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82815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D0767-76EB-7F82-D86D-8022744E1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181DF-5471-F67B-5D49-A40E877CB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721233"/>
            <a:ext cx="11155680" cy="1463040"/>
          </a:xfrm>
        </p:spPr>
        <p:txBody>
          <a:bodyPr/>
          <a:lstStyle/>
          <a:p>
            <a:r>
              <a:rPr lang="en-CA" dirty="0"/>
              <a:t>Why Minimal Expected Value of Regret is the Same as EVPI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E903C8-C3B0-920F-DA45-6DB3A9ABA5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8613" y="2038350"/>
                <a:ext cx="11534774" cy="4819650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CA" dirty="0"/>
                  <a:t>The regret of choosing action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CA" dirty="0"/>
                  <a:t>  when the true state of the world is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CA" dirty="0"/>
                  <a:t> is the difference between the maximum possible net benefit and the net benefit of action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br>
                  <a:rPr lang="en-CA" dirty="0"/>
                </a:br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CA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CA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𝒥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𝑁𝐵</m:t>
                              </m:r>
                              <m:d>
                                <m:d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</m:e>
                          </m:d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𝑁𝐵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br>
                  <a:rPr lang="en-CA" dirty="0"/>
                </a:br>
                <a:r>
                  <a:rPr lang="en-CA" dirty="0"/>
                  <a:t>When there the optimal choice is over risky outcomes,  we would say that the expected  regret from action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CA" dirty="0"/>
                  <a:t> is:</a:t>
                </a:r>
                <a:br>
                  <a:rPr lang="en-CA" dirty="0"/>
                </a:br>
                <a:endParaRPr lang="en-CA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CA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CA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CA" i="1">
                          <a:latin typeface="Cambria Math" panose="02040503050406030204" pitchFamily="18" charset="0"/>
                        </a:rPr>
                        <m:t>]=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Θ</m:t>
                          </m:r>
                        </m:sub>
                        <m:sup/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CA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CA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𝒥</m:t>
                                  </m:r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𝑁𝐵</m:t>
                                  </m:r>
                                  <m:d>
                                    <m:d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d>
                      <m:r>
                        <a:rPr lang="en-CA" i="1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Θ</m:t>
                          </m:r>
                        </m:sub>
                        <m:sup/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𝑁𝐵</m:t>
                          </m:r>
                          <m:d>
                            <m:d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:endParaRPr lang="en-CA" dirty="0"/>
              </a:p>
              <a:p>
                <a:pPr marL="0" indent="0">
                  <a:buNone/>
                </a:pPr>
                <a:r>
                  <a:rPr lang="en-CA" dirty="0"/>
                  <a:t>If we want to minimize regret</a:t>
                </a:r>
                <a:br>
                  <a:rPr lang="en-CA" dirty="0"/>
                </a:br>
                <a:br>
                  <a:rPr lang="en-CA" dirty="0"/>
                </a:b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CA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CA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𝒥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func>
                      <m:r>
                        <a:rPr lang="en-CA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CA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CA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𝒥</m:t>
                                  </m:r>
                                </m:e>
                              </m:d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CA"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sub>
                                <m:sup/>
                                <m:e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nary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limLow>
                                        <m:limLowPr>
                                          <m:ctrlPr>
                                            <a:rPr lang="en-CA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limLow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CA">
                                              <a:latin typeface="Cambria Math" panose="02040503050406030204" pitchFamily="18" charset="0"/>
                                            </a:rPr>
                                            <m:t>max</m:t>
                                          </m:r>
                                        </m:e>
                                        <m:lim>
                                          <m: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  <m:t>∈</m:t>
                                          </m:r>
                                          <m: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  <m:t>𝒥</m:t>
                                          </m:r>
                                        </m:lim>
                                      </m:limLow>
                                    </m:fName>
                                    <m:e>
                                      <m:d>
                                        <m:dPr>
                                          <m:begChr m:val="{"/>
                                          <m:endChr m:val="}"/>
                                          <m:ctrlP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  <m:t>𝑁𝐵</m:t>
                                          </m:r>
                                          <m:d>
                                            <m:dPr>
                                              <m:ctrlPr>
                                                <a:rPr lang="en-CA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CA" i="1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  <m:r>
                                                <a:rPr lang="en-CA" i="1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CA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CA"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sub>
                                <m:sup/>
                                <m:e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𝑁𝐵</m:t>
                                  </m:r>
                                  <m:d>
                                    <m:d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</m:func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:br>
                  <a:rPr lang="en-CA" dirty="0"/>
                </a:br>
                <a:br>
                  <a:rPr lang="en-CA" dirty="0"/>
                </a:br>
                <a:endParaRPr lang="en-CA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E903C8-C3B0-920F-DA45-6DB3A9ABA5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8613" y="2038350"/>
                <a:ext cx="11534774" cy="4819650"/>
              </a:xfrm>
              <a:blipFill>
                <a:blip r:embed="rId2"/>
                <a:stretch>
                  <a:fillRect l="-370" t="-37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49687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7C3F5-2DB8-6A19-E491-861E6BB9E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953F1-C1A1-B12F-5808-E6FCCA829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721233"/>
            <a:ext cx="11155680" cy="1463040"/>
          </a:xfrm>
        </p:spPr>
        <p:txBody>
          <a:bodyPr/>
          <a:lstStyle/>
          <a:p>
            <a:r>
              <a:rPr lang="en-CA" dirty="0"/>
              <a:t>Why Minimal Expected Value of Regret is the Same as EVPI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0283DB-82F8-9E74-C37D-9D12FB32AE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8613" y="2038350"/>
                <a:ext cx="11534774" cy="48196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CA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CA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𝒥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func>
                      <m:r>
                        <a:rPr lang="en-CA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CA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CA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𝒥</m:t>
                                  </m:r>
                                </m:e>
                              </m:d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CA"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sub>
                                <m:sup/>
                                <m:e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nary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limLow>
                                        <m:limLowPr>
                                          <m:ctrlPr>
                                            <a:rPr lang="en-CA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limLow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CA">
                                              <a:latin typeface="Cambria Math" panose="02040503050406030204" pitchFamily="18" charset="0"/>
                                            </a:rPr>
                                            <m:t>max</m:t>
                                          </m:r>
                                        </m:e>
                                        <m:lim>
                                          <m: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  <m:t>∈</m:t>
                                          </m:r>
                                          <m: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  <m:t>𝒥</m:t>
                                          </m:r>
                                        </m:lim>
                                      </m:limLow>
                                    </m:fName>
                                    <m:e>
                                      <m:d>
                                        <m:dPr>
                                          <m:begChr m:val="{"/>
                                          <m:endChr m:val="}"/>
                                          <m:ctrlP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  <m:t>𝑁𝐵</m:t>
                                          </m:r>
                                          <m:d>
                                            <m:dPr>
                                              <m:ctrlPr>
                                                <a:rPr lang="en-CA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CA" i="1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  <m:r>
                                                <a:rPr lang="en-CA" i="1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CA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CA"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sub>
                                <m:sup/>
                                <m:e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𝑁𝐵</m:t>
                                  </m:r>
                                  <m:d>
                                    <m:d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</m:func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:br>
                  <a:rPr lang="en-CA" dirty="0"/>
                </a:br>
                <a:r>
                  <a:rPr lang="en-CA" dirty="0"/>
                  <a:t>The first term is a constant so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CA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CA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𝒥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</m:e>
                        </m:d>
                      </m:e>
                    </m:func>
                    <m:r>
                      <a:rPr lang="en-CA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dirty="0"/>
                  <a:t>skips over it. Note from the second term the following property: </a:t>
                </a:r>
                <a:br>
                  <a:rPr lang="en-CA" dirty="0"/>
                </a:b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CA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CA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CA">
                          <a:latin typeface="Cambria Math" panose="02040503050406030204" pitchFamily="18" charset="0"/>
                        </a:rPr>
                        <m:t>=−</m:t>
                      </m:r>
                      <m:limLow>
                        <m:limLowPr>
                          <m:ctrlPr>
                            <a:rPr lang="en-CA" b="0" i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lim>
                      </m:limLow>
                      <m:r>
                        <a:rPr lang="en-CA" b="0" i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CA" b="0" i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:br>
                  <a:rPr lang="en-CA" dirty="0"/>
                </a:br>
                <a:r>
                  <a:rPr lang="en-CA" dirty="0"/>
                  <a:t>Therefore:</a:t>
                </a:r>
                <a:br>
                  <a:rPr lang="en-CA" dirty="0"/>
                </a:b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CA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CA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𝒥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func>
                      <m:r>
                        <a:rPr lang="en-CA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Θ</m:t>
                          </m:r>
                        </m:sub>
                        <m:sup/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CA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CA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𝒥</m:t>
                                  </m:r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𝑁𝐵</m:t>
                                  </m:r>
                                  <m:d>
                                    <m:d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d>
                      <m:r>
                        <a:rPr lang="en-CA" i="1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CA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CA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𝒥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sty m:val="p"/>
                                </m:rPr>
                                <a:rPr lang="en-CA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sub>
                            <m:sup/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𝑁𝐵</m:t>
                              </m:r>
                              <m:d>
                                <m:d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nary>
                          <m:r>
                            <m:rPr>
                              <m:nor/>
                            </m:rPr>
                            <a:rPr lang="en-CA" i="0" dirty="0"/>
                            <m:t> </m:t>
                          </m:r>
                        </m:e>
                      </m:func>
                      <m:r>
                        <a:rPr lang="en-CA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i="1">
                          <a:latin typeface="Cambria Math" panose="02040503050406030204" pitchFamily="18" charset="0"/>
                        </a:rPr>
                        <m:t>𝐸𝑉𝑃𝐼</m:t>
                      </m:r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:endParaRPr lang="en-CA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0283DB-82F8-9E74-C37D-9D12FB32AE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8613" y="2038350"/>
                <a:ext cx="11534774" cy="4819650"/>
              </a:xfrm>
              <a:blipFill>
                <a:blip r:embed="rId2"/>
                <a:stretch>
                  <a:fillRect l="-47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008D035C-62A3-25C2-811A-1E63A9E70B22}"/>
              </a:ext>
            </a:extLst>
          </p:cNvPr>
          <p:cNvSpPr/>
          <p:nvPr/>
        </p:nvSpPr>
        <p:spPr>
          <a:xfrm>
            <a:off x="2105025" y="4848226"/>
            <a:ext cx="8096250" cy="819150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7159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AAFAE-C69E-679F-08C9-B836B5E0A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Take Away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0F612A-96A2-41AE-1927-8CFE159774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8981" y="2104694"/>
                <a:ext cx="11155680" cy="2311859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CA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CA" sz="4000" b="0" i="0" smtClean="0">
                          <a:latin typeface="Cambria Math" panose="02040503050406030204" pitchFamily="18" charset="0"/>
                        </a:rPr>
                        <m:t>EVPI</m:t>
                      </m:r>
                      <m:r>
                        <a:rPr lang="en-CA" sz="40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CA" sz="4000" b="0" i="0" smtClean="0">
                          <a:latin typeface="Cambria Math" panose="02040503050406030204" pitchFamily="18" charset="0"/>
                        </a:rPr>
                        <m:t>Value</m:t>
                      </m:r>
                      <m:r>
                        <a:rPr lang="en-CA" sz="4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CA" sz="4000" b="0" i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CA" sz="4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CA" sz="4000" b="0" i="0" smtClean="0">
                          <a:latin typeface="Cambria Math" panose="02040503050406030204" pitchFamily="18" charset="0"/>
                        </a:rPr>
                        <m:t>Decision</m:t>
                      </m:r>
                      <m:r>
                        <a:rPr lang="en-CA" sz="4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CA" sz="4000" b="0" i="0" smtClean="0">
                          <a:latin typeface="Cambria Math" panose="02040503050406030204" pitchFamily="18" charset="0"/>
                        </a:rPr>
                        <m:t>Which</m:t>
                      </m:r>
                      <m:r>
                        <a:rPr lang="en-CA" sz="4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CA" sz="4000" b="0" i="0" smtClean="0">
                          <a:latin typeface="Cambria Math" panose="02040503050406030204" pitchFamily="18" charset="0"/>
                        </a:rPr>
                        <m:t>Minimizes</m:t>
                      </m:r>
                      <m:r>
                        <a:rPr lang="en-CA" sz="4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CA" sz="4000" b="0" i="0" smtClean="0">
                          <a:latin typeface="Cambria Math" panose="02040503050406030204" pitchFamily="18" charset="0"/>
                        </a:rPr>
                        <m:t>Regret</m:t>
                      </m:r>
                    </m:oMath>
                  </m:oMathPara>
                </a14:m>
                <a:endParaRPr lang="en-CA" sz="4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0F612A-96A2-41AE-1927-8CFE159774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981" y="2104694"/>
                <a:ext cx="11155680" cy="231185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91CEFC-C4FA-5034-C51D-4DC3DD89256D}"/>
                  </a:ext>
                </a:extLst>
              </p:cNvPr>
              <p:cNvSpPr txBox="1"/>
              <p:nvPr/>
            </p:nvSpPr>
            <p:spPr>
              <a:xfrm>
                <a:off x="1495425" y="3429000"/>
                <a:ext cx="8622792" cy="764953"/>
              </a:xfrm>
              <a:prstGeom prst="rect">
                <a:avLst/>
              </a:prstGeom>
              <a:noFill/>
              <a:ln w="57150">
                <a:solidFill>
                  <a:srgbClr val="0070C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CA" sz="1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CA" sz="180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CA" sz="18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CA" sz="1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CA" sz="18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CA" sz="1800" i="1">
                                  <a:latin typeface="Cambria Math" panose="02040503050406030204" pitchFamily="18" charset="0"/>
                                </a:rPr>
                                <m:t>𝒥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CA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800" i="1">
                                  <a:latin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r>
                                <a:rPr lang="en-CA" sz="1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CA" sz="1800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CA" sz="1800" i="1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CA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sz="1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CA" sz="1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A" sz="1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CA" sz="1800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func>
                      <m:r>
                        <a:rPr lang="en-CA" sz="1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CA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CA" sz="1800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CA" sz="18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CA" sz="1800">
                              <a:latin typeface="Cambria Math" panose="02040503050406030204" pitchFamily="18" charset="0"/>
                            </a:rPr>
                            <m:t>Θ</m:t>
                          </m:r>
                        </m:sub>
                        <m:sup/>
                        <m:e>
                          <m:r>
                            <a:rPr lang="en-CA" sz="18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CA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sz="1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en-CA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CA" sz="1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CA" sz="180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CA" sz="180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CA" sz="18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CA" sz="18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CA" sz="1800" i="1">
                                      <a:latin typeface="Cambria Math" panose="02040503050406030204" pitchFamily="18" charset="0"/>
                                    </a:rPr>
                                    <m:t>𝒥</m:t>
                                  </m:r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CA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sz="1800" i="1">
                                      <a:latin typeface="Cambria Math" panose="02040503050406030204" pitchFamily="18" charset="0"/>
                                    </a:rPr>
                                    <m:t>𝑁𝐵</m:t>
                                  </m:r>
                                  <m:d>
                                    <m:dPr>
                                      <m:ctrlPr>
                                        <a:rPr lang="en-CA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sz="18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  <m:r>
                                        <a:rPr lang="en-CA" sz="18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CA" sz="18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d>
                      <m:r>
                        <a:rPr lang="en-CA" sz="1800" i="1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CA" sz="1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CA" sz="1800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CA" sz="18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CA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CA" sz="18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CA" sz="1800" b="0" i="1" smtClean="0">
                                  <a:latin typeface="Cambria Math" panose="02040503050406030204" pitchFamily="18" charset="0"/>
                                </a:rPr>
                                <m:t>𝒥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CA" sz="1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CA" sz="1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CA" sz="18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sty m:val="p"/>
                                </m:rPr>
                                <a:rPr lang="en-CA" sz="18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sub>
                            <m:sup/>
                            <m:e>
                              <m:r>
                                <a:rPr lang="en-CA" sz="1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CA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sz="18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en-CA" sz="1800" i="1">
                                  <a:latin typeface="Cambria Math" panose="02040503050406030204" pitchFamily="18" charset="0"/>
                                </a:rPr>
                                <m:t>𝑁𝐵</m:t>
                              </m:r>
                              <m:d>
                                <m:dPr>
                                  <m:ctrlPr>
                                    <a:rPr lang="en-CA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sz="1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CA" sz="18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sz="18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nary>
                          <m:r>
                            <m:rPr>
                              <m:nor/>
                            </m:rPr>
                            <a:rPr lang="en-CA" sz="1800" i="0" dirty="0"/>
                            <m:t> </m:t>
                          </m:r>
                        </m:e>
                      </m:func>
                      <m:r>
                        <a:rPr lang="en-CA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1800" b="0" i="1" smtClean="0">
                          <a:latin typeface="Cambria Math" panose="02040503050406030204" pitchFamily="18" charset="0"/>
                        </a:rPr>
                        <m:t>𝐸𝑉𝑃𝐼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91CEFC-C4FA-5034-C51D-4DC3DD8925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5425" y="3429000"/>
                <a:ext cx="8622792" cy="7649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5715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08535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B614C-98BE-E71A-1861-1163E1FEA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Concluding Remarks on Value of Information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E39CA-38AD-6EA7-8700-462138FB2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7" y="2578608"/>
            <a:ext cx="5146167" cy="3767328"/>
          </a:xfrm>
        </p:spPr>
        <p:txBody>
          <a:bodyPr>
            <a:normAutofit lnSpcReduction="10000"/>
          </a:bodyPr>
          <a:lstStyle/>
          <a:p>
            <a:r>
              <a:rPr lang="en-CA" dirty="0"/>
              <a:t>Value of information analysis, from the classroom is complex.</a:t>
            </a:r>
          </a:p>
          <a:p>
            <a:r>
              <a:rPr lang="en-CA" dirty="0"/>
              <a:t>However, behind the formulas exists a very simple, model free rule for defining the value of information.</a:t>
            </a:r>
          </a:p>
          <a:p>
            <a:r>
              <a:rPr lang="en-CA" dirty="0"/>
              <a:t>If we can define “Regret” from a set of prospective treatments, we can define the expected value of perfect information from it without reference to </a:t>
            </a:r>
            <a:r>
              <a:rPr lang="en-CA" dirty="0" err="1"/>
              <a:t>EVwPI</a:t>
            </a:r>
            <a:r>
              <a:rPr lang="en-CA" dirty="0"/>
              <a:t> or </a:t>
            </a:r>
            <a:r>
              <a:rPr lang="en-CA" dirty="0" err="1"/>
              <a:t>EWwoPI</a:t>
            </a:r>
            <a:r>
              <a:rPr lang="en-CA" dirty="0"/>
              <a:t>.</a:t>
            </a:r>
          </a:p>
          <a:p>
            <a:r>
              <a:rPr lang="en-CA" dirty="0"/>
              <a:t>There are no </a:t>
            </a:r>
            <a:r>
              <a:rPr lang="en-CA" b="1" dirty="0"/>
              <a:t>EVPI THRESHOLDS</a:t>
            </a:r>
            <a:r>
              <a:rPr lang="en-CA" dirty="0"/>
              <a:t> so if EVPI is larger than the cost of a test, the decision is to fund. (otherwise we do not fund.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555070F-5298-71FA-A7B9-3ED8E2B71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0" y="2089023"/>
            <a:ext cx="4552589" cy="434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393137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9549</TotalTime>
  <Words>3220</Words>
  <Application>Microsoft Office PowerPoint</Application>
  <PresentationFormat>Widescreen</PresentationFormat>
  <Paragraphs>423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Aptos</vt:lpstr>
      <vt:lpstr>Arial</vt:lpstr>
      <vt:lpstr>Bierstadt</vt:lpstr>
      <vt:lpstr>Cambria Math</vt:lpstr>
      <vt:lpstr>Courier New</vt:lpstr>
      <vt:lpstr>Wingdings</vt:lpstr>
      <vt:lpstr>GestaltVTI</vt:lpstr>
      <vt:lpstr>Advanced Topics in Economic Evaluation and Healthcare</vt:lpstr>
      <vt:lpstr>Lecture Overview</vt:lpstr>
      <vt:lpstr>The Valuation of Diagnostic Tests.</vt:lpstr>
      <vt:lpstr>A “Non Technical” Overview of The Expected Value of Perfect Information</vt:lpstr>
      <vt:lpstr>Not all information is worth the price.</vt:lpstr>
      <vt:lpstr>Not all information is worth the price.</vt:lpstr>
      <vt:lpstr>Not all information is worth the price.</vt:lpstr>
      <vt:lpstr>The Expected Value of Perfect Information</vt:lpstr>
      <vt:lpstr>The Expected Value of Perfect Information.</vt:lpstr>
      <vt:lpstr>An Example from a Data Table</vt:lpstr>
      <vt:lpstr>An Example from a Data Table</vt:lpstr>
      <vt:lpstr>An Example from a Data Table</vt:lpstr>
      <vt:lpstr>An Example from a Data Table</vt:lpstr>
      <vt:lpstr>An Example from a Data Table</vt:lpstr>
      <vt:lpstr>What EVPI is really</vt:lpstr>
      <vt:lpstr>WARNING</vt:lpstr>
      <vt:lpstr>The Expected Value of Perfect Information visualized in Decision Trees</vt:lpstr>
      <vt:lpstr>What is the Expected Value of Perfect Information?</vt:lpstr>
      <vt:lpstr>Expected Value with Perfect Information</vt:lpstr>
      <vt:lpstr>Expected Value without Perfect Information</vt:lpstr>
      <vt:lpstr>Computing EVPI in Excel</vt:lpstr>
      <vt:lpstr>The Expected Value of Perfect Parameter Information</vt:lpstr>
      <vt:lpstr>What is EVPPI?</vt:lpstr>
      <vt:lpstr>What is EVPPI?</vt:lpstr>
      <vt:lpstr>Expected Value without Perfect Information</vt:lpstr>
      <vt:lpstr>Expected Value without Perfect Information</vt:lpstr>
      <vt:lpstr>Expected Value with Perfect Parameter Information</vt:lpstr>
      <vt:lpstr>EVPI Curves</vt:lpstr>
      <vt:lpstr>Graphically Representing EVPI</vt:lpstr>
      <vt:lpstr>Graphically Representing EVPI</vt:lpstr>
      <vt:lpstr>Combining EVPI and the Probability of cost effectiveness</vt:lpstr>
      <vt:lpstr>Some remarks on EVPI</vt:lpstr>
      <vt:lpstr>A Model free approach to EVPI</vt:lpstr>
      <vt:lpstr>The Value of Information as a “Model Free” Concept.</vt:lpstr>
      <vt:lpstr>PowerPoint Presentation</vt:lpstr>
      <vt:lpstr>PowerPoint Presentation</vt:lpstr>
      <vt:lpstr>Why Minimal Expected Value of Regret is the Same as EVPI</vt:lpstr>
      <vt:lpstr>Why Minimal Expected Value of Regret is the Same as EVPI</vt:lpstr>
      <vt:lpstr>Why Minimal Expected Value of Regret is the Same as EVPI</vt:lpstr>
      <vt:lpstr>Why Minimal Expected Value of Regret is the Same as EVPI</vt:lpstr>
      <vt:lpstr>The Take Away</vt:lpstr>
      <vt:lpstr>Concluding Remarks on Value of Information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Smith</dc:creator>
  <cp:lastModifiedBy>Jacob Smith</cp:lastModifiedBy>
  <cp:revision>66</cp:revision>
  <dcterms:created xsi:type="dcterms:W3CDTF">2026-08-17T03:21:10Z</dcterms:created>
  <dcterms:modified xsi:type="dcterms:W3CDTF">2026-10-29T01:36:59Z</dcterms:modified>
</cp:coreProperties>
</file>