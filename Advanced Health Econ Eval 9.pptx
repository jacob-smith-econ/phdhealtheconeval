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1" r:id="rId1"/>
  </p:sldMasterIdLst>
  <p:notesMasterIdLst>
    <p:notesMasterId r:id="rId34"/>
  </p:notesMasterIdLst>
  <p:sldIdLst>
    <p:sldId id="256" r:id="rId2"/>
    <p:sldId id="257" r:id="rId3"/>
    <p:sldId id="321" r:id="rId4"/>
    <p:sldId id="323" r:id="rId5"/>
    <p:sldId id="324" r:id="rId6"/>
    <p:sldId id="325" r:id="rId7"/>
    <p:sldId id="286" r:id="rId8"/>
    <p:sldId id="309" r:id="rId9"/>
    <p:sldId id="284" r:id="rId10"/>
    <p:sldId id="285" r:id="rId11"/>
    <p:sldId id="260" r:id="rId12"/>
    <p:sldId id="307" r:id="rId13"/>
    <p:sldId id="308" r:id="rId14"/>
    <p:sldId id="258" r:id="rId15"/>
    <p:sldId id="263" r:id="rId16"/>
    <p:sldId id="296" r:id="rId17"/>
    <p:sldId id="289" r:id="rId18"/>
    <p:sldId id="304" r:id="rId19"/>
    <p:sldId id="305" r:id="rId20"/>
    <p:sldId id="310" r:id="rId21"/>
    <p:sldId id="311" r:id="rId22"/>
    <p:sldId id="265" r:id="rId23"/>
    <p:sldId id="259" r:id="rId24"/>
    <p:sldId id="312" r:id="rId25"/>
    <p:sldId id="313" r:id="rId26"/>
    <p:sldId id="314" r:id="rId27"/>
    <p:sldId id="264" r:id="rId28"/>
    <p:sldId id="262" r:id="rId29"/>
    <p:sldId id="261" r:id="rId30"/>
    <p:sldId id="315" r:id="rId31"/>
    <p:sldId id="320" r:id="rId32"/>
    <p:sldId id="31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DFD0"/>
    <a:srgbClr val="CFCF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4" autoAdjust="0"/>
    <p:restoredTop sz="92996" autoAdjust="0"/>
  </p:normalViewPr>
  <p:slideViewPr>
    <p:cSldViewPr snapToGrid="0">
      <p:cViewPr varScale="1">
        <p:scale>
          <a:sx n="100" d="100"/>
          <a:sy n="100" d="100"/>
        </p:scale>
        <p:origin x="25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_rels/drawing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1_2#6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2DF27F-7C10-4A09-93B7-CA8B3D950454}" type="doc">
      <dgm:prSet loTypeId="urn:microsoft.com/office/officeart/2005/8/layout/hList2" loCatId="list" qsTypeId="urn:microsoft.com/office/officeart/2005/8/quickstyle/simple1#115" qsCatId="simple" csTypeId="urn:microsoft.com/office/officeart/2005/8/colors/accent1_2#62" csCatId="accent1" phldr="1"/>
      <dgm:spPr/>
      <dgm:t>
        <a:bodyPr/>
        <a:lstStyle/>
        <a:p>
          <a:endParaRPr lang="en-CA"/>
        </a:p>
      </dgm:t>
    </dgm:pt>
    <dgm:pt modelId="{B096938C-1FAA-44B8-9435-7E4082438008}">
      <dgm:prSet phldrT="[Text]" phldr="0"/>
      <dgm:spPr/>
      <dgm:t>
        <a:bodyPr/>
        <a:lstStyle/>
        <a:p>
          <a:r>
            <a:rPr lang="en-CA" dirty="0"/>
            <a:t>CEA</a:t>
          </a:r>
        </a:p>
      </dgm:t>
    </dgm:pt>
    <dgm:pt modelId="{9325DD27-3657-46EA-AA1A-430EE1CCBACD}" type="parTrans" cxnId="{CB65A6EE-238B-4A5F-A963-8DE01B51E02B}">
      <dgm:prSet/>
      <dgm:spPr/>
      <dgm:t>
        <a:bodyPr/>
        <a:lstStyle/>
        <a:p>
          <a:endParaRPr lang="en-CA"/>
        </a:p>
      </dgm:t>
    </dgm:pt>
    <dgm:pt modelId="{6BC50BEB-0212-402A-8B21-DAA9FA7DE475}" type="sibTrans" cxnId="{CB65A6EE-238B-4A5F-A963-8DE01B51E02B}">
      <dgm:prSet/>
      <dgm:spPr/>
      <dgm:t>
        <a:bodyPr/>
        <a:lstStyle/>
        <a:p>
          <a:endParaRPr lang="en-CA"/>
        </a:p>
      </dgm:t>
    </dgm:pt>
    <dgm:pt modelId="{3892FA83-A3A4-48B4-A6FB-99BAD85A4812}">
      <dgm:prSet phldrT="[Text]" phldr="0"/>
      <dgm:spPr>
        <a:solidFill>
          <a:srgbClr val="00B0F0"/>
        </a:solidFill>
      </dgm:spPr>
      <dgm:t>
        <a:bodyPr/>
        <a:lstStyle/>
        <a:p>
          <a:r>
            <a:rPr lang="en-CA" b="1" dirty="0"/>
            <a:t>Used to determine the value for money associated with a treatment.</a:t>
          </a:r>
        </a:p>
      </dgm:t>
    </dgm:pt>
    <dgm:pt modelId="{F9B2F725-179A-49FC-B09C-5831877E12F3}" type="parTrans" cxnId="{ADF9355A-51F2-4C76-95BD-5BDECB637E17}">
      <dgm:prSet/>
      <dgm:spPr/>
      <dgm:t>
        <a:bodyPr/>
        <a:lstStyle/>
        <a:p>
          <a:endParaRPr lang="en-CA"/>
        </a:p>
      </dgm:t>
    </dgm:pt>
    <dgm:pt modelId="{5DFB731C-E8B7-41AA-85EF-FDE82B110038}" type="sibTrans" cxnId="{ADF9355A-51F2-4C76-95BD-5BDECB637E17}">
      <dgm:prSet/>
      <dgm:spPr/>
      <dgm:t>
        <a:bodyPr/>
        <a:lstStyle/>
        <a:p>
          <a:endParaRPr lang="en-CA"/>
        </a:p>
      </dgm:t>
    </dgm:pt>
    <dgm:pt modelId="{BBDF1F41-1AF6-4F37-847E-05332893B3DB}">
      <dgm:prSet phldrT="[Text]" phldr="0"/>
      <dgm:spPr>
        <a:solidFill>
          <a:srgbClr val="00B0F0"/>
        </a:solidFill>
      </dgm:spPr>
      <dgm:t>
        <a:bodyPr/>
        <a:lstStyle/>
        <a:p>
          <a:r>
            <a:rPr lang="en-CA" b="1" dirty="0"/>
            <a:t>Key Statistics Computed:</a:t>
          </a:r>
        </a:p>
      </dgm:t>
    </dgm:pt>
    <dgm:pt modelId="{BB9E2E2C-898E-4292-85B2-806939A5CD05}" type="parTrans" cxnId="{75A8C4A5-3F8C-46C8-A603-0500F77E4692}">
      <dgm:prSet/>
      <dgm:spPr/>
      <dgm:t>
        <a:bodyPr/>
        <a:lstStyle/>
        <a:p>
          <a:endParaRPr lang="en-CA"/>
        </a:p>
      </dgm:t>
    </dgm:pt>
    <dgm:pt modelId="{49C9572F-40D5-4AFC-8DE3-8896FBA3013F}" type="sibTrans" cxnId="{75A8C4A5-3F8C-46C8-A603-0500F77E4692}">
      <dgm:prSet/>
      <dgm:spPr/>
      <dgm:t>
        <a:bodyPr/>
        <a:lstStyle/>
        <a:p>
          <a:endParaRPr lang="en-CA"/>
        </a:p>
      </dgm:t>
    </dgm:pt>
    <dgm:pt modelId="{47511774-5E5D-4488-9D2E-232A4CD9357A}">
      <dgm:prSet phldrT="[Text]" phldr="0"/>
      <dgm:spPr/>
      <dgm:t>
        <a:bodyPr/>
        <a:lstStyle/>
        <a:p>
          <a:r>
            <a:rPr lang="en-CA" dirty="0"/>
            <a:t>BIA</a:t>
          </a:r>
        </a:p>
      </dgm:t>
    </dgm:pt>
    <dgm:pt modelId="{40915F94-1D8E-4CD7-A69D-247DB412786D}" type="parTrans" cxnId="{1F56B5D1-E9B2-47D7-8695-03ECDBA08753}">
      <dgm:prSet/>
      <dgm:spPr/>
      <dgm:t>
        <a:bodyPr/>
        <a:lstStyle/>
        <a:p>
          <a:endParaRPr lang="en-CA"/>
        </a:p>
      </dgm:t>
    </dgm:pt>
    <dgm:pt modelId="{D65B1D2C-CA9C-4FAD-8698-484EB02834C5}" type="sibTrans" cxnId="{1F56B5D1-E9B2-47D7-8695-03ECDBA08753}">
      <dgm:prSet/>
      <dgm:spPr/>
      <dgm:t>
        <a:bodyPr/>
        <a:lstStyle/>
        <a:p>
          <a:endParaRPr lang="en-CA"/>
        </a:p>
      </dgm:t>
    </dgm:pt>
    <dgm:pt modelId="{4B485149-0E5A-4148-A392-4ACC1CDF4738}">
      <dgm:prSet phldrT="[Text]" phldr="0"/>
      <dgm:spPr>
        <a:solidFill>
          <a:srgbClr val="00B0F0"/>
        </a:solidFill>
      </dgm:spPr>
      <dgm:t>
        <a:bodyPr/>
        <a:lstStyle/>
        <a:p>
          <a:r>
            <a:rPr lang="en-CA" b="1" dirty="0"/>
            <a:t>Used to determine the Feasibility of funding a particular treatment.</a:t>
          </a:r>
          <a:br>
            <a:rPr lang="en-CA" b="1" dirty="0"/>
          </a:br>
          <a:endParaRPr lang="en-CA" b="1" dirty="0"/>
        </a:p>
      </dgm:t>
    </dgm:pt>
    <dgm:pt modelId="{21231ED8-5317-4D5D-93AE-95871AAD7A2B}" type="parTrans" cxnId="{30D23BBF-FC6E-46C1-920C-DF84C7704559}">
      <dgm:prSet/>
      <dgm:spPr/>
      <dgm:t>
        <a:bodyPr/>
        <a:lstStyle/>
        <a:p>
          <a:endParaRPr lang="en-CA"/>
        </a:p>
      </dgm:t>
    </dgm:pt>
    <dgm:pt modelId="{E1ECD81E-A868-4BF7-A6DA-825678E035E3}" type="sibTrans" cxnId="{30D23BBF-FC6E-46C1-920C-DF84C7704559}">
      <dgm:prSet/>
      <dgm:spPr/>
      <dgm:t>
        <a:bodyPr/>
        <a:lstStyle/>
        <a:p>
          <a:endParaRPr lang="en-CA"/>
        </a:p>
      </dgm:t>
    </dgm:pt>
    <dgm:pt modelId="{C0B3446F-CE01-4E7C-9905-17AC4077AFE4}">
      <dgm:prSet phldrT="[Text]" phldr="0"/>
      <dgm:spPr>
        <a:solidFill>
          <a:srgbClr val="00B0F0"/>
        </a:solidFill>
      </dgm:spPr>
      <dgm:t>
        <a:bodyPr/>
        <a:lstStyle/>
        <a:p>
          <a:r>
            <a:rPr lang="en-CA" b="1" dirty="0"/>
            <a:t>Key Statistics Computed:</a:t>
          </a:r>
        </a:p>
      </dgm:t>
    </dgm:pt>
    <dgm:pt modelId="{A2ACE8D9-E5F6-4A89-83DF-FC0D6D3AC008}" type="parTrans" cxnId="{323BCBB5-A348-4C58-A968-9CB6321E7B1E}">
      <dgm:prSet/>
      <dgm:spPr/>
      <dgm:t>
        <a:bodyPr/>
        <a:lstStyle/>
        <a:p>
          <a:endParaRPr lang="en-CA"/>
        </a:p>
      </dgm:t>
    </dgm:pt>
    <dgm:pt modelId="{B1D4A7AE-DD1B-408E-8E5F-D0C970223B36}" type="sibTrans" cxnId="{323BCBB5-A348-4C58-A968-9CB6321E7B1E}">
      <dgm:prSet/>
      <dgm:spPr/>
      <dgm:t>
        <a:bodyPr/>
        <a:lstStyle/>
        <a:p>
          <a:endParaRPr lang="en-CA"/>
        </a:p>
      </dgm:t>
    </dgm:pt>
    <dgm:pt modelId="{89FC3CEA-7838-49B7-ADAA-9C123BFD9DBB}">
      <dgm:prSet phldrT="[Text]" phldr="0"/>
      <dgm:spPr>
        <a:solidFill>
          <a:srgbClr val="00B0F0"/>
        </a:solidFill>
      </dgm:spPr>
      <dgm:t>
        <a:bodyPr/>
        <a:lstStyle/>
        <a:p>
          <a:r>
            <a:rPr lang="en-CA" b="1" dirty="0"/>
            <a:t>Tells us if we are getting a “good deal” by funding a treatment</a:t>
          </a:r>
          <a:br>
            <a:rPr lang="en-CA" b="1" dirty="0"/>
          </a:br>
          <a:endParaRPr lang="en-CA" b="1" dirty="0"/>
        </a:p>
      </dgm:t>
    </dgm:pt>
    <dgm:pt modelId="{30009C26-3B20-4D91-BC3E-D6E8743FB546}" type="parTrans" cxnId="{E0D8D06E-02E7-406C-AFC2-D33FBC2254BE}">
      <dgm:prSet/>
      <dgm:spPr/>
      <dgm:t>
        <a:bodyPr/>
        <a:lstStyle/>
        <a:p>
          <a:endParaRPr lang="en-CA"/>
        </a:p>
      </dgm:t>
    </dgm:pt>
    <dgm:pt modelId="{C44E6716-E7F8-40AD-B0A6-D83E3BD68D68}" type="sibTrans" cxnId="{E0D8D06E-02E7-406C-AFC2-D33FBC2254BE}">
      <dgm:prSet/>
      <dgm:spPr/>
      <dgm:t>
        <a:bodyPr/>
        <a:lstStyle/>
        <a:p>
          <a:endParaRPr lang="en-CA"/>
        </a:p>
      </dgm:t>
    </dgm:pt>
    <dgm:pt modelId="{0E78B977-6BF0-44BD-8959-B897DDB941EA}">
      <dgm:prSet phldrT="[Text]" phldr="0"/>
      <dgm:spPr>
        <a:solidFill>
          <a:srgbClr val="00B0F0"/>
        </a:solidFill>
      </dgm:spPr>
      <dgm:t>
        <a:bodyPr/>
        <a:lstStyle/>
        <a:p>
          <a:r>
            <a:rPr lang="en-CA" b="1" dirty="0"/>
            <a:t>Tells us if paying for a treatment is affordable.</a:t>
          </a:r>
          <a:br>
            <a:rPr lang="en-CA" b="1" dirty="0"/>
          </a:br>
          <a:endParaRPr lang="en-CA" b="1" dirty="0"/>
        </a:p>
      </dgm:t>
    </dgm:pt>
    <dgm:pt modelId="{BDF9A33A-6CF3-4C06-8BE7-11DB41DAA353}" type="parTrans" cxnId="{5EF2B0FA-4FAC-4B7B-ACCA-E05C8065D98F}">
      <dgm:prSet/>
      <dgm:spPr/>
      <dgm:t>
        <a:bodyPr/>
        <a:lstStyle/>
        <a:p>
          <a:endParaRPr lang="en-CA"/>
        </a:p>
      </dgm:t>
    </dgm:pt>
    <dgm:pt modelId="{6BEF8010-F649-4875-8D49-721D48653FF3}" type="sibTrans" cxnId="{5EF2B0FA-4FAC-4B7B-ACCA-E05C8065D98F}">
      <dgm:prSet/>
      <dgm:spPr/>
      <dgm:t>
        <a:bodyPr/>
        <a:lstStyle/>
        <a:p>
          <a:endParaRPr lang="en-CA"/>
        </a:p>
      </dgm:t>
    </dgm:pt>
    <dgm:pt modelId="{BA2C819D-5DEB-4016-A0F9-D0517EA9B9BF}">
      <dgm:prSet phldrT="[Text]" phldr="0"/>
      <dgm:spPr>
        <a:solidFill>
          <a:srgbClr val="00B0F0"/>
        </a:solidFill>
      </dgm:spPr>
      <dgm:t>
        <a:bodyPr/>
        <a:lstStyle/>
        <a:p>
          <a:r>
            <a:rPr lang="en-CA" b="1" dirty="0"/>
            <a:t>Computed Statistic is useful and generalizable to many different Environments</a:t>
          </a:r>
        </a:p>
      </dgm:t>
    </dgm:pt>
    <dgm:pt modelId="{EAA2D5CB-D160-413B-A3B5-0AC35D9BBBC2}" type="parTrans" cxnId="{8D4B2AA2-66D4-476B-8AF3-69782861A2FB}">
      <dgm:prSet/>
      <dgm:spPr/>
      <dgm:t>
        <a:bodyPr/>
        <a:lstStyle/>
        <a:p>
          <a:endParaRPr lang="en-CA"/>
        </a:p>
      </dgm:t>
    </dgm:pt>
    <dgm:pt modelId="{77119F00-56E4-43DF-8708-7A95C5583C13}" type="sibTrans" cxnId="{8D4B2AA2-66D4-476B-8AF3-69782861A2FB}">
      <dgm:prSet/>
      <dgm:spPr/>
      <dgm:t>
        <a:bodyPr/>
        <a:lstStyle/>
        <a:p>
          <a:endParaRPr lang="en-CA"/>
        </a:p>
      </dgm:t>
    </dgm:pt>
    <dgm:pt modelId="{A277CFDC-3DF1-4D5E-A6EA-460742F1E68B}">
      <dgm:prSet phldrT="[Text]" phldr="0"/>
      <dgm:spPr>
        <a:solidFill>
          <a:srgbClr val="00B0F0"/>
        </a:solidFill>
      </dgm:spPr>
      <dgm:t>
        <a:bodyPr/>
        <a:lstStyle/>
        <a:p>
          <a:endParaRPr lang="en-CA" b="1" dirty="0"/>
        </a:p>
      </dgm:t>
    </dgm:pt>
    <dgm:pt modelId="{B142EA5A-D7FF-40AF-9203-2E5C35065FBC}" type="parTrans" cxnId="{93AEDF4B-0748-4CC7-8D88-1CDBDA50820B}">
      <dgm:prSet/>
      <dgm:spPr/>
      <dgm:t>
        <a:bodyPr/>
        <a:lstStyle/>
        <a:p>
          <a:endParaRPr lang="en-CA"/>
        </a:p>
      </dgm:t>
    </dgm:pt>
    <dgm:pt modelId="{2E57BE27-A19B-4DEF-9C87-D28052787424}" type="sibTrans" cxnId="{93AEDF4B-0748-4CC7-8D88-1CDBDA50820B}">
      <dgm:prSet/>
      <dgm:spPr/>
      <dgm:t>
        <a:bodyPr/>
        <a:lstStyle/>
        <a:p>
          <a:endParaRPr lang="en-CA"/>
        </a:p>
      </dgm:t>
    </dgm:pt>
    <dgm:pt modelId="{2C1FDB92-05CA-40DA-A920-F82ECF6C1FAC}">
      <dgm:prSet phldrT="[Text]" phldr="0"/>
      <dgm:spPr>
        <a:solidFill>
          <a:srgbClr val="00B0F0"/>
        </a:solidFill>
      </dgm:spPr>
      <dgm:t>
        <a:bodyPr/>
        <a:lstStyle/>
        <a:p>
          <a:r>
            <a:rPr lang="en-CA" b="1" dirty="0"/>
            <a:t>Estimates are often useful to the studied budget holder. Model structure can be generalized but not estimates.</a:t>
          </a:r>
        </a:p>
      </dgm:t>
    </dgm:pt>
    <dgm:pt modelId="{898AE58C-9110-4FE7-908F-BF3AC0330C66}" type="parTrans" cxnId="{8D68D9ED-36AD-44DB-A71A-0041A2431E62}">
      <dgm:prSet/>
      <dgm:spPr/>
      <dgm:t>
        <a:bodyPr/>
        <a:lstStyle/>
        <a:p>
          <a:endParaRPr lang="en-CA"/>
        </a:p>
      </dgm:t>
    </dgm:pt>
    <dgm:pt modelId="{96B4C0DB-CF2C-487F-A4A2-D7929FE44B81}" type="sibTrans" cxnId="{8D68D9ED-36AD-44DB-A71A-0041A2431E62}">
      <dgm:prSet/>
      <dgm:spPr/>
      <dgm:t>
        <a:bodyPr/>
        <a:lstStyle/>
        <a:p>
          <a:endParaRPr lang="en-CA"/>
        </a:p>
      </dgm:t>
    </dgm:pt>
    <dgm:pt modelId="{A4665BFD-D920-4F03-834F-54E187A98665}">
      <dgm:prSet phldrT="[Text]" phldr="0"/>
      <dgm:spPr>
        <a:solidFill>
          <a:srgbClr val="00B0F0"/>
        </a:solidFill>
      </dgm:spPr>
      <dgm:t>
        <a:bodyPr/>
        <a:lstStyle/>
        <a:p>
          <a:r>
            <a:rPr lang="en-CA" b="1" dirty="0"/>
            <a:t> Expected Budget Impact.</a:t>
          </a:r>
        </a:p>
      </dgm:t>
    </dgm:pt>
    <dgm:pt modelId="{6F527070-4C07-490C-BB86-B85AA3524A0B}" type="parTrans" cxnId="{9D8734CB-0E30-4A31-B512-6B6EEFEFB186}">
      <dgm:prSet/>
      <dgm:spPr/>
      <dgm:t>
        <a:bodyPr/>
        <a:lstStyle/>
        <a:p>
          <a:endParaRPr lang="en-CA"/>
        </a:p>
      </dgm:t>
    </dgm:pt>
    <dgm:pt modelId="{2C8754FD-DCE5-4DFE-97AF-E2583D5739EB}" type="sibTrans" cxnId="{9D8734CB-0E30-4A31-B512-6B6EEFEFB186}">
      <dgm:prSet/>
      <dgm:spPr/>
      <dgm:t>
        <a:bodyPr/>
        <a:lstStyle/>
        <a:p>
          <a:endParaRPr lang="en-CA"/>
        </a:p>
      </dgm:t>
    </dgm:pt>
    <dgm:pt modelId="{6BF9D055-E25C-475B-BDAF-A0C3458DF2C1}">
      <dgm:prSet phldrT="[Text]" phldr="0"/>
      <dgm:spPr>
        <a:solidFill>
          <a:srgbClr val="00B0F0"/>
        </a:solidFill>
      </dgm:spPr>
      <dgm:t>
        <a:bodyPr/>
        <a:lstStyle/>
        <a:p>
          <a:r>
            <a:rPr lang="en-CA" b="1" dirty="0"/>
            <a:t> Scenario Analysis for High and Low Uptake Cases.</a:t>
          </a:r>
          <a:br>
            <a:rPr lang="en-CA" b="1" dirty="0"/>
          </a:br>
          <a:endParaRPr lang="en-CA" b="1" dirty="0"/>
        </a:p>
      </dgm:t>
    </dgm:pt>
    <dgm:pt modelId="{98C69CB9-15B3-4E87-A97B-98B568A3706B}" type="parTrans" cxnId="{CF98A979-88D3-4889-8C7C-CF9CF1AD976C}">
      <dgm:prSet/>
      <dgm:spPr/>
      <dgm:t>
        <a:bodyPr/>
        <a:lstStyle/>
        <a:p>
          <a:endParaRPr lang="en-CA"/>
        </a:p>
      </dgm:t>
    </dgm:pt>
    <dgm:pt modelId="{B6B7C14E-9350-4160-A599-8CFE9443A2BB}" type="sibTrans" cxnId="{CF98A979-88D3-4889-8C7C-CF9CF1AD976C}">
      <dgm:prSet/>
      <dgm:spPr/>
      <dgm:t>
        <a:bodyPr/>
        <a:lstStyle/>
        <a:p>
          <a:endParaRPr lang="en-CA"/>
        </a:p>
      </dgm:t>
    </dgm:pt>
    <dgm:pt modelId="{FCB1E6D1-0FCC-45F3-B4C4-BAED38791BE0}">
      <dgm:prSet phldrT="[Text]" phldr="0"/>
      <dgm:spPr>
        <a:solidFill>
          <a:srgbClr val="00B0F0"/>
        </a:solidFill>
      </dgm:spPr>
      <dgm:t>
        <a:bodyPr/>
        <a:lstStyle/>
        <a:p>
          <a:r>
            <a:rPr lang="en-CA" b="1" dirty="0"/>
            <a:t>ICER</a:t>
          </a:r>
        </a:p>
      </dgm:t>
    </dgm:pt>
    <dgm:pt modelId="{13AD1D29-29D4-42A9-94AF-876AB5DB3CCF}" type="parTrans" cxnId="{A8B00BCF-99E5-4533-BAA8-798657905ECD}">
      <dgm:prSet/>
      <dgm:spPr/>
      <dgm:t>
        <a:bodyPr/>
        <a:lstStyle/>
        <a:p>
          <a:endParaRPr lang="en-CA"/>
        </a:p>
      </dgm:t>
    </dgm:pt>
    <dgm:pt modelId="{E3B3E4C3-9ADF-4E4B-96D8-0AF11DD1CB73}" type="sibTrans" cxnId="{A8B00BCF-99E5-4533-BAA8-798657905ECD}">
      <dgm:prSet/>
      <dgm:spPr/>
      <dgm:t>
        <a:bodyPr/>
        <a:lstStyle/>
        <a:p>
          <a:endParaRPr lang="en-CA"/>
        </a:p>
      </dgm:t>
    </dgm:pt>
    <dgm:pt modelId="{9784E361-4218-4093-A440-A8833692A28A}">
      <dgm:prSet phldrT="[Text]" phldr="0"/>
      <dgm:spPr>
        <a:solidFill>
          <a:srgbClr val="00B0F0"/>
        </a:solidFill>
      </dgm:spPr>
      <dgm:t>
        <a:bodyPr/>
        <a:lstStyle/>
        <a:p>
          <a:r>
            <a:rPr lang="en-CA" b="1" dirty="0"/>
            <a:t>Probability of Cost Effectiveness</a:t>
          </a:r>
          <a:br>
            <a:rPr lang="en-CA" b="1" dirty="0"/>
          </a:br>
          <a:endParaRPr lang="en-CA" b="1" dirty="0"/>
        </a:p>
      </dgm:t>
    </dgm:pt>
    <dgm:pt modelId="{52DF1625-1E74-4DB3-9526-CC9AA73C66F3}" type="parTrans" cxnId="{4A6B7C1F-A12F-4942-9236-C7F4201ED00C}">
      <dgm:prSet/>
      <dgm:spPr/>
      <dgm:t>
        <a:bodyPr/>
        <a:lstStyle/>
        <a:p>
          <a:endParaRPr lang="en-CA"/>
        </a:p>
      </dgm:t>
    </dgm:pt>
    <dgm:pt modelId="{6BAF570F-345B-446E-848C-9E4663C56A0D}" type="sibTrans" cxnId="{4A6B7C1F-A12F-4942-9236-C7F4201ED00C}">
      <dgm:prSet/>
      <dgm:spPr/>
      <dgm:t>
        <a:bodyPr/>
        <a:lstStyle/>
        <a:p>
          <a:endParaRPr lang="en-CA"/>
        </a:p>
      </dgm:t>
    </dgm:pt>
    <dgm:pt modelId="{A3E0F4DD-EE04-45AB-A16F-7734217698F8}" type="pres">
      <dgm:prSet presAssocID="{D32DF27F-7C10-4A09-93B7-CA8B3D950454}" presName="linearFlow" presStyleCnt="0">
        <dgm:presLayoutVars>
          <dgm:dir/>
          <dgm:animLvl val="lvl"/>
          <dgm:resizeHandles/>
        </dgm:presLayoutVars>
      </dgm:prSet>
      <dgm:spPr/>
    </dgm:pt>
    <dgm:pt modelId="{EF6C616D-C434-4BB9-A29F-87DD8FDFD99C}" type="pres">
      <dgm:prSet presAssocID="{B096938C-1FAA-44B8-9435-7E4082438008}" presName="compositeNode" presStyleCnt="0">
        <dgm:presLayoutVars>
          <dgm:bulletEnabled val="1"/>
        </dgm:presLayoutVars>
      </dgm:prSet>
      <dgm:spPr/>
    </dgm:pt>
    <dgm:pt modelId="{62C71BB9-8DF6-4AA0-A85B-611D2DD550C8}" type="pres">
      <dgm:prSet presAssocID="{B096938C-1FAA-44B8-9435-7E4082438008}" presName="image" presStyleLbl="fgImgPlace1" presStyleIdx="0" presStyleCnt="2" custLinFactNeighborY="184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Decision chart with solid fill"/>
        </a:ext>
      </dgm:extLst>
    </dgm:pt>
    <dgm:pt modelId="{A50461B1-8DAF-49B0-8EBA-208590B45216}" type="pres">
      <dgm:prSet presAssocID="{B096938C-1FAA-44B8-9435-7E4082438008}" presName="childNode" presStyleLbl="node1" presStyleIdx="0" presStyleCnt="2">
        <dgm:presLayoutVars>
          <dgm:bulletEnabled val="1"/>
        </dgm:presLayoutVars>
      </dgm:prSet>
      <dgm:spPr/>
    </dgm:pt>
    <dgm:pt modelId="{D0D29824-4DF2-4FF4-B401-983A5657F084}" type="pres">
      <dgm:prSet presAssocID="{B096938C-1FAA-44B8-9435-7E4082438008}" presName="parentNode" presStyleLbl="revTx" presStyleIdx="0" presStyleCnt="2">
        <dgm:presLayoutVars>
          <dgm:chMax val="0"/>
          <dgm:bulletEnabled val="1"/>
        </dgm:presLayoutVars>
      </dgm:prSet>
      <dgm:spPr/>
    </dgm:pt>
    <dgm:pt modelId="{1B6A20F4-A4B8-4005-9028-3B4BD7255D6C}" type="pres">
      <dgm:prSet presAssocID="{6BC50BEB-0212-402A-8B21-DAA9FA7DE475}" presName="sibTrans" presStyleCnt="0"/>
      <dgm:spPr/>
    </dgm:pt>
    <dgm:pt modelId="{3D1A82E6-5771-47A2-93C5-08B508A94F4F}" type="pres">
      <dgm:prSet presAssocID="{47511774-5E5D-4488-9D2E-232A4CD9357A}" presName="compositeNode" presStyleCnt="0">
        <dgm:presLayoutVars>
          <dgm:bulletEnabled val="1"/>
        </dgm:presLayoutVars>
      </dgm:prSet>
      <dgm:spPr/>
    </dgm:pt>
    <dgm:pt modelId="{7ACE2CA6-EC7B-43B4-A089-8118CDDA1100}" type="pres">
      <dgm:prSet presAssocID="{47511774-5E5D-4488-9D2E-232A4CD9357A}" presName="image" presStyleLbl="fgImgPlace1" presStyleIdx="1" presStyleCnt="2" custLinFactNeighborX="-4184" custLinFactNeighborY="-3171"/>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hilanthropy with solid fill"/>
        </a:ext>
      </dgm:extLst>
    </dgm:pt>
    <dgm:pt modelId="{94D69B00-6B94-47A7-96E0-805858F9B2E8}" type="pres">
      <dgm:prSet presAssocID="{47511774-5E5D-4488-9D2E-232A4CD9357A}" presName="childNode" presStyleLbl="node1" presStyleIdx="1" presStyleCnt="2" custLinFactNeighborX="-1007" custLinFactNeighborY="334">
        <dgm:presLayoutVars>
          <dgm:bulletEnabled val="1"/>
        </dgm:presLayoutVars>
      </dgm:prSet>
      <dgm:spPr/>
    </dgm:pt>
    <dgm:pt modelId="{FB3791A9-5C23-4088-BF33-EBA589465437}" type="pres">
      <dgm:prSet presAssocID="{47511774-5E5D-4488-9D2E-232A4CD9357A}" presName="parentNode" presStyleLbl="revTx" presStyleIdx="1" presStyleCnt="2">
        <dgm:presLayoutVars>
          <dgm:chMax val="0"/>
          <dgm:bulletEnabled val="1"/>
        </dgm:presLayoutVars>
      </dgm:prSet>
      <dgm:spPr/>
    </dgm:pt>
  </dgm:ptLst>
  <dgm:cxnLst>
    <dgm:cxn modelId="{4A6B7C1F-A12F-4942-9236-C7F4201ED00C}" srcId="{BBDF1F41-1AF6-4F37-847E-05332893B3DB}" destId="{9784E361-4218-4093-A440-A8833692A28A}" srcOrd="1" destOrd="0" parTransId="{52DF1625-1E74-4DB3-9526-CC9AA73C66F3}" sibTransId="{6BAF570F-345B-446E-848C-9E4663C56A0D}"/>
    <dgm:cxn modelId="{4234532C-4020-403E-8C52-DD07779846BA}" type="presOf" srcId="{A277CFDC-3DF1-4D5E-A6EA-460742F1E68B}" destId="{94D69B00-6B94-47A7-96E0-805858F9B2E8}" srcOrd="0" destOrd="6" presId="urn:microsoft.com/office/officeart/2005/8/layout/hList2"/>
    <dgm:cxn modelId="{09D3C82C-D2A3-4278-85A7-AA7CE0B4B22E}" type="presOf" srcId="{D32DF27F-7C10-4A09-93B7-CA8B3D950454}" destId="{A3E0F4DD-EE04-45AB-A16F-7734217698F8}" srcOrd="0" destOrd="0" presId="urn:microsoft.com/office/officeart/2005/8/layout/hList2"/>
    <dgm:cxn modelId="{0BAC1263-E007-4D25-B453-9373CB3CB9E9}" type="presOf" srcId="{BBDF1F41-1AF6-4F37-847E-05332893B3DB}" destId="{A50461B1-8DAF-49B0-8EBA-208590B45216}" srcOrd="0" destOrd="1" presId="urn:microsoft.com/office/officeart/2005/8/layout/hList2"/>
    <dgm:cxn modelId="{74613063-3C0A-4458-B228-63C105845377}" type="presOf" srcId="{FCB1E6D1-0FCC-45F3-B4C4-BAED38791BE0}" destId="{A50461B1-8DAF-49B0-8EBA-208590B45216}" srcOrd="0" destOrd="2" presId="urn:microsoft.com/office/officeart/2005/8/layout/hList2"/>
    <dgm:cxn modelId="{93AEDF4B-0748-4CC7-8D88-1CDBDA50820B}" srcId="{47511774-5E5D-4488-9D2E-232A4CD9357A}" destId="{A277CFDC-3DF1-4D5E-A6EA-460742F1E68B}" srcOrd="4" destOrd="0" parTransId="{B142EA5A-D7FF-40AF-9203-2E5C35065FBC}" sibTransId="{2E57BE27-A19B-4DEF-9C87-D28052787424}"/>
    <dgm:cxn modelId="{3CCFE54C-26B6-4EF1-A022-661999B86098}" type="presOf" srcId="{3892FA83-A3A4-48B4-A6FB-99BAD85A4812}" destId="{A50461B1-8DAF-49B0-8EBA-208590B45216}" srcOrd="0" destOrd="0" presId="urn:microsoft.com/office/officeart/2005/8/layout/hList2"/>
    <dgm:cxn modelId="{B387BB6E-4D0E-491C-8364-ABC17C4913E4}" type="presOf" srcId="{0E78B977-6BF0-44BD-8959-B897DDB941EA}" destId="{94D69B00-6B94-47A7-96E0-805858F9B2E8}" srcOrd="0" destOrd="4" presId="urn:microsoft.com/office/officeart/2005/8/layout/hList2"/>
    <dgm:cxn modelId="{E0D8D06E-02E7-406C-AFC2-D33FBC2254BE}" srcId="{B096938C-1FAA-44B8-9435-7E4082438008}" destId="{89FC3CEA-7838-49B7-ADAA-9C123BFD9DBB}" srcOrd="2" destOrd="0" parTransId="{30009C26-3B20-4D91-BC3E-D6E8743FB546}" sibTransId="{C44E6716-E7F8-40AD-B0A6-D83E3BD68D68}"/>
    <dgm:cxn modelId="{F2EA3F6F-C6F9-46AF-AB0C-BEA6B6EA5D10}" type="presOf" srcId="{C0B3446F-CE01-4E7C-9905-17AC4077AFE4}" destId="{94D69B00-6B94-47A7-96E0-805858F9B2E8}" srcOrd="0" destOrd="1" presId="urn:microsoft.com/office/officeart/2005/8/layout/hList2"/>
    <dgm:cxn modelId="{5D90556F-EB6D-4789-8661-51AD349FFC21}" type="presOf" srcId="{9784E361-4218-4093-A440-A8833692A28A}" destId="{A50461B1-8DAF-49B0-8EBA-208590B45216}" srcOrd="0" destOrd="3" presId="urn:microsoft.com/office/officeart/2005/8/layout/hList2"/>
    <dgm:cxn modelId="{C18D3D53-7F05-452E-8AFC-F27051751E6E}" type="presOf" srcId="{4B485149-0E5A-4148-A392-4ACC1CDF4738}" destId="{94D69B00-6B94-47A7-96E0-805858F9B2E8}" srcOrd="0" destOrd="0" presId="urn:microsoft.com/office/officeart/2005/8/layout/hList2"/>
    <dgm:cxn modelId="{CF98A979-88D3-4889-8C7C-CF9CF1AD976C}" srcId="{C0B3446F-CE01-4E7C-9905-17AC4077AFE4}" destId="{6BF9D055-E25C-475B-BDAF-A0C3458DF2C1}" srcOrd="1" destOrd="0" parTransId="{98C69CB9-15B3-4E87-A97B-98B568A3706B}" sibTransId="{B6B7C14E-9350-4160-A599-8CFE9443A2BB}"/>
    <dgm:cxn modelId="{ADF9355A-51F2-4C76-95BD-5BDECB637E17}" srcId="{B096938C-1FAA-44B8-9435-7E4082438008}" destId="{3892FA83-A3A4-48B4-A6FB-99BAD85A4812}" srcOrd="0" destOrd="0" parTransId="{F9B2F725-179A-49FC-B09C-5831877E12F3}" sibTransId="{5DFB731C-E8B7-41AA-85EF-FDE82B110038}"/>
    <dgm:cxn modelId="{D8CADD7F-D06A-4B87-80DA-06362B26DC04}" type="presOf" srcId="{B096938C-1FAA-44B8-9435-7E4082438008}" destId="{D0D29824-4DF2-4FF4-B401-983A5657F084}" srcOrd="0" destOrd="0" presId="urn:microsoft.com/office/officeart/2005/8/layout/hList2"/>
    <dgm:cxn modelId="{CDEB1C9A-3CC8-4CCD-A07F-930002D7C8A2}" type="presOf" srcId="{BA2C819D-5DEB-4016-A0F9-D0517EA9B9BF}" destId="{A50461B1-8DAF-49B0-8EBA-208590B45216}" srcOrd="0" destOrd="5" presId="urn:microsoft.com/office/officeart/2005/8/layout/hList2"/>
    <dgm:cxn modelId="{8D4B2AA2-66D4-476B-8AF3-69782861A2FB}" srcId="{B096938C-1FAA-44B8-9435-7E4082438008}" destId="{BA2C819D-5DEB-4016-A0F9-D0517EA9B9BF}" srcOrd="3" destOrd="0" parTransId="{EAA2D5CB-D160-413B-A3B5-0AC35D9BBBC2}" sibTransId="{77119F00-56E4-43DF-8708-7A95C5583C13}"/>
    <dgm:cxn modelId="{3B4E1BA3-AAC2-485B-A34F-AC55CE6F473D}" type="presOf" srcId="{6BF9D055-E25C-475B-BDAF-A0C3458DF2C1}" destId="{94D69B00-6B94-47A7-96E0-805858F9B2E8}" srcOrd="0" destOrd="3" presId="urn:microsoft.com/office/officeart/2005/8/layout/hList2"/>
    <dgm:cxn modelId="{75A8C4A5-3F8C-46C8-A603-0500F77E4692}" srcId="{B096938C-1FAA-44B8-9435-7E4082438008}" destId="{BBDF1F41-1AF6-4F37-847E-05332893B3DB}" srcOrd="1" destOrd="0" parTransId="{BB9E2E2C-898E-4292-85B2-806939A5CD05}" sibTransId="{49C9572F-40D5-4AFC-8DE3-8896FBA3013F}"/>
    <dgm:cxn modelId="{BEC05EA6-F387-409A-97D1-2AEBB851D057}" type="presOf" srcId="{89FC3CEA-7838-49B7-ADAA-9C123BFD9DBB}" destId="{A50461B1-8DAF-49B0-8EBA-208590B45216}" srcOrd="0" destOrd="4" presId="urn:microsoft.com/office/officeart/2005/8/layout/hList2"/>
    <dgm:cxn modelId="{0C1FA9B2-61DB-4E84-98F2-6E5116480939}" type="presOf" srcId="{2C1FDB92-05CA-40DA-A920-F82ECF6C1FAC}" destId="{94D69B00-6B94-47A7-96E0-805858F9B2E8}" srcOrd="0" destOrd="5" presId="urn:microsoft.com/office/officeart/2005/8/layout/hList2"/>
    <dgm:cxn modelId="{323BCBB5-A348-4C58-A968-9CB6321E7B1E}" srcId="{47511774-5E5D-4488-9D2E-232A4CD9357A}" destId="{C0B3446F-CE01-4E7C-9905-17AC4077AFE4}" srcOrd="1" destOrd="0" parTransId="{A2ACE8D9-E5F6-4A89-83DF-FC0D6D3AC008}" sibTransId="{B1D4A7AE-DD1B-408E-8E5F-D0C970223B36}"/>
    <dgm:cxn modelId="{4F5424B6-C108-43F9-95D1-D369FD3812D2}" type="presOf" srcId="{47511774-5E5D-4488-9D2E-232A4CD9357A}" destId="{FB3791A9-5C23-4088-BF33-EBA589465437}" srcOrd="0" destOrd="0" presId="urn:microsoft.com/office/officeart/2005/8/layout/hList2"/>
    <dgm:cxn modelId="{30D23BBF-FC6E-46C1-920C-DF84C7704559}" srcId="{47511774-5E5D-4488-9D2E-232A4CD9357A}" destId="{4B485149-0E5A-4148-A392-4ACC1CDF4738}" srcOrd="0" destOrd="0" parTransId="{21231ED8-5317-4D5D-93AE-95871AAD7A2B}" sibTransId="{E1ECD81E-A868-4BF7-A6DA-825678E035E3}"/>
    <dgm:cxn modelId="{9D8734CB-0E30-4A31-B512-6B6EEFEFB186}" srcId="{C0B3446F-CE01-4E7C-9905-17AC4077AFE4}" destId="{A4665BFD-D920-4F03-834F-54E187A98665}" srcOrd="0" destOrd="0" parTransId="{6F527070-4C07-490C-BB86-B85AA3524A0B}" sibTransId="{2C8754FD-DCE5-4DFE-97AF-E2583D5739EB}"/>
    <dgm:cxn modelId="{A8B00BCF-99E5-4533-BAA8-798657905ECD}" srcId="{BBDF1F41-1AF6-4F37-847E-05332893B3DB}" destId="{FCB1E6D1-0FCC-45F3-B4C4-BAED38791BE0}" srcOrd="0" destOrd="0" parTransId="{13AD1D29-29D4-42A9-94AF-876AB5DB3CCF}" sibTransId="{E3B3E4C3-9ADF-4E4B-96D8-0AF11DD1CB73}"/>
    <dgm:cxn modelId="{1F56B5D1-E9B2-47D7-8695-03ECDBA08753}" srcId="{D32DF27F-7C10-4A09-93B7-CA8B3D950454}" destId="{47511774-5E5D-4488-9D2E-232A4CD9357A}" srcOrd="1" destOrd="0" parTransId="{40915F94-1D8E-4CD7-A69D-247DB412786D}" sibTransId="{D65B1D2C-CA9C-4FAD-8698-484EB02834C5}"/>
    <dgm:cxn modelId="{8D68D9ED-36AD-44DB-A71A-0041A2431E62}" srcId="{47511774-5E5D-4488-9D2E-232A4CD9357A}" destId="{2C1FDB92-05CA-40DA-A920-F82ECF6C1FAC}" srcOrd="3" destOrd="0" parTransId="{898AE58C-9110-4FE7-908F-BF3AC0330C66}" sibTransId="{96B4C0DB-CF2C-487F-A4A2-D7929FE44B81}"/>
    <dgm:cxn modelId="{CB65A6EE-238B-4A5F-A963-8DE01B51E02B}" srcId="{D32DF27F-7C10-4A09-93B7-CA8B3D950454}" destId="{B096938C-1FAA-44B8-9435-7E4082438008}" srcOrd="0" destOrd="0" parTransId="{9325DD27-3657-46EA-AA1A-430EE1CCBACD}" sibTransId="{6BC50BEB-0212-402A-8B21-DAA9FA7DE475}"/>
    <dgm:cxn modelId="{972B74F2-D3E1-46B8-9E76-2FFF00818E8F}" type="presOf" srcId="{A4665BFD-D920-4F03-834F-54E187A98665}" destId="{94D69B00-6B94-47A7-96E0-805858F9B2E8}" srcOrd="0" destOrd="2" presId="urn:microsoft.com/office/officeart/2005/8/layout/hList2"/>
    <dgm:cxn modelId="{5EF2B0FA-4FAC-4B7B-ACCA-E05C8065D98F}" srcId="{47511774-5E5D-4488-9D2E-232A4CD9357A}" destId="{0E78B977-6BF0-44BD-8959-B897DDB941EA}" srcOrd="2" destOrd="0" parTransId="{BDF9A33A-6CF3-4C06-8BE7-11DB41DAA353}" sibTransId="{6BEF8010-F649-4875-8D49-721D48653FF3}"/>
    <dgm:cxn modelId="{C5FB7D11-ADD6-4700-9C94-F446354194D0}" type="presParOf" srcId="{A3E0F4DD-EE04-45AB-A16F-7734217698F8}" destId="{EF6C616D-C434-4BB9-A29F-87DD8FDFD99C}" srcOrd="0" destOrd="0" presId="urn:microsoft.com/office/officeart/2005/8/layout/hList2"/>
    <dgm:cxn modelId="{59627115-6332-43F2-A06B-C62C3F0D2330}" type="presParOf" srcId="{EF6C616D-C434-4BB9-A29F-87DD8FDFD99C}" destId="{62C71BB9-8DF6-4AA0-A85B-611D2DD550C8}" srcOrd="0" destOrd="0" presId="urn:microsoft.com/office/officeart/2005/8/layout/hList2"/>
    <dgm:cxn modelId="{98C4895E-A8F3-458F-896B-DE6F194FC9E7}" type="presParOf" srcId="{EF6C616D-C434-4BB9-A29F-87DD8FDFD99C}" destId="{A50461B1-8DAF-49B0-8EBA-208590B45216}" srcOrd="1" destOrd="0" presId="urn:microsoft.com/office/officeart/2005/8/layout/hList2"/>
    <dgm:cxn modelId="{EDBEE74C-1C2B-47D1-B2A2-C89E22723BCB}" type="presParOf" srcId="{EF6C616D-C434-4BB9-A29F-87DD8FDFD99C}" destId="{D0D29824-4DF2-4FF4-B401-983A5657F084}" srcOrd="2" destOrd="0" presId="urn:microsoft.com/office/officeart/2005/8/layout/hList2"/>
    <dgm:cxn modelId="{B2F8EA25-2BFD-452A-B8D8-D3735332A8B4}" type="presParOf" srcId="{A3E0F4DD-EE04-45AB-A16F-7734217698F8}" destId="{1B6A20F4-A4B8-4005-9028-3B4BD7255D6C}" srcOrd="1" destOrd="0" presId="urn:microsoft.com/office/officeart/2005/8/layout/hList2"/>
    <dgm:cxn modelId="{FEAA0F41-0E18-43AE-A87C-2F4780E62254}" type="presParOf" srcId="{A3E0F4DD-EE04-45AB-A16F-7734217698F8}" destId="{3D1A82E6-5771-47A2-93C5-08B508A94F4F}" srcOrd="2" destOrd="0" presId="urn:microsoft.com/office/officeart/2005/8/layout/hList2"/>
    <dgm:cxn modelId="{44E6FFBF-4FD2-483D-8E99-B0B7FDA27BCD}" type="presParOf" srcId="{3D1A82E6-5771-47A2-93C5-08B508A94F4F}" destId="{7ACE2CA6-EC7B-43B4-A089-8118CDDA1100}" srcOrd="0" destOrd="0" presId="urn:microsoft.com/office/officeart/2005/8/layout/hList2"/>
    <dgm:cxn modelId="{C6CEA8BA-29D7-4B0D-96FF-E15C1A06DC19}" type="presParOf" srcId="{3D1A82E6-5771-47A2-93C5-08B508A94F4F}" destId="{94D69B00-6B94-47A7-96E0-805858F9B2E8}" srcOrd="1" destOrd="0" presId="urn:microsoft.com/office/officeart/2005/8/layout/hList2"/>
    <dgm:cxn modelId="{988B2746-E8A1-4EF0-9869-DC12504829BE}" type="presParOf" srcId="{3D1A82E6-5771-47A2-93C5-08B508A94F4F}" destId="{FB3791A9-5C23-4088-BF33-EBA589465437}" srcOrd="2" destOrd="0" presId="urn:microsoft.com/office/officeart/2005/8/layout/h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D29824-4DF2-4FF4-B401-983A5657F084}">
      <dsp:nvSpPr>
        <dsp:cNvPr id="0" name=""/>
        <dsp:cNvSpPr/>
      </dsp:nvSpPr>
      <dsp:spPr>
        <a:xfrm rot="16200000">
          <a:off x="-1291797" y="2229999"/>
          <a:ext cx="3320986" cy="632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557619" bIns="0" numCol="1" spcCol="1270" anchor="t" anchorCtr="0">
          <a:noAutofit/>
        </a:bodyPr>
        <a:lstStyle/>
        <a:p>
          <a:pPr marL="0" lvl="0" indent="0" algn="r" defTabSz="2044700">
            <a:lnSpc>
              <a:spcPct val="90000"/>
            </a:lnSpc>
            <a:spcBef>
              <a:spcPct val="0"/>
            </a:spcBef>
            <a:spcAft>
              <a:spcPct val="35000"/>
            </a:spcAft>
            <a:buNone/>
          </a:pPr>
          <a:r>
            <a:rPr lang="en-CA" sz="4600" kern="1200" dirty="0"/>
            <a:t>CEA</a:t>
          </a:r>
        </a:p>
      </dsp:txBody>
      <dsp:txXfrm>
        <a:off x="-1291797" y="2229999"/>
        <a:ext cx="3320986" cy="632261"/>
      </dsp:txXfrm>
    </dsp:sp>
    <dsp:sp modelId="{A50461B1-8DAF-49B0-8EBA-208590B45216}">
      <dsp:nvSpPr>
        <dsp:cNvPr id="0" name=""/>
        <dsp:cNvSpPr/>
      </dsp:nvSpPr>
      <dsp:spPr>
        <a:xfrm>
          <a:off x="684825" y="885636"/>
          <a:ext cx="3149331" cy="3320986"/>
        </a:xfrm>
        <a:prstGeom prst="rect">
          <a:avLst/>
        </a:prstGeom>
        <a:solidFill>
          <a:srgbClr val="00B0F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557619" rIns="113792" bIns="113792" numCol="1" spcCol="1270" anchor="t" anchorCtr="0">
          <a:noAutofit/>
        </a:bodyPr>
        <a:lstStyle/>
        <a:p>
          <a:pPr marL="114300" lvl="1" indent="-114300" algn="l" defTabSz="533400">
            <a:lnSpc>
              <a:spcPct val="90000"/>
            </a:lnSpc>
            <a:spcBef>
              <a:spcPct val="0"/>
            </a:spcBef>
            <a:spcAft>
              <a:spcPct val="15000"/>
            </a:spcAft>
            <a:buChar char="•"/>
          </a:pPr>
          <a:r>
            <a:rPr lang="en-CA" sz="1200" b="1" kern="1200" dirty="0"/>
            <a:t>Used to determine the value for money associated with a treatment.</a:t>
          </a:r>
        </a:p>
        <a:p>
          <a:pPr marL="114300" lvl="1" indent="-114300" algn="l" defTabSz="533400">
            <a:lnSpc>
              <a:spcPct val="90000"/>
            </a:lnSpc>
            <a:spcBef>
              <a:spcPct val="0"/>
            </a:spcBef>
            <a:spcAft>
              <a:spcPct val="15000"/>
            </a:spcAft>
            <a:buChar char="•"/>
          </a:pPr>
          <a:r>
            <a:rPr lang="en-CA" sz="1200" b="1" kern="1200" dirty="0"/>
            <a:t>Key Statistics Computed:</a:t>
          </a:r>
        </a:p>
        <a:p>
          <a:pPr marL="228600" lvl="2" indent="-114300" algn="l" defTabSz="533400">
            <a:lnSpc>
              <a:spcPct val="90000"/>
            </a:lnSpc>
            <a:spcBef>
              <a:spcPct val="0"/>
            </a:spcBef>
            <a:spcAft>
              <a:spcPct val="15000"/>
            </a:spcAft>
            <a:buChar char="•"/>
          </a:pPr>
          <a:r>
            <a:rPr lang="en-CA" sz="1200" b="1" kern="1200" dirty="0"/>
            <a:t>ICER</a:t>
          </a:r>
        </a:p>
        <a:p>
          <a:pPr marL="228600" lvl="2" indent="-114300" algn="l" defTabSz="533400">
            <a:lnSpc>
              <a:spcPct val="90000"/>
            </a:lnSpc>
            <a:spcBef>
              <a:spcPct val="0"/>
            </a:spcBef>
            <a:spcAft>
              <a:spcPct val="15000"/>
            </a:spcAft>
            <a:buChar char="•"/>
          </a:pPr>
          <a:r>
            <a:rPr lang="en-CA" sz="1200" b="1" kern="1200" dirty="0"/>
            <a:t>Probability of Cost Effectiveness</a:t>
          </a:r>
          <a:br>
            <a:rPr lang="en-CA" sz="1200" b="1" kern="1200" dirty="0"/>
          </a:br>
          <a:endParaRPr lang="en-CA" sz="1200" b="1" kern="1200" dirty="0"/>
        </a:p>
        <a:p>
          <a:pPr marL="114300" lvl="1" indent="-114300" algn="l" defTabSz="533400">
            <a:lnSpc>
              <a:spcPct val="90000"/>
            </a:lnSpc>
            <a:spcBef>
              <a:spcPct val="0"/>
            </a:spcBef>
            <a:spcAft>
              <a:spcPct val="15000"/>
            </a:spcAft>
            <a:buChar char="•"/>
          </a:pPr>
          <a:r>
            <a:rPr lang="en-CA" sz="1200" b="1" kern="1200" dirty="0"/>
            <a:t>Tells us if we are getting a “good deal” by funding a treatment</a:t>
          </a:r>
          <a:br>
            <a:rPr lang="en-CA" sz="1200" b="1" kern="1200" dirty="0"/>
          </a:br>
          <a:endParaRPr lang="en-CA" sz="1200" b="1" kern="1200" dirty="0"/>
        </a:p>
        <a:p>
          <a:pPr marL="114300" lvl="1" indent="-114300" algn="l" defTabSz="533400">
            <a:lnSpc>
              <a:spcPct val="90000"/>
            </a:lnSpc>
            <a:spcBef>
              <a:spcPct val="0"/>
            </a:spcBef>
            <a:spcAft>
              <a:spcPct val="15000"/>
            </a:spcAft>
            <a:buChar char="•"/>
          </a:pPr>
          <a:r>
            <a:rPr lang="en-CA" sz="1200" b="1" kern="1200" dirty="0"/>
            <a:t>Computed Statistic is useful and generalizable to many different Environments</a:t>
          </a:r>
        </a:p>
      </dsp:txBody>
      <dsp:txXfrm>
        <a:off x="684825" y="885636"/>
        <a:ext cx="3149331" cy="3320986"/>
      </dsp:txXfrm>
    </dsp:sp>
    <dsp:sp modelId="{62C71BB9-8DF6-4AA0-A85B-611D2DD550C8}">
      <dsp:nvSpPr>
        <dsp:cNvPr id="0" name=""/>
        <dsp:cNvSpPr/>
      </dsp:nvSpPr>
      <dsp:spPr>
        <a:xfrm>
          <a:off x="52564" y="74369"/>
          <a:ext cx="1264522" cy="126452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FB3791A9-5C23-4088-BF33-EBA589465437}">
      <dsp:nvSpPr>
        <dsp:cNvPr id="0" name=""/>
        <dsp:cNvSpPr/>
      </dsp:nvSpPr>
      <dsp:spPr>
        <a:xfrm rot="16200000">
          <a:off x="3311429" y="2229999"/>
          <a:ext cx="3320986" cy="632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557619" bIns="0" numCol="1" spcCol="1270" anchor="t" anchorCtr="0">
          <a:noAutofit/>
        </a:bodyPr>
        <a:lstStyle/>
        <a:p>
          <a:pPr marL="0" lvl="0" indent="0" algn="r" defTabSz="2044700">
            <a:lnSpc>
              <a:spcPct val="90000"/>
            </a:lnSpc>
            <a:spcBef>
              <a:spcPct val="0"/>
            </a:spcBef>
            <a:spcAft>
              <a:spcPct val="35000"/>
            </a:spcAft>
            <a:buNone/>
          </a:pPr>
          <a:r>
            <a:rPr lang="en-CA" sz="4600" kern="1200" dirty="0"/>
            <a:t>BIA</a:t>
          </a:r>
        </a:p>
      </dsp:txBody>
      <dsp:txXfrm>
        <a:off x="3311429" y="2229999"/>
        <a:ext cx="3320986" cy="632261"/>
      </dsp:txXfrm>
    </dsp:sp>
    <dsp:sp modelId="{94D69B00-6B94-47A7-96E0-805858F9B2E8}">
      <dsp:nvSpPr>
        <dsp:cNvPr id="0" name=""/>
        <dsp:cNvSpPr/>
      </dsp:nvSpPr>
      <dsp:spPr>
        <a:xfrm>
          <a:off x="5256339" y="896728"/>
          <a:ext cx="3149331" cy="3320986"/>
        </a:xfrm>
        <a:prstGeom prst="rect">
          <a:avLst/>
        </a:prstGeom>
        <a:solidFill>
          <a:srgbClr val="00B0F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557619" rIns="113792" bIns="113792" numCol="1" spcCol="1270" anchor="t" anchorCtr="0">
          <a:noAutofit/>
        </a:bodyPr>
        <a:lstStyle/>
        <a:p>
          <a:pPr marL="114300" lvl="1" indent="-114300" algn="l" defTabSz="533400">
            <a:lnSpc>
              <a:spcPct val="90000"/>
            </a:lnSpc>
            <a:spcBef>
              <a:spcPct val="0"/>
            </a:spcBef>
            <a:spcAft>
              <a:spcPct val="15000"/>
            </a:spcAft>
            <a:buChar char="•"/>
          </a:pPr>
          <a:r>
            <a:rPr lang="en-CA" sz="1200" b="1" kern="1200" dirty="0"/>
            <a:t>Used to determine the Feasibility of funding a particular treatment.</a:t>
          </a:r>
          <a:br>
            <a:rPr lang="en-CA" sz="1200" b="1" kern="1200" dirty="0"/>
          </a:br>
          <a:endParaRPr lang="en-CA" sz="1200" b="1" kern="1200" dirty="0"/>
        </a:p>
        <a:p>
          <a:pPr marL="114300" lvl="1" indent="-114300" algn="l" defTabSz="533400">
            <a:lnSpc>
              <a:spcPct val="90000"/>
            </a:lnSpc>
            <a:spcBef>
              <a:spcPct val="0"/>
            </a:spcBef>
            <a:spcAft>
              <a:spcPct val="15000"/>
            </a:spcAft>
            <a:buChar char="•"/>
          </a:pPr>
          <a:r>
            <a:rPr lang="en-CA" sz="1200" b="1" kern="1200" dirty="0"/>
            <a:t>Key Statistics Computed:</a:t>
          </a:r>
        </a:p>
        <a:p>
          <a:pPr marL="228600" lvl="2" indent="-114300" algn="l" defTabSz="533400">
            <a:lnSpc>
              <a:spcPct val="90000"/>
            </a:lnSpc>
            <a:spcBef>
              <a:spcPct val="0"/>
            </a:spcBef>
            <a:spcAft>
              <a:spcPct val="15000"/>
            </a:spcAft>
            <a:buChar char="•"/>
          </a:pPr>
          <a:r>
            <a:rPr lang="en-CA" sz="1200" b="1" kern="1200" dirty="0"/>
            <a:t> Expected Budget Impact.</a:t>
          </a:r>
        </a:p>
        <a:p>
          <a:pPr marL="228600" lvl="2" indent="-114300" algn="l" defTabSz="533400">
            <a:lnSpc>
              <a:spcPct val="90000"/>
            </a:lnSpc>
            <a:spcBef>
              <a:spcPct val="0"/>
            </a:spcBef>
            <a:spcAft>
              <a:spcPct val="15000"/>
            </a:spcAft>
            <a:buChar char="•"/>
          </a:pPr>
          <a:r>
            <a:rPr lang="en-CA" sz="1200" b="1" kern="1200" dirty="0"/>
            <a:t> Scenario Analysis for High and Low Uptake Cases.</a:t>
          </a:r>
          <a:br>
            <a:rPr lang="en-CA" sz="1200" b="1" kern="1200" dirty="0"/>
          </a:br>
          <a:endParaRPr lang="en-CA" sz="1200" b="1" kern="1200" dirty="0"/>
        </a:p>
        <a:p>
          <a:pPr marL="114300" lvl="1" indent="-114300" algn="l" defTabSz="533400">
            <a:lnSpc>
              <a:spcPct val="90000"/>
            </a:lnSpc>
            <a:spcBef>
              <a:spcPct val="0"/>
            </a:spcBef>
            <a:spcAft>
              <a:spcPct val="15000"/>
            </a:spcAft>
            <a:buChar char="•"/>
          </a:pPr>
          <a:r>
            <a:rPr lang="en-CA" sz="1200" b="1" kern="1200" dirty="0"/>
            <a:t>Tells us if paying for a treatment is affordable.</a:t>
          </a:r>
          <a:br>
            <a:rPr lang="en-CA" sz="1200" b="1" kern="1200" dirty="0"/>
          </a:br>
          <a:endParaRPr lang="en-CA" sz="1200" b="1" kern="1200" dirty="0"/>
        </a:p>
        <a:p>
          <a:pPr marL="114300" lvl="1" indent="-114300" algn="l" defTabSz="533400">
            <a:lnSpc>
              <a:spcPct val="90000"/>
            </a:lnSpc>
            <a:spcBef>
              <a:spcPct val="0"/>
            </a:spcBef>
            <a:spcAft>
              <a:spcPct val="15000"/>
            </a:spcAft>
            <a:buChar char="•"/>
          </a:pPr>
          <a:r>
            <a:rPr lang="en-CA" sz="1200" b="1" kern="1200" dirty="0"/>
            <a:t>Estimates are often useful to the studied budget holder. Model structure can be generalized but not estimates.</a:t>
          </a:r>
        </a:p>
        <a:p>
          <a:pPr marL="114300" lvl="1" indent="-114300" algn="l" defTabSz="533400">
            <a:lnSpc>
              <a:spcPct val="90000"/>
            </a:lnSpc>
            <a:spcBef>
              <a:spcPct val="0"/>
            </a:spcBef>
            <a:spcAft>
              <a:spcPct val="15000"/>
            </a:spcAft>
            <a:buChar char="•"/>
          </a:pPr>
          <a:endParaRPr lang="en-CA" sz="1200" b="1" kern="1200" dirty="0"/>
        </a:p>
      </dsp:txBody>
      <dsp:txXfrm>
        <a:off x="5256339" y="896728"/>
        <a:ext cx="3149331" cy="3320986"/>
      </dsp:txXfrm>
    </dsp:sp>
    <dsp:sp modelId="{7ACE2CA6-EC7B-43B4-A089-8118CDDA1100}">
      <dsp:nvSpPr>
        <dsp:cNvPr id="0" name=""/>
        <dsp:cNvSpPr/>
      </dsp:nvSpPr>
      <dsp:spPr>
        <a:xfrm>
          <a:off x="4602884" y="10953"/>
          <a:ext cx="1264522" cy="1264522"/>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85F2B-9DB3-46C6-BD28-BD611964EFEF}" type="datetimeFigureOut">
              <a:rPr lang="en-CA" smtClean="0"/>
              <a:t>2026-10-29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E760D0-8468-434B-992C-0B7D2D93019E}" type="slidenum">
              <a:rPr lang="en-CA" smtClean="0"/>
              <a:t>‹#›</a:t>
            </a:fld>
            <a:endParaRPr lang="en-CA"/>
          </a:p>
        </p:txBody>
      </p:sp>
    </p:spTree>
    <p:extLst>
      <p:ext uri="{BB962C8B-B14F-4D97-AF65-F5344CB8AC3E}">
        <p14:creationId xmlns:p14="http://schemas.microsoft.com/office/powerpoint/2010/main" val="1054136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74B7E4C-EE9B-47D4-9C7A-0725DAB1A6F8}" type="slidenum">
              <a:rPr lang="en-US"/>
              <a:pPr>
                <a:defRPr/>
              </a:pPr>
              <a:t>4</a:t>
            </a:fld>
            <a:endParaRPr 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p>
        </p:txBody>
      </p:sp>
    </p:spTree>
    <p:extLst>
      <p:ext uri="{BB962C8B-B14F-4D97-AF65-F5344CB8AC3E}">
        <p14:creationId xmlns:p14="http://schemas.microsoft.com/office/powerpoint/2010/main" val="541369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B719333-5B2E-4E1E-AA3A-A4CD441E703D}" type="slidenum">
              <a:rPr lang="en-US"/>
              <a:pPr>
                <a:defRPr/>
              </a:pPr>
              <a:t>5</a:t>
            </a:fld>
            <a:endParaRPr 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p>
        </p:txBody>
      </p:sp>
    </p:spTree>
    <p:extLst>
      <p:ext uri="{BB962C8B-B14F-4D97-AF65-F5344CB8AC3E}">
        <p14:creationId xmlns:p14="http://schemas.microsoft.com/office/powerpoint/2010/main" val="465438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C7ECE-129D-7C87-47AF-28831127771B}"/>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FCFA999C-4096-B8EB-691B-D8D2C58522BC}"/>
              </a:ext>
            </a:extLst>
          </p:cNvPr>
          <p:cNvSpPr>
            <a:spLocks noGrp="1" noChangeArrowheads="1"/>
          </p:cNvSpPr>
          <p:nvPr>
            <p:ph type="sldNum" sz="quarter" idx="5"/>
          </p:nvPr>
        </p:nvSpPr>
        <p:spPr/>
        <p:txBody>
          <a:bodyPr/>
          <a:lstStyle/>
          <a:p>
            <a:pPr>
              <a:defRPr/>
            </a:pPr>
            <a:fld id="{3B719333-5B2E-4E1E-AA3A-A4CD441E703D}" type="slidenum">
              <a:rPr lang="en-US"/>
              <a:pPr>
                <a:defRPr/>
              </a:pPr>
              <a:t>6</a:t>
            </a:fld>
            <a:endParaRPr lang="en-US"/>
          </a:p>
        </p:txBody>
      </p:sp>
      <p:sp>
        <p:nvSpPr>
          <p:cNvPr id="60419" name="Rectangle 2">
            <a:extLst>
              <a:ext uri="{FF2B5EF4-FFF2-40B4-BE49-F238E27FC236}">
                <a16:creationId xmlns:a16="http://schemas.microsoft.com/office/drawing/2014/main" id="{7FC121E8-32D8-C817-B875-C18554DCE88A}"/>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47308E2B-69A2-BC4D-9ED7-176F6FE837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p>
        </p:txBody>
      </p:sp>
    </p:spTree>
    <p:extLst>
      <p:ext uri="{BB962C8B-B14F-4D97-AF65-F5344CB8AC3E}">
        <p14:creationId xmlns:p14="http://schemas.microsoft.com/office/powerpoint/2010/main" val="2647522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10/29/2026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78024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10/29/2026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23097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10/29/2026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9826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10/29/2026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02187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10/29/2026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05767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10/29/2026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33923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10/29/2026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40889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10/29/2026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54749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10/29/2026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8625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10/29/2026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19280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10/29/2026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5958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10/29/2026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66053621"/>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70" r:id="rId6"/>
    <p:sldLayoutId id="2147483775" r:id="rId7"/>
    <p:sldLayoutId id="2147483771" r:id="rId8"/>
    <p:sldLayoutId id="2147483772" r:id="rId9"/>
    <p:sldLayoutId id="2147483773" r:id="rId10"/>
    <p:sldLayoutId id="2147483774"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0.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7"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0.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NULL"/><Relationship Id="rId4" Type="http://schemas.openxmlformats.org/officeDocument/2006/relationships/image" Target="NUL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NULL"/><Relationship Id="rId4" Type="http://schemas.openxmlformats.org/officeDocument/2006/relationships/image" Target="NULL"/></Relationships>
</file>

<file path=ppt/slides/_rels/slide25.xml.rels><?xml version="1.0" encoding="UTF-8" standalone="yes"?>
<Relationships xmlns="http://schemas.openxmlformats.org/package/2006/relationships"><Relationship Id="rId7"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6.xml.rels><?xml version="1.0" encoding="UTF-8" standalone="yes"?>
<Relationships xmlns="http://schemas.openxmlformats.org/package/2006/relationships"><Relationship Id="rId7"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7.xml.rels><?xml version="1.0" encoding="UTF-8" standalone="yes"?>
<Relationships xmlns="http://schemas.openxmlformats.org/package/2006/relationships"><Relationship Id="rId7"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8.xml.rels><?xml version="1.0" encoding="UTF-8" standalone="yes"?>
<Relationships xmlns="http://schemas.openxmlformats.org/package/2006/relationships"><Relationship Id="rId8" Type="http://schemas.openxmlformats.org/officeDocument/2006/relationships/image" Target="NULL"/><Relationship Id="rId7"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5820888B-4EA5-E0E8-6D52-7733E1E77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813863-F928-09F7-33F8-93C103CEAA85}"/>
              </a:ext>
            </a:extLst>
          </p:cNvPr>
          <p:cNvSpPr>
            <a:spLocks noGrp="1"/>
          </p:cNvSpPr>
          <p:nvPr>
            <p:ph type="ctrTitle"/>
          </p:nvPr>
        </p:nvSpPr>
        <p:spPr>
          <a:xfrm>
            <a:off x="521208" y="978408"/>
            <a:ext cx="3397649" cy="3303764"/>
          </a:xfrm>
        </p:spPr>
        <p:txBody>
          <a:bodyPr anchor="t">
            <a:normAutofit/>
          </a:bodyPr>
          <a:lstStyle/>
          <a:p>
            <a:pPr>
              <a:lnSpc>
                <a:spcPct val="90000"/>
              </a:lnSpc>
            </a:pPr>
            <a:r>
              <a:rPr lang="en-US" sz="3700" dirty="0"/>
              <a:t>Advanced Topics in Economic Evaluation and Healthcare</a:t>
            </a:r>
            <a:endParaRPr lang="en-CA" sz="3700" dirty="0"/>
          </a:p>
        </p:txBody>
      </p:sp>
      <p:sp>
        <p:nvSpPr>
          <p:cNvPr id="3" name="Subtitle 2">
            <a:extLst>
              <a:ext uri="{FF2B5EF4-FFF2-40B4-BE49-F238E27FC236}">
                <a16:creationId xmlns:a16="http://schemas.microsoft.com/office/drawing/2014/main" id="{DB04B19C-1926-B464-1194-E2E07EBD9E44}"/>
              </a:ext>
            </a:extLst>
          </p:cNvPr>
          <p:cNvSpPr>
            <a:spLocks noGrp="1"/>
          </p:cNvSpPr>
          <p:nvPr>
            <p:ph type="subTitle" idx="1"/>
          </p:nvPr>
        </p:nvSpPr>
        <p:spPr>
          <a:xfrm>
            <a:off x="521208" y="4354633"/>
            <a:ext cx="3397649" cy="1706533"/>
          </a:xfrm>
        </p:spPr>
        <p:txBody>
          <a:bodyPr anchor="t">
            <a:normAutofit/>
          </a:bodyPr>
          <a:lstStyle/>
          <a:p>
            <a:r>
              <a:rPr lang="en-US" dirty="0"/>
              <a:t>Lecture #9: Budget </a:t>
            </a:r>
            <a:r>
              <a:rPr lang="en-US"/>
              <a:t>Impact Analysis</a:t>
            </a:r>
            <a:endParaRPr lang="en-CA" dirty="0"/>
          </a:p>
        </p:txBody>
      </p:sp>
      <p:sp>
        <p:nvSpPr>
          <p:cNvPr id="35" name="Freeform: Shape 34">
            <a:extLst>
              <a:ext uri="{FF2B5EF4-FFF2-40B4-BE49-F238E27FC236}">
                <a16:creationId xmlns:a16="http://schemas.microsoft.com/office/drawing/2014/main" id="{06B5A8BF-0680-F9A7-27B1-3971EC934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Logo Request Form - McMaster Brand">
            <a:extLst>
              <a:ext uri="{FF2B5EF4-FFF2-40B4-BE49-F238E27FC236}">
                <a16:creationId xmlns:a16="http://schemas.microsoft.com/office/drawing/2014/main" id="{9B664600-1FAC-3307-6550-FD235344C1A8}"/>
              </a:ext>
            </a:extLst>
          </p:cNvPr>
          <p:cNvPicPr>
            <a:picLocks noChangeAspect="1"/>
          </p:cNvPicPr>
          <p:nvPr/>
        </p:nvPicPr>
        <p:blipFill>
          <a:blip r:embed="rId2"/>
          <a:stretch>
            <a:fillRect/>
          </a:stretch>
        </p:blipFill>
        <p:spPr>
          <a:xfrm>
            <a:off x="6585625" y="5679630"/>
            <a:ext cx="5192171" cy="1005924"/>
          </a:xfrm>
          <a:prstGeom prst="rect">
            <a:avLst/>
          </a:prstGeom>
        </p:spPr>
      </p:pic>
    </p:spTree>
    <p:extLst>
      <p:ext uri="{BB962C8B-B14F-4D97-AF65-F5344CB8AC3E}">
        <p14:creationId xmlns:p14="http://schemas.microsoft.com/office/powerpoint/2010/main" val="3817306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EAD8C-4653-2156-1AE6-81A7043FF273}"/>
              </a:ext>
            </a:extLst>
          </p:cNvPr>
          <p:cNvSpPr>
            <a:spLocks noGrp="1"/>
          </p:cNvSpPr>
          <p:nvPr>
            <p:ph type="title"/>
          </p:nvPr>
        </p:nvSpPr>
        <p:spPr/>
        <p:txBody>
          <a:bodyPr/>
          <a:lstStyle/>
          <a:p>
            <a:r>
              <a:rPr lang="en-CA" dirty="0"/>
              <a:t>Lecture Overview</a:t>
            </a:r>
          </a:p>
        </p:txBody>
      </p:sp>
      <p:sp>
        <p:nvSpPr>
          <p:cNvPr id="3" name="Content Placeholder 2">
            <a:extLst>
              <a:ext uri="{FF2B5EF4-FFF2-40B4-BE49-F238E27FC236}">
                <a16:creationId xmlns:a16="http://schemas.microsoft.com/office/drawing/2014/main" id="{9F41D7D5-527F-5D91-FF68-E747009A6B12}"/>
              </a:ext>
            </a:extLst>
          </p:cNvPr>
          <p:cNvSpPr>
            <a:spLocks noGrp="1"/>
          </p:cNvSpPr>
          <p:nvPr>
            <p:ph idx="1"/>
          </p:nvPr>
        </p:nvSpPr>
        <p:spPr/>
        <p:txBody>
          <a:bodyPr/>
          <a:lstStyle/>
          <a:p>
            <a:r>
              <a:rPr lang="en-CA" dirty="0"/>
              <a:t>In this lecture we will discuss budget impact analysis. In particular we will discuss:</a:t>
            </a:r>
          </a:p>
          <a:p>
            <a:pPr marL="800100" lvl="1" indent="-342900">
              <a:buFont typeface="+mj-lt"/>
              <a:buAutoNum type="arabicPeriod"/>
            </a:pPr>
            <a:r>
              <a:rPr lang="en-CA" dirty="0"/>
              <a:t>What budget impact analysis is.</a:t>
            </a:r>
          </a:p>
          <a:p>
            <a:pPr marL="800100" lvl="1" indent="-342900">
              <a:buFont typeface="+mj-lt"/>
              <a:buAutoNum type="arabicPeriod"/>
            </a:pPr>
            <a:r>
              <a:rPr lang="en-CA" dirty="0"/>
              <a:t>Static Models of Budget Impact Analysis (A Cost Calculator Approach)</a:t>
            </a:r>
          </a:p>
          <a:p>
            <a:pPr marL="800100" lvl="1" indent="-342900">
              <a:buFont typeface="+mj-lt"/>
              <a:buAutoNum type="arabicPeriod"/>
            </a:pPr>
            <a:r>
              <a:rPr lang="en-CA" dirty="0"/>
              <a:t>Implied Budget Impact Analysis from Cost Effectiveness Analysis.</a:t>
            </a:r>
          </a:p>
          <a:p>
            <a:pPr marL="800100" lvl="1" indent="-342900">
              <a:buFont typeface="+mj-lt"/>
              <a:buAutoNum type="arabicPeriod"/>
            </a:pPr>
            <a:r>
              <a:rPr lang="en-CA" dirty="0"/>
              <a:t>A Brief Overview of Line Models and the problem of sequencing.</a:t>
            </a:r>
          </a:p>
        </p:txBody>
      </p:sp>
    </p:spTree>
    <p:extLst>
      <p:ext uri="{BB962C8B-B14F-4D97-AF65-F5344CB8AC3E}">
        <p14:creationId xmlns:p14="http://schemas.microsoft.com/office/powerpoint/2010/main" val="653032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EC20-2B79-9C82-8C48-30A6C44E209C}"/>
              </a:ext>
            </a:extLst>
          </p:cNvPr>
          <p:cNvSpPr>
            <a:spLocks noGrp="1"/>
          </p:cNvSpPr>
          <p:nvPr>
            <p:ph type="ctrTitle"/>
          </p:nvPr>
        </p:nvSpPr>
        <p:spPr/>
        <p:txBody>
          <a:bodyPr/>
          <a:lstStyle/>
          <a:p>
            <a:r>
              <a:rPr lang="en-CA" dirty="0"/>
              <a:t>Motivation</a:t>
            </a:r>
          </a:p>
        </p:txBody>
      </p:sp>
      <p:sp>
        <p:nvSpPr>
          <p:cNvPr id="3" name="Subtitle 2">
            <a:extLst>
              <a:ext uri="{FF2B5EF4-FFF2-40B4-BE49-F238E27FC236}">
                <a16:creationId xmlns:a16="http://schemas.microsoft.com/office/drawing/2014/main" id="{AD38A832-0632-5F2F-C8F2-BEBC22DDB5A5}"/>
              </a:ext>
            </a:extLst>
          </p:cNvPr>
          <p:cNvSpPr>
            <a:spLocks noGrp="1"/>
          </p:cNvSpPr>
          <p:nvPr>
            <p:ph type="subTitle" idx="1"/>
          </p:nvPr>
        </p:nvSpPr>
        <p:spPr/>
        <p:txBody>
          <a:bodyPr/>
          <a:lstStyle/>
          <a:p>
            <a:r>
              <a:rPr lang="en-CA" dirty="0"/>
              <a:t>Not All Cost-Effective Treatments Get Approved</a:t>
            </a:r>
          </a:p>
        </p:txBody>
      </p:sp>
    </p:spTree>
    <p:extLst>
      <p:ext uri="{BB962C8B-B14F-4D97-AF65-F5344CB8AC3E}">
        <p14:creationId xmlns:p14="http://schemas.microsoft.com/office/powerpoint/2010/main" val="1033275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Object 2"/>
          <p:cNvGraphicFramePr>
            <a:graphicFrameLocks noChangeAspect="1"/>
          </p:cNvGraphicFramePr>
          <p:nvPr/>
        </p:nvGraphicFramePr>
        <p:xfrm>
          <a:off x="1590675" y="333375"/>
          <a:ext cx="8376653" cy="6191249"/>
        </p:xfrm>
        <a:graphic>
          <a:graphicData uri="http://schemas.openxmlformats.org/presentationml/2006/ole">
            <mc:AlternateContent xmlns:mc="http://schemas.openxmlformats.org/markup-compatibility/2006">
              <mc:Choice xmlns:v="urn:schemas-microsoft-com:vml" Requires="v">
                <p:oleObj name="Slide" r:id="rId3" imgW="6908760" imgH="3191400" progId="PowerPoint.Slide.8">
                  <p:embed/>
                </p:oleObj>
              </mc:Choice>
              <mc:Fallback>
                <p:oleObj name="Slide" r:id="rId3" imgW="6908760" imgH="3191400" progId="PowerPoint.Slide.8">
                  <p:embed/>
                  <p:pic>
                    <p:nvPicPr>
                      <p:cNvPr id="1945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0675" y="333375"/>
                        <a:ext cx="8376653" cy="6191249"/>
                      </a:xfrm>
                      <a:prstGeom prst="rect">
                        <a:avLst/>
                      </a:prstGeom>
                      <a:noFill/>
                      <a:ln>
                        <a:noFill/>
                      </a:ln>
                      <a:effec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4426" y="298450"/>
            <a:ext cx="8996363" cy="655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144F1-412A-AA73-037D-884DBC954E5D}"/>
            </a:ext>
          </a:extLst>
        </p:cNvPr>
        <p:cNvGrpSpPr/>
        <p:nvPr/>
      </p:nvGrpSpPr>
      <p:grpSpPr>
        <a:xfrm>
          <a:off x="0" y="0"/>
          <a:ext cx="0" cy="0"/>
          <a:chOff x="0" y="0"/>
          <a:chExt cx="0" cy="0"/>
        </a:xfrm>
      </p:grpSpPr>
      <p:pic>
        <p:nvPicPr>
          <p:cNvPr id="20482" name="Picture 2">
            <a:extLst>
              <a:ext uri="{FF2B5EF4-FFF2-40B4-BE49-F238E27FC236}">
                <a16:creationId xmlns:a16="http://schemas.microsoft.com/office/drawing/2014/main" id="{40A498D3-0A40-DF17-AB07-C41961F9F0D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4426" y="298450"/>
            <a:ext cx="8996363" cy="655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148AB586-4D31-D8CE-FEFB-51A198B0BAAE}"/>
              </a:ext>
            </a:extLst>
          </p:cNvPr>
          <p:cNvCxnSpPr>
            <a:cxnSpLocks/>
          </p:cNvCxnSpPr>
          <p:nvPr/>
        </p:nvCxnSpPr>
        <p:spPr>
          <a:xfrm>
            <a:off x="2933700" y="5267325"/>
            <a:ext cx="5772150" cy="0"/>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90A8C09-BC05-E04F-8513-819A79663980}"/>
              </a:ext>
            </a:extLst>
          </p:cNvPr>
          <p:cNvSpPr txBox="1"/>
          <p:nvPr/>
        </p:nvSpPr>
        <p:spPr>
          <a:xfrm>
            <a:off x="8868789" y="4670493"/>
            <a:ext cx="2965299" cy="1477328"/>
          </a:xfrm>
          <a:prstGeom prst="rect">
            <a:avLst/>
          </a:prstGeom>
          <a:noFill/>
        </p:spPr>
        <p:txBody>
          <a:bodyPr wrap="none" rtlCol="0">
            <a:spAutoFit/>
          </a:bodyPr>
          <a:lstStyle/>
          <a:p>
            <a:r>
              <a:rPr lang="en-CA" b="1" dirty="0"/>
              <a:t>Under a hard Threshold</a:t>
            </a:r>
            <a:br>
              <a:rPr lang="en-CA" b="1" dirty="0"/>
            </a:br>
            <a:r>
              <a:rPr lang="en-CA" b="1" dirty="0"/>
              <a:t>Everything Below this Line</a:t>
            </a:r>
            <a:br>
              <a:rPr lang="en-CA" b="1" dirty="0"/>
            </a:br>
            <a:r>
              <a:rPr lang="en-CA" b="1" dirty="0"/>
              <a:t>should be accepted!</a:t>
            </a:r>
            <a:br>
              <a:rPr lang="en-CA" b="1" dirty="0"/>
            </a:br>
            <a:br>
              <a:rPr lang="en-CA" b="1" dirty="0"/>
            </a:br>
            <a:r>
              <a:rPr lang="en-CA" b="1" dirty="0"/>
              <a:t>What is going on here?</a:t>
            </a:r>
          </a:p>
        </p:txBody>
      </p:sp>
    </p:spTree>
    <p:extLst>
      <p:ext uri="{BB962C8B-B14F-4D97-AF65-F5344CB8AC3E}">
        <p14:creationId xmlns:p14="http://schemas.microsoft.com/office/powerpoint/2010/main" val="1778329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D82BD-0DC9-3F85-C978-468D8636981C}"/>
              </a:ext>
            </a:extLst>
          </p:cNvPr>
          <p:cNvSpPr>
            <a:spLocks noGrp="1"/>
          </p:cNvSpPr>
          <p:nvPr>
            <p:ph type="ctrTitle"/>
          </p:nvPr>
        </p:nvSpPr>
        <p:spPr/>
        <p:txBody>
          <a:bodyPr/>
          <a:lstStyle/>
          <a:p>
            <a:r>
              <a:rPr lang="en-CA" dirty="0"/>
              <a:t>An Introduction to Budget Impact Analysis</a:t>
            </a:r>
          </a:p>
        </p:txBody>
      </p:sp>
      <p:sp>
        <p:nvSpPr>
          <p:cNvPr id="3" name="Subtitle 2">
            <a:extLst>
              <a:ext uri="{FF2B5EF4-FFF2-40B4-BE49-F238E27FC236}">
                <a16:creationId xmlns:a16="http://schemas.microsoft.com/office/drawing/2014/main" id="{CD8F9832-656F-4BB7-359D-90E3EFDAC175}"/>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3532214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5EFF0-2D66-957E-D147-DAB08C492B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8EFEE-CAD1-1E50-088F-BAEA8CD9B883}"/>
              </a:ext>
            </a:extLst>
          </p:cNvPr>
          <p:cNvSpPr>
            <a:spLocks noGrp="1"/>
          </p:cNvSpPr>
          <p:nvPr>
            <p:ph type="title"/>
          </p:nvPr>
        </p:nvSpPr>
        <p:spPr/>
        <p:txBody>
          <a:bodyPr/>
          <a:lstStyle/>
          <a:p>
            <a:r>
              <a:rPr lang="en-CA" dirty="0"/>
              <a:t>What is Budget Impact Analysis</a:t>
            </a:r>
          </a:p>
        </p:txBody>
      </p:sp>
      <p:sp>
        <p:nvSpPr>
          <p:cNvPr id="3" name="Content Placeholder 2">
            <a:extLst>
              <a:ext uri="{FF2B5EF4-FFF2-40B4-BE49-F238E27FC236}">
                <a16:creationId xmlns:a16="http://schemas.microsoft.com/office/drawing/2014/main" id="{62D61B48-B3DD-9DF4-0410-DCDC1C28069D}"/>
              </a:ext>
            </a:extLst>
          </p:cNvPr>
          <p:cNvSpPr>
            <a:spLocks noGrp="1"/>
          </p:cNvSpPr>
          <p:nvPr>
            <p:ph idx="1"/>
          </p:nvPr>
        </p:nvSpPr>
        <p:spPr>
          <a:xfrm>
            <a:off x="838200" y="1885949"/>
            <a:ext cx="10515600" cy="4007549"/>
          </a:xfrm>
        </p:spPr>
        <p:txBody>
          <a:bodyPr>
            <a:normAutofit/>
          </a:bodyPr>
          <a:lstStyle/>
          <a:p>
            <a:r>
              <a:rPr lang="en-CA" dirty="0"/>
              <a:t>Most policy instruments are not numeric like taxes or interest rate. Rather they are questions of whether governments, insurance policies or other third parties will pay for something.</a:t>
            </a:r>
          </a:p>
          <a:p>
            <a:r>
              <a:rPr lang="en-CA" dirty="0"/>
              <a:t>Budget impact analysis can be thought of as thinking about what would happen if you leant someone your credit card. (how big will the bill be?)</a:t>
            </a:r>
          </a:p>
          <a:p>
            <a:r>
              <a:rPr lang="en-CA" dirty="0"/>
              <a:t>The policy variables in working health economic questions are “what would happen if we decide to add this drug to the list of treatments that we (the government, insurance company or other third party) will pay for”.</a:t>
            </a:r>
          </a:p>
          <a:p>
            <a:r>
              <a:rPr lang="en-CA" dirty="0"/>
              <a:t>We can think of this analogously as how adding a new item to a menu of things that you are willing to pay for.</a:t>
            </a:r>
          </a:p>
          <a:p>
            <a:pPr marL="0" indent="0">
              <a:buNone/>
            </a:pPr>
            <a:endParaRPr lang="en-CA" dirty="0"/>
          </a:p>
        </p:txBody>
      </p:sp>
    </p:spTree>
    <p:extLst>
      <p:ext uri="{BB962C8B-B14F-4D97-AF65-F5344CB8AC3E}">
        <p14:creationId xmlns:p14="http://schemas.microsoft.com/office/powerpoint/2010/main" val="996127873"/>
      </p:ext>
    </p:extLst>
  </p:cSld>
  <p:clrMapOvr>
    <a:masterClrMapping/>
  </p:clrMapOvr>
  <mc:AlternateContent xmlns:mc="http://schemas.openxmlformats.org/markup-compatibility/2006" xmlns:p14="http://schemas.microsoft.com/office/powerpoint/2010/main">
    <mc:Choice Requires="p14">
      <p:transition spd="slow" p14:dur="2000" advTm="48801"/>
    </mc:Choice>
    <mc:Fallback xmlns="">
      <p:transition spd="slow" advTm="4880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9A03A-834D-7821-4E88-5108AFC8C6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0FCA8-AFD2-5706-713E-1614CFA46C78}"/>
              </a:ext>
            </a:extLst>
          </p:cNvPr>
          <p:cNvSpPr>
            <a:spLocks noGrp="1"/>
          </p:cNvSpPr>
          <p:nvPr>
            <p:ph type="title"/>
          </p:nvPr>
        </p:nvSpPr>
        <p:spPr>
          <a:xfrm>
            <a:off x="274637" y="586829"/>
            <a:ext cx="11642725" cy="749822"/>
          </a:xfrm>
        </p:spPr>
        <p:txBody>
          <a:bodyPr>
            <a:normAutofit fontScale="90000"/>
          </a:bodyPr>
          <a:lstStyle/>
          <a:p>
            <a:r>
              <a:rPr lang="en-CA" sz="4800" dirty="0"/>
              <a:t>Why Budget Impact Analysis is Important.</a:t>
            </a:r>
          </a:p>
        </p:txBody>
      </p:sp>
      <p:sp>
        <p:nvSpPr>
          <p:cNvPr id="3" name="Content Placeholder 2">
            <a:extLst>
              <a:ext uri="{FF2B5EF4-FFF2-40B4-BE49-F238E27FC236}">
                <a16:creationId xmlns:a16="http://schemas.microsoft.com/office/drawing/2014/main" id="{66067707-BA36-F4CD-AC94-EDCE787D8F5F}"/>
              </a:ext>
            </a:extLst>
          </p:cNvPr>
          <p:cNvSpPr>
            <a:spLocks noGrp="1"/>
          </p:cNvSpPr>
          <p:nvPr>
            <p:ph idx="1"/>
          </p:nvPr>
        </p:nvSpPr>
        <p:spPr>
          <a:xfrm>
            <a:off x="485774" y="1194274"/>
            <a:ext cx="10991851" cy="1834676"/>
          </a:xfrm>
        </p:spPr>
        <p:txBody>
          <a:bodyPr>
            <a:normAutofit fontScale="40000" lnSpcReduction="20000"/>
          </a:bodyPr>
          <a:lstStyle/>
          <a:p>
            <a:pPr marL="342900" indent="-342900">
              <a:buFont typeface="Wingdings" panose="05000000000000000000" pitchFamily="2" charset="2"/>
              <a:buChar char="§"/>
            </a:pPr>
            <a:r>
              <a:rPr lang="en-CA" sz="4300" dirty="0"/>
              <a:t>Suppose we have a list of possible treatments to fund with their computed ICER, cost per patient and the size of the patient population.</a:t>
            </a:r>
          </a:p>
          <a:p>
            <a:pPr marL="342900" indent="-342900">
              <a:buFont typeface="Wingdings" panose="05000000000000000000" pitchFamily="2" charset="2"/>
              <a:buChar char="§"/>
            </a:pPr>
            <a:r>
              <a:rPr lang="en-CA" sz="4300" dirty="0"/>
              <a:t>Cost effectiveness analysis on its own tells us to fund the treatments that are at or below a particular threshold.</a:t>
            </a:r>
          </a:p>
          <a:p>
            <a:pPr marL="342900" indent="-342900">
              <a:buFont typeface="Wingdings" panose="05000000000000000000" pitchFamily="2" charset="2"/>
              <a:buChar char="§"/>
            </a:pPr>
            <a:r>
              <a:rPr lang="en-CA" sz="4300" dirty="0"/>
              <a:t>However, this rule on its own does not tell us if funding a treatment is </a:t>
            </a:r>
            <a:r>
              <a:rPr lang="en-CA" sz="4300" b="1" dirty="0"/>
              <a:t>feasible.</a:t>
            </a:r>
          </a:p>
          <a:p>
            <a:pPr marL="342900" indent="-342900">
              <a:buFont typeface="Wingdings" panose="05000000000000000000" pitchFamily="2" charset="2"/>
              <a:buChar char="§"/>
            </a:pPr>
            <a:r>
              <a:rPr lang="en-CA" sz="4300" b="1" dirty="0"/>
              <a:t>Budget Impact Analysis tells us if the funding of a treatment is feasible for a particular decision maker.</a:t>
            </a:r>
            <a:br>
              <a:rPr lang="en-CA" dirty="0"/>
            </a:br>
            <a:br>
              <a:rPr lang="en-CA" dirty="0"/>
            </a:br>
            <a:endParaRPr lang="en-CA" dirty="0"/>
          </a:p>
        </p:txBody>
      </p:sp>
      <p:graphicFrame>
        <p:nvGraphicFramePr>
          <p:cNvPr id="4" name="Table 3">
            <a:extLst>
              <a:ext uri="{FF2B5EF4-FFF2-40B4-BE49-F238E27FC236}">
                <a16:creationId xmlns:a16="http://schemas.microsoft.com/office/drawing/2014/main" id="{1D6B438D-18D3-0360-4CEA-B1DD51AD2E14}"/>
              </a:ext>
            </a:extLst>
          </p:cNvPr>
          <p:cNvGraphicFramePr>
            <a:graphicFrameLocks noGrp="1"/>
          </p:cNvGraphicFramePr>
          <p:nvPr/>
        </p:nvGraphicFramePr>
        <p:xfrm>
          <a:off x="611301" y="3028950"/>
          <a:ext cx="7342075" cy="2634776"/>
        </p:xfrm>
        <a:graphic>
          <a:graphicData uri="http://schemas.openxmlformats.org/drawingml/2006/table">
            <a:tbl>
              <a:tblPr firstRow="1">
                <a:tableStyleId>{793D81CF-94F2-401A-BA57-92F5A7B2D0C5}</a:tableStyleId>
              </a:tblPr>
              <a:tblGrid>
                <a:gridCol w="1468415">
                  <a:extLst>
                    <a:ext uri="{9D8B030D-6E8A-4147-A177-3AD203B41FA5}">
                      <a16:colId xmlns:a16="http://schemas.microsoft.com/office/drawing/2014/main" val="3174628333"/>
                    </a:ext>
                  </a:extLst>
                </a:gridCol>
                <a:gridCol w="1468415">
                  <a:extLst>
                    <a:ext uri="{9D8B030D-6E8A-4147-A177-3AD203B41FA5}">
                      <a16:colId xmlns:a16="http://schemas.microsoft.com/office/drawing/2014/main" val="677386083"/>
                    </a:ext>
                  </a:extLst>
                </a:gridCol>
                <a:gridCol w="1468415">
                  <a:extLst>
                    <a:ext uri="{9D8B030D-6E8A-4147-A177-3AD203B41FA5}">
                      <a16:colId xmlns:a16="http://schemas.microsoft.com/office/drawing/2014/main" val="686048731"/>
                    </a:ext>
                  </a:extLst>
                </a:gridCol>
                <a:gridCol w="1468415">
                  <a:extLst>
                    <a:ext uri="{9D8B030D-6E8A-4147-A177-3AD203B41FA5}">
                      <a16:colId xmlns:a16="http://schemas.microsoft.com/office/drawing/2014/main" val="2880529317"/>
                    </a:ext>
                  </a:extLst>
                </a:gridCol>
                <a:gridCol w="1468415">
                  <a:extLst>
                    <a:ext uri="{9D8B030D-6E8A-4147-A177-3AD203B41FA5}">
                      <a16:colId xmlns:a16="http://schemas.microsoft.com/office/drawing/2014/main" val="2899289600"/>
                    </a:ext>
                  </a:extLst>
                </a:gridCol>
              </a:tblGrid>
              <a:tr h="433836">
                <a:tc>
                  <a:txBody>
                    <a:bodyPr/>
                    <a:lstStyle/>
                    <a:p>
                      <a:pPr>
                        <a:buNone/>
                      </a:pPr>
                      <a:r>
                        <a:rPr lang="en-CA" sz="1300" dirty="0"/>
                        <a:t>Treatment</a:t>
                      </a:r>
                    </a:p>
                  </a:txBody>
                  <a:tcPr marL="64333" marR="64333" marT="32167" marB="32167" anchor="ctr"/>
                </a:tc>
                <a:tc>
                  <a:txBody>
                    <a:bodyPr/>
                    <a:lstStyle/>
                    <a:p>
                      <a:pPr>
                        <a:buNone/>
                      </a:pPr>
                      <a:r>
                        <a:rPr lang="en-CA" sz="1300" dirty="0"/>
                        <a:t>Unit Cost (per patient)</a:t>
                      </a:r>
                    </a:p>
                  </a:txBody>
                  <a:tcPr marL="64333" marR="64333" marT="32167" marB="32167" anchor="ctr"/>
                </a:tc>
                <a:tc>
                  <a:txBody>
                    <a:bodyPr/>
                    <a:lstStyle/>
                    <a:p>
                      <a:pPr>
                        <a:buNone/>
                      </a:pPr>
                      <a:r>
                        <a:rPr lang="en-US" sz="1300"/>
                        <a:t>ICER (Cost per QALY gained)</a:t>
                      </a:r>
                    </a:p>
                  </a:txBody>
                  <a:tcPr marL="64333" marR="64333" marT="32167" marB="32167" anchor="ctr"/>
                </a:tc>
                <a:tc>
                  <a:txBody>
                    <a:bodyPr/>
                    <a:lstStyle/>
                    <a:p>
                      <a:pPr>
                        <a:buNone/>
                      </a:pPr>
                      <a:r>
                        <a:rPr lang="en-CA" sz="1300" dirty="0"/>
                        <a:t>Patient Type</a:t>
                      </a:r>
                    </a:p>
                  </a:txBody>
                  <a:tcPr marL="64333" marR="64333" marT="32167" marB="32167" anchor="ctr"/>
                </a:tc>
                <a:tc>
                  <a:txBody>
                    <a:bodyPr/>
                    <a:lstStyle/>
                    <a:p>
                      <a:pPr>
                        <a:buNone/>
                      </a:pPr>
                      <a:r>
                        <a:rPr lang="en-CA" sz="1300"/>
                        <a:t>Patient Population Size</a:t>
                      </a:r>
                    </a:p>
                  </a:txBody>
                  <a:tcPr marL="64333" marR="64333" marT="32167" marB="32167" anchor="ctr"/>
                </a:tc>
                <a:extLst>
                  <a:ext uri="{0D108BD9-81ED-4DB2-BD59-A6C34878D82A}">
                    <a16:rowId xmlns:a16="http://schemas.microsoft.com/office/drawing/2014/main" val="2912994985"/>
                  </a:ext>
                </a:extLst>
              </a:tr>
              <a:tr h="807074">
                <a:tc>
                  <a:txBody>
                    <a:bodyPr/>
                    <a:lstStyle/>
                    <a:p>
                      <a:pPr>
                        <a:buNone/>
                      </a:pPr>
                      <a:r>
                        <a:rPr lang="en-CA" sz="1300"/>
                        <a:t>Treatment A</a:t>
                      </a:r>
                    </a:p>
                  </a:txBody>
                  <a:tcPr marL="64333" marR="64333" marT="32167" marB="32167" anchor="ctr"/>
                </a:tc>
                <a:tc>
                  <a:txBody>
                    <a:bodyPr/>
                    <a:lstStyle/>
                    <a:p>
                      <a:pPr>
                        <a:buNone/>
                      </a:pPr>
                      <a:r>
                        <a:rPr lang="en-CA" sz="1300" dirty="0"/>
                        <a:t>$12,000</a:t>
                      </a:r>
                    </a:p>
                  </a:txBody>
                  <a:tcPr marL="64333" marR="64333" marT="32167" marB="32167" anchor="ctr"/>
                </a:tc>
                <a:tc>
                  <a:txBody>
                    <a:bodyPr/>
                    <a:lstStyle/>
                    <a:p>
                      <a:pPr>
                        <a:buNone/>
                      </a:pPr>
                      <a:r>
                        <a:rPr lang="en-CA" sz="1300" dirty="0"/>
                        <a:t>$45,000/QALY</a:t>
                      </a:r>
                    </a:p>
                  </a:txBody>
                  <a:tcPr marL="64333" marR="64333" marT="32167" marB="32167" anchor="ctr"/>
                </a:tc>
                <a:tc>
                  <a:txBody>
                    <a:bodyPr/>
                    <a:lstStyle/>
                    <a:p>
                      <a:pPr>
                        <a:buNone/>
                      </a:pPr>
                      <a:r>
                        <a:rPr lang="en-US" sz="1300" dirty="0"/>
                        <a:t>Adults with moderate rheumatoid arthritis</a:t>
                      </a:r>
                    </a:p>
                  </a:txBody>
                  <a:tcPr marL="64333" marR="64333" marT="32167" marB="32167" anchor="ctr"/>
                </a:tc>
                <a:tc>
                  <a:txBody>
                    <a:bodyPr/>
                    <a:lstStyle/>
                    <a:p>
                      <a:pPr>
                        <a:buNone/>
                      </a:pPr>
                      <a:r>
                        <a:rPr lang="en-CA" sz="1300" b="1"/>
                        <a:t>150,000 patients</a:t>
                      </a:r>
                      <a:endParaRPr lang="en-CA" sz="1300"/>
                    </a:p>
                  </a:txBody>
                  <a:tcPr marL="64333" marR="64333" marT="32167" marB="32167" anchor="ctr"/>
                </a:tc>
                <a:extLst>
                  <a:ext uri="{0D108BD9-81ED-4DB2-BD59-A6C34878D82A}">
                    <a16:rowId xmlns:a16="http://schemas.microsoft.com/office/drawing/2014/main" val="2762289413"/>
                  </a:ext>
                </a:extLst>
              </a:tr>
              <a:tr h="620455">
                <a:tc>
                  <a:txBody>
                    <a:bodyPr/>
                    <a:lstStyle/>
                    <a:p>
                      <a:pPr>
                        <a:buNone/>
                      </a:pPr>
                      <a:r>
                        <a:rPr lang="en-CA" sz="1300"/>
                        <a:t>Treatment B</a:t>
                      </a:r>
                    </a:p>
                  </a:txBody>
                  <a:tcPr marL="64333" marR="64333" marT="32167" marB="32167" anchor="ctr"/>
                </a:tc>
                <a:tc>
                  <a:txBody>
                    <a:bodyPr/>
                    <a:lstStyle/>
                    <a:p>
                      <a:pPr>
                        <a:buNone/>
                      </a:pPr>
                      <a:r>
                        <a:rPr lang="en-CA" sz="1300" dirty="0"/>
                        <a:t>$8,500</a:t>
                      </a:r>
                    </a:p>
                  </a:txBody>
                  <a:tcPr marL="64333" marR="64333" marT="32167" marB="32167" anchor="ctr"/>
                </a:tc>
                <a:tc>
                  <a:txBody>
                    <a:bodyPr/>
                    <a:lstStyle/>
                    <a:p>
                      <a:pPr>
                        <a:buNone/>
                      </a:pPr>
                      <a:r>
                        <a:rPr lang="en-CA" sz="1300" dirty="0"/>
                        <a:t>$35,000/QALY</a:t>
                      </a:r>
                    </a:p>
                  </a:txBody>
                  <a:tcPr marL="64333" marR="64333" marT="32167" marB="32167" anchor="ctr"/>
                </a:tc>
                <a:tc>
                  <a:txBody>
                    <a:bodyPr/>
                    <a:lstStyle/>
                    <a:p>
                      <a:pPr>
                        <a:buNone/>
                      </a:pPr>
                      <a:r>
                        <a:rPr lang="en-US" sz="1300" dirty="0"/>
                        <a:t>Patients with stage II hypertension</a:t>
                      </a:r>
                    </a:p>
                  </a:txBody>
                  <a:tcPr marL="64333" marR="64333" marT="32167" marB="32167" anchor="ctr"/>
                </a:tc>
                <a:tc>
                  <a:txBody>
                    <a:bodyPr/>
                    <a:lstStyle/>
                    <a:p>
                      <a:pPr>
                        <a:buNone/>
                      </a:pPr>
                      <a:r>
                        <a:rPr lang="en-CA" sz="1300" b="1" dirty="0"/>
                        <a:t>2,100,000 patients</a:t>
                      </a:r>
                      <a:endParaRPr lang="en-CA" sz="1300" dirty="0"/>
                    </a:p>
                  </a:txBody>
                  <a:tcPr marL="64333" marR="64333" marT="32167" marB="32167" anchor="ctr"/>
                </a:tc>
                <a:extLst>
                  <a:ext uri="{0D108BD9-81ED-4DB2-BD59-A6C34878D82A}">
                    <a16:rowId xmlns:a16="http://schemas.microsoft.com/office/drawing/2014/main" val="2142837373"/>
                  </a:ext>
                </a:extLst>
              </a:tr>
              <a:tr h="620455">
                <a:tc>
                  <a:txBody>
                    <a:bodyPr/>
                    <a:lstStyle/>
                    <a:p>
                      <a:pPr>
                        <a:buNone/>
                      </a:pPr>
                      <a:r>
                        <a:rPr lang="en-CA" sz="1300"/>
                        <a:t>Treatment C</a:t>
                      </a:r>
                    </a:p>
                  </a:txBody>
                  <a:tcPr marL="64333" marR="64333" marT="32167" marB="32167" anchor="ctr"/>
                </a:tc>
                <a:tc>
                  <a:txBody>
                    <a:bodyPr/>
                    <a:lstStyle/>
                    <a:p>
                      <a:pPr>
                        <a:buNone/>
                      </a:pPr>
                      <a:r>
                        <a:rPr lang="en-CA" sz="1300" dirty="0"/>
                        <a:t>$25,000</a:t>
                      </a:r>
                    </a:p>
                  </a:txBody>
                  <a:tcPr marL="64333" marR="64333" marT="32167" marB="32167" anchor="ctr"/>
                </a:tc>
                <a:tc>
                  <a:txBody>
                    <a:bodyPr/>
                    <a:lstStyle/>
                    <a:p>
                      <a:pPr>
                        <a:buNone/>
                      </a:pPr>
                      <a:r>
                        <a:rPr lang="en-CA" sz="1300"/>
                        <a:t>$95,000/QALY</a:t>
                      </a:r>
                    </a:p>
                  </a:txBody>
                  <a:tcPr marL="64333" marR="64333" marT="32167" marB="32167" anchor="ctr"/>
                </a:tc>
                <a:tc>
                  <a:txBody>
                    <a:bodyPr/>
                    <a:lstStyle/>
                    <a:p>
                      <a:pPr>
                        <a:buNone/>
                      </a:pPr>
                      <a:r>
                        <a:rPr lang="en-CA" sz="1300" dirty="0"/>
                        <a:t>Individuals with metastatic melanoma</a:t>
                      </a:r>
                    </a:p>
                  </a:txBody>
                  <a:tcPr marL="64333" marR="64333" marT="32167" marB="32167" anchor="ctr"/>
                </a:tc>
                <a:tc>
                  <a:txBody>
                    <a:bodyPr/>
                    <a:lstStyle/>
                    <a:p>
                      <a:pPr>
                        <a:buNone/>
                      </a:pPr>
                      <a:r>
                        <a:rPr lang="en-CA" sz="1300" b="1" dirty="0"/>
                        <a:t>70,000 patient</a:t>
                      </a:r>
                      <a:endParaRPr lang="en-CA" sz="1300" dirty="0"/>
                    </a:p>
                  </a:txBody>
                  <a:tcPr marL="64333" marR="64333" marT="32167" marB="32167" anchor="ctr"/>
                </a:tc>
                <a:extLst>
                  <a:ext uri="{0D108BD9-81ED-4DB2-BD59-A6C34878D82A}">
                    <a16:rowId xmlns:a16="http://schemas.microsoft.com/office/drawing/2014/main" val="3985724544"/>
                  </a:ext>
                </a:extLst>
              </a:tr>
            </a:tbl>
          </a:graphicData>
        </a:graphic>
      </p:graphicFrame>
      <p:sp>
        <p:nvSpPr>
          <p:cNvPr id="5" name="TextBox 4">
            <a:extLst>
              <a:ext uri="{FF2B5EF4-FFF2-40B4-BE49-F238E27FC236}">
                <a16:creationId xmlns:a16="http://schemas.microsoft.com/office/drawing/2014/main" id="{41656CDC-05C1-EE72-CAC1-28D3519F2BF9}"/>
              </a:ext>
            </a:extLst>
          </p:cNvPr>
          <p:cNvSpPr txBox="1"/>
          <p:nvPr/>
        </p:nvSpPr>
        <p:spPr>
          <a:xfrm>
            <a:off x="485774" y="5663726"/>
            <a:ext cx="8612229" cy="369332"/>
          </a:xfrm>
          <a:prstGeom prst="rect">
            <a:avLst/>
          </a:prstGeom>
          <a:noFill/>
        </p:spPr>
        <p:txBody>
          <a:bodyPr wrap="none" rtlCol="0">
            <a:spAutoFit/>
          </a:bodyPr>
          <a:lstStyle/>
          <a:p>
            <a:r>
              <a:rPr lang="en-CA" b="1" i="1" dirty="0"/>
              <a:t>THE ICER IS IMPORTANT, BUT </a:t>
            </a:r>
            <a:r>
              <a:rPr lang="en-CA" b="1" i="1"/>
              <a:t>FEASIBILITY IS AS, IF NOT MORE, IMPORTANT.</a:t>
            </a:r>
            <a:endParaRPr lang="en-CA" b="1" i="1" dirty="0"/>
          </a:p>
        </p:txBody>
      </p:sp>
    </p:spTree>
    <p:extLst>
      <p:ext uri="{BB962C8B-B14F-4D97-AF65-F5344CB8AC3E}">
        <p14:creationId xmlns:p14="http://schemas.microsoft.com/office/powerpoint/2010/main" val="3557392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98D9A-E797-7A69-132B-A2BB788D52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F58F39-A157-313A-8A7B-B0DBD18874A7}"/>
              </a:ext>
            </a:extLst>
          </p:cNvPr>
          <p:cNvSpPr>
            <a:spLocks noGrp="1"/>
          </p:cNvSpPr>
          <p:nvPr>
            <p:ph type="title"/>
          </p:nvPr>
        </p:nvSpPr>
        <p:spPr>
          <a:xfrm>
            <a:off x="482600" y="597408"/>
            <a:ext cx="10634472" cy="1117092"/>
          </a:xfrm>
        </p:spPr>
        <p:txBody>
          <a:bodyPr>
            <a:normAutofit fontScale="90000"/>
          </a:bodyPr>
          <a:lstStyle/>
          <a:p>
            <a:r>
              <a:rPr lang="en-CA" sz="4800" dirty="0"/>
              <a:t>Budget Impact Analysis VS Cost Effectiveness Analysis</a:t>
            </a:r>
          </a:p>
        </p:txBody>
      </p:sp>
      <p:graphicFrame>
        <p:nvGraphicFramePr>
          <p:cNvPr id="4" name="Content Placeholder 3">
            <a:extLst>
              <a:ext uri="{FF2B5EF4-FFF2-40B4-BE49-F238E27FC236}">
                <a16:creationId xmlns:a16="http://schemas.microsoft.com/office/drawing/2014/main" id="{AC2F0EC2-D2EB-C069-4B1B-D4C30253EFBB}"/>
              </a:ext>
            </a:extLst>
          </p:cNvPr>
          <p:cNvGraphicFramePr>
            <a:graphicFrameLocks noGrp="1"/>
          </p:cNvGraphicFramePr>
          <p:nvPr>
            <p:ph idx="1"/>
            <p:extLst>
              <p:ext uri="{D42A27DB-BD31-4B8C-83A1-F6EECF244321}">
                <p14:modId xmlns:p14="http://schemas.microsoft.com/office/powerpoint/2010/main" val="1444302287"/>
              </p:ext>
            </p:extLst>
          </p:nvPr>
        </p:nvGraphicFramePr>
        <p:xfrm>
          <a:off x="1701800" y="1933575"/>
          <a:ext cx="8489949" cy="4257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2967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AFC9B-F6A4-45AE-AA31-4F73AFDAD70C}"/>
              </a:ext>
            </a:extLst>
          </p:cNvPr>
          <p:cNvSpPr>
            <a:spLocks noGrp="1"/>
          </p:cNvSpPr>
          <p:nvPr>
            <p:ph type="title"/>
          </p:nvPr>
        </p:nvSpPr>
        <p:spPr/>
        <p:txBody>
          <a:bodyPr/>
          <a:lstStyle/>
          <a:p>
            <a:r>
              <a:rPr lang="en-CA" dirty="0"/>
              <a:t>Comments about Budget Impact Analysis</a:t>
            </a:r>
          </a:p>
        </p:txBody>
      </p:sp>
      <p:sp>
        <p:nvSpPr>
          <p:cNvPr id="3" name="Content Placeholder 2">
            <a:extLst>
              <a:ext uri="{FF2B5EF4-FFF2-40B4-BE49-F238E27FC236}">
                <a16:creationId xmlns:a16="http://schemas.microsoft.com/office/drawing/2014/main" id="{91E92034-1C38-4D89-81BC-0BC494F1685F}"/>
              </a:ext>
            </a:extLst>
          </p:cNvPr>
          <p:cNvSpPr>
            <a:spLocks noGrp="1"/>
          </p:cNvSpPr>
          <p:nvPr>
            <p:ph idx="1"/>
          </p:nvPr>
        </p:nvSpPr>
        <p:spPr/>
        <p:txBody>
          <a:bodyPr/>
          <a:lstStyle/>
          <a:p>
            <a:r>
              <a:rPr lang="en-CA" dirty="0"/>
              <a:t>Budget impact analysis is for the most part highly stylized, usually implemented in spreadsheets and atheoretical.</a:t>
            </a:r>
          </a:p>
          <a:p>
            <a:r>
              <a:rPr lang="en-CA" dirty="0"/>
              <a:t>The methods used in budget impact analysis will be one informed by considering changes in treatment mixes on a specific target population.</a:t>
            </a:r>
          </a:p>
          <a:p>
            <a:r>
              <a:rPr lang="en-CA" dirty="0"/>
              <a:t>I think its particularly important as this provides a insight on the tools working health economists use regularly.</a:t>
            </a:r>
          </a:p>
          <a:p>
            <a:endParaRPr lang="en-CA" dirty="0"/>
          </a:p>
        </p:txBody>
      </p:sp>
    </p:spTree>
    <p:extLst>
      <p:ext uri="{BB962C8B-B14F-4D97-AF65-F5344CB8AC3E}">
        <p14:creationId xmlns:p14="http://schemas.microsoft.com/office/powerpoint/2010/main" val="1115138509"/>
      </p:ext>
    </p:extLst>
  </p:cSld>
  <p:clrMapOvr>
    <a:masterClrMapping/>
  </p:clrMapOvr>
  <mc:AlternateContent xmlns:mc="http://schemas.openxmlformats.org/markup-compatibility/2006" xmlns:p14="http://schemas.microsoft.com/office/powerpoint/2010/main">
    <mc:Choice Requires="p14">
      <p:transition spd="slow" p14:dur="2000" advTm="37045"/>
    </mc:Choice>
    <mc:Fallback xmlns="">
      <p:transition spd="slow" advTm="3704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EAA49-F4EA-95F5-6B9B-B8499B6120F6}"/>
              </a:ext>
            </a:extLst>
          </p:cNvPr>
          <p:cNvSpPr>
            <a:spLocks noGrp="1"/>
          </p:cNvSpPr>
          <p:nvPr>
            <p:ph type="ctrTitle"/>
          </p:nvPr>
        </p:nvSpPr>
        <p:spPr/>
        <p:txBody>
          <a:bodyPr/>
          <a:lstStyle/>
          <a:p>
            <a:r>
              <a:rPr lang="en-CA" dirty="0"/>
              <a:t>Static Models of Budget Impact Analysis</a:t>
            </a:r>
          </a:p>
        </p:txBody>
      </p:sp>
      <p:sp>
        <p:nvSpPr>
          <p:cNvPr id="3" name="Subtitle 2">
            <a:extLst>
              <a:ext uri="{FF2B5EF4-FFF2-40B4-BE49-F238E27FC236}">
                <a16:creationId xmlns:a16="http://schemas.microsoft.com/office/drawing/2014/main" id="{62540C2F-9565-C1EF-341F-6A3CFC0EE09D}"/>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1961144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1C11A-C064-463B-AC28-C864CA49E30D}"/>
              </a:ext>
            </a:extLst>
          </p:cNvPr>
          <p:cNvSpPr>
            <a:spLocks noGrp="1"/>
          </p:cNvSpPr>
          <p:nvPr>
            <p:ph type="title"/>
          </p:nvPr>
        </p:nvSpPr>
        <p:spPr/>
        <p:txBody>
          <a:bodyPr/>
          <a:lstStyle/>
          <a:p>
            <a:r>
              <a:rPr lang="en-CA" dirty="0"/>
              <a:t>What is Budget Impact Analysis</a:t>
            </a:r>
          </a:p>
        </p:txBody>
      </p:sp>
      <p:sp>
        <p:nvSpPr>
          <p:cNvPr id="3" name="Content Placeholder 2">
            <a:extLst>
              <a:ext uri="{FF2B5EF4-FFF2-40B4-BE49-F238E27FC236}">
                <a16:creationId xmlns:a16="http://schemas.microsoft.com/office/drawing/2014/main" id="{D7D6761B-3C42-44DE-AFAE-8A7BBD9A59A8}"/>
              </a:ext>
            </a:extLst>
          </p:cNvPr>
          <p:cNvSpPr>
            <a:spLocks noGrp="1"/>
          </p:cNvSpPr>
          <p:nvPr>
            <p:ph idx="1"/>
          </p:nvPr>
        </p:nvSpPr>
        <p:spPr>
          <a:xfrm>
            <a:off x="838200" y="1885949"/>
            <a:ext cx="10515600" cy="4007549"/>
          </a:xfrm>
        </p:spPr>
        <p:txBody>
          <a:bodyPr>
            <a:normAutofit/>
          </a:bodyPr>
          <a:lstStyle/>
          <a:p>
            <a:r>
              <a:rPr lang="en-CA" dirty="0"/>
              <a:t>Most policy instruments are not numeric like taxes or interest rate. Rather they are questions of whether governments, insurance policies or other third parties will pay for something.</a:t>
            </a:r>
          </a:p>
          <a:p>
            <a:r>
              <a:rPr lang="en-CA" dirty="0"/>
              <a:t>Budget impact analysis can be thought of as thinking about what would happen if you leant someone your credit card. (how big will the bill be?)</a:t>
            </a:r>
          </a:p>
          <a:p>
            <a:r>
              <a:rPr lang="en-CA" dirty="0"/>
              <a:t>The policy variables in working health economic questions are “what would happen if we decide to add this drug to the list of treatments that we (the government, insurance company or other third party) will pay for”.</a:t>
            </a:r>
          </a:p>
          <a:p>
            <a:r>
              <a:rPr lang="en-CA" dirty="0"/>
              <a:t>We can think of this analogously as how adding a new item to a menu of things that you are willing to pay for.</a:t>
            </a:r>
          </a:p>
          <a:p>
            <a:pPr marL="0" indent="0">
              <a:buNone/>
            </a:pPr>
            <a:endParaRPr lang="en-CA" dirty="0"/>
          </a:p>
        </p:txBody>
      </p:sp>
    </p:spTree>
    <p:extLst>
      <p:ext uri="{BB962C8B-B14F-4D97-AF65-F5344CB8AC3E}">
        <p14:creationId xmlns:p14="http://schemas.microsoft.com/office/powerpoint/2010/main" val="2850381935"/>
      </p:ext>
    </p:extLst>
  </p:cSld>
  <p:clrMapOvr>
    <a:masterClrMapping/>
  </p:clrMapOvr>
  <mc:AlternateContent xmlns:mc="http://schemas.openxmlformats.org/markup-compatibility/2006" xmlns:p14="http://schemas.microsoft.com/office/powerpoint/2010/main">
    <mc:Choice Requires="p14">
      <p:transition spd="slow" p14:dur="2000" advTm="48801"/>
    </mc:Choice>
    <mc:Fallback xmlns="">
      <p:transition spd="slow" advTm="4880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109B7-9652-4630-B248-A77334AD8C3E}"/>
              </a:ext>
            </a:extLst>
          </p:cNvPr>
          <p:cNvSpPr>
            <a:spLocks noGrp="1"/>
          </p:cNvSpPr>
          <p:nvPr>
            <p:ph type="title"/>
          </p:nvPr>
        </p:nvSpPr>
        <p:spPr>
          <a:xfrm>
            <a:off x="580137" y="631945"/>
            <a:ext cx="10515600" cy="929661"/>
          </a:xfrm>
        </p:spPr>
        <p:txBody>
          <a:bodyPr>
            <a:normAutofit fontScale="90000"/>
          </a:bodyPr>
          <a:lstStyle/>
          <a:p>
            <a:r>
              <a:rPr lang="en-CA" dirty="0"/>
              <a:t>A Static Model of Budget Impact Analysis</a:t>
            </a:r>
          </a:p>
        </p:txBody>
      </p:sp>
      <p:sp>
        <p:nvSpPr>
          <p:cNvPr id="3" name="Content Placeholder 2">
            <a:extLst>
              <a:ext uri="{FF2B5EF4-FFF2-40B4-BE49-F238E27FC236}">
                <a16:creationId xmlns:a16="http://schemas.microsoft.com/office/drawing/2014/main" id="{3E57C2BD-51C4-48E7-9A3A-EDF8ACCA6E57}"/>
              </a:ext>
            </a:extLst>
          </p:cNvPr>
          <p:cNvSpPr>
            <a:spLocks noGrp="1"/>
          </p:cNvSpPr>
          <p:nvPr>
            <p:ph idx="1"/>
          </p:nvPr>
        </p:nvSpPr>
        <p:spPr>
          <a:xfrm>
            <a:off x="580137" y="1341458"/>
            <a:ext cx="10515600" cy="4351338"/>
          </a:xfrm>
        </p:spPr>
        <p:txBody>
          <a:bodyPr/>
          <a:lstStyle/>
          <a:p>
            <a:r>
              <a:rPr lang="en-CA" dirty="0"/>
              <a:t>The method below is referred to a the “cost calculator approach”</a:t>
            </a:r>
          </a:p>
          <a:p>
            <a:r>
              <a:rPr lang="en-CA" dirty="0"/>
              <a:t>Define a menu of treatment plans or drugs used to treat the ailment we are interested in and two scenarios</a:t>
            </a:r>
          </a:p>
        </p:txBody>
      </p:sp>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92AB75F5-E44D-4F1C-8CCB-A3185707F13C}"/>
                  </a:ext>
                </a:extLst>
              </p:cNvPr>
              <p:cNvGraphicFramePr>
                <a:graphicFrameLocks noGrp="1"/>
              </p:cNvGraphicFramePr>
              <p:nvPr/>
            </p:nvGraphicFramePr>
            <p:xfrm>
              <a:off x="1415589" y="2822849"/>
              <a:ext cx="4680411" cy="1749298"/>
            </p:xfrm>
            <a:graphic>
              <a:graphicData uri="http://schemas.openxmlformats.org/drawingml/2006/table">
                <a:tbl>
                  <a:tblPr firstRow="1" bandRow="1">
                    <a:tableStyleId>{5C22544A-7EE6-4342-B048-85BDC9FD1C3A}</a:tableStyleId>
                  </a:tblPr>
                  <a:tblGrid>
                    <a:gridCol w="1357440">
                      <a:extLst>
                        <a:ext uri="{9D8B030D-6E8A-4147-A177-3AD203B41FA5}">
                          <a16:colId xmlns:a16="http://schemas.microsoft.com/office/drawing/2014/main" val="3695940873"/>
                        </a:ext>
                      </a:extLst>
                    </a:gridCol>
                    <a:gridCol w="1107657">
                      <a:extLst>
                        <a:ext uri="{9D8B030D-6E8A-4147-A177-3AD203B41FA5}">
                          <a16:colId xmlns:a16="http://schemas.microsoft.com/office/drawing/2014/main" val="4288600891"/>
                        </a:ext>
                      </a:extLst>
                    </a:gridCol>
                    <a:gridCol w="1107657">
                      <a:extLst>
                        <a:ext uri="{9D8B030D-6E8A-4147-A177-3AD203B41FA5}">
                          <a16:colId xmlns:a16="http://schemas.microsoft.com/office/drawing/2014/main" val="3073142018"/>
                        </a:ext>
                      </a:extLst>
                    </a:gridCol>
                    <a:gridCol w="1107657">
                      <a:extLst>
                        <a:ext uri="{9D8B030D-6E8A-4147-A177-3AD203B41FA5}">
                          <a16:colId xmlns:a16="http://schemas.microsoft.com/office/drawing/2014/main" val="926976072"/>
                        </a:ext>
                      </a:extLst>
                    </a:gridCol>
                  </a:tblGrid>
                  <a:tr h="484119">
                    <a:tc>
                      <a:txBody>
                        <a:bodyPr/>
                        <a:lstStyle/>
                        <a:p>
                          <a:r>
                            <a:rPr lang="en-CA" sz="1500" dirty="0"/>
                            <a:t>Treatment List</a:t>
                          </a:r>
                        </a:p>
                      </a:txBody>
                      <a:tcPr/>
                    </a:tc>
                    <a:tc>
                      <a:txBody>
                        <a:bodyPr/>
                        <a:lstStyle/>
                        <a:p>
                          <a:r>
                            <a:rPr lang="en-CA" sz="1500" dirty="0"/>
                            <a:t>Unit Cost</a:t>
                          </a:r>
                        </a:p>
                      </a:txBody>
                      <a:tcPr/>
                    </a:tc>
                    <a:tc>
                      <a:txBody>
                        <a:bodyPr/>
                        <a:lstStyle/>
                        <a:p>
                          <a:r>
                            <a:rPr lang="en-CA" sz="1500" dirty="0"/>
                            <a:t>Number of Patients </a:t>
                          </a:r>
                        </a:p>
                      </a:txBody>
                      <a:tcPr/>
                    </a:tc>
                    <a:tc>
                      <a:txBody>
                        <a:bodyPr/>
                        <a:lstStyle/>
                        <a:p>
                          <a:r>
                            <a:rPr lang="en-CA" sz="1500" dirty="0"/>
                            <a:t>Budget impact</a:t>
                          </a:r>
                        </a:p>
                      </a:txBody>
                      <a:tcPr/>
                    </a:tc>
                    <a:extLst>
                      <a:ext uri="{0D108BD9-81ED-4DB2-BD59-A6C34878D82A}">
                        <a16:rowId xmlns:a16="http://schemas.microsoft.com/office/drawing/2014/main" val="3216555390"/>
                      </a:ext>
                    </a:extLst>
                  </a:tr>
                  <a:tr h="280481">
                    <a:tc>
                      <a:txBody>
                        <a:bodyPr/>
                        <a:lstStyle/>
                        <a:p>
                          <a:r>
                            <a:rPr lang="en-CA" sz="1500" dirty="0"/>
                            <a:t>Drug A</a:t>
                          </a:r>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𝐴</m:t>
                                    </m:r>
                                  </m:sub>
                                </m:sSub>
                              </m:oMath>
                            </m:oMathPara>
                          </a14:m>
                          <a:endParaRPr lang="en-CA" sz="1500" dirty="0"/>
                        </a:p>
                      </a:txBody>
                      <a:tcPr/>
                    </a:tc>
                    <a:tc>
                      <a:txBody>
                        <a:bodyPr/>
                        <a:lstStyle/>
                        <a:p>
                          <a:pPr/>
                          <a14:m>
                            <m:oMathPara xmlns:m="http://schemas.openxmlformats.org/officeDocument/2006/math">
                              <m:oMath>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𝐴</m:t>
                                    </m:r>
                                  </m:sub>
                                  <m:sup>
                                    <m:r>
                                      <a:rPr lang="en-CA" sz="1500" b="0" i="1" smtClean="0">
                                        <a:latin typeface="Cambria Math" panose="02040503050406030204" pitchFamily="18" charset="0"/>
                                      </a:rPr>
                                      <m:t>1</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𝐴</m:t>
                                    </m:r>
                                  </m:sub>
                                </m:sSub>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𝐴</m:t>
                                    </m:r>
                                  </m:sub>
                                  <m:sup>
                                    <m:r>
                                      <a:rPr lang="en-CA" sz="1500" b="0" i="1" smtClean="0">
                                        <a:latin typeface="Cambria Math" panose="02040503050406030204" pitchFamily="18" charset="0"/>
                                      </a:rPr>
                                      <m:t>1</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extLst>
                      <a:ext uri="{0D108BD9-81ED-4DB2-BD59-A6C34878D82A}">
                        <a16:rowId xmlns:a16="http://schemas.microsoft.com/office/drawing/2014/main" val="3800846900"/>
                      </a:ext>
                    </a:extLst>
                  </a:tr>
                  <a:tr h="280481">
                    <a:tc>
                      <a:txBody>
                        <a:bodyPr/>
                        <a:lstStyle/>
                        <a:p>
                          <a:r>
                            <a:rPr lang="en-CA" sz="1500" dirty="0"/>
                            <a:t>Drug B</a:t>
                          </a:r>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𝐵</m:t>
                                    </m:r>
                                  </m:sub>
                                </m:sSub>
                              </m:oMath>
                            </m:oMathPara>
                          </a14:m>
                          <a:endParaRPr lang="en-CA" sz="1500" dirty="0"/>
                        </a:p>
                      </a:txBody>
                      <a:tcPr/>
                    </a:tc>
                    <a:tc>
                      <a:txBody>
                        <a:bodyPr/>
                        <a:lstStyle/>
                        <a:p>
                          <a:pPr/>
                          <a14:m>
                            <m:oMathPara xmlns:m="http://schemas.openxmlformats.org/officeDocument/2006/math">
                              <m:oMath>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𝐵</m:t>
                                    </m:r>
                                  </m:sub>
                                  <m:sup>
                                    <m:r>
                                      <a:rPr lang="en-CA" sz="1500" b="0" i="1" smtClean="0">
                                        <a:latin typeface="Cambria Math" panose="02040503050406030204" pitchFamily="18" charset="0"/>
                                      </a:rPr>
                                      <m:t>1</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𝐵</m:t>
                                    </m:r>
                                  </m:sub>
                                </m:sSub>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𝐵</m:t>
                                    </m:r>
                                  </m:sub>
                                  <m:sup>
                                    <m:r>
                                      <a:rPr lang="en-CA" sz="1500" b="0" i="1" smtClean="0">
                                        <a:latin typeface="Cambria Math" panose="02040503050406030204" pitchFamily="18" charset="0"/>
                                      </a:rPr>
                                      <m:t>1</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extLst>
                      <a:ext uri="{0D108BD9-81ED-4DB2-BD59-A6C34878D82A}">
                        <a16:rowId xmlns:a16="http://schemas.microsoft.com/office/drawing/2014/main" val="2044539997"/>
                      </a:ext>
                    </a:extLst>
                  </a:tr>
                  <a:tr h="280481">
                    <a:tc>
                      <a:txBody>
                        <a:bodyPr/>
                        <a:lstStyle/>
                        <a:p>
                          <a:r>
                            <a:rPr lang="en-CA" sz="1500" dirty="0"/>
                            <a:t>Drug C</a:t>
                          </a:r>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𝐶</m:t>
                                    </m:r>
                                  </m:sub>
                                </m:sSub>
                              </m:oMath>
                            </m:oMathPara>
                          </a14:m>
                          <a:endParaRPr lang="en-CA" sz="1500" dirty="0"/>
                        </a:p>
                      </a:txBody>
                      <a:tcPr/>
                    </a:tc>
                    <a:tc>
                      <a:txBody>
                        <a:bodyPr/>
                        <a:lstStyle/>
                        <a:p>
                          <a:pPr/>
                          <a14:m>
                            <m:oMathPara xmlns:m="http://schemas.openxmlformats.org/officeDocument/2006/math">
                              <m:oMath>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𝐶</m:t>
                                    </m:r>
                                  </m:sub>
                                  <m:sup>
                                    <m:r>
                                      <a:rPr lang="en-CA" sz="1500" b="0" i="1" smtClean="0">
                                        <a:latin typeface="Cambria Math" panose="02040503050406030204" pitchFamily="18" charset="0"/>
                                      </a:rPr>
                                      <m:t>1</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𝐶</m:t>
                                    </m:r>
                                  </m:sub>
                                </m:sSub>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𝐶</m:t>
                                    </m:r>
                                  </m:sub>
                                  <m:sup>
                                    <m:r>
                                      <a:rPr lang="en-CA" sz="1500" b="0" i="1" smtClean="0">
                                        <a:latin typeface="Cambria Math" panose="02040503050406030204" pitchFamily="18" charset="0"/>
                                      </a:rPr>
                                      <m:t>1</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extLst>
                      <a:ext uri="{0D108BD9-81ED-4DB2-BD59-A6C34878D82A}">
                        <a16:rowId xmlns:a16="http://schemas.microsoft.com/office/drawing/2014/main" val="1143162777"/>
                      </a:ext>
                    </a:extLst>
                  </a:tr>
                </a:tbl>
              </a:graphicData>
            </a:graphic>
          </p:graphicFrame>
        </mc:Choice>
        <mc:Fallback xmlns="">
          <p:graphicFrame>
            <p:nvGraphicFramePr>
              <p:cNvPr id="6" name="Table 6">
                <a:extLst>
                  <a:ext uri="{FF2B5EF4-FFF2-40B4-BE49-F238E27FC236}">
                    <a16:creationId xmlns:a16="http://schemas.microsoft.com/office/drawing/2014/main" id="{92AB75F5-E44D-4F1C-8CCB-A3185707F13C}"/>
                  </a:ext>
                </a:extLst>
              </p:cNvPr>
              <p:cNvGraphicFramePr>
                <a:graphicFrameLocks noGrp="1"/>
              </p:cNvGraphicFramePr>
              <p:nvPr>
                <p:extLst>
                  <p:ext uri="{D42A27DB-BD31-4B8C-83A1-F6EECF244321}">
                    <p14:modId xmlns:p14="http://schemas.microsoft.com/office/powerpoint/2010/main" val="2675932061"/>
                  </p:ext>
                </p:extLst>
              </p:nvPr>
            </p:nvGraphicFramePr>
            <p:xfrm>
              <a:off x="1415589" y="2822849"/>
              <a:ext cx="4680411" cy="1520698"/>
            </p:xfrm>
            <a:graphic>
              <a:graphicData uri="http://schemas.openxmlformats.org/drawingml/2006/table">
                <a:tbl>
                  <a:tblPr firstRow="1" bandRow="1">
                    <a:tableStyleId>{5C22544A-7EE6-4342-B048-85BDC9FD1C3A}</a:tableStyleId>
                  </a:tblPr>
                  <a:tblGrid>
                    <a:gridCol w="1357440">
                      <a:extLst>
                        <a:ext uri="{9D8B030D-6E8A-4147-A177-3AD203B41FA5}">
                          <a16:colId xmlns:a16="http://schemas.microsoft.com/office/drawing/2014/main" val="3695940873"/>
                        </a:ext>
                      </a:extLst>
                    </a:gridCol>
                    <a:gridCol w="1107657">
                      <a:extLst>
                        <a:ext uri="{9D8B030D-6E8A-4147-A177-3AD203B41FA5}">
                          <a16:colId xmlns:a16="http://schemas.microsoft.com/office/drawing/2014/main" val="4288600891"/>
                        </a:ext>
                      </a:extLst>
                    </a:gridCol>
                    <a:gridCol w="1107657">
                      <a:extLst>
                        <a:ext uri="{9D8B030D-6E8A-4147-A177-3AD203B41FA5}">
                          <a16:colId xmlns:a16="http://schemas.microsoft.com/office/drawing/2014/main" val="3073142018"/>
                        </a:ext>
                      </a:extLst>
                    </a:gridCol>
                    <a:gridCol w="1107657">
                      <a:extLst>
                        <a:ext uri="{9D8B030D-6E8A-4147-A177-3AD203B41FA5}">
                          <a16:colId xmlns:a16="http://schemas.microsoft.com/office/drawing/2014/main" val="926976072"/>
                        </a:ext>
                      </a:extLst>
                    </a:gridCol>
                  </a:tblGrid>
                  <a:tr h="548640">
                    <a:tc>
                      <a:txBody>
                        <a:bodyPr/>
                        <a:lstStyle/>
                        <a:p>
                          <a:r>
                            <a:rPr lang="en-CA" sz="1500" dirty="0"/>
                            <a:t>Treatment List</a:t>
                          </a:r>
                        </a:p>
                      </a:txBody>
                      <a:tcPr/>
                    </a:tc>
                    <a:tc>
                      <a:txBody>
                        <a:bodyPr/>
                        <a:lstStyle/>
                        <a:p>
                          <a:r>
                            <a:rPr lang="en-CA" sz="1500" dirty="0"/>
                            <a:t>Unit Cost</a:t>
                          </a:r>
                        </a:p>
                      </a:txBody>
                      <a:tcPr/>
                    </a:tc>
                    <a:tc>
                      <a:txBody>
                        <a:bodyPr/>
                        <a:lstStyle/>
                        <a:p>
                          <a:r>
                            <a:rPr lang="en-CA" sz="1500" dirty="0"/>
                            <a:t>Number of Patients </a:t>
                          </a:r>
                        </a:p>
                      </a:txBody>
                      <a:tcPr/>
                    </a:tc>
                    <a:tc>
                      <a:txBody>
                        <a:bodyPr/>
                        <a:lstStyle/>
                        <a:p>
                          <a:r>
                            <a:rPr lang="en-CA" sz="1500" dirty="0"/>
                            <a:t>Budget impact</a:t>
                          </a:r>
                        </a:p>
                      </a:txBody>
                      <a:tcPr/>
                    </a:tc>
                    <a:extLst>
                      <a:ext uri="{0D108BD9-81ED-4DB2-BD59-A6C34878D82A}">
                        <a16:rowId xmlns:a16="http://schemas.microsoft.com/office/drawing/2014/main" val="3216555390"/>
                      </a:ext>
                    </a:extLst>
                  </a:tr>
                  <a:tr h="323850">
                    <a:tc>
                      <a:txBody>
                        <a:bodyPr/>
                        <a:lstStyle/>
                        <a:p>
                          <a:r>
                            <a:rPr lang="en-CA" sz="1500" dirty="0"/>
                            <a:t>Drug A</a:t>
                          </a:r>
                        </a:p>
                      </a:txBody>
                      <a:tcPr/>
                    </a:tc>
                    <a:tc>
                      <a:txBody>
                        <a:bodyPr/>
                        <a:lstStyle/>
                        <a:p>
                          <a:endParaRPr lang="en-US"/>
                        </a:p>
                      </a:txBody>
                      <a:tcPr>
                        <a:blipFill>
                          <a:blip r:embed="rId4"/>
                          <a:stretch>
                            <a:fillRect l="-123757" t="-173585" r="-203867" b="-220755"/>
                          </a:stretch>
                        </a:blipFill>
                      </a:tcPr>
                    </a:tc>
                    <a:tc>
                      <a:txBody>
                        <a:bodyPr/>
                        <a:lstStyle/>
                        <a:p>
                          <a:endParaRPr lang="en-US"/>
                        </a:p>
                      </a:txBody>
                      <a:tcPr>
                        <a:blipFill>
                          <a:blip r:embed="rId4"/>
                          <a:stretch>
                            <a:fillRect l="-222527" t="-173585" r="-102747" b="-220755"/>
                          </a:stretch>
                        </a:blipFill>
                      </a:tcPr>
                    </a:tc>
                    <a:tc>
                      <a:txBody>
                        <a:bodyPr/>
                        <a:lstStyle/>
                        <a:p>
                          <a:endParaRPr lang="en-US"/>
                        </a:p>
                      </a:txBody>
                      <a:tcPr>
                        <a:blipFill>
                          <a:blip r:embed="rId4"/>
                          <a:stretch>
                            <a:fillRect l="-322527" t="-173585" r="-2747" b="-220755"/>
                          </a:stretch>
                        </a:blipFill>
                      </a:tcPr>
                    </a:tc>
                    <a:extLst>
                      <a:ext uri="{0D108BD9-81ED-4DB2-BD59-A6C34878D82A}">
                        <a16:rowId xmlns:a16="http://schemas.microsoft.com/office/drawing/2014/main" val="3800846900"/>
                      </a:ext>
                    </a:extLst>
                  </a:tr>
                  <a:tr h="322707">
                    <a:tc>
                      <a:txBody>
                        <a:bodyPr/>
                        <a:lstStyle/>
                        <a:p>
                          <a:r>
                            <a:rPr lang="en-CA" sz="1500" dirty="0"/>
                            <a:t>Drug B</a:t>
                          </a:r>
                        </a:p>
                      </a:txBody>
                      <a:tcPr/>
                    </a:tc>
                    <a:tc>
                      <a:txBody>
                        <a:bodyPr/>
                        <a:lstStyle/>
                        <a:p>
                          <a:endParaRPr lang="en-US"/>
                        </a:p>
                      </a:txBody>
                      <a:tcPr>
                        <a:blipFill>
                          <a:blip r:embed="rId4"/>
                          <a:stretch>
                            <a:fillRect l="-123757" t="-273585" r="-203867" b="-120755"/>
                          </a:stretch>
                        </a:blipFill>
                      </a:tcPr>
                    </a:tc>
                    <a:tc>
                      <a:txBody>
                        <a:bodyPr/>
                        <a:lstStyle/>
                        <a:p>
                          <a:endParaRPr lang="en-US"/>
                        </a:p>
                      </a:txBody>
                      <a:tcPr>
                        <a:blipFill>
                          <a:blip r:embed="rId4"/>
                          <a:stretch>
                            <a:fillRect l="-222527" t="-273585" r="-102747" b="-120755"/>
                          </a:stretch>
                        </a:blipFill>
                      </a:tcPr>
                    </a:tc>
                    <a:tc>
                      <a:txBody>
                        <a:bodyPr/>
                        <a:lstStyle/>
                        <a:p>
                          <a:endParaRPr lang="en-US"/>
                        </a:p>
                      </a:txBody>
                      <a:tcPr>
                        <a:blipFill>
                          <a:blip r:embed="rId4"/>
                          <a:stretch>
                            <a:fillRect l="-322527" t="-273585" r="-2747" b="-120755"/>
                          </a:stretch>
                        </a:blipFill>
                      </a:tcPr>
                    </a:tc>
                    <a:extLst>
                      <a:ext uri="{0D108BD9-81ED-4DB2-BD59-A6C34878D82A}">
                        <a16:rowId xmlns:a16="http://schemas.microsoft.com/office/drawing/2014/main" val="2044539997"/>
                      </a:ext>
                    </a:extLst>
                  </a:tr>
                  <a:tr h="325501">
                    <a:tc>
                      <a:txBody>
                        <a:bodyPr/>
                        <a:lstStyle/>
                        <a:p>
                          <a:r>
                            <a:rPr lang="en-CA" sz="1500" dirty="0"/>
                            <a:t>Drug C</a:t>
                          </a:r>
                        </a:p>
                      </a:txBody>
                      <a:tcPr/>
                    </a:tc>
                    <a:tc>
                      <a:txBody>
                        <a:bodyPr/>
                        <a:lstStyle/>
                        <a:p>
                          <a:endParaRPr lang="en-US"/>
                        </a:p>
                      </a:txBody>
                      <a:tcPr>
                        <a:blipFill>
                          <a:blip r:embed="rId4"/>
                          <a:stretch>
                            <a:fillRect l="-123757" t="-366667" r="-203867" b="-18519"/>
                          </a:stretch>
                        </a:blipFill>
                      </a:tcPr>
                    </a:tc>
                    <a:tc>
                      <a:txBody>
                        <a:bodyPr/>
                        <a:lstStyle/>
                        <a:p>
                          <a:endParaRPr lang="en-US"/>
                        </a:p>
                      </a:txBody>
                      <a:tcPr>
                        <a:blipFill>
                          <a:blip r:embed="rId4"/>
                          <a:stretch>
                            <a:fillRect l="-222527" t="-366667" r="-102747" b="-18519"/>
                          </a:stretch>
                        </a:blipFill>
                      </a:tcPr>
                    </a:tc>
                    <a:tc>
                      <a:txBody>
                        <a:bodyPr/>
                        <a:lstStyle/>
                        <a:p>
                          <a:endParaRPr lang="en-US"/>
                        </a:p>
                      </a:txBody>
                      <a:tcPr>
                        <a:blipFill>
                          <a:blip r:embed="rId4"/>
                          <a:stretch>
                            <a:fillRect l="-322527" t="-366667" r="-2747" b="-18519"/>
                          </a:stretch>
                        </a:blipFill>
                      </a:tcPr>
                    </a:tc>
                    <a:extLst>
                      <a:ext uri="{0D108BD9-81ED-4DB2-BD59-A6C34878D82A}">
                        <a16:rowId xmlns:a16="http://schemas.microsoft.com/office/drawing/2014/main" val="114316277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6">
                <a:extLst>
                  <a:ext uri="{FF2B5EF4-FFF2-40B4-BE49-F238E27FC236}">
                    <a16:creationId xmlns:a16="http://schemas.microsoft.com/office/drawing/2014/main" id="{59D9A401-DAAE-4786-A463-078D144A401B}"/>
                  </a:ext>
                </a:extLst>
              </p:cNvPr>
              <p:cNvGraphicFramePr>
                <a:graphicFrameLocks noGrp="1"/>
              </p:cNvGraphicFramePr>
              <p:nvPr/>
            </p:nvGraphicFramePr>
            <p:xfrm>
              <a:off x="1347873" y="4755431"/>
              <a:ext cx="4680411" cy="1750822"/>
            </p:xfrm>
            <a:graphic>
              <a:graphicData uri="http://schemas.openxmlformats.org/drawingml/2006/table">
                <a:tbl>
                  <a:tblPr firstRow="1" bandRow="1">
                    <a:tableStyleId>{5C22544A-7EE6-4342-B048-85BDC9FD1C3A}</a:tableStyleId>
                  </a:tblPr>
                  <a:tblGrid>
                    <a:gridCol w="1357440">
                      <a:extLst>
                        <a:ext uri="{9D8B030D-6E8A-4147-A177-3AD203B41FA5}">
                          <a16:colId xmlns:a16="http://schemas.microsoft.com/office/drawing/2014/main" val="3695940873"/>
                        </a:ext>
                      </a:extLst>
                    </a:gridCol>
                    <a:gridCol w="1107657">
                      <a:extLst>
                        <a:ext uri="{9D8B030D-6E8A-4147-A177-3AD203B41FA5}">
                          <a16:colId xmlns:a16="http://schemas.microsoft.com/office/drawing/2014/main" val="4288600891"/>
                        </a:ext>
                      </a:extLst>
                    </a:gridCol>
                    <a:gridCol w="1107657">
                      <a:extLst>
                        <a:ext uri="{9D8B030D-6E8A-4147-A177-3AD203B41FA5}">
                          <a16:colId xmlns:a16="http://schemas.microsoft.com/office/drawing/2014/main" val="3073142018"/>
                        </a:ext>
                      </a:extLst>
                    </a:gridCol>
                    <a:gridCol w="1107657">
                      <a:extLst>
                        <a:ext uri="{9D8B030D-6E8A-4147-A177-3AD203B41FA5}">
                          <a16:colId xmlns:a16="http://schemas.microsoft.com/office/drawing/2014/main" val="926976072"/>
                        </a:ext>
                      </a:extLst>
                    </a:gridCol>
                  </a:tblGrid>
                  <a:tr h="484119">
                    <a:tc>
                      <a:txBody>
                        <a:bodyPr/>
                        <a:lstStyle/>
                        <a:p>
                          <a:r>
                            <a:rPr lang="en-CA" sz="1500" dirty="0"/>
                            <a:t>Treatment List</a:t>
                          </a:r>
                        </a:p>
                      </a:txBody>
                      <a:tcPr>
                        <a:solidFill>
                          <a:srgbClr val="C00000"/>
                        </a:solidFill>
                      </a:tcPr>
                    </a:tc>
                    <a:tc>
                      <a:txBody>
                        <a:bodyPr/>
                        <a:lstStyle/>
                        <a:p>
                          <a:r>
                            <a:rPr lang="en-CA" sz="1500" dirty="0"/>
                            <a:t>Unit Cost</a:t>
                          </a:r>
                        </a:p>
                      </a:txBody>
                      <a:tcPr>
                        <a:solidFill>
                          <a:srgbClr val="C00000"/>
                        </a:solidFill>
                      </a:tcPr>
                    </a:tc>
                    <a:tc>
                      <a:txBody>
                        <a:bodyPr/>
                        <a:lstStyle/>
                        <a:p>
                          <a:r>
                            <a:rPr lang="en-CA" sz="1500" dirty="0"/>
                            <a:t>Number of Patients </a:t>
                          </a:r>
                        </a:p>
                      </a:txBody>
                      <a:tcPr>
                        <a:solidFill>
                          <a:srgbClr val="C00000"/>
                        </a:solidFill>
                      </a:tcPr>
                    </a:tc>
                    <a:tc>
                      <a:txBody>
                        <a:bodyPr/>
                        <a:lstStyle/>
                        <a:p>
                          <a:r>
                            <a:rPr lang="en-CA" sz="1500" dirty="0"/>
                            <a:t>Budget impact</a:t>
                          </a:r>
                        </a:p>
                      </a:txBody>
                      <a:tcPr>
                        <a:solidFill>
                          <a:srgbClr val="C00000"/>
                        </a:solidFill>
                      </a:tcPr>
                    </a:tc>
                    <a:extLst>
                      <a:ext uri="{0D108BD9-81ED-4DB2-BD59-A6C34878D82A}">
                        <a16:rowId xmlns:a16="http://schemas.microsoft.com/office/drawing/2014/main" val="3216555390"/>
                      </a:ext>
                    </a:extLst>
                  </a:tr>
                  <a:tr h="280481">
                    <a:tc>
                      <a:txBody>
                        <a:bodyPr/>
                        <a:lstStyle/>
                        <a:p>
                          <a:r>
                            <a:rPr lang="en-CA" sz="1500" dirty="0"/>
                            <a:t>Drug A</a:t>
                          </a:r>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𝐴</m:t>
                                    </m:r>
                                  </m:sub>
                                </m:sSub>
                              </m:oMath>
                            </m:oMathPara>
                          </a14:m>
                          <a:endParaRPr lang="en-CA" sz="1500" dirty="0"/>
                        </a:p>
                      </a:txBody>
                      <a:tcPr/>
                    </a:tc>
                    <a:tc>
                      <a:txBody>
                        <a:bodyPr/>
                        <a:lstStyle/>
                        <a:p>
                          <a:pPr/>
                          <a14:m>
                            <m:oMathPara xmlns:m="http://schemas.openxmlformats.org/officeDocument/2006/math">
                              <m:oMath>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𝐴</m:t>
                                    </m:r>
                                  </m:sub>
                                  <m:sup>
                                    <m:r>
                                      <a:rPr lang="en-CA" sz="1500" b="0" i="1" smtClean="0">
                                        <a:latin typeface="Cambria Math" panose="02040503050406030204" pitchFamily="18" charset="0"/>
                                      </a:rPr>
                                      <m:t>2</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𝐴</m:t>
                                    </m:r>
                                  </m:sub>
                                </m:sSub>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𝐴</m:t>
                                    </m:r>
                                  </m:sub>
                                  <m:sup>
                                    <m:r>
                                      <a:rPr lang="en-CA" sz="1500" b="0" i="1" smtClean="0">
                                        <a:latin typeface="Cambria Math" panose="02040503050406030204" pitchFamily="18" charset="0"/>
                                      </a:rPr>
                                      <m:t>2</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extLst>
                      <a:ext uri="{0D108BD9-81ED-4DB2-BD59-A6C34878D82A}">
                        <a16:rowId xmlns:a16="http://schemas.microsoft.com/office/drawing/2014/main" val="3800846900"/>
                      </a:ext>
                    </a:extLst>
                  </a:tr>
                  <a:tr h="280481">
                    <a:tc>
                      <a:txBody>
                        <a:bodyPr/>
                        <a:lstStyle/>
                        <a:p>
                          <a:r>
                            <a:rPr lang="en-CA" sz="1500" dirty="0"/>
                            <a:t>Drug B</a:t>
                          </a:r>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𝐵</m:t>
                                    </m:r>
                                  </m:sub>
                                </m:sSub>
                              </m:oMath>
                            </m:oMathPara>
                          </a14:m>
                          <a:endParaRPr lang="en-CA" sz="1500" dirty="0"/>
                        </a:p>
                      </a:txBody>
                      <a:tcPr/>
                    </a:tc>
                    <a:tc>
                      <a:txBody>
                        <a:bodyPr/>
                        <a:lstStyle/>
                        <a:p>
                          <a:pPr/>
                          <a14:m>
                            <m:oMathPara xmlns:m="http://schemas.openxmlformats.org/officeDocument/2006/math">
                              <m:oMath>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𝐵</m:t>
                                    </m:r>
                                  </m:sub>
                                  <m:sup>
                                    <m:r>
                                      <a:rPr lang="en-CA" sz="1500" b="0" i="1" smtClean="0">
                                        <a:latin typeface="Cambria Math" panose="02040503050406030204" pitchFamily="18" charset="0"/>
                                      </a:rPr>
                                      <m:t>2</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𝐵</m:t>
                                    </m:r>
                                  </m:sub>
                                </m:sSub>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𝐵</m:t>
                                    </m:r>
                                  </m:sub>
                                  <m:sup>
                                    <m:r>
                                      <a:rPr lang="en-CA" sz="1500" b="0" i="1" smtClean="0">
                                        <a:latin typeface="Cambria Math" panose="02040503050406030204" pitchFamily="18" charset="0"/>
                                      </a:rPr>
                                      <m:t>2</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extLst>
                      <a:ext uri="{0D108BD9-81ED-4DB2-BD59-A6C34878D82A}">
                        <a16:rowId xmlns:a16="http://schemas.microsoft.com/office/drawing/2014/main" val="2044539997"/>
                      </a:ext>
                    </a:extLst>
                  </a:tr>
                  <a:tr h="280481">
                    <a:tc>
                      <a:txBody>
                        <a:bodyPr/>
                        <a:lstStyle/>
                        <a:p>
                          <a:r>
                            <a:rPr lang="en-CA" sz="1500" dirty="0"/>
                            <a:t>Drug C</a:t>
                          </a:r>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𝐶</m:t>
                                    </m:r>
                                  </m:sub>
                                </m:sSub>
                              </m:oMath>
                            </m:oMathPara>
                          </a14:m>
                          <a:endParaRPr lang="en-CA" sz="1500" dirty="0"/>
                        </a:p>
                      </a:txBody>
                      <a:tcPr/>
                    </a:tc>
                    <a:tc>
                      <a:txBody>
                        <a:bodyPr/>
                        <a:lstStyle/>
                        <a:p>
                          <a:pPr/>
                          <a14:m>
                            <m:oMathPara xmlns:m="http://schemas.openxmlformats.org/officeDocument/2006/math">
                              <m:oMath>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𝐶</m:t>
                                    </m:r>
                                  </m:sub>
                                  <m:sup>
                                    <m:r>
                                      <a:rPr lang="en-CA" sz="1500" b="0" i="1" smtClean="0">
                                        <a:latin typeface="Cambria Math" panose="02040503050406030204" pitchFamily="18" charset="0"/>
                                      </a:rPr>
                                      <m:t>2</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𝐶</m:t>
                                    </m:r>
                                  </m:sub>
                                </m:sSub>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𝐶</m:t>
                                    </m:r>
                                  </m:sub>
                                  <m:sup>
                                    <m:r>
                                      <a:rPr lang="en-CA" sz="1500" b="0" i="1" smtClean="0">
                                        <a:latin typeface="Cambria Math" panose="02040503050406030204" pitchFamily="18" charset="0"/>
                                      </a:rPr>
                                      <m:t>2</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extLst>
                      <a:ext uri="{0D108BD9-81ED-4DB2-BD59-A6C34878D82A}">
                        <a16:rowId xmlns:a16="http://schemas.microsoft.com/office/drawing/2014/main" val="1143162777"/>
                      </a:ext>
                    </a:extLst>
                  </a:tr>
                </a:tbl>
              </a:graphicData>
            </a:graphic>
          </p:graphicFrame>
        </mc:Choice>
        <mc:Fallback xmlns="">
          <p:graphicFrame>
            <p:nvGraphicFramePr>
              <p:cNvPr id="8" name="Table 6">
                <a:extLst>
                  <a:ext uri="{FF2B5EF4-FFF2-40B4-BE49-F238E27FC236}">
                    <a16:creationId xmlns:a16="http://schemas.microsoft.com/office/drawing/2014/main" id="{59D9A401-DAAE-4786-A463-078D144A401B}"/>
                  </a:ext>
                </a:extLst>
              </p:cNvPr>
              <p:cNvGraphicFramePr>
                <a:graphicFrameLocks noGrp="1"/>
              </p:cNvGraphicFramePr>
              <p:nvPr>
                <p:extLst>
                  <p:ext uri="{D42A27DB-BD31-4B8C-83A1-F6EECF244321}">
                    <p14:modId xmlns:p14="http://schemas.microsoft.com/office/powerpoint/2010/main" val="1368388924"/>
                  </p:ext>
                </p:extLst>
              </p:nvPr>
            </p:nvGraphicFramePr>
            <p:xfrm>
              <a:off x="1347873" y="4755431"/>
              <a:ext cx="4680411" cy="1522222"/>
            </p:xfrm>
            <a:graphic>
              <a:graphicData uri="http://schemas.openxmlformats.org/drawingml/2006/table">
                <a:tbl>
                  <a:tblPr firstRow="1" bandRow="1">
                    <a:tableStyleId>{5C22544A-7EE6-4342-B048-85BDC9FD1C3A}</a:tableStyleId>
                  </a:tblPr>
                  <a:tblGrid>
                    <a:gridCol w="1357440">
                      <a:extLst>
                        <a:ext uri="{9D8B030D-6E8A-4147-A177-3AD203B41FA5}">
                          <a16:colId xmlns:a16="http://schemas.microsoft.com/office/drawing/2014/main" val="3695940873"/>
                        </a:ext>
                      </a:extLst>
                    </a:gridCol>
                    <a:gridCol w="1107657">
                      <a:extLst>
                        <a:ext uri="{9D8B030D-6E8A-4147-A177-3AD203B41FA5}">
                          <a16:colId xmlns:a16="http://schemas.microsoft.com/office/drawing/2014/main" val="4288600891"/>
                        </a:ext>
                      </a:extLst>
                    </a:gridCol>
                    <a:gridCol w="1107657">
                      <a:extLst>
                        <a:ext uri="{9D8B030D-6E8A-4147-A177-3AD203B41FA5}">
                          <a16:colId xmlns:a16="http://schemas.microsoft.com/office/drawing/2014/main" val="3073142018"/>
                        </a:ext>
                      </a:extLst>
                    </a:gridCol>
                    <a:gridCol w="1107657">
                      <a:extLst>
                        <a:ext uri="{9D8B030D-6E8A-4147-A177-3AD203B41FA5}">
                          <a16:colId xmlns:a16="http://schemas.microsoft.com/office/drawing/2014/main" val="926976072"/>
                        </a:ext>
                      </a:extLst>
                    </a:gridCol>
                  </a:tblGrid>
                  <a:tr h="548640">
                    <a:tc>
                      <a:txBody>
                        <a:bodyPr/>
                        <a:lstStyle/>
                        <a:p>
                          <a:r>
                            <a:rPr lang="en-CA" sz="1500" dirty="0"/>
                            <a:t>Treatment List</a:t>
                          </a:r>
                        </a:p>
                      </a:txBody>
                      <a:tcPr>
                        <a:solidFill>
                          <a:srgbClr val="C00000"/>
                        </a:solidFill>
                      </a:tcPr>
                    </a:tc>
                    <a:tc>
                      <a:txBody>
                        <a:bodyPr/>
                        <a:lstStyle/>
                        <a:p>
                          <a:r>
                            <a:rPr lang="en-CA" sz="1500" dirty="0"/>
                            <a:t>Unit Cost</a:t>
                          </a:r>
                        </a:p>
                      </a:txBody>
                      <a:tcPr>
                        <a:solidFill>
                          <a:srgbClr val="C00000"/>
                        </a:solidFill>
                      </a:tcPr>
                    </a:tc>
                    <a:tc>
                      <a:txBody>
                        <a:bodyPr/>
                        <a:lstStyle/>
                        <a:p>
                          <a:r>
                            <a:rPr lang="en-CA" sz="1500" dirty="0"/>
                            <a:t>Number of Patients </a:t>
                          </a:r>
                        </a:p>
                      </a:txBody>
                      <a:tcPr>
                        <a:solidFill>
                          <a:srgbClr val="C00000"/>
                        </a:solidFill>
                      </a:tcPr>
                    </a:tc>
                    <a:tc>
                      <a:txBody>
                        <a:bodyPr/>
                        <a:lstStyle/>
                        <a:p>
                          <a:r>
                            <a:rPr lang="en-CA" sz="1500" dirty="0"/>
                            <a:t>Budget impact</a:t>
                          </a:r>
                        </a:p>
                      </a:txBody>
                      <a:tcPr>
                        <a:solidFill>
                          <a:srgbClr val="C00000"/>
                        </a:solidFill>
                      </a:tcPr>
                    </a:tc>
                    <a:extLst>
                      <a:ext uri="{0D108BD9-81ED-4DB2-BD59-A6C34878D82A}">
                        <a16:rowId xmlns:a16="http://schemas.microsoft.com/office/drawing/2014/main" val="3216555390"/>
                      </a:ext>
                    </a:extLst>
                  </a:tr>
                  <a:tr h="324358">
                    <a:tc>
                      <a:txBody>
                        <a:bodyPr/>
                        <a:lstStyle/>
                        <a:p>
                          <a:r>
                            <a:rPr lang="en-CA" sz="1500" dirty="0"/>
                            <a:t>Drug A</a:t>
                          </a:r>
                        </a:p>
                      </a:txBody>
                      <a:tcPr/>
                    </a:tc>
                    <a:tc>
                      <a:txBody>
                        <a:bodyPr/>
                        <a:lstStyle/>
                        <a:p>
                          <a:endParaRPr lang="en-US"/>
                        </a:p>
                      </a:txBody>
                      <a:tcPr>
                        <a:blipFill>
                          <a:blip r:embed="rId5"/>
                          <a:stretch>
                            <a:fillRect l="-123757" t="-173585" r="-203867" b="-220755"/>
                          </a:stretch>
                        </a:blipFill>
                      </a:tcPr>
                    </a:tc>
                    <a:tc>
                      <a:txBody>
                        <a:bodyPr/>
                        <a:lstStyle/>
                        <a:p>
                          <a:endParaRPr lang="en-US"/>
                        </a:p>
                      </a:txBody>
                      <a:tcPr>
                        <a:blipFill>
                          <a:blip r:embed="rId5"/>
                          <a:stretch>
                            <a:fillRect l="-222527" t="-173585" r="-102747" b="-220755"/>
                          </a:stretch>
                        </a:blipFill>
                      </a:tcPr>
                    </a:tc>
                    <a:tc>
                      <a:txBody>
                        <a:bodyPr/>
                        <a:lstStyle/>
                        <a:p>
                          <a:endParaRPr lang="en-US"/>
                        </a:p>
                      </a:txBody>
                      <a:tcPr>
                        <a:blipFill>
                          <a:blip r:embed="rId5"/>
                          <a:stretch>
                            <a:fillRect l="-322527" t="-173585" r="-2747" b="-220755"/>
                          </a:stretch>
                        </a:blipFill>
                      </a:tcPr>
                    </a:tc>
                    <a:extLst>
                      <a:ext uri="{0D108BD9-81ED-4DB2-BD59-A6C34878D82A}">
                        <a16:rowId xmlns:a16="http://schemas.microsoft.com/office/drawing/2014/main" val="3800846900"/>
                      </a:ext>
                    </a:extLst>
                  </a:tr>
                  <a:tr h="323215">
                    <a:tc>
                      <a:txBody>
                        <a:bodyPr/>
                        <a:lstStyle/>
                        <a:p>
                          <a:r>
                            <a:rPr lang="en-CA" sz="1500" dirty="0"/>
                            <a:t>Drug B</a:t>
                          </a:r>
                        </a:p>
                      </a:txBody>
                      <a:tcPr/>
                    </a:tc>
                    <a:tc>
                      <a:txBody>
                        <a:bodyPr/>
                        <a:lstStyle/>
                        <a:p>
                          <a:endParaRPr lang="en-US"/>
                        </a:p>
                      </a:txBody>
                      <a:tcPr>
                        <a:blipFill>
                          <a:blip r:embed="rId5"/>
                          <a:stretch>
                            <a:fillRect l="-123757" t="-273585" r="-203867" b="-120755"/>
                          </a:stretch>
                        </a:blipFill>
                      </a:tcPr>
                    </a:tc>
                    <a:tc>
                      <a:txBody>
                        <a:bodyPr/>
                        <a:lstStyle/>
                        <a:p>
                          <a:endParaRPr lang="en-US"/>
                        </a:p>
                      </a:txBody>
                      <a:tcPr>
                        <a:blipFill>
                          <a:blip r:embed="rId5"/>
                          <a:stretch>
                            <a:fillRect l="-222527" t="-273585" r="-102747" b="-120755"/>
                          </a:stretch>
                        </a:blipFill>
                      </a:tcPr>
                    </a:tc>
                    <a:tc>
                      <a:txBody>
                        <a:bodyPr/>
                        <a:lstStyle/>
                        <a:p>
                          <a:endParaRPr lang="en-US"/>
                        </a:p>
                      </a:txBody>
                      <a:tcPr>
                        <a:blipFill>
                          <a:blip r:embed="rId5"/>
                          <a:stretch>
                            <a:fillRect l="-322527" t="-273585" r="-2747" b="-120755"/>
                          </a:stretch>
                        </a:blipFill>
                      </a:tcPr>
                    </a:tc>
                    <a:extLst>
                      <a:ext uri="{0D108BD9-81ED-4DB2-BD59-A6C34878D82A}">
                        <a16:rowId xmlns:a16="http://schemas.microsoft.com/office/drawing/2014/main" val="2044539997"/>
                      </a:ext>
                    </a:extLst>
                  </a:tr>
                  <a:tr h="326009">
                    <a:tc>
                      <a:txBody>
                        <a:bodyPr/>
                        <a:lstStyle/>
                        <a:p>
                          <a:r>
                            <a:rPr lang="en-CA" sz="1500" dirty="0"/>
                            <a:t>Drug C</a:t>
                          </a:r>
                        </a:p>
                      </a:txBody>
                      <a:tcPr/>
                    </a:tc>
                    <a:tc>
                      <a:txBody>
                        <a:bodyPr/>
                        <a:lstStyle/>
                        <a:p>
                          <a:endParaRPr lang="en-US"/>
                        </a:p>
                      </a:txBody>
                      <a:tcPr>
                        <a:blipFill>
                          <a:blip r:embed="rId5"/>
                          <a:stretch>
                            <a:fillRect l="-123757" t="-366667" r="-203867" b="-18519"/>
                          </a:stretch>
                        </a:blipFill>
                      </a:tcPr>
                    </a:tc>
                    <a:tc>
                      <a:txBody>
                        <a:bodyPr/>
                        <a:lstStyle/>
                        <a:p>
                          <a:endParaRPr lang="en-US"/>
                        </a:p>
                      </a:txBody>
                      <a:tcPr>
                        <a:blipFill>
                          <a:blip r:embed="rId5"/>
                          <a:stretch>
                            <a:fillRect l="-222527" t="-366667" r="-102747" b="-18519"/>
                          </a:stretch>
                        </a:blipFill>
                      </a:tcPr>
                    </a:tc>
                    <a:tc>
                      <a:txBody>
                        <a:bodyPr/>
                        <a:lstStyle/>
                        <a:p>
                          <a:endParaRPr lang="en-US"/>
                        </a:p>
                      </a:txBody>
                      <a:tcPr>
                        <a:blipFill>
                          <a:blip r:embed="rId5"/>
                          <a:stretch>
                            <a:fillRect l="-322527" t="-366667" r="-2747" b="-18519"/>
                          </a:stretch>
                        </a:blipFill>
                      </a:tcPr>
                    </a:tc>
                    <a:extLst>
                      <a:ext uri="{0D108BD9-81ED-4DB2-BD59-A6C34878D82A}">
                        <a16:rowId xmlns:a16="http://schemas.microsoft.com/office/drawing/2014/main" val="1143162777"/>
                      </a:ext>
                    </a:extLst>
                  </a:tr>
                </a:tbl>
              </a:graphicData>
            </a:graphic>
          </p:graphicFrame>
        </mc:Fallback>
      </mc:AlternateContent>
      <p:sp>
        <p:nvSpPr>
          <p:cNvPr id="10" name="TextBox 9">
            <a:extLst>
              <a:ext uri="{FF2B5EF4-FFF2-40B4-BE49-F238E27FC236}">
                <a16:creationId xmlns:a16="http://schemas.microsoft.com/office/drawing/2014/main" id="{EEF6A0D1-4C84-4DC3-A198-10360B882464}"/>
              </a:ext>
            </a:extLst>
          </p:cNvPr>
          <p:cNvSpPr txBox="1"/>
          <p:nvPr/>
        </p:nvSpPr>
        <p:spPr>
          <a:xfrm>
            <a:off x="170948" y="3447288"/>
            <a:ext cx="1176925" cy="369332"/>
          </a:xfrm>
          <a:prstGeom prst="rect">
            <a:avLst/>
          </a:prstGeom>
          <a:noFill/>
        </p:spPr>
        <p:txBody>
          <a:bodyPr wrap="none" rtlCol="0">
            <a:spAutoFit/>
          </a:bodyPr>
          <a:lstStyle/>
          <a:p>
            <a:r>
              <a:rPr lang="en-CA" dirty="0"/>
              <a:t>Scenario A</a:t>
            </a:r>
          </a:p>
        </p:txBody>
      </p:sp>
      <p:sp>
        <p:nvSpPr>
          <p:cNvPr id="11" name="TextBox 10">
            <a:extLst>
              <a:ext uri="{FF2B5EF4-FFF2-40B4-BE49-F238E27FC236}">
                <a16:creationId xmlns:a16="http://schemas.microsoft.com/office/drawing/2014/main" id="{013FDDD3-767C-4C82-BEDB-E086A90422C9}"/>
              </a:ext>
            </a:extLst>
          </p:cNvPr>
          <p:cNvSpPr txBox="1"/>
          <p:nvPr/>
        </p:nvSpPr>
        <p:spPr>
          <a:xfrm>
            <a:off x="124211" y="5409445"/>
            <a:ext cx="1176925" cy="369332"/>
          </a:xfrm>
          <a:prstGeom prst="rect">
            <a:avLst/>
          </a:prstGeom>
          <a:noFill/>
        </p:spPr>
        <p:txBody>
          <a:bodyPr wrap="none" rtlCol="0">
            <a:spAutoFit/>
          </a:bodyPr>
          <a:lstStyle/>
          <a:p>
            <a:r>
              <a:rPr lang="en-CA" dirty="0"/>
              <a:t>Scenario B</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1C56126-0B05-4F1E-BFA0-9DD7DD32D7F5}"/>
                  </a:ext>
                </a:extLst>
              </p:cNvPr>
              <p:cNvSpPr txBox="1"/>
              <p:nvPr/>
            </p:nvSpPr>
            <p:spPr>
              <a:xfrm>
                <a:off x="7606687" y="3235036"/>
                <a:ext cx="1978362" cy="387927"/>
              </a:xfrm>
              <a:prstGeom prst="rect">
                <a:avLst/>
              </a:prstGeom>
              <a:noFill/>
            </p:spPr>
            <p:txBody>
              <a:bodyPr wrap="none" rtlCol="0">
                <a:spAutoFit/>
              </a:bodyPr>
              <a:lstStyle/>
              <a:p>
                <a:pPr/>
                <a14:m>
                  <m:oMathPara xmlns:m="http://schemas.openxmlformats.org/officeDocument/2006/math">
                    <m:oMath>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𝜃</m:t>
                          </m:r>
                        </m:e>
                        <m:sub>
                          <m:r>
                            <a:rPr lang="en-CA" b="0" i="1" smtClean="0">
                              <a:latin typeface="Cambria Math" panose="02040503050406030204" pitchFamily="18" charset="0"/>
                            </a:rPr>
                            <m:t>𝐴</m:t>
                          </m:r>
                        </m:sub>
                        <m:sup>
                          <m:r>
                            <a:rPr lang="en-CA" b="0" i="1" smtClean="0">
                              <a:latin typeface="Cambria Math" panose="02040503050406030204" pitchFamily="18" charset="0"/>
                            </a:rPr>
                            <m:t>𝑖</m:t>
                          </m:r>
                        </m:sup>
                      </m:sSubSup>
                      <m:r>
                        <a:rPr lang="en-CA" b="0" i="1" smtClean="0">
                          <a:latin typeface="Cambria Math" panose="02040503050406030204" pitchFamily="18" charset="0"/>
                        </a:rPr>
                        <m:t>+</m:t>
                      </m:r>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𝜃</m:t>
                          </m:r>
                        </m:e>
                        <m:sub>
                          <m:r>
                            <a:rPr lang="en-CA" b="0" i="1" smtClean="0">
                              <a:latin typeface="Cambria Math" panose="02040503050406030204" pitchFamily="18" charset="0"/>
                            </a:rPr>
                            <m:t>𝐵</m:t>
                          </m:r>
                        </m:sub>
                        <m:sup>
                          <m:r>
                            <a:rPr lang="en-CA" b="0" i="1" smtClean="0">
                              <a:latin typeface="Cambria Math" panose="02040503050406030204" pitchFamily="18" charset="0"/>
                            </a:rPr>
                            <m:t>𝑖</m:t>
                          </m:r>
                        </m:sup>
                      </m:sSubSup>
                      <m:r>
                        <a:rPr lang="en-CA" b="0" i="1" smtClean="0">
                          <a:latin typeface="Cambria Math" panose="02040503050406030204" pitchFamily="18" charset="0"/>
                        </a:rPr>
                        <m:t>+</m:t>
                      </m:r>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𝜃</m:t>
                          </m:r>
                        </m:e>
                        <m:sub>
                          <m:r>
                            <a:rPr lang="en-CA" b="0" i="1" smtClean="0">
                              <a:latin typeface="Cambria Math" panose="02040503050406030204" pitchFamily="18" charset="0"/>
                            </a:rPr>
                            <m:t>𝐶</m:t>
                          </m:r>
                        </m:sub>
                        <m:sup>
                          <m:r>
                            <a:rPr lang="en-CA" b="0" i="1" smtClean="0">
                              <a:latin typeface="Cambria Math" panose="02040503050406030204" pitchFamily="18" charset="0"/>
                            </a:rPr>
                            <m:t>𝑖</m:t>
                          </m:r>
                        </m:sup>
                      </m:sSubSup>
                      <m:r>
                        <a:rPr lang="en-CA" b="0" i="1" smtClean="0">
                          <a:latin typeface="Cambria Math" panose="02040503050406030204" pitchFamily="18" charset="0"/>
                        </a:rPr>
                        <m:t>=1</m:t>
                      </m:r>
                    </m:oMath>
                  </m:oMathPara>
                </a14:m>
                <a:br>
                  <a:rPr lang="en-CA" b="0" dirty="0"/>
                </a:br>
                <a:endParaRPr lang="en-CA" dirty="0"/>
              </a:p>
            </p:txBody>
          </p:sp>
        </mc:Choice>
        <mc:Fallback xmlns="">
          <p:sp>
            <p:nvSpPr>
              <p:cNvPr id="4" name="TextBox 3">
                <a:extLst>
                  <a:ext uri="{FF2B5EF4-FFF2-40B4-BE49-F238E27FC236}">
                    <a16:creationId xmlns:a16="http://schemas.microsoft.com/office/drawing/2014/main" id="{F1C56126-0B05-4F1E-BFA0-9DD7DD32D7F5}"/>
                  </a:ext>
                </a:extLst>
              </p:cNvPr>
              <p:cNvSpPr txBox="1">
                <a:spLocks noRot="1" noChangeAspect="1" noMove="1" noResize="1" noEditPoints="1" noAdjustHandles="1" noChangeArrowheads="1" noChangeShapeType="1" noTextEdit="1"/>
              </p:cNvSpPr>
              <p:nvPr/>
            </p:nvSpPr>
            <p:spPr>
              <a:xfrm>
                <a:off x="7606687" y="3235036"/>
                <a:ext cx="1978362" cy="387927"/>
              </a:xfrm>
              <a:prstGeom prst="rect">
                <a:avLst/>
              </a:prstGeom>
              <a:blipFill>
                <a:blip r:embed="rId6"/>
                <a:stretch>
                  <a:fillRect b="-1587"/>
                </a:stretch>
              </a:blipFill>
            </p:spPr>
            <p:txBody>
              <a:bodyPr/>
              <a:lstStyle/>
              <a:p>
                <a:r>
                  <a:rPr lang="en-CA">
                    <a:noFill/>
                  </a:rPr>
                  <a:t> </a:t>
                </a:r>
              </a:p>
            </p:txBody>
          </p:sp>
        </mc:Fallback>
      </mc:AlternateContent>
    </p:spTree>
    <p:extLst>
      <p:ext uri="{BB962C8B-B14F-4D97-AF65-F5344CB8AC3E}">
        <p14:creationId xmlns:p14="http://schemas.microsoft.com/office/powerpoint/2010/main" val="3662694063"/>
      </p:ext>
    </p:extLst>
  </p:cSld>
  <p:clrMapOvr>
    <a:masterClrMapping/>
  </p:clrMapOvr>
  <mc:AlternateContent xmlns:mc="http://schemas.openxmlformats.org/markup-compatibility/2006" xmlns:p14="http://schemas.microsoft.com/office/powerpoint/2010/main">
    <mc:Choice Requires="p14">
      <p:transition spd="slow" p14:dur="2000" advTm="81510"/>
    </mc:Choice>
    <mc:Fallback xmlns="">
      <p:transition spd="slow" advTm="8151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109B7-9652-4630-B248-A77334AD8C3E}"/>
              </a:ext>
            </a:extLst>
          </p:cNvPr>
          <p:cNvSpPr>
            <a:spLocks noGrp="1"/>
          </p:cNvSpPr>
          <p:nvPr>
            <p:ph type="title"/>
          </p:nvPr>
        </p:nvSpPr>
        <p:spPr>
          <a:xfrm>
            <a:off x="494412" y="700873"/>
            <a:ext cx="10515600" cy="1325563"/>
          </a:xfrm>
        </p:spPr>
        <p:txBody>
          <a:bodyPr>
            <a:normAutofit fontScale="90000"/>
          </a:bodyPr>
          <a:lstStyle/>
          <a:p>
            <a:r>
              <a:rPr lang="en-CA" dirty="0"/>
              <a:t>A Static Model of Budget Impact Analysis</a:t>
            </a:r>
          </a:p>
        </p:txBody>
      </p:sp>
      <p:sp>
        <p:nvSpPr>
          <p:cNvPr id="3" name="Content Placeholder 2">
            <a:extLst>
              <a:ext uri="{FF2B5EF4-FFF2-40B4-BE49-F238E27FC236}">
                <a16:creationId xmlns:a16="http://schemas.microsoft.com/office/drawing/2014/main" id="{3E57C2BD-51C4-48E7-9A3A-EDF8ACCA6E57}"/>
              </a:ext>
            </a:extLst>
          </p:cNvPr>
          <p:cNvSpPr>
            <a:spLocks noGrp="1"/>
          </p:cNvSpPr>
          <p:nvPr>
            <p:ph idx="1"/>
          </p:nvPr>
        </p:nvSpPr>
        <p:spPr>
          <a:xfrm>
            <a:off x="580137" y="1341458"/>
            <a:ext cx="10515600" cy="4351338"/>
          </a:xfrm>
        </p:spPr>
        <p:txBody>
          <a:bodyPr/>
          <a:lstStyle/>
          <a:p>
            <a:r>
              <a:rPr lang="en-CA" dirty="0"/>
              <a:t>The method below is referred to a the “cost calculator approach”</a:t>
            </a:r>
          </a:p>
          <a:p>
            <a:r>
              <a:rPr lang="en-CA" dirty="0"/>
              <a:t>Define a menu of treatment plans or drugs used to treat the ailment we are interested in.</a:t>
            </a:r>
          </a:p>
        </p:txBody>
      </p:sp>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92AB75F5-E44D-4F1C-8CCB-A3185707F13C}"/>
                  </a:ext>
                </a:extLst>
              </p:cNvPr>
              <p:cNvGraphicFramePr>
                <a:graphicFrameLocks noGrp="1"/>
              </p:cNvGraphicFramePr>
              <p:nvPr/>
            </p:nvGraphicFramePr>
            <p:xfrm>
              <a:off x="1415589" y="2822849"/>
              <a:ext cx="4680411" cy="1749298"/>
            </p:xfrm>
            <a:graphic>
              <a:graphicData uri="http://schemas.openxmlformats.org/drawingml/2006/table">
                <a:tbl>
                  <a:tblPr firstRow="1" bandRow="1">
                    <a:tableStyleId>{5C22544A-7EE6-4342-B048-85BDC9FD1C3A}</a:tableStyleId>
                  </a:tblPr>
                  <a:tblGrid>
                    <a:gridCol w="1357440">
                      <a:extLst>
                        <a:ext uri="{9D8B030D-6E8A-4147-A177-3AD203B41FA5}">
                          <a16:colId xmlns:a16="http://schemas.microsoft.com/office/drawing/2014/main" val="3695940873"/>
                        </a:ext>
                      </a:extLst>
                    </a:gridCol>
                    <a:gridCol w="1107657">
                      <a:extLst>
                        <a:ext uri="{9D8B030D-6E8A-4147-A177-3AD203B41FA5}">
                          <a16:colId xmlns:a16="http://schemas.microsoft.com/office/drawing/2014/main" val="4288600891"/>
                        </a:ext>
                      </a:extLst>
                    </a:gridCol>
                    <a:gridCol w="1107657">
                      <a:extLst>
                        <a:ext uri="{9D8B030D-6E8A-4147-A177-3AD203B41FA5}">
                          <a16:colId xmlns:a16="http://schemas.microsoft.com/office/drawing/2014/main" val="3073142018"/>
                        </a:ext>
                      </a:extLst>
                    </a:gridCol>
                    <a:gridCol w="1107657">
                      <a:extLst>
                        <a:ext uri="{9D8B030D-6E8A-4147-A177-3AD203B41FA5}">
                          <a16:colId xmlns:a16="http://schemas.microsoft.com/office/drawing/2014/main" val="926976072"/>
                        </a:ext>
                      </a:extLst>
                    </a:gridCol>
                  </a:tblGrid>
                  <a:tr h="484119">
                    <a:tc>
                      <a:txBody>
                        <a:bodyPr/>
                        <a:lstStyle/>
                        <a:p>
                          <a:r>
                            <a:rPr lang="en-CA" sz="1500" dirty="0"/>
                            <a:t>Treatment List</a:t>
                          </a:r>
                        </a:p>
                      </a:txBody>
                      <a:tcPr/>
                    </a:tc>
                    <a:tc>
                      <a:txBody>
                        <a:bodyPr/>
                        <a:lstStyle/>
                        <a:p>
                          <a:r>
                            <a:rPr lang="en-CA" sz="1500" dirty="0"/>
                            <a:t>Unit Cost</a:t>
                          </a:r>
                        </a:p>
                      </a:txBody>
                      <a:tcPr/>
                    </a:tc>
                    <a:tc>
                      <a:txBody>
                        <a:bodyPr/>
                        <a:lstStyle/>
                        <a:p>
                          <a:r>
                            <a:rPr lang="en-CA" sz="1500" dirty="0"/>
                            <a:t>Number of Patients </a:t>
                          </a:r>
                        </a:p>
                      </a:txBody>
                      <a:tcPr/>
                    </a:tc>
                    <a:tc>
                      <a:txBody>
                        <a:bodyPr/>
                        <a:lstStyle/>
                        <a:p>
                          <a:r>
                            <a:rPr lang="en-CA" sz="1500" dirty="0"/>
                            <a:t>Budget impact</a:t>
                          </a:r>
                        </a:p>
                      </a:txBody>
                      <a:tcPr/>
                    </a:tc>
                    <a:extLst>
                      <a:ext uri="{0D108BD9-81ED-4DB2-BD59-A6C34878D82A}">
                        <a16:rowId xmlns:a16="http://schemas.microsoft.com/office/drawing/2014/main" val="3216555390"/>
                      </a:ext>
                    </a:extLst>
                  </a:tr>
                  <a:tr h="280481">
                    <a:tc>
                      <a:txBody>
                        <a:bodyPr/>
                        <a:lstStyle/>
                        <a:p>
                          <a:r>
                            <a:rPr lang="en-CA" sz="1500" dirty="0"/>
                            <a:t>Drug A</a:t>
                          </a:r>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𝐴</m:t>
                                    </m:r>
                                  </m:sub>
                                </m:sSub>
                              </m:oMath>
                            </m:oMathPara>
                          </a14:m>
                          <a:endParaRPr lang="en-CA" sz="1500" dirty="0"/>
                        </a:p>
                      </a:txBody>
                      <a:tcPr/>
                    </a:tc>
                    <a:tc>
                      <a:txBody>
                        <a:bodyPr/>
                        <a:lstStyle/>
                        <a:p>
                          <a:pPr/>
                          <a14:m>
                            <m:oMathPara xmlns:m="http://schemas.openxmlformats.org/officeDocument/2006/math">
                              <m:oMath>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𝐴</m:t>
                                    </m:r>
                                  </m:sub>
                                  <m:sup>
                                    <m:r>
                                      <a:rPr lang="en-CA" sz="1500" b="0" i="1" smtClean="0">
                                        <a:latin typeface="Cambria Math" panose="02040503050406030204" pitchFamily="18" charset="0"/>
                                      </a:rPr>
                                      <m:t>1</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𝐴</m:t>
                                    </m:r>
                                  </m:sub>
                                </m:sSub>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𝐴</m:t>
                                    </m:r>
                                  </m:sub>
                                  <m:sup>
                                    <m:r>
                                      <a:rPr lang="en-CA" sz="1500" b="0" i="1" smtClean="0">
                                        <a:latin typeface="Cambria Math" panose="02040503050406030204" pitchFamily="18" charset="0"/>
                                      </a:rPr>
                                      <m:t>1</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extLst>
                      <a:ext uri="{0D108BD9-81ED-4DB2-BD59-A6C34878D82A}">
                        <a16:rowId xmlns:a16="http://schemas.microsoft.com/office/drawing/2014/main" val="3800846900"/>
                      </a:ext>
                    </a:extLst>
                  </a:tr>
                  <a:tr h="280481">
                    <a:tc>
                      <a:txBody>
                        <a:bodyPr/>
                        <a:lstStyle/>
                        <a:p>
                          <a:r>
                            <a:rPr lang="en-CA" sz="1500" dirty="0"/>
                            <a:t>Drug B</a:t>
                          </a:r>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𝐵</m:t>
                                    </m:r>
                                  </m:sub>
                                </m:sSub>
                              </m:oMath>
                            </m:oMathPara>
                          </a14:m>
                          <a:endParaRPr lang="en-CA" sz="1500" dirty="0"/>
                        </a:p>
                      </a:txBody>
                      <a:tcPr/>
                    </a:tc>
                    <a:tc>
                      <a:txBody>
                        <a:bodyPr/>
                        <a:lstStyle/>
                        <a:p>
                          <a:pPr/>
                          <a14:m>
                            <m:oMathPara xmlns:m="http://schemas.openxmlformats.org/officeDocument/2006/math">
                              <m:oMath>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𝐵</m:t>
                                    </m:r>
                                  </m:sub>
                                  <m:sup>
                                    <m:r>
                                      <a:rPr lang="en-CA" sz="1500" b="0" i="1" smtClean="0">
                                        <a:latin typeface="Cambria Math" panose="02040503050406030204" pitchFamily="18" charset="0"/>
                                      </a:rPr>
                                      <m:t>1</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𝐵</m:t>
                                    </m:r>
                                  </m:sub>
                                </m:sSub>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𝐵</m:t>
                                    </m:r>
                                  </m:sub>
                                  <m:sup>
                                    <m:r>
                                      <a:rPr lang="en-CA" sz="1500" b="0" i="1" smtClean="0">
                                        <a:latin typeface="Cambria Math" panose="02040503050406030204" pitchFamily="18" charset="0"/>
                                      </a:rPr>
                                      <m:t>1</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extLst>
                      <a:ext uri="{0D108BD9-81ED-4DB2-BD59-A6C34878D82A}">
                        <a16:rowId xmlns:a16="http://schemas.microsoft.com/office/drawing/2014/main" val="2044539997"/>
                      </a:ext>
                    </a:extLst>
                  </a:tr>
                  <a:tr h="280481">
                    <a:tc>
                      <a:txBody>
                        <a:bodyPr/>
                        <a:lstStyle/>
                        <a:p>
                          <a:r>
                            <a:rPr lang="en-CA" sz="1500" dirty="0"/>
                            <a:t>Drug C</a:t>
                          </a:r>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𝐶</m:t>
                                    </m:r>
                                  </m:sub>
                                </m:sSub>
                              </m:oMath>
                            </m:oMathPara>
                          </a14:m>
                          <a:endParaRPr lang="en-CA" sz="1500" dirty="0"/>
                        </a:p>
                      </a:txBody>
                      <a:tcPr/>
                    </a:tc>
                    <a:tc>
                      <a:txBody>
                        <a:bodyPr/>
                        <a:lstStyle/>
                        <a:p>
                          <a:pPr/>
                          <a14:m>
                            <m:oMathPara xmlns:m="http://schemas.openxmlformats.org/officeDocument/2006/math">
                              <m:oMath>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𝐶</m:t>
                                    </m:r>
                                  </m:sub>
                                  <m:sup>
                                    <m:r>
                                      <a:rPr lang="en-CA" sz="1500" b="0" i="1" smtClean="0">
                                        <a:latin typeface="Cambria Math" panose="02040503050406030204" pitchFamily="18" charset="0"/>
                                      </a:rPr>
                                      <m:t>1</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𝐶</m:t>
                                    </m:r>
                                  </m:sub>
                                </m:sSub>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𝐶</m:t>
                                    </m:r>
                                  </m:sub>
                                  <m:sup>
                                    <m:r>
                                      <a:rPr lang="en-CA" sz="1500" b="0" i="1" smtClean="0">
                                        <a:latin typeface="Cambria Math" panose="02040503050406030204" pitchFamily="18" charset="0"/>
                                      </a:rPr>
                                      <m:t>1</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extLst>
                      <a:ext uri="{0D108BD9-81ED-4DB2-BD59-A6C34878D82A}">
                        <a16:rowId xmlns:a16="http://schemas.microsoft.com/office/drawing/2014/main" val="1143162777"/>
                      </a:ext>
                    </a:extLst>
                  </a:tr>
                </a:tbl>
              </a:graphicData>
            </a:graphic>
          </p:graphicFrame>
        </mc:Choice>
        <mc:Fallback xmlns="">
          <p:graphicFrame>
            <p:nvGraphicFramePr>
              <p:cNvPr id="6" name="Table 6">
                <a:extLst>
                  <a:ext uri="{FF2B5EF4-FFF2-40B4-BE49-F238E27FC236}">
                    <a16:creationId xmlns:a16="http://schemas.microsoft.com/office/drawing/2014/main" id="{92AB75F5-E44D-4F1C-8CCB-A3185707F13C}"/>
                  </a:ext>
                </a:extLst>
              </p:cNvPr>
              <p:cNvGraphicFramePr>
                <a:graphicFrameLocks noGrp="1"/>
              </p:cNvGraphicFramePr>
              <p:nvPr>
                <p:extLst>
                  <p:ext uri="{D42A27DB-BD31-4B8C-83A1-F6EECF244321}">
                    <p14:modId xmlns:p14="http://schemas.microsoft.com/office/powerpoint/2010/main" val="2548161513"/>
                  </p:ext>
                </p:extLst>
              </p:nvPr>
            </p:nvGraphicFramePr>
            <p:xfrm>
              <a:off x="1415589" y="2822849"/>
              <a:ext cx="4680411" cy="1520698"/>
            </p:xfrm>
            <a:graphic>
              <a:graphicData uri="http://schemas.openxmlformats.org/drawingml/2006/table">
                <a:tbl>
                  <a:tblPr firstRow="1" bandRow="1">
                    <a:tableStyleId>{5C22544A-7EE6-4342-B048-85BDC9FD1C3A}</a:tableStyleId>
                  </a:tblPr>
                  <a:tblGrid>
                    <a:gridCol w="1357440">
                      <a:extLst>
                        <a:ext uri="{9D8B030D-6E8A-4147-A177-3AD203B41FA5}">
                          <a16:colId xmlns:a16="http://schemas.microsoft.com/office/drawing/2014/main" val="3695940873"/>
                        </a:ext>
                      </a:extLst>
                    </a:gridCol>
                    <a:gridCol w="1107657">
                      <a:extLst>
                        <a:ext uri="{9D8B030D-6E8A-4147-A177-3AD203B41FA5}">
                          <a16:colId xmlns:a16="http://schemas.microsoft.com/office/drawing/2014/main" val="4288600891"/>
                        </a:ext>
                      </a:extLst>
                    </a:gridCol>
                    <a:gridCol w="1107657">
                      <a:extLst>
                        <a:ext uri="{9D8B030D-6E8A-4147-A177-3AD203B41FA5}">
                          <a16:colId xmlns:a16="http://schemas.microsoft.com/office/drawing/2014/main" val="3073142018"/>
                        </a:ext>
                      </a:extLst>
                    </a:gridCol>
                    <a:gridCol w="1107657">
                      <a:extLst>
                        <a:ext uri="{9D8B030D-6E8A-4147-A177-3AD203B41FA5}">
                          <a16:colId xmlns:a16="http://schemas.microsoft.com/office/drawing/2014/main" val="926976072"/>
                        </a:ext>
                      </a:extLst>
                    </a:gridCol>
                  </a:tblGrid>
                  <a:tr h="548640">
                    <a:tc>
                      <a:txBody>
                        <a:bodyPr/>
                        <a:lstStyle/>
                        <a:p>
                          <a:r>
                            <a:rPr lang="en-CA" sz="1500" dirty="0"/>
                            <a:t>Treatment List</a:t>
                          </a:r>
                        </a:p>
                      </a:txBody>
                      <a:tcPr/>
                    </a:tc>
                    <a:tc>
                      <a:txBody>
                        <a:bodyPr/>
                        <a:lstStyle/>
                        <a:p>
                          <a:r>
                            <a:rPr lang="en-CA" sz="1500" dirty="0"/>
                            <a:t>Unit Cost</a:t>
                          </a:r>
                        </a:p>
                      </a:txBody>
                      <a:tcPr/>
                    </a:tc>
                    <a:tc>
                      <a:txBody>
                        <a:bodyPr/>
                        <a:lstStyle/>
                        <a:p>
                          <a:r>
                            <a:rPr lang="en-CA" sz="1500" dirty="0"/>
                            <a:t>Number of Patients </a:t>
                          </a:r>
                        </a:p>
                      </a:txBody>
                      <a:tcPr/>
                    </a:tc>
                    <a:tc>
                      <a:txBody>
                        <a:bodyPr/>
                        <a:lstStyle/>
                        <a:p>
                          <a:r>
                            <a:rPr lang="en-CA" sz="1500" dirty="0"/>
                            <a:t>Budget impact</a:t>
                          </a:r>
                        </a:p>
                      </a:txBody>
                      <a:tcPr/>
                    </a:tc>
                    <a:extLst>
                      <a:ext uri="{0D108BD9-81ED-4DB2-BD59-A6C34878D82A}">
                        <a16:rowId xmlns:a16="http://schemas.microsoft.com/office/drawing/2014/main" val="3216555390"/>
                      </a:ext>
                    </a:extLst>
                  </a:tr>
                  <a:tr h="323850">
                    <a:tc>
                      <a:txBody>
                        <a:bodyPr/>
                        <a:lstStyle/>
                        <a:p>
                          <a:r>
                            <a:rPr lang="en-CA" sz="1500" dirty="0"/>
                            <a:t>Drug A</a:t>
                          </a:r>
                        </a:p>
                      </a:txBody>
                      <a:tcPr/>
                    </a:tc>
                    <a:tc>
                      <a:txBody>
                        <a:bodyPr/>
                        <a:lstStyle/>
                        <a:p>
                          <a:endParaRPr lang="en-US"/>
                        </a:p>
                      </a:txBody>
                      <a:tcPr>
                        <a:blipFill>
                          <a:blip r:embed="rId4"/>
                          <a:stretch>
                            <a:fillRect l="-123757" t="-173585" r="-203867" b="-220755"/>
                          </a:stretch>
                        </a:blipFill>
                      </a:tcPr>
                    </a:tc>
                    <a:tc>
                      <a:txBody>
                        <a:bodyPr/>
                        <a:lstStyle/>
                        <a:p>
                          <a:endParaRPr lang="en-US"/>
                        </a:p>
                      </a:txBody>
                      <a:tcPr>
                        <a:blipFill>
                          <a:blip r:embed="rId4"/>
                          <a:stretch>
                            <a:fillRect l="-222527" t="-173585" r="-102747" b="-220755"/>
                          </a:stretch>
                        </a:blipFill>
                      </a:tcPr>
                    </a:tc>
                    <a:tc>
                      <a:txBody>
                        <a:bodyPr/>
                        <a:lstStyle/>
                        <a:p>
                          <a:endParaRPr lang="en-US"/>
                        </a:p>
                      </a:txBody>
                      <a:tcPr>
                        <a:blipFill>
                          <a:blip r:embed="rId4"/>
                          <a:stretch>
                            <a:fillRect l="-322527" t="-173585" r="-2747" b="-220755"/>
                          </a:stretch>
                        </a:blipFill>
                      </a:tcPr>
                    </a:tc>
                    <a:extLst>
                      <a:ext uri="{0D108BD9-81ED-4DB2-BD59-A6C34878D82A}">
                        <a16:rowId xmlns:a16="http://schemas.microsoft.com/office/drawing/2014/main" val="3800846900"/>
                      </a:ext>
                    </a:extLst>
                  </a:tr>
                  <a:tr h="322707">
                    <a:tc>
                      <a:txBody>
                        <a:bodyPr/>
                        <a:lstStyle/>
                        <a:p>
                          <a:r>
                            <a:rPr lang="en-CA" sz="1500" dirty="0"/>
                            <a:t>Drug B</a:t>
                          </a:r>
                        </a:p>
                      </a:txBody>
                      <a:tcPr/>
                    </a:tc>
                    <a:tc>
                      <a:txBody>
                        <a:bodyPr/>
                        <a:lstStyle/>
                        <a:p>
                          <a:endParaRPr lang="en-US"/>
                        </a:p>
                      </a:txBody>
                      <a:tcPr>
                        <a:blipFill>
                          <a:blip r:embed="rId4"/>
                          <a:stretch>
                            <a:fillRect l="-123757" t="-273585" r="-203867" b="-120755"/>
                          </a:stretch>
                        </a:blipFill>
                      </a:tcPr>
                    </a:tc>
                    <a:tc>
                      <a:txBody>
                        <a:bodyPr/>
                        <a:lstStyle/>
                        <a:p>
                          <a:endParaRPr lang="en-US"/>
                        </a:p>
                      </a:txBody>
                      <a:tcPr>
                        <a:blipFill>
                          <a:blip r:embed="rId4"/>
                          <a:stretch>
                            <a:fillRect l="-222527" t="-273585" r="-102747" b="-120755"/>
                          </a:stretch>
                        </a:blipFill>
                      </a:tcPr>
                    </a:tc>
                    <a:tc>
                      <a:txBody>
                        <a:bodyPr/>
                        <a:lstStyle/>
                        <a:p>
                          <a:endParaRPr lang="en-US"/>
                        </a:p>
                      </a:txBody>
                      <a:tcPr>
                        <a:blipFill>
                          <a:blip r:embed="rId4"/>
                          <a:stretch>
                            <a:fillRect l="-322527" t="-273585" r="-2747" b="-120755"/>
                          </a:stretch>
                        </a:blipFill>
                      </a:tcPr>
                    </a:tc>
                    <a:extLst>
                      <a:ext uri="{0D108BD9-81ED-4DB2-BD59-A6C34878D82A}">
                        <a16:rowId xmlns:a16="http://schemas.microsoft.com/office/drawing/2014/main" val="2044539997"/>
                      </a:ext>
                    </a:extLst>
                  </a:tr>
                  <a:tr h="325501">
                    <a:tc>
                      <a:txBody>
                        <a:bodyPr/>
                        <a:lstStyle/>
                        <a:p>
                          <a:r>
                            <a:rPr lang="en-CA" sz="1500" dirty="0"/>
                            <a:t>Drug C</a:t>
                          </a:r>
                        </a:p>
                      </a:txBody>
                      <a:tcPr/>
                    </a:tc>
                    <a:tc>
                      <a:txBody>
                        <a:bodyPr/>
                        <a:lstStyle/>
                        <a:p>
                          <a:endParaRPr lang="en-US"/>
                        </a:p>
                      </a:txBody>
                      <a:tcPr>
                        <a:blipFill>
                          <a:blip r:embed="rId4"/>
                          <a:stretch>
                            <a:fillRect l="-123757" t="-366667" r="-203867" b="-18519"/>
                          </a:stretch>
                        </a:blipFill>
                      </a:tcPr>
                    </a:tc>
                    <a:tc>
                      <a:txBody>
                        <a:bodyPr/>
                        <a:lstStyle/>
                        <a:p>
                          <a:endParaRPr lang="en-US"/>
                        </a:p>
                      </a:txBody>
                      <a:tcPr>
                        <a:blipFill>
                          <a:blip r:embed="rId4"/>
                          <a:stretch>
                            <a:fillRect l="-222527" t="-366667" r="-102747" b="-18519"/>
                          </a:stretch>
                        </a:blipFill>
                      </a:tcPr>
                    </a:tc>
                    <a:tc>
                      <a:txBody>
                        <a:bodyPr/>
                        <a:lstStyle/>
                        <a:p>
                          <a:endParaRPr lang="en-US"/>
                        </a:p>
                      </a:txBody>
                      <a:tcPr>
                        <a:blipFill>
                          <a:blip r:embed="rId4"/>
                          <a:stretch>
                            <a:fillRect l="-322527" t="-366667" r="-2747" b="-18519"/>
                          </a:stretch>
                        </a:blipFill>
                      </a:tcPr>
                    </a:tc>
                    <a:extLst>
                      <a:ext uri="{0D108BD9-81ED-4DB2-BD59-A6C34878D82A}">
                        <a16:rowId xmlns:a16="http://schemas.microsoft.com/office/drawing/2014/main" val="114316277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6">
                <a:extLst>
                  <a:ext uri="{FF2B5EF4-FFF2-40B4-BE49-F238E27FC236}">
                    <a16:creationId xmlns:a16="http://schemas.microsoft.com/office/drawing/2014/main" id="{59D9A401-DAAE-4786-A463-078D144A401B}"/>
                  </a:ext>
                </a:extLst>
              </p:cNvPr>
              <p:cNvGraphicFramePr>
                <a:graphicFrameLocks noGrp="1"/>
              </p:cNvGraphicFramePr>
              <p:nvPr/>
            </p:nvGraphicFramePr>
            <p:xfrm>
              <a:off x="1347873" y="4755431"/>
              <a:ext cx="4680411" cy="1750822"/>
            </p:xfrm>
            <a:graphic>
              <a:graphicData uri="http://schemas.openxmlformats.org/drawingml/2006/table">
                <a:tbl>
                  <a:tblPr firstRow="1" bandRow="1">
                    <a:tableStyleId>{5C22544A-7EE6-4342-B048-85BDC9FD1C3A}</a:tableStyleId>
                  </a:tblPr>
                  <a:tblGrid>
                    <a:gridCol w="1357440">
                      <a:extLst>
                        <a:ext uri="{9D8B030D-6E8A-4147-A177-3AD203B41FA5}">
                          <a16:colId xmlns:a16="http://schemas.microsoft.com/office/drawing/2014/main" val="3695940873"/>
                        </a:ext>
                      </a:extLst>
                    </a:gridCol>
                    <a:gridCol w="1107657">
                      <a:extLst>
                        <a:ext uri="{9D8B030D-6E8A-4147-A177-3AD203B41FA5}">
                          <a16:colId xmlns:a16="http://schemas.microsoft.com/office/drawing/2014/main" val="4288600891"/>
                        </a:ext>
                      </a:extLst>
                    </a:gridCol>
                    <a:gridCol w="1107657">
                      <a:extLst>
                        <a:ext uri="{9D8B030D-6E8A-4147-A177-3AD203B41FA5}">
                          <a16:colId xmlns:a16="http://schemas.microsoft.com/office/drawing/2014/main" val="3073142018"/>
                        </a:ext>
                      </a:extLst>
                    </a:gridCol>
                    <a:gridCol w="1107657">
                      <a:extLst>
                        <a:ext uri="{9D8B030D-6E8A-4147-A177-3AD203B41FA5}">
                          <a16:colId xmlns:a16="http://schemas.microsoft.com/office/drawing/2014/main" val="926976072"/>
                        </a:ext>
                      </a:extLst>
                    </a:gridCol>
                  </a:tblGrid>
                  <a:tr h="484119">
                    <a:tc>
                      <a:txBody>
                        <a:bodyPr/>
                        <a:lstStyle/>
                        <a:p>
                          <a:r>
                            <a:rPr lang="en-CA" sz="1500" dirty="0"/>
                            <a:t>Treatment List</a:t>
                          </a:r>
                        </a:p>
                      </a:txBody>
                      <a:tcPr>
                        <a:solidFill>
                          <a:srgbClr val="C00000"/>
                        </a:solidFill>
                      </a:tcPr>
                    </a:tc>
                    <a:tc>
                      <a:txBody>
                        <a:bodyPr/>
                        <a:lstStyle/>
                        <a:p>
                          <a:r>
                            <a:rPr lang="en-CA" sz="1500" dirty="0"/>
                            <a:t>Unit Cost</a:t>
                          </a:r>
                        </a:p>
                      </a:txBody>
                      <a:tcPr>
                        <a:solidFill>
                          <a:srgbClr val="C00000"/>
                        </a:solidFill>
                      </a:tcPr>
                    </a:tc>
                    <a:tc>
                      <a:txBody>
                        <a:bodyPr/>
                        <a:lstStyle/>
                        <a:p>
                          <a:r>
                            <a:rPr lang="en-CA" sz="1500" dirty="0"/>
                            <a:t>Number of Patients </a:t>
                          </a:r>
                        </a:p>
                      </a:txBody>
                      <a:tcPr>
                        <a:solidFill>
                          <a:srgbClr val="C00000"/>
                        </a:solidFill>
                      </a:tcPr>
                    </a:tc>
                    <a:tc>
                      <a:txBody>
                        <a:bodyPr/>
                        <a:lstStyle/>
                        <a:p>
                          <a:r>
                            <a:rPr lang="en-CA" sz="1500" dirty="0"/>
                            <a:t>Budget impact</a:t>
                          </a:r>
                        </a:p>
                      </a:txBody>
                      <a:tcPr>
                        <a:solidFill>
                          <a:srgbClr val="C00000"/>
                        </a:solidFill>
                      </a:tcPr>
                    </a:tc>
                    <a:extLst>
                      <a:ext uri="{0D108BD9-81ED-4DB2-BD59-A6C34878D82A}">
                        <a16:rowId xmlns:a16="http://schemas.microsoft.com/office/drawing/2014/main" val="3216555390"/>
                      </a:ext>
                    </a:extLst>
                  </a:tr>
                  <a:tr h="280481">
                    <a:tc>
                      <a:txBody>
                        <a:bodyPr/>
                        <a:lstStyle/>
                        <a:p>
                          <a:r>
                            <a:rPr lang="en-CA" sz="1500" dirty="0"/>
                            <a:t>Drug A</a:t>
                          </a:r>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𝐴</m:t>
                                    </m:r>
                                  </m:sub>
                                </m:sSub>
                              </m:oMath>
                            </m:oMathPara>
                          </a14:m>
                          <a:endParaRPr lang="en-CA" sz="1500" dirty="0"/>
                        </a:p>
                      </a:txBody>
                      <a:tcPr/>
                    </a:tc>
                    <a:tc>
                      <a:txBody>
                        <a:bodyPr/>
                        <a:lstStyle/>
                        <a:p>
                          <a:pPr/>
                          <a14:m>
                            <m:oMathPara xmlns:m="http://schemas.openxmlformats.org/officeDocument/2006/math">
                              <m:oMath>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𝐴</m:t>
                                    </m:r>
                                  </m:sub>
                                  <m:sup>
                                    <m:r>
                                      <a:rPr lang="en-CA" sz="1500" b="0" i="1" smtClean="0">
                                        <a:latin typeface="Cambria Math" panose="02040503050406030204" pitchFamily="18" charset="0"/>
                                      </a:rPr>
                                      <m:t>2</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𝐴</m:t>
                                    </m:r>
                                  </m:sub>
                                </m:sSub>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𝐴</m:t>
                                    </m:r>
                                  </m:sub>
                                  <m:sup>
                                    <m:r>
                                      <a:rPr lang="en-CA" sz="1500" b="0" i="1" smtClean="0">
                                        <a:latin typeface="Cambria Math" panose="02040503050406030204" pitchFamily="18" charset="0"/>
                                      </a:rPr>
                                      <m:t>2</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extLst>
                      <a:ext uri="{0D108BD9-81ED-4DB2-BD59-A6C34878D82A}">
                        <a16:rowId xmlns:a16="http://schemas.microsoft.com/office/drawing/2014/main" val="3800846900"/>
                      </a:ext>
                    </a:extLst>
                  </a:tr>
                  <a:tr h="280481">
                    <a:tc>
                      <a:txBody>
                        <a:bodyPr/>
                        <a:lstStyle/>
                        <a:p>
                          <a:r>
                            <a:rPr lang="en-CA" sz="1500" dirty="0"/>
                            <a:t>Drug B</a:t>
                          </a:r>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𝐵</m:t>
                                    </m:r>
                                  </m:sub>
                                </m:sSub>
                              </m:oMath>
                            </m:oMathPara>
                          </a14:m>
                          <a:endParaRPr lang="en-CA" sz="1500" dirty="0"/>
                        </a:p>
                      </a:txBody>
                      <a:tcPr/>
                    </a:tc>
                    <a:tc>
                      <a:txBody>
                        <a:bodyPr/>
                        <a:lstStyle/>
                        <a:p>
                          <a:pPr/>
                          <a14:m>
                            <m:oMathPara xmlns:m="http://schemas.openxmlformats.org/officeDocument/2006/math">
                              <m:oMath>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𝐵</m:t>
                                    </m:r>
                                  </m:sub>
                                  <m:sup>
                                    <m:r>
                                      <a:rPr lang="en-CA" sz="1500" b="0" i="1" smtClean="0">
                                        <a:latin typeface="Cambria Math" panose="02040503050406030204" pitchFamily="18" charset="0"/>
                                      </a:rPr>
                                      <m:t>2</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𝐵</m:t>
                                    </m:r>
                                  </m:sub>
                                </m:sSub>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𝐵</m:t>
                                    </m:r>
                                  </m:sub>
                                  <m:sup>
                                    <m:r>
                                      <a:rPr lang="en-CA" sz="1500" b="0" i="1" smtClean="0">
                                        <a:latin typeface="Cambria Math" panose="02040503050406030204" pitchFamily="18" charset="0"/>
                                      </a:rPr>
                                      <m:t>2</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extLst>
                      <a:ext uri="{0D108BD9-81ED-4DB2-BD59-A6C34878D82A}">
                        <a16:rowId xmlns:a16="http://schemas.microsoft.com/office/drawing/2014/main" val="2044539997"/>
                      </a:ext>
                    </a:extLst>
                  </a:tr>
                  <a:tr h="280481">
                    <a:tc>
                      <a:txBody>
                        <a:bodyPr/>
                        <a:lstStyle/>
                        <a:p>
                          <a:r>
                            <a:rPr lang="en-CA" sz="1500" dirty="0"/>
                            <a:t>Drug C</a:t>
                          </a:r>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𝐶</m:t>
                                    </m:r>
                                  </m:sub>
                                </m:sSub>
                              </m:oMath>
                            </m:oMathPara>
                          </a14:m>
                          <a:endParaRPr lang="en-CA" sz="1500" dirty="0"/>
                        </a:p>
                      </a:txBody>
                      <a:tcPr/>
                    </a:tc>
                    <a:tc>
                      <a:txBody>
                        <a:bodyPr/>
                        <a:lstStyle/>
                        <a:p>
                          <a:pPr/>
                          <a14:m>
                            <m:oMathPara xmlns:m="http://schemas.openxmlformats.org/officeDocument/2006/math">
                              <m:oMath>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𝐶</m:t>
                                    </m:r>
                                  </m:sub>
                                  <m:sup>
                                    <m:r>
                                      <a:rPr lang="en-CA" sz="1500" b="0" i="1" smtClean="0">
                                        <a:latin typeface="Cambria Math" panose="02040503050406030204" pitchFamily="18" charset="0"/>
                                      </a:rPr>
                                      <m:t>2</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tc>
                      <a:txBody>
                        <a:bodyPr/>
                        <a:lstStyle/>
                        <a:p>
                          <a:pPr/>
                          <a14:m>
                            <m:oMathPara xmlns:m="http://schemas.openxmlformats.org/officeDocument/2006/math">
                              <m:oMath>
                                <m:sSub>
                                  <m:sSubPr>
                                    <m:ctrlPr>
                                      <a:rPr lang="en-CA" sz="1500" b="0" i="1" smtClean="0">
                                        <a:latin typeface="Cambria Math" panose="02040503050406030204" pitchFamily="18" charset="0"/>
                                      </a:rPr>
                                    </m:ctrlPr>
                                  </m:sSubPr>
                                  <m:e>
                                    <m:r>
                                      <a:rPr lang="en-CA" sz="1500" b="0" i="1" smtClean="0">
                                        <a:latin typeface="Cambria Math" panose="02040503050406030204" pitchFamily="18" charset="0"/>
                                      </a:rPr>
                                      <m:t>𝑝</m:t>
                                    </m:r>
                                  </m:e>
                                  <m:sub>
                                    <m:r>
                                      <a:rPr lang="en-CA" sz="1500" b="0" i="1" smtClean="0">
                                        <a:latin typeface="Cambria Math" panose="02040503050406030204" pitchFamily="18" charset="0"/>
                                      </a:rPr>
                                      <m:t>𝐶</m:t>
                                    </m:r>
                                  </m:sub>
                                </m:sSub>
                                <m:sSubSup>
                                  <m:sSubSupPr>
                                    <m:ctrlPr>
                                      <a:rPr lang="en-CA" sz="1500" b="0" i="1" smtClean="0">
                                        <a:latin typeface="Cambria Math" panose="02040503050406030204" pitchFamily="18" charset="0"/>
                                      </a:rPr>
                                    </m:ctrlPr>
                                  </m:sSubSupPr>
                                  <m:e>
                                    <m:r>
                                      <a:rPr lang="en-CA" sz="1500" b="0" i="1" smtClean="0">
                                        <a:latin typeface="Cambria Math" panose="02040503050406030204" pitchFamily="18" charset="0"/>
                                      </a:rPr>
                                      <m:t>𝜃</m:t>
                                    </m:r>
                                  </m:e>
                                  <m:sub>
                                    <m:r>
                                      <a:rPr lang="en-CA" sz="1500" b="0" i="1" smtClean="0">
                                        <a:latin typeface="Cambria Math" panose="02040503050406030204" pitchFamily="18" charset="0"/>
                                      </a:rPr>
                                      <m:t>𝐶</m:t>
                                    </m:r>
                                  </m:sub>
                                  <m:sup>
                                    <m:r>
                                      <a:rPr lang="en-CA" sz="1500" b="0" i="1" smtClean="0">
                                        <a:latin typeface="Cambria Math" panose="02040503050406030204" pitchFamily="18" charset="0"/>
                                      </a:rPr>
                                      <m:t>2</m:t>
                                    </m:r>
                                  </m:sup>
                                </m:sSubSup>
                                <m:acc>
                                  <m:accPr>
                                    <m:chr m:val="̅"/>
                                    <m:ctrlPr>
                                      <a:rPr lang="en-CA" sz="1500" b="0" i="1" smtClean="0">
                                        <a:latin typeface="Cambria Math" panose="02040503050406030204" pitchFamily="18" charset="0"/>
                                      </a:rPr>
                                    </m:ctrlPr>
                                  </m:accPr>
                                  <m:e>
                                    <m:r>
                                      <a:rPr lang="en-CA" sz="1500" b="0" i="1" smtClean="0">
                                        <a:latin typeface="Cambria Math" panose="02040503050406030204" pitchFamily="18" charset="0"/>
                                      </a:rPr>
                                      <m:t>𝑁</m:t>
                                    </m:r>
                                  </m:e>
                                </m:acc>
                              </m:oMath>
                            </m:oMathPara>
                          </a14:m>
                          <a:endParaRPr lang="en-CA" sz="1500" dirty="0"/>
                        </a:p>
                      </a:txBody>
                      <a:tcPr/>
                    </a:tc>
                    <a:extLst>
                      <a:ext uri="{0D108BD9-81ED-4DB2-BD59-A6C34878D82A}">
                        <a16:rowId xmlns:a16="http://schemas.microsoft.com/office/drawing/2014/main" val="1143162777"/>
                      </a:ext>
                    </a:extLst>
                  </a:tr>
                </a:tbl>
              </a:graphicData>
            </a:graphic>
          </p:graphicFrame>
        </mc:Choice>
        <mc:Fallback xmlns="">
          <p:graphicFrame>
            <p:nvGraphicFramePr>
              <p:cNvPr id="8" name="Table 6">
                <a:extLst>
                  <a:ext uri="{FF2B5EF4-FFF2-40B4-BE49-F238E27FC236}">
                    <a16:creationId xmlns:a16="http://schemas.microsoft.com/office/drawing/2014/main" id="{59D9A401-DAAE-4786-A463-078D144A401B}"/>
                  </a:ext>
                </a:extLst>
              </p:cNvPr>
              <p:cNvGraphicFramePr>
                <a:graphicFrameLocks noGrp="1"/>
              </p:cNvGraphicFramePr>
              <p:nvPr>
                <p:extLst>
                  <p:ext uri="{D42A27DB-BD31-4B8C-83A1-F6EECF244321}">
                    <p14:modId xmlns:p14="http://schemas.microsoft.com/office/powerpoint/2010/main" val="1368388924"/>
                  </p:ext>
                </p:extLst>
              </p:nvPr>
            </p:nvGraphicFramePr>
            <p:xfrm>
              <a:off x="1347873" y="4755431"/>
              <a:ext cx="4680411" cy="1522222"/>
            </p:xfrm>
            <a:graphic>
              <a:graphicData uri="http://schemas.openxmlformats.org/drawingml/2006/table">
                <a:tbl>
                  <a:tblPr firstRow="1" bandRow="1">
                    <a:tableStyleId>{5C22544A-7EE6-4342-B048-85BDC9FD1C3A}</a:tableStyleId>
                  </a:tblPr>
                  <a:tblGrid>
                    <a:gridCol w="1357440">
                      <a:extLst>
                        <a:ext uri="{9D8B030D-6E8A-4147-A177-3AD203B41FA5}">
                          <a16:colId xmlns:a16="http://schemas.microsoft.com/office/drawing/2014/main" val="3695940873"/>
                        </a:ext>
                      </a:extLst>
                    </a:gridCol>
                    <a:gridCol w="1107657">
                      <a:extLst>
                        <a:ext uri="{9D8B030D-6E8A-4147-A177-3AD203B41FA5}">
                          <a16:colId xmlns:a16="http://schemas.microsoft.com/office/drawing/2014/main" val="4288600891"/>
                        </a:ext>
                      </a:extLst>
                    </a:gridCol>
                    <a:gridCol w="1107657">
                      <a:extLst>
                        <a:ext uri="{9D8B030D-6E8A-4147-A177-3AD203B41FA5}">
                          <a16:colId xmlns:a16="http://schemas.microsoft.com/office/drawing/2014/main" val="3073142018"/>
                        </a:ext>
                      </a:extLst>
                    </a:gridCol>
                    <a:gridCol w="1107657">
                      <a:extLst>
                        <a:ext uri="{9D8B030D-6E8A-4147-A177-3AD203B41FA5}">
                          <a16:colId xmlns:a16="http://schemas.microsoft.com/office/drawing/2014/main" val="926976072"/>
                        </a:ext>
                      </a:extLst>
                    </a:gridCol>
                  </a:tblGrid>
                  <a:tr h="548640">
                    <a:tc>
                      <a:txBody>
                        <a:bodyPr/>
                        <a:lstStyle/>
                        <a:p>
                          <a:r>
                            <a:rPr lang="en-CA" sz="1500" dirty="0"/>
                            <a:t>Treatment List</a:t>
                          </a:r>
                        </a:p>
                      </a:txBody>
                      <a:tcPr>
                        <a:solidFill>
                          <a:srgbClr val="C00000"/>
                        </a:solidFill>
                      </a:tcPr>
                    </a:tc>
                    <a:tc>
                      <a:txBody>
                        <a:bodyPr/>
                        <a:lstStyle/>
                        <a:p>
                          <a:r>
                            <a:rPr lang="en-CA" sz="1500" dirty="0"/>
                            <a:t>Unit Cost</a:t>
                          </a:r>
                        </a:p>
                      </a:txBody>
                      <a:tcPr>
                        <a:solidFill>
                          <a:srgbClr val="C00000"/>
                        </a:solidFill>
                      </a:tcPr>
                    </a:tc>
                    <a:tc>
                      <a:txBody>
                        <a:bodyPr/>
                        <a:lstStyle/>
                        <a:p>
                          <a:r>
                            <a:rPr lang="en-CA" sz="1500" dirty="0"/>
                            <a:t>Number of Patients </a:t>
                          </a:r>
                        </a:p>
                      </a:txBody>
                      <a:tcPr>
                        <a:solidFill>
                          <a:srgbClr val="C00000"/>
                        </a:solidFill>
                      </a:tcPr>
                    </a:tc>
                    <a:tc>
                      <a:txBody>
                        <a:bodyPr/>
                        <a:lstStyle/>
                        <a:p>
                          <a:r>
                            <a:rPr lang="en-CA" sz="1500" dirty="0"/>
                            <a:t>Budget impact</a:t>
                          </a:r>
                        </a:p>
                      </a:txBody>
                      <a:tcPr>
                        <a:solidFill>
                          <a:srgbClr val="C00000"/>
                        </a:solidFill>
                      </a:tcPr>
                    </a:tc>
                    <a:extLst>
                      <a:ext uri="{0D108BD9-81ED-4DB2-BD59-A6C34878D82A}">
                        <a16:rowId xmlns:a16="http://schemas.microsoft.com/office/drawing/2014/main" val="3216555390"/>
                      </a:ext>
                    </a:extLst>
                  </a:tr>
                  <a:tr h="324358">
                    <a:tc>
                      <a:txBody>
                        <a:bodyPr/>
                        <a:lstStyle/>
                        <a:p>
                          <a:r>
                            <a:rPr lang="en-CA" sz="1500" dirty="0"/>
                            <a:t>Drug A</a:t>
                          </a:r>
                        </a:p>
                      </a:txBody>
                      <a:tcPr/>
                    </a:tc>
                    <a:tc>
                      <a:txBody>
                        <a:bodyPr/>
                        <a:lstStyle/>
                        <a:p>
                          <a:endParaRPr lang="en-US"/>
                        </a:p>
                      </a:txBody>
                      <a:tcPr>
                        <a:blipFill>
                          <a:blip r:embed="rId5"/>
                          <a:stretch>
                            <a:fillRect l="-123757" t="-173585" r="-203867" b="-220755"/>
                          </a:stretch>
                        </a:blipFill>
                      </a:tcPr>
                    </a:tc>
                    <a:tc>
                      <a:txBody>
                        <a:bodyPr/>
                        <a:lstStyle/>
                        <a:p>
                          <a:endParaRPr lang="en-US"/>
                        </a:p>
                      </a:txBody>
                      <a:tcPr>
                        <a:blipFill>
                          <a:blip r:embed="rId5"/>
                          <a:stretch>
                            <a:fillRect l="-222527" t="-173585" r="-102747" b="-220755"/>
                          </a:stretch>
                        </a:blipFill>
                      </a:tcPr>
                    </a:tc>
                    <a:tc>
                      <a:txBody>
                        <a:bodyPr/>
                        <a:lstStyle/>
                        <a:p>
                          <a:endParaRPr lang="en-US"/>
                        </a:p>
                      </a:txBody>
                      <a:tcPr>
                        <a:blipFill>
                          <a:blip r:embed="rId5"/>
                          <a:stretch>
                            <a:fillRect l="-322527" t="-173585" r="-2747" b="-220755"/>
                          </a:stretch>
                        </a:blipFill>
                      </a:tcPr>
                    </a:tc>
                    <a:extLst>
                      <a:ext uri="{0D108BD9-81ED-4DB2-BD59-A6C34878D82A}">
                        <a16:rowId xmlns:a16="http://schemas.microsoft.com/office/drawing/2014/main" val="3800846900"/>
                      </a:ext>
                    </a:extLst>
                  </a:tr>
                  <a:tr h="323215">
                    <a:tc>
                      <a:txBody>
                        <a:bodyPr/>
                        <a:lstStyle/>
                        <a:p>
                          <a:r>
                            <a:rPr lang="en-CA" sz="1500" dirty="0"/>
                            <a:t>Drug B</a:t>
                          </a:r>
                        </a:p>
                      </a:txBody>
                      <a:tcPr/>
                    </a:tc>
                    <a:tc>
                      <a:txBody>
                        <a:bodyPr/>
                        <a:lstStyle/>
                        <a:p>
                          <a:endParaRPr lang="en-US"/>
                        </a:p>
                      </a:txBody>
                      <a:tcPr>
                        <a:blipFill>
                          <a:blip r:embed="rId5"/>
                          <a:stretch>
                            <a:fillRect l="-123757" t="-273585" r="-203867" b="-120755"/>
                          </a:stretch>
                        </a:blipFill>
                      </a:tcPr>
                    </a:tc>
                    <a:tc>
                      <a:txBody>
                        <a:bodyPr/>
                        <a:lstStyle/>
                        <a:p>
                          <a:endParaRPr lang="en-US"/>
                        </a:p>
                      </a:txBody>
                      <a:tcPr>
                        <a:blipFill>
                          <a:blip r:embed="rId5"/>
                          <a:stretch>
                            <a:fillRect l="-222527" t="-273585" r="-102747" b="-120755"/>
                          </a:stretch>
                        </a:blipFill>
                      </a:tcPr>
                    </a:tc>
                    <a:tc>
                      <a:txBody>
                        <a:bodyPr/>
                        <a:lstStyle/>
                        <a:p>
                          <a:endParaRPr lang="en-US"/>
                        </a:p>
                      </a:txBody>
                      <a:tcPr>
                        <a:blipFill>
                          <a:blip r:embed="rId5"/>
                          <a:stretch>
                            <a:fillRect l="-322527" t="-273585" r="-2747" b="-120755"/>
                          </a:stretch>
                        </a:blipFill>
                      </a:tcPr>
                    </a:tc>
                    <a:extLst>
                      <a:ext uri="{0D108BD9-81ED-4DB2-BD59-A6C34878D82A}">
                        <a16:rowId xmlns:a16="http://schemas.microsoft.com/office/drawing/2014/main" val="2044539997"/>
                      </a:ext>
                    </a:extLst>
                  </a:tr>
                  <a:tr h="326009">
                    <a:tc>
                      <a:txBody>
                        <a:bodyPr/>
                        <a:lstStyle/>
                        <a:p>
                          <a:r>
                            <a:rPr lang="en-CA" sz="1500" dirty="0"/>
                            <a:t>Drug C</a:t>
                          </a:r>
                        </a:p>
                      </a:txBody>
                      <a:tcPr/>
                    </a:tc>
                    <a:tc>
                      <a:txBody>
                        <a:bodyPr/>
                        <a:lstStyle/>
                        <a:p>
                          <a:endParaRPr lang="en-US"/>
                        </a:p>
                      </a:txBody>
                      <a:tcPr>
                        <a:blipFill>
                          <a:blip r:embed="rId5"/>
                          <a:stretch>
                            <a:fillRect l="-123757" t="-366667" r="-203867" b="-18519"/>
                          </a:stretch>
                        </a:blipFill>
                      </a:tcPr>
                    </a:tc>
                    <a:tc>
                      <a:txBody>
                        <a:bodyPr/>
                        <a:lstStyle/>
                        <a:p>
                          <a:endParaRPr lang="en-US"/>
                        </a:p>
                      </a:txBody>
                      <a:tcPr>
                        <a:blipFill>
                          <a:blip r:embed="rId5"/>
                          <a:stretch>
                            <a:fillRect l="-222527" t="-366667" r="-102747" b="-18519"/>
                          </a:stretch>
                        </a:blipFill>
                      </a:tcPr>
                    </a:tc>
                    <a:tc>
                      <a:txBody>
                        <a:bodyPr/>
                        <a:lstStyle/>
                        <a:p>
                          <a:endParaRPr lang="en-US"/>
                        </a:p>
                      </a:txBody>
                      <a:tcPr>
                        <a:blipFill>
                          <a:blip r:embed="rId5"/>
                          <a:stretch>
                            <a:fillRect l="-322527" t="-366667" r="-2747" b="-18519"/>
                          </a:stretch>
                        </a:blipFill>
                      </a:tcPr>
                    </a:tc>
                    <a:extLst>
                      <a:ext uri="{0D108BD9-81ED-4DB2-BD59-A6C34878D82A}">
                        <a16:rowId xmlns:a16="http://schemas.microsoft.com/office/drawing/2014/main" val="1143162777"/>
                      </a:ext>
                    </a:extLst>
                  </a:tr>
                </a:tbl>
              </a:graphicData>
            </a:graphic>
          </p:graphicFrame>
        </mc:Fallback>
      </mc:AlternateContent>
      <p:sp>
        <p:nvSpPr>
          <p:cNvPr id="10" name="TextBox 9">
            <a:extLst>
              <a:ext uri="{FF2B5EF4-FFF2-40B4-BE49-F238E27FC236}">
                <a16:creationId xmlns:a16="http://schemas.microsoft.com/office/drawing/2014/main" id="{EEF6A0D1-4C84-4DC3-A198-10360B882464}"/>
              </a:ext>
            </a:extLst>
          </p:cNvPr>
          <p:cNvSpPr txBox="1"/>
          <p:nvPr/>
        </p:nvSpPr>
        <p:spPr>
          <a:xfrm>
            <a:off x="170948" y="3447288"/>
            <a:ext cx="1176925" cy="369332"/>
          </a:xfrm>
          <a:prstGeom prst="rect">
            <a:avLst/>
          </a:prstGeom>
          <a:noFill/>
        </p:spPr>
        <p:txBody>
          <a:bodyPr wrap="none" rtlCol="0">
            <a:spAutoFit/>
          </a:bodyPr>
          <a:lstStyle/>
          <a:p>
            <a:r>
              <a:rPr lang="en-CA" dirty="0"/>
              <a:t>Scenario A</a:t>
            </a:r>
          </a:p>
        </p:txBody>
      </p:sp>
      <p:sp>
        <p:nvSpPr>
          <p:cNvPr id="11" name="TextBox 10">
            <a:extLst>
              <a:ext uri="{FF2B5EF4-FFF2-40B4-BE49-F238E27FC236}">
                <a16:creationId xmlns:a16="http://schemas.microsoft.com/office/drawing/2014/main" id="{013FDDD3-767C-4C82-BEDB-E086A90422C9}"/>
              </a:ext>
            </a:extLst>
          </p:cNvPr>
          <p:cNvSpPr txBox="1"/>
          <p:nvPr/>
        </p:nvSpPr>
        <p:spPr>
          <a:xfrm>
            <a:off x="124211" y="5409445"/>
            <a:ext cx="1176925" cy="369332"/>
          </a:xfrm>
          <a:prstGeom prst="rect">
            <a:avLst/>
          </a:prstGeom>
          <a:noFill/>
        </p:spPr>
        <p:txBody>
          <a:bodyPr wrap="none" rtlCol="0">
            <a:spAutoFit/>
          </a:bodyPr>
          <a:lstStyle/>
          <a:p>
            <a:r>
              <a:rPr lang="en-CA" dirty="0"/>
              <a:t>Scenario B</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E643178-8680-4C9D-8D85-802624B99378}"/>
                  </a:ext>
                </a:extLst>
              </p:cNvPr>
              <p:cNvSpPr txBox="1"/>
              <p:nvPr/>
            </p:nvSpPr>
            <p:spPr>
              <a:xfrm>
                <a:off x="6436498" y="3106016"/>
                <a:ext cx="3174202" cy="676083"/>
              </a:xfrm>
              <a:prstGeom prst="rect">
                <a:avLst/>
              </a:prstGeom>
              <a:noFill/>
              <a:ln w="38100">
                <a:solidFill>
                  <a:schemeClr val="accent1"/>
                </a:solidFill>
              </a:ln>
            </p:spPr>
            <p:txBody>
              <a:bodyPr wrap="none" rtlCol="0">
                <a:spAutoFit/>
              </a:bodyPr>
              <a:lstStyle/>
              <a:p>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𝐵</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i="1">
                            <a:latin typeface="Cambria Math" panose="02040503050406030204" pitchFamily="18" charset="0"/>
                          </a:rPr>
                          <m:t>𝐴</m:t>
                        </m:r>
                      </m:sub>
                    </m:sSub>
                    <m:sSubSup>
                      <m:sSubSupPr>
                        <m:ctrlPr>
                          <a:rPr lang="en-CA" i="1">
                            <a:latin typeface="Cambria Math" panose="02040503050406030204" pitchFamily="18" charset="0"/>
                          </a:rPr>
                        </m:ctrlPr>
                      </m:sSubSupPr>
                      <m:e>
                        <m:r>
                          <a:rPr lang="en-CA" i="1">
                            <a:latin typeface="Cambria Math" panose="02040503050406030204" pitchFamily="18" charset="0"/>
                          </a:rPr>
                          <m:t>𝜃</m:t>
                        </m:r>
                      </m:e>
                      <m:sub>
                        <m:r>
                          <a:rPr lang="en-CA" i="1">
                            <a:latin typeface="Cambria Math" panose="02040503050406030204" pitchFamily="18" charset="0"/>
                          </a:rPr>
                          <m:t>𝐴</m:t>
                        </m:r>
                      </m:sub>
                      <m:sup>
                        <m:r>
                          <a:rPr lang="en-CA" b="0" i="1" smtClean="0">
                            <a:latin typeface="Cambria Math" panose="02040503050406030204" pitchFamily="18" charset="0"/>
                          </a:rPr>
                          <m:t>1</m:t>
                        </m:r>
                      </m:sup>
                    </m:sSubSup>
                    <m:acc>
                      <m:accPr>
                        <m:chr m:val="̅"/>
                        <m:ctrlPr>
                          <a:rPr lang="en-CA" i="1">
                            <a:latin typeface="Cambria Math" panose="02040503050406030204" pitchFamily="18" charset="0"/>
                          </a:rPr>
                        </m:ctrlPr>
                      </m:accPr>
                      <m:e>
                        <m:r>
                          <a:rPr lang="en-CA" i="1">
                            <a:latin typeface="Cambria Math" panose="02040503050406030204" pitchFamily="18" charset="0"/>
                          </a:rPr>
                          <m:t>𝑁</m:t>
                        </m:r>
                      </m:e>
                    </m:acc>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i="1">
                            <a:latin typeface="Cambria Math" panose="02040503050406030204" pitchFamily="18" charset="0"/>
                          </a:rPr>
                          <m:t>𝐵</m:t>
                        </m:r>
                      </m:sub>
                    </m:sSub>
                    <m:sSubSup>
                      <m:sSubSupPr>
                        <m:ctrlPr>
                          <a:rPr lang="en-CA" i="1">
                            <a:latin typeface="Cambria Math" panose="02040503050406030204" pitchFamily="18" charset="0"/>
                          </a:rPr>
                        </m:ctrlPr>
                      </m:sSubSupPr>
                      <m:e>
                        <m:r>
                          <a:rPr lang="en-CA" i="1">
                            <a:latin typeface="Cambria Math" panose="02040503050406030204" pitchFamily="18" charset="0"/>
                          </a:rPr>
                          <m:t>𝜃</m:t>
                        </m:r>
                      </m:e>
                      <m:sub>
                        <m:r>
                          <a:rPr lang="en-CA" i="1">
                            <a:latin typeface="Cambria Math" panose="02040503050406030204" pitchFamily="18" charset="0"/>
                          </a:rPr>
                          <m:t>𝐵</m:t>
                        </m:r>
                      </m:sub>
                      <m:sup>
                        <m:r>
                          <a:rPr lang="en-CA" i="1">
                            <a:latin typeface="Cambria Math" panose="02040503050406030204" pitchFamily="18" charset="0"/>
                          </a:rPr>
                          <m:t>1</m:t>
                        </m:r>
                      </m:sup>
                    </m:sSubSup>
                    <m:acc>
                      <m:accPr>
                        <m:chr m:val="̅"/>
                        <m:ctrlPr>
                          <a:rPr lang="en-CA" i="1">
                            <a:latin typeface="Cambria Math" panose="02040503050406030204" pitchFamily="18" charset="0"/>
                          </a:rPr>
                        </m:ctrlPr>
                      </m:accPr>
                      <m:e>
                        <m:r>
                          <a:rPr lang="en-CA" i="1">
                            <a:latin typeface="Cambria Math" panose="02040503050406030204" pitchFamily="18" charset="0"/>
                          </a:rPr>
                          <m:t>𝑁</m:t>
                        </m:r>
                      </m:e>
                    </m:acc>
                  </m:oMath>
                </a14:m>
                <a:r>
                  <a:rPr lang="en-CA" dirty="0"/>
                  <a:t>+</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i="1">
                            <a:latin typeface="Cambria Math" panose="02040503050406030204" pitchFamily="18" charset="0"/>
                          </a:rPr>
                          <m:t>𝐶</m:t>
                        </m:r>
                      </m:sub>
                    </m:sSub>
                    <m:sSubSup>
                      <m:sSubSupPr>
                        <m:ctrlPr>
                          <a:rPr lang="en-CA" i="1">
                            <a:latin typeface="Cambria Math" panose="02040503050406030204" pitchFamily="18" charset="0"/>
                          </a:rPr>
                        </m:ctrlPr>
                      </m:sSubSupPr>
                      <m:e>
                        <m:r>
                          <a:rPr lang="en-CA" i="1">
                            <a:latin typeface="Cambria Math" panose="02040503050406030204" pitchFamily="18" charset="0"/>
                          </a:rPr>
                          <m:t>𝜃</m:t>
                        </m:r>
                      </m:e>
                      <m:sub>
                        <m:r>
                          <a:rPr lang="en-CA" i="1">
                            <a:latin typeface="Cambria Math" panose="02040503050406030204" pitchFamily="18" charset="0"/>
                          </a:rPr>
                          <m:t>𝐶</m:t>
                        </m:r>
                      </m:sub>
                      <m:sup>
                        <m:r>
                          <a:rPr lang="en-CA" i="1">
                            <a:latin typeface="Cambria Math" panose="02040503050406030204" pitchFamily="18" charset="0"/>
                          </a:rPr>
                          <m:t>1</m:t>
                        </m:r>
                      </m:sup>
                    </m:sSubSup>
                    <m:acc>
                      <m:accPr>
                        <m:chr m:val="̅"/>
                        <m:ctrlPr>
                          <a:rPr lang="en-CA" i="1">
                            <a:latin typeface="Cambria Math" panose="02040503050406030204" pitchFamily="18" charset="0"/>
                          </a:rPr>
                        </m:ctrlPr>
                      </m:accPr>
                      <m:e>
                        <m:r>
                          <a:rPr lang="en-CA" i="1">
                            <a:latin typeface="Cambria Math" panose="02040503050406030204" pitchFamily="18" charset="0"/>
                          </a:rPr>
                          <m:t>𝑁</m:t>
                        </m:r>
                      </m:e>
                    </m:acc>
                  </m:oMath>
                </a14:m>
                <a:endParaRPr lang="en-CA" dirty="0"/>
              </a:p>
              <a:p>
                <a:endParaRPr lang="en-CA" dirty="0"/>
              </a:p>
            </p:txBody>
          </p:sp>
        </mc:Choice>
        <mc:Fallback xmlns="">
          <p:sp>
            <p:nvSpPr>
              <p:cNvPr id="12" name="TextBox 11">
                <a:extLst>
                  <a:ext uri="{FF2B5EF4-FFF2-40B4-BE49-F238E27FC236}">
                    <a16:creationId xmlns:a16="http://schemas.microsoft.com/office/drawing/2014/main" id="{2E643178-8680-4C9D-8D85-802624B99378}"/>
                  </a:ext>
                </a:extLst>
              </p:cNvPr>
              <p:cNvSpPr txBox="1">
                <a:spLocks noRot="1" noChangeAspect="1" noMove="1" noResize="1" noEditPoints="1" noAdjustHandles="1" noChangeArrowheads="1" noChangeShapeType="1" noTextEdit="1"/>
              </p:cNvSpPr>
              <p:nvPr/>
            </p:nvSpPr>
            <p:spPr>
              <a:xfrm>
                <a:off x="6436498" y="3106016"/>
                <a:ext cx="3174202" cy="676083"/>
              </a:xfrm>
              <a:prstGeom prst="rect">
                <a:avLst/>
              </a:prstGeom>
              <a:blipFill>
                <a:blip r:embed="rId6"/>
                <a:stretch>
                  <a:fillRect t="-1724" r="-7021"/>
                </a:stretch>
              </a:blipFill>
              <a:ln w="38100">
                <a:solidFill>
                  <a:schemeClr val="accent1"/>
                </a:solidFill>
              </a:ln>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9DBE8DF-0EFD-40F3-9380-50082B314C0A}"/>
                  </a:ext>
                </a:extLst>
              </p:cNvPr>
              <p:cNvSpPr txBox="1"/>
              <p:nvPr/>
            </p:nvSpPr>
            <p:spPr>
              <a:xfrm>
                <a:off x="6484210" y="5594111"/>
                <a:ext cx="3178371" cy="675378"/>
              </a:xfrm>
              <a:prstGeom prst="rect">
                <a:avLst/>
              </a:prstGeom>
              <a:noFill/>
              <a:ln w="28575">
                <a:solidFill>
                  <a:srgbClr val="C00000"/>
                </a:solidFill>
              </a:ln>
            </p:spPr>
            <p:txBody>
              <a:bodyPr wrap="none" rtlCol="0">
                <a:spAutoFit/>
              </a:bodyPr>
              <a:lstStyle/>
              <a:p>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𝐵</m:t>
                        </m:r>
                      </m:e>
                      <m:sub>
                        <m:r>
                          <a:rPr lang="en-CA" b="0" i="1" smtClean="0">
                            <a:latin typeface="Cambria Math" panose="02040503050406030204" pitchFamily="18" charset="0"/>
                          </a:rPr>
                          <m:t>2</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i="1">
                            <a:latin typeface="Cambria Math" panose="02040503050406030204" pitchFamily="18" charset="0"/>
                          </a:rPr>
                          <m:t>𝐴</m:t>
                        </m:r>
                      </m:sub>
                    </m:sSub>
                    <m:sSubSup>
                      <m:sSubSupPr>
                        <m:ctrlPr>
                          <a:rPr lang="en-CA" i="1">
                            <a:latin typeface="Cambria Math" panose="02040503050406030204" pitchFamily="18" charset="0"/>
                          </a:rPr>
                        </m:ctrlPr>
                      </m:sSubSupPr>
                      <m:e>
                        <m:r>
                          <a:rPr lang="en-CA" i="1">
                            <a:latin typeface="Cambria Math" panose="02040503050406030204" pitchFamily="18" charset="0"/>
                          </a:rPr>
                          <m:t>𝜃</m:t>
                        </m:r>
                      </m:e>
                      <m:sub>
                        <m:r>
                          <a:rPr lang="en-CA" i="1">
                            <a:latin typeface="Cambria Math" panose="02040503050406030204" pitchFamily="18" charset="0"/>
                          </a:rPr>
                          <m:t>𝐴</m:t>
                        </m:r>
                      </m:sub>
                      <m:sup>
                        <m:r>
                          <a:rPr lang="en-CA" i="1">
                            <a:latin typeface="Cambria Math" panose="02040503050406030204" pitchFamily="18" charset="0"/>
                          </a:rPr>
                          <m:t>2</m:t>
                        </m:r>
                      </m:sup>
                    </m:sSubSup>
                    <m:acc>
                      <m:accPr>
                        <m:chr m:val="̅"/>
                        <m:ctrlPr>
                          <a:rPr lang="en-CA" i="1">
                            <a:latin typeface="Cambria Math" panose="02040503050406030204" pitchFamily="18" charset="0"/>
                          </a:rPr>
                        </m:ctrlPr>
                      </m:accPr>
                      <m:e>
                        <m:r>
                          <a:rPr lang="en-CA" i="1">
                            <a:latin typeface="Cambria Math" panose="02040503050406030204" pitchFamily="18" charset="0"/>
                          </a:rPr>
                          <m:t>𝑁</m:t>
                        </m:r>
                      </m:e>
                    </m:acc>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i="1">
                            <a:latin typeface="Cambria Math" panose="02040503050406030204" pitchFamily="18" charset="0"/>
                          </a:rPr>
                          <m:t>𝐵</m:t>
                        </m:r>
                      </m:sub>
                    </m:sSub>
                    <m:sSubSup>
                      <m:sSubSupPr>
                        <m:ctrlPr>
                          <a:rPr lang="en-CA" i="1">
                            <a:latin typeface="Cambria Math" panose="02040503050406030204" pitchFamily="18" charset="0"/>
                          </a:rPr>
                        </m:ctrlPr>
                      </m:sSubSupPr>
                      <m:e>
                        <m:r>
                          <a:rPr lang="en-CA" i="1">
                            <a:latin typeface="Cambria Math" panose="02040503050406030204" pitchFamily="18" charset="0"/>
                          </a:rPr>
                          <m:t>𝜃</m:t>
                        </m:r>
                      </m:e>
                      <m:sub>
                        <m:r>
                          <a:rPr lang="en-CA" i="1">
                            <a:latin typeface="Cambria Math" panose="02040503050406030204" pitchFamily="18" charset="0"/>
                          </a:rPr>
                          <m:t>𝐵</m:t>
                        </m:r>
                      </m:sub>
                      <m:sup>
                        <m:r>
                          <a:rPr lang="en-CA" b="0" i="1" smtClean="0">
                            <a:latin typeface="Cambria Math" panose="02040503050406030204" pitchFamily="18" charset="0"/>
                          </a:rPr>
                          <m:t>2</m:t>
                        </m:r>
                      </m:sup>
                    </m:sSubSup>
                    <m:acc>
                      <m:accPr>
                        <m:chr m:val="̅"/>
                        <m:ctrlPr>
                          <a:rPr lang="en-CA" i="1">
                            <a:latin typeface="Cambria Math" panose="02040503050406030204" pitchFamily="18" charset="0"/>
                          </a:rPr>
                        </m:ctrlPr>
                      </m:accPr>
                      <m:e>
                        <m:r>
                          <a:rPr lang="en-CA" i="1">
                            <a:latin typeface="Cambria Math" panose="02040503050406030204" pitchFamily="18" charset="0"/>
                          </a:rPr>
                          <m:t>𝑁</m:t>
                        </m:r>
                      </m:e>
                    </m:acc>
                  </m:oMath>
                </a14:m>
                <a:r>
                  <a:rPr lang="en-CA" dirty="0"/>
                  <a:t>+</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i="1">
                            <a:latin typeface="Cambria Math" panose="02040503050406030204" pitchFamily="18" charset="0"/>
                          </a:rPr>
                          <m:t>𝐶</m:t>
                        </m:r>
                      </m:sub>
                    </m:sSub>
                    <m:sSubSup>
                      <m:sSubSupPr>
                        <m:ctrlPr>
                          <a:rPr lang="en-CA" i="1">
                            <a:latin typeface="Cambria Math" panose="02040503050406030204" pitchFamily="18" charset="0"/>
                          </a:rPr>
                        </m:ctrlPr>
                      </m:sSubSupPr>
                      <m:e>
                        <m:r>
                          <a:rPr lang="en-CA" i="1">
                            <a:latin typeface="Cambria Math" panose="02040503050406030204" pitchFamily="18" charset="0"/>
                          </a:rPr>
                          <m:t>𝜃</m:t>
                        </m:r>
                      </m:e>
                      <m:sub>
                        <m:r>
                          <a:rPr lang="en-CA" i="1">
                            <a:latin typeface="Cambria Math" panose="02040503050406030204" pitchFamily="18" charset="0"/>
                          </a:rPr>
                          <m:t>𝐶</m:t>
                        </m:r>
                      </m:sub>
                      <m:sup>
                        <m:r>
                          <a:rPr lang="en-CA" b="0" i="1" smtClean="0">
                            <a:latin typeface="Cambria Math" panose="02040503050406030204" pitchFamily="18" charset="0"/>
                          </a:rPr>
                          <m:t>2</m:t>
                        </m:r>
                      </m:sup>
                    </m:sSubSup>
                    <m:acc>
                      <m:accPr>
                        <m:chr m:val="̅"/>
                        <m:ctrlPr>
                          <a:rPr lang="en-CA" i="1">
                            <a:latin typeface="Cambria Math" panose="02040503050406030204" pitchFamily="18" charset="0"/>
                          </a:rPr>
                        </m:ctrlPr>
                      </m:accPr>
                      <m:e>
                        <m:r>
                          <a:rPr lang="en-CA" i="1">
                            <a:latin typeface="Cambria Math" panose="02040503050406030204" pitchFamily="18" charset="0"/>
                          </a:rPr>
                          <m:t>𝑁</m:t>
                        </m:r>
                      </m:e>
                    </m:acc>
                  </m:oMath>
                </a14:m>
                <a:endParaRPr lang="en-CA" dirty="0"/>
              </a:p>
              <a:p>
                <a:endParaRPr lang="en-CA" dirty="0"/>
              </a:p>
            </p:txBody>
          </p:sp>
        </mc:Choice>
        <mc:Fallback xmlns="">
          <p:sp>
            <p:nvSpPr>
              <p:cNvPr id="14" name="TextBox 13">
                <a:extLst>
                  <a:ext uri="{FF2B5EF4-FFF2-40B4-BE49-F238E27FC236}">
                    <a16:creationId xmlns:a16="http://schemas.microsoft.com/office/drawing/2014/main" id="{99DBE8DF-0EFD-40F3-9380-50082B314C0A}"/>
                  </a:ext>
                </a:extLst>
              </p:cNvPr>
              <p:cNvSpPr txBox="1">
                <a:spLocks noRot="1" noChangeAspect="1" noMove="1" noResize="1" noEditPoints="1" noAdjustHandles="1" noChangeArrowheads="1" noChangeShapeType="1" noTextEdit="1"/>
              </p:cNvSpPr>
              <p:nvPr/>
            </p:nvSpPr>
            <p:spPr>
              <a:xfrm>
                <a:off x="6484210" y="5594111"/>
                <a:ext cx="3178371" cy="675378"/>
              </a:xfrm>
              <a:prstGeom prst="rect">
                <a:avLst/>
              </a:prstGeom>
              <a:blipFill>
                <a:blip r:embed="rId7"/>
                <a:stretch>
                  <a:fillRect t="-1739" r="-7795"/>
                </a:stretch>
              </a:blipFill>
              <a:ln w="28575">
                <a:solidFill>
                  <a:srgbClr val="C00000"/>
                </a:solidFill>
              </a:ln>
            </p:spPr>
            <p:txBody>
              <a:bodyPr/>
              <a:lstStyle/>
              <a:p>
                <a:r>
                  <a:rPr lang="en-CA">
                    <a:noFill/>
                  </a:rPr>
                  <a:t> </a:t>
                </a:r>
              </a:p>
            </p:txBody>
          </p:sp>
        </mc:Fallback>
      </mc:AlternateContent>
      <p:sp>
        <p:nvSpPr>
          <p:cNvPr id="15" name="Arrow: Down 14">
            <a:extLst>
              <a:ext uri="{FF2B5EF4-FFF2-40B4-BE49-F238E27FC236}">
                <a16:creationId xmlns:a16="http://schemas.microsoft.com/office/drawing/2014/main" id="{38AB2972-58D1-49A0-9333-454A54EDD9D5}"/>
              </a:ext>
            </a:extLst>
          </p:cNvPr>
          <p:cNvSpPr/>
          <p:nvPr/>
        </p:nvSpPr>
        <p:spPr>
          <a:xfrm>
            <a:off x="7896158" y="3816620"/>
            <a:ext cx="182880" cy="5702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Arrow: Down 15">
            <a:extLst>
              <a:ext uri="{FF2B5EF4-FFF2-40B4-BE49-F238E27FC236}">
                <a16:creationId xmlns:a16="http://schemas.microsoft.com/office/drawing/2014/main" id="{C367EBFA-63E4-4EBB-AAC4-A73B314D8BFC}"/>
              </a:ext>
            </a:extLst>
          </p:cNvPr>
          <p:cNvSpPr/>
          <p:nvPr/>
        </p:nvSpPr>
        <p:spPr>
          <a:xfrm rot="10800000">
            <a:off x="7932161" y="4954827"/>
            <a:ext cx="182880" cy="5702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5929559-7CEC-4514-87F6-E863C21A5A3F}"/>
                  </a:ext>
                </a:extLst>
              </p:cNvPr>
              <p:cNvSpPr txBox="1"/>
              <p:nvPr/>
            </p:nvSpPr>
            <p:spPr>
              <a:xfrm>
                <a:off x="6587245" y="4342436"/>
                <a:ext cx="2872709" cy="646331"/>
              </a:xfrm>
              <a:prstGeom prst="rect">
                <a:avLst/>
              </a:prstGeom>
              <a:noFill/>
            </p:spPr>
            <p:txBody>
              <a:bodyPr wrap="none" rtlCol="0">
                <a:spAutoFit/>
              </a:bodyPr>
              <a:lstStyle/>
              <a:p>
                <a:pPr/>
                <a:r>
                  <a:rPr lang="en-CA" b="0" i="0" dirty="0">
                    <a:latin typeface="Cambria Math" panose="02040503050406030204" pitchFamily="18" charset="0"/>
                  </a:rPr>
                  <a:t>Incremental Budget Impact</a:t>
                </a:r>
                <a:br>
                  <a:rPr lang="en-CA" b="0" i="0" dirty="0">
                    <a:latin typeface="Cambria Math" panose="02040503050406030204" pitchFamily="18" charset="0"/>
                  </a:rPr>
                </a:b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𝐵</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𝐵</m:t>
                          </m:r>
                        </m:e>
                        <m:sub>
                          <m:r>
                            <a:rPr lang="en-CA" b="0" i="1" smtClean="0">
                              <a:latin typeface="Cambria Math" panose="02040503050406030204" pitchFamily="18" charset="0"/>
                            </a:rPr>
                            <m:t>2</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𝐵</m:t>
                          </m:r>
                        </m:e>
                        <m:sub>
                          <m:r>
                            <a:rPr lang="en-CA" b="0" i="1" smtClean="0">
                              <a:latin typeface="Cambria Math" panose="02040503050406030204" pitchFamily="18" charset="0"/>
                            </a:rPr>
                            <m:t>1</m:t>
                          </m:r>
                        </m:sub>
                      </m:sSub>
                    </m:oMath>
                  </m:oMathPara>
                </a14:m>
                <a:endParaRPr lang="en-CA" dirty="0"/>
              </a:p>
            </p:txBody>
          </p:sp>
        </mc:Choice>
        <mc:Fallback xmlns="">
          <p:sp>
            <p:nvSpPr>
              <p:cNvPr id="17" name="TextBox 16">
                <a:extLst>
                  <a:ext uri="{FF2B5EF4-FFF2-40B4-BE49-F238E27FC236}">
                    <a16:creationId xmlns:a16="http://schemas.microsoft.com/office/drawing/2014/main" id="{85929559-7CEC-4514-87F6-E863C21A5A3F}"/>
                  </a:ext>
                </a:extLst>
              </p:cNvPr>
              <p:cNvSpPr txBox="1">
                <a:spLocks noRot="1" noChangeAspect="1" noMove="1" noResize="1" noEditPoints="1" noAdjustHandles="1" noChangeArrowheads="1" noChangeShapeType="1" noTextEdit="1"/>
              </p:cNvSpPr>
              <p:nvPr/>
            </p:nvSpPr>
            <p:spPr>
              <a:xfrm>
                <a:off x="6587245" y="4342436"/>
                <a:ext cx="2872709" cy="646331"/>
              </a:xfrm>
              <a:prstGeom prst="rect">
                <a:avLst/>
              </a:prstGeom>
              <a:blipFill>
                <a:blip r:embed="rId8"/>
                <a:stretch>
                  <a:fillRect l="-1911" t="-5660" r="-1274"/>
                </a:stretch>
              </a:blipFill>
            </p:spPr>
            <p:txBody>
              <a:bodyPr/>
              <a:lstStyle/>
              <a:p>
                <a:r>
                  <a:rPr lang="en-CA">
                    <a:noFill/>
                  </a:rPr>
                  <a:t> </a:t>
                </a:r>
              </a:p>
            </p:txBody>
          </p:sp>
        </mc:Fallback>
      </mc:AlternateContent>
    </p:spTree>
    <p:extLst>
      <p:ext uri="{BB962C8B-B14F-4D97-AF65-F5344CB8AC3E}">
        <p14:creationId xmlns:p14="http://schemas.microsoft.com/office/powerpoint/2010/main" val="1399676490"/>
      </p:ext>
    </p:extLst>
  </p:cSld>
  <p:clrMapOvr>
    <a:masterClrMapping/>
  </p:clrMapOvr>
  <mc:AlternateContent xmlns:mc="http://schemas.openxmlformats.org/markup-compatibility/2006" xmlns:p14="http://schemas.microsoft.com/office/powerpoint/2010/main">
    <mc:Choice Requires="p14">
      <p:transition spd="slow" p14:dur="2000" advTm="43407"/>
    </mc:Choice>
    <mc:Fallback xmlns="">
      <p:transition spd="slow" advTm="43407"/>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91AC4-F37E-DD9B-39D7-F2ABD0C6F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BC4C7-E49D-EA16-0A24-235C43DC777B}"/>
              </a:ext>
            </a:extLst>
          </p:cNvPr>
          <p:cNvSpPr>
            <a:spLocks noGrp="1"/>
          </p:cNvSpPr>
          <p:nvPr>
            <p:ph type="title"/>
          </p:nvPr>
        </p:nvSpPr>
        <p:spPr>
          <a:xfrm>
            <a:off x="482600" y="597408"/>
            <a:ext cx="10634472" cy="1117092"/>
          </a:xfrm>
        </p:spPr>
        <p:txBody>
          <a:bodyPr/>
          <a:lstStyle/>
          <a:p>
            <a:r>
              <a:rPr lang="en-CA" sz="4800" dirty="0"/>
              <a:t>Conducting Budget Impact Analysis</a:t>
            </a:r>
          </a:p>
        </p:txBody>
      </p:sp>
      <p:sp>
        <p:nvSpPr>
          <p:cNvPr id="3" name="Content Placeholder 2">
            <a:extLst>
              <a:ext uri="{FF2B5EF4-FFF2-40B4-BE49-F238E27FC236}">
                <a16:creationId xmlns:a16="http://schemas.microsoft.com/office/drawing/2014/main" id="{3839E6BC-7EB9-9DF5-A6EE-2A2A38C893B9}"/>
              </a:ext>
            </a:extLst>
          </p:cNvPr>
          <p:cNvSpPr>
            <a:spLocks noGrp="1"/>
          </p:cNvSpPr>
          <p:nvPr>
            <p:ph idx="1"/>
          </p:nvPr>
        </p:nvSpPr>
        <p:spPr>
          <a:xfrm>
            <a:off x="482600" y="1943100"/>
            <a:ext cx="10506991" cy="3936491"/>
          </a:xfrm>
        </p:spPr>
        <p:txBody>
          <a:bodyPr/>
          <a:lstStyle/>
          <a:p>
            <a:pPr marL="342900" indent="-342900">
              <a:buFont typeface="Wingdings" panose="05000000000000000000" pitchFamily="2" charset="2"/>
              <a:buChar char="§"/>
            </a:pPr>
            <a:r>
              <a:rPr lang="en-CA" dirty="0"/>
              <a:t>Budget impact analysis considers two scenarios.</a:t>
            </a:r>
            <a:br>
              <a:rPr lang="en-CA" dirty="0"/>
            </a:br>
            <a:r>
              <a:rPr lang="en-CA" dirty="0"/>
              <a:t>-A scenario where a treatment is available among current treatments.</a:t>
            </a:r>
            <a:br>
              <a:rPr lang="en-CA" dirty="0"/>
            </a:br>
            <a:r>
              <a:rPr lang="en-CA" dirty="0"/>
              <a:t>-A scenario where the treatment is not available among current treatments.</a:t>
            </a:r>
          </a:p>
          <a:p>
            <a:pPr marL="342900" indent="-342900">
              <a:buFont typeface="Wingdings" panose="05000000000000000000" pitchFamily="2" charset="2"/>
              <a:buChar char="§"/>
            </a:pPr>
            <a:r>
              <a:rPr lang="en-CA" dirty="0"/>
              <a:t>We care about how the inclusion of a treatment will impact spending for a particular condition or set of conditions.</a:t>
            </a:r>
          </a:p>
          <a:p>
            <a:pPr marL="342900" indent="-342900">
              <a:buFont typeface="Wingdings" panose="05000000000000000000" pitchFamily="2" charset="2"/>
              <a:buChar char="§"/>
            </a:pPr>
            <a:r>
              <a:rPr lang="en-CA" b="1" dirty="0"/>
              <a:t>ALL BUDGET IMPACT ANALYSIS IS AN ANALYSIS OF A CHANGE IN SPENDING DUE TO INTRODUCTION OF A NEW TREATMENT.</a:t>
            </a:r>
          </a:p>
        </p:txBody>
      </p:sp>
    </p:spTree>
    <p:extLst>
      <p:ext uri="{BB962C8B-B14F-4D97-AF65-F5344CB8AC3E}">
        <p14:creationId xmlns:p14="http://schemas.microsoft.com/office/powerpoint/2010/main" val="572100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E8BB6-6823-C13B-E40A-959535448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BEB5D-D335-0109-A3CA-5DAFF6A3F0E9}"/>
              </a:ext>
            </a:extLst>
          </p:cNvPr>
          <p:cNvSpPr>
            <a:spLocks noGrp="1"/>
          </p:cNvSpPr>
          <p:nvPr>
            <p:ph type="title"/>
          </p:nvPr>
        </p:nvSpPr>
        <p:spPr>
          <a:xfrm>
            <a:off x="482600" y="597408"/>
            <a:ext cx="10634472" cy="1117092"/>
          </a:xfrm>
        </p:spPr>
        <p:txBody>
          <a:bodyPr>
            <a:normAutofit fontScale="90000"/>
          </a:bodyPr>
          <a:lstStyle/>
          <a:p>
            <a:r>
              <a:rPr lang="en-CA" sz="4800" dirty="0"/>
              <a:t>Scenario Analysis In Budget Impact Analysis</a:t>
            </a:r>
          </a:p>
        </p:txBody>
      </p:sp>
      <p:graphicFrame>
        <p:nvGraphicFramePr>
          <p:cNvPr id="5" name="Content Placeholder 3">
            <a:extLst>
              <a:ext uri="{FF2B5EF4-FFF2-40B4-BE49-F238E27FC236}">
                <a16:creationId xmlns:a16="http://schemas.microsoft.com/office/drawing/2014/main" id="{54E9E175-A41B-3EE8-F053-8E8DB7A09D92}"/>
              </a:ext>
            </a:extLst>
          </p:cNvPr>
          <p:cNvGraphicFramePr>
            <a:graphicFrameLocks/>
          </p:cNvGraphicFramePr>
          <p:nvPr/>
        </p:nvGraphicFramePr>
        <p:xfrm>
          <a:off x="5069439" y="3936205"/>
          <a:ext cx="6934200" cy="1985554"/>
        </p:xfrm>
        <a:graphic>
          <a:graphicData uri="http://schemas.openxmlformats.org/drawingml/2006/table">
            <a:tbl>
              <a:tblPr firstRow="1" bandRow="1">
                <a:tableStyleId>{5C22544A-7EE6-4342-B048-85BDC9FD1C3A}</a:tableStyleId>
              </a:tblPr>
              <a:tblGrid>
                <a:gridCol w="1733550">
                  <a:extLst>
                    <a:ext uri="{9D8B030D-6E8A-4147-A177-3AD203B41FA5}">
                      <a16:colId xmlns:a16="http://schemas.microsoft.com/office/drawing/2014/main" val="1664120568"/>
                    </a:ext>
                  </a:extLst>
                </a:gridCol>
                <a:gridCol w="1733550">
                  <a:extLst>
                    <a:ext uri="{9D8B030D-6E8A-4147-A177-3AD203B41FA5}">
                      <a16:colId xmlns:a16="http://schemas.microsoft.com/office/drawing/2014/main" val="1932314961"/>
                    </a:ext>
                  </a:extLst>
                </a:gridCol>
                <a:gridCol w="1733550">
                  <a:extLst>
                    <a:ext uri="{9D8B030D-6E8A-4147-A177-3AD203B41FA5}">
                      <a16:colId xmlns:a16="http://schemas.microsoft.com/office/drawing/2014/main" val="2280636144"/>
                    </a:ext>
                  </a:extLst>
                </a:gridCol>
                <a:gridCol w="1733550">
                  <a:extLst>
                    <a:ext uri="{9D8B030D-6E8A-4147-A177-3AD203B41FA5}">
                      <a16:colId xmlns:a16="http://schemas.microsoft.com/office/drawing/2014/main" val="3109363647"/>
                    </a:ext>
                  </a:extLst>
                </a:gridCol>
              </a:tblGrid>
              <a:tr h="413657">
                <a:tc>
                  <a:txBody>
                    <a:bodyPr/>
                    <a:lstStyle/>
                    <a:p>
                      <a:r>
                        <a:rPr lang="en-CA" sz="1600" dirty="0"/>
                        <a:t>Drug</a:t>
                      </a:r>
                    </a:p>
                  </a:txBody>
                  <a:tcPr/>
                </a:tc>
                <a:tc>
                  <a:txBody>
                    <a:bodyPr/>
                    <a:lstStyle/>
                    <a:p>
                      <a:r>
                        <a:rPr lang="en-CA" sz="1600" dirty="0"/>
                        <a:t>Patients</a:t>
                      </a:r>
                    </a:p>
                  </a:txBody>
                  <a:tcPr/>
                </a:tc>
                <a:tc>
                  <a:txBody>
                    <a:bodyPr/>
                    <a:lstStyle/>
                    <a:p>
                      <a:r>
                        <a:rPr lang="en-CA" sz="1600" dirty="0"/>
                        <a:t>Costs Per Unit</a:t>
                      </a:r>
                    </a:p>
                  </a:txBody>
                  <a:tcPr/>
                </a:tc>
                <a:tc>
                  <a:txBody>
                    <a:bodyPr/>
                    <a:lstStyle/>
                    <a:p>
                      <a:r>
                        <a:rPr lang="en-CA" sz="1600" dirty="0"/>
                        <a:t>Market Share</a:t>
                      </a:r>
                    </a:p>
                  </a:txBody>
                  <a:tcPr/>
                </a:tc>
                <a:extLst>
                  <a:ext uri="{0D108BD9-81ED-4DB2-BD59-A6C34878D82A}">
                    <a16:rowId xmlns:a16="http://schemas.microsoft.com/office/drawing/2014/main" val="532233631"/>
                  </a:ext>
                </a:extLst>
              </a:tr>
              <a:tr h="413657">
                <a:tc>
                  <a:txBody>
                    <a:bodyPr/>
                    <a:lstStyle/>
                    <a:p>
                      <a:pPr>
                        <a:buNone/>
                      </a:pPr>
                      <a:r>
                        <a:rPr lang="en-CA" sz="1600" dirty="0"/>
                        <a:t>Surgical Procedure</a:t>
                      </a:r>
                    </a:p>
                  </a:txBody>
                  <a:tcPr anchor="ctr"/>
                </a:tc>
                <a:tc>
                  <a:txBody>
                    <a:bodyPr/>
                    <a:lstStyle/>
                    <a:p>
                      <a:pPr>
                        <a:buNone/>
                      </a:pPr>
                      <a:r>
                        <a:rPr lang="en-CA" b="1" dirty="0"/>
                        <a:t>3,200 patients</a:t>
                      </a:r>
                      <a:endParaRPr lang="en-CA" dirty="0"/>
                    </a:p>
                  </a:txBody>
                  <a:tcPr anchor="ctr"/>
                </a:tc>
                <a:tc>
                  <a:txBody>
                    <a:bodyPr/>
                    <a:lstStyle/>
                    <a:p>
                      <a:pPr>
                        <a:buNone/>
                      </a:pPr>
                      <a:r>
                        <a:rPr lang="en-CA" b="1" dirty="0"/>
                        <a:t>$9000</a:t>
                      </a:r>
                      <a:endParaRPr lang="en-CA" dirty="0"/>
                    </a:p>
                  </a:txBody>
                  <a:tcPr anchor="ctr"/>
                </a:tc>
                <a:tc>
                  <a:txBody>
                    <a:bodyPr/>
                    <a:lstStyle/>
                    <a:p>
                      <a:pPr>
                        <a:buNone/>
                      </a:pPr>
                      <a:r>
                        <a:rPr lang="en-CA" dirty="0"/>
                        <a:t>0.7</a:t>
                      </a:r>
                    </a:p>
                  </a:txBody>
                  <a:tcPr anchor="ctr"/>
                </a:tc>
                <a:extLst>
                  <a:ext uri="{0D108BD9-81ED-4DB2-BD59-A6C34878D82A}">
                    <a16:rowId xmlns:a16="http://schemas.microsoft.com/office/drawing/2014/main" val="3756861836"/>
                  </a:ext>
                </a:extLst>
              </a:tr>
              <a:tr h="413657">
                <a:tc>
                  <a:txBody>
                    <a:bodyPr/>
                    <a:lstStyle/>
                    <a:p>
                      <a:pPr>
                        <a:buNone/>
                      </a:pPr>
                      <a:r>
                        <a:rPr lang="en-CA" sz="1600" dirty="0"/>
                        <a:t>Advanced Biologic</a:t>
                      </a:r>
                    </a:p>
                  </a:txBody>
                  <a:tcPr anchor="ctr"/>
                </a:tc>
                <a:tc>
                  <a:txBody>
                    <a:bodyPr/>
                    <a:lstStyle/>
                    <a:p>
                      <a:pPr>
                        <a:buNone/>
                      </a:pPr>
                      <a:r>
                        <a:rPr lang="en-CA" b="1" dirty="0"/>
                        <a:t>1,100 patients</a:t>
                      </a:r>
                      <a:endParaRPr lang="en-CA" dirty="0"/>
                    </a:p>
                  </a:txBody>
                  <a:tcPr anchor="ctr"/>
                </a:tc>
                <a:tc>
                  <a:txBody>
                    <a:bodyPr/>
                    <a:lstStyle/>
                    <a:p>
                      <a:pPr>
                        <a:buNone/>
                      </a:pPr>
                      <a:r>
                        <a:rPr lang="en-CA" b="1" dirty="0"/>
                        <a:t>$20,000</a:t>
                      </a:r>
                      <a:endParaRPr lang="en-CA" dirty="0"/>
                    </a:p>
                  </a:txBody>
                  <a:tcPr anchor="ctr"/>
                </a:tc>
                <a:tc>
                  <a:txBody>
                    <a:bodyPr/>
                    <a:lstStyle/>
                    <a:p>
                      <a:pPr>
                        <a:buNone/>
                      </a:pPr>
                      <a:r>
                        <a:rPr lang="en-CA" dirty="0"/>
                        <a:t>0.3</a:t>
                      </a:r>
                    </a:p>
                  </a:txBody>
                  <a:tcPr anchor="ctr"/>
                </a:tc>
                <a:extLst>
                  <a:ext uri="{0D108BD9-81ED-4DB2-BD59-A6C34878D82A}">
                    <a16:rowId xmlns:a16="http://schemas.microsoft.com/office/drawing/2014/main" val="3513787475"/>
                  </a:ext>
                </a:extLst>
              </a:tr>
              <a:tr h="413657">
                <a:tc>
                  <a:txBody>
                    <a:bodyPr/>
                    <a:lstStyle/>
                    <a:p>
                      <a:pPr>
                        <a:buNone/>
                      </a:pPr>
                      <a:r>
                        <a:rPr lang="en-CA" sz="1600" dirty="0"/>
                        <a:t>Gene Therapy</a:t>
                      </a:r>
                    </a:p>
                  </a:txBody>
                  <a:tcPr anchor="ctr"/>
                </a:tc>
                <a:tc>
                  <a:txBody>
                    <a:bodyPr/>
                    <a:lstStyle/>
                    <a:p>
                      <a:pPr>
                        <a:buNone/>
                      </a:pPr>
                      <a:r>
                        <a:rPr lang="en-CA" b="1" dirty="0"/>
                        <a:t>150 patients</a:t>
                      </a:r>
                      <a:endParaRPr lang="en-CA" dirty="0"/>
                    </a:p>
                  </a:txBody>
                  <a:tcPr anchor="ctr"/>
                </a:tc>
                <a:tc>
                  <a:txBody>
                    <a:bodyPr/>
                    <a:lstStyle/>
                    <a:p>
                      <a:pPr>
                        <a:buNone/>
                      </a:pPr>
                      <a:r>
                        <a:rPr lang="en-CA" b="1" dirty="0"/>
                        <a:t>$65,000</a:t>
                      </a:r>
                      <a:endParaRPr lang="en-CA" dirty="0"/>
                    </a:p>
                  </a:txBody>
                  <a:tcPr anchor="ctr"/>
                </a:tc>
                <a:tc>
                  <a:txBody>
                    <a:bodyPr/>
                    <a:lstStyle/>
                    <a:p>
                      <a:pPr>
                        <a:buNone/>
                      </a:pPr>
                      <a:r>
                        <a:rPr lang="en-CA" dirty="0"/>
                        <a:t>0</a:t>
                      </a:r>
                    </a:p>
                  </a:txBody>
                  <a:tcPr anchor="ctr"/>
                </a:tc>
                <a:extLst>
                  <a:ext uri="{0D108BD9-81ED-4DB2-BD59-A6C34878D82A}">
                    <a16:rowId xmlns:a16="http://schemas.microsoft.com/office/drawing/2014/main" val="888119875"/>
                  </a:ext>
                </a:extLst>
              </a:tr>
            </a:tbl>
          </a:graphicData>
        </a:graphic>
      </p:graphicFrame>
      <p:sp>
        <p:nvSpPr>
          <p:cNvPr id="7" name="Content Placeholder 6">
            <a:extLst>
              <a:ext uri="{FF2B5EF4-FFF2-40B4-BE49-F238E27FC236}">
                <a16:creationId xmlns:a16="http://schemas.microsoft.com/office/drawing/2014/main" id="{EFD4B802-C1CF-A5F7-8A4A-D8EBE1DB8DA6}"/>
              </a:ext>
            </a:extLst>
          </p:cNvPr>
          <p:cNvSpPr>
            <a:spLocks noGrp="1"/>
          </p:cNvSpPr>
          <p:nvPr>
            <p:ph idx="1"/>
          </p:nvPr>
        </p:nvSpPr>
        <p:spPr>
          <a:xfrm>
            <a:off x="482600" y="2409826"/>
            <a:ext cx="4051299" cy="3431666"/>
          </a:xfrm>
        </p:spPr>
        <p:txBody>
          <a:bodyPr/>
          <a:lstStyle/>
          <a:p>
            <a:r>
              <a:rPr lang="en-CA" dirty="0"/>
              <a:t>To conduct a scenario analysis, we are interested in how the Budget Impact Changes when a New Treatment is Introduced. </a:t>
            </a:r>
          </a:p>
        </p:txBody>
      </p:sp>
      <p:sp>
        <p:nvSpPr>
          <p:cNvPr id="10" name="TextBox 9">
            <a:extLst>
              <a:ext uri="{FF2B5EF4-FFF2-40B4-BE49-F238E27FC236}">
                <a16:creationId xmlns:a16="http://schemas.microsoft.com/office/drawing/2014/main" id="{54036759-DCEB-745B-2F55-1033D25F9017}"/>
              </a:ext>
            </a:extLst>
          </p:cNvPr>
          <p:cNvSpPr txBox="1"/>
          <p:nvPr/>
        </p:nvSpPr>
        <p:spPr>
          <a:xfrm rot="16200000">
            <a:off x="4300271" y="2521125"/>
            <a:ext cx="1277914" cy="369332"/>
          </a:xfrm>
          <a:prstGeom prst="rect">
            <a:avLst/>
          </a:prstGeom>
          <a:noFill/>
        </p:spPr>
        <p:txBody>
          <a:bodyPr wrap="none" rtlCol="0">
            <a:spAutoFit/>
          </a:bodyPr>
          <a:lstStyle/>
          <a:p>
            <a:r>
              <a:rPr lang="en-CA" dirty="0"/>
              <a:t>Scenario A</a:t>
            </a:r>
          </a:p>
        </p:txBody>
      </p:sp>
      <p:sp>
        <p:nvSpPr>
          <p:cNvPr id="11" name="TextBox 10">
            <a:extLst>
              <a:ext uri="{FF2B5EF4-FFF2-40B4-BE49-F238E27FC236}">
                <a16:creationId xmlns:a16="http://schemas.microsoft.com/office/drawing/2014/main" id="{136515A5-D5FC-69C0-EE76-E26499082920}"/>
              </a:ext>
            </a:extLst>
          </p:cNvPr>
          <p:cNvSpPr txBox="1"/>
          <p:nvPr/>
        </p:nvSpPr>
        <p:spPr>
          <a:xfrm rot="16200000">
            <a:off x="4255434" y="4958835"/>
            <a:ext cx="1258678" cy="369332"/>
          </a:xfrm>
          <a:prstGeom prst="rect">
            <a:avLst/>
          </a:prstGeom>
          <a:noFill/>
        </p:spPr>
        <p:txBody>
          <a:bodyPr wrap="none" rtlCol="0">
            <a:spAutoFit/>
          </a:bodyPr>
          <a:lstStyle/>
          <a:p>
            <a:r>
              <a:rPr lang="en-CA" dirty="0"/>
              <a:t>Scenario B</a:t>
            </a:r>
          </a:p>
        </p:txBody>
      </p:sp>
      <p:graphicFrame>
        <p:nvGraphicFramePr>
          <p:cNvPr id="12" name="Content Placeholder 3">
            <a:extLst>
              <a:ext uri="{FF2B5EF4-FFF2-40B4-BE49-F238E27FC236}">
                <a16:creationId xmlns:a16="http://schemas.microsoft.com/office/drawing/2014/main" id="{9CB4997E-596D-BE20-B42D-09B93BE48973}"/>
              </a:ext>
            </a:extLst>
          </p:cNvPr>
          <p:cNvGraphicFramePr>
            <a:graphicFrameLocks/>
          </p:cNvGraphicFramePr>
          <p:nvPr/>
        </p:nvGraphicFramePr>
        <p:xfrm>
          <a:off x="5069439" y="1588699"/>
          <a:ext cx="6934200" cy="1985554"/>
        </p:xfrm>
        <a:graphic>
          <a:graphicData uri="http://schemas.openxmlformats.org/drawingml/2006/table">
            <a:tbl>
              <a:tblPr firstRow="1" bandRow="1">
                <a:tableStyleId>{5C22544A-7EE6-4342-B048-85BDC9FD1C3A}</a:tableStyleId>
              </a:tblPr>
              <a:tblGrid>
                <a:gridCol w="1733550">
                  <a:extLst>
                    <a:ext uri="{9D8B030D-6E8A-4147-A177-3AD203B41FA5}">
                      <a16:colId xmlns:a16="http://schemas.microsoft.com/office/drawing/2014/main" val="1664120568"/>
                    </a:ext>
                  </a:extLst>
                </a:gridCol>
                <a:gridCol w="1733550">
                  <a:extLst>
                    <a:ext uri="{9D8B030D-6E8A-4147-A177-3AD203B41FA5}">
                      <a16:colId xmlns:a16="http://schemas.microsoft.com/office/drawing/2014/main" val="1932314961"/>
                    </a:ext>
                  </a:extLst>
                </a:gridCol>
                <a:gridCol w="1733550">
                  <a:extLst>
                    <a:ext uri="{9D8B030D-6E8A-4147-A177-3AD203B41FA5}">
                      <a16:colId xmlns:a16="http://schemas.microsoft.com/office/drawing/2014/main" val="2280636144"/>
                    </a:ext>
                  </a:extLst>
                </a:gridCol>
                <a:gridCol w="1733550">
                  <a:extLst>
                    <a:ext uri="{9D8B030D-6E8A-4147-A177-3AD203B41FA5}">
                      <a16:colId xmlns:a16="http://schemas.microsoft.com/office/drawing/2014/main" val="3109363647"/>
                    </a:ext>
                  </a:extLst>
                </a:gridCol>
              </a:tblGrid>
              <a:tr h="413657">
                <a:tc>
                  <a:txBody>
                    <a:bodyPr/>
                    <a:lstStyle/>
                    <a:p>
                      <a:r>
                        <a:rPr lang="en-CA" sz="1600" dirty="0"/>
                        <a:t>Drug</a:t>
                      </a:r>
                    </a:p>
                  </a:txBody>
                  <a:tcPr/>
                </a:tc>
                <a:tc>
                  <a:txBody>
                    <a:bodyPr/>
                    <a:lstStyle/>
                    <a:p>
                      <a:r>
                        <a:rPr lang="en-CA" sz="1600" dirty="0"/>
                        <a:t>Patients</a:t>
                      </a:r>
                    </a:p>
                  </a:txBody>
                  <a:tcPr/>
                </a:tc>
                <a:tc>
                  <a:txBody>
                    <a:bodyPr/>
                    <a:lstStyle/>
                    <a:p>
                      <a:r>
                        <a:rPr lang="en-CA" sz="1600" dirty="0"/>
                        <a:t>Costs Per Unit</a:t>
                      </a:r>
                    </a:p>
                  </a:txBody>
                  <a:tcPr/>
                </a:tc>
                <a:tc>
                  <a:txBody>
                    <a:bodyPr/>
                    <a:lstStyle/>
                    <a:p>
                      <a:r>
                        <a:rPr lang="en-CA" sz="1600" dirty="0"/>
                        <a:t>Market Share</a:t>
                      </a:r>
                    </a:p>
                  </a:txBody>
                  <a:tcPr/>
                </a:tc>
                <a:extLst>
                  <a:ext uri="{0D108BD9-81ED-4DB2-BD59-A6C34878D82A}">
                    <a16:rowId xmlns:a16="http://schemas.microsoft.com/office/drawing/2014/main" val="532233631"/>
                  </a:ext>
                </a:extLst>
              </a:tr>
              <a:tr h="413657">
                <a:tc>
                  <a:txBody>
                    <a:bodyPr/>
                    <a:lstStyle/>
                    <a:p>
                      <a:pPr>
                        <a:buNone/>
                      </a:pPr>
                      <a:r>
                        <a:rPr lang="en-CA" sz="1600" dirty="0"/>
                        <a:t>Surgical Procedure</a:t>
                      </a:r>
                    </a:p>
                  </a:txBody>
                  <a:tcPr anchor="ctr"/>
                </a:tc>
                <a:tc>
                  <a:txBody>
                    <a:bodyPr/>
                    <a:lstStyle/>
                    <a:p>
                      <a:pPr>
                        <a:buNone/>
                      </a:pPr>
                      <a:r>
                        <a:rPr lang="en-CA" b="1" dirty="0"/>
                        <a:t>3,200 patients</a:t>
                      </a:r>
                      <a:endParaRPr lang="en-CA" dirty="0"/>
                    </a:p>
                  </a:txBody>
                  <a:tcPr anchor="ctr"/>
                </a:tc>
                <a:tc>
                  <a:txBody>
                    <a:bodyPr/>
                    <a:lstStyle/>
                    <a:p>
                      <a:pPr>
                        <a:buNone/>
                      </a:pPr>
                      <a:r>
                        <a:rPr lang="en-CA" b="1" dirty="0"/>
                        <a:t>$9000</a:t>
                      </a:r>
                      <a:endParaRPr lang="en-CA" dirty="0"/>
                    </a:p>
                  </a:txBody>
                  <a:tcPr anchor="ctr"/>
                </a:tc>
                <a:tc>
                  <a:txBody>
                    <a:bodyPr/>
                    <a:lstStyle/>
                    <a:p>
                      <a:pPr>
                        <a:buNone/>
                      </a:pPr>
                      <a:r>
                        <a:rPr lang="en-CA" dirty="0"/>
                        <a:t>0.6</a:t>
                      </a:r>
                    </a:p>
                  </a:txBody>
                  <a:tcPr anchor="ctr"/>
                </a:tc>
                <a:extLst>
                  <a:ext uri="{0D108BD9-81ED-4DB2-BD59-A6C34878D82A}">
                    <a16:rowId xmlns:a16="http://schemas.microsoft.com/office/drawing/2014/main" val="3756861836"/>
                  </a:ext>
                </a:extLst>
              </a:tr>
              <a:tr h="413657">
                <a:tc>
                  <a:txBody>
                    <a:bodyPr/>
                    <a:lstStyle/>
                    <a:p>
                      <a:pPr>
                        <a:buNone/>
                      </a:pPr>
                      <a:r>
                        <a:rPr lang="en-CA" sz="1600" dirty="0"/>
                        <a:t>Advanced Biologic</a:t>
                      </a:r>
                    </a:p>
                  </a:txBody>
                  <a:tcPr anchor="ctr"/>
                </a:tc>
                <a:tc>
                  <a:txBody>
                    <a:bodyPr/>
                    <a:lstStyle/>
                    <a:p>
                      <a:pPr>
                        <a:buNone/>
                      </a:pPr>
                      <a:r>
                        <a:rPr lang="en-CA" b="1" dirty="0"/>
                        <a:t>1,100 patients</a:t>
                      </a:r>
                      <a:endParaRPr lang="en-CA" dirty="0"/>
                    </a:p>
                  </a:txBody>
                  <a:tcPr anchor="ctr"/>
                </a:tc>
                <a:tc>
                  <a:txBody>
                    <a:bodyPr/>
                    <a:lstStyle/>
                    <a:p>
                      <a:pPr>
                        <a:buNone/>
                      </a:pPr>
                      <a:r>
                        <a:rPr lang="en-CA" b="1" dirty="0"/>
                        <a:t>$20,000</a:t>
                      </a:r>
                      <a:endParaRPr lang="en-CA" dirty="0"/>
                    </a:p>
                  </a:txBody>
                  <a:tcPr anchor="ctr"/>
                </a:tc>
                <a:tc>
                  <a:txBody>
                    <a:bodyPr/>
                    <a:lstStyle/>
                    <a:p>
                      <a:pPr>
                        <a:buNone/>
                      </a:pPr>
                      <a:r>
                        <a:rPr lang="en-CA" dirty="0"/>
                        <a:t>0.3</a:t>
                      </a:r>
                    </a:p>
                  </a:txBody>
                  <a:tcPr anchor="ctr"/>
                </a:tc>
                <a:extLst>
                  <a:ext uri="{0D108BD9-81ED-4DB2-BD59-A6C34878D82A}">
                    <a16:rowId xmlns:a16="http://schemas.microsoft.com/office/drawing/2014/main" val="3513787475"/>
                  </a:ext>
                </a:extLst>
              </a:tr>
              <a:tr h="413657">
                <a:tc>
                  <a:txBody>
                    <a:bodyPr/>
                    <a:lstStyle/>
                    <a:p>
                      <a:pPr>
                        <a:buNone/>
                      </a:pPr>
                      <a:r>
                        <a:rPr lang="en-CA" sz="1600" dirty="0"/>
                        <a:t>Gene Therapy</a:t>
                      </a:r>
                    </a:p>
                  </a:txBody>
                  <a:tcPr anchor="ctr"/>
                </a:tc>
                <a:tc>
                  <a:txBody>
                    <a:bodyPr/>
                    <a:lstStyle/>
                    <a:p>
                      <a:pPr>
                        <a:buNone/>
                      </a:pPr>
                      <a:r>
                        <a:rPr lang="en-CA" b="1" dirty="0"/>
                        <a:t>150 patients</a:t>
                      </a:r>
                      <a:endParaRPr lang="en-CA" dirty="0"/>
                    </a:p>
                  </a:txBody>
                  <a:tcPr anchor="ctr"/>
                </a:tc>
                <a:tc>
                  <a:txBody>
                    <a:bodyPr/>
                    <a:lstStyle/>
                    <a:p>
                      <a:pPr>
                        <a:buNone/>
                      </a:pPr>
                      <a:r>
                        <a:rPr lang="en-CA" b="1" dirty="0"/>
                        <a:t>$65,000</a:t>
                      </a:r>
                      <a:endParaRPr lang="en-CA" dirty="0"/>
                    </a:p>
                  </a:txBody>
                  <a:tcPr anchor="ctr"/>
                </a:tc>
                <a:tc>
                  <a:txBody>
                    <a:bodyPr/>
                    <a:lstStyle/>
                    <a:p>
                      <a:pPr>
                        <a:buNone/>
                      </a:pPr>
                      <a:r>
                        <a:rPr lang="en-CA" dirty="0"/>
                        <a:t>0.1</a:t>
                      </a:r>
                    </a:p>
                  </a:txBody>
                  <a:tcPr anchor="ctr"/>
                </a:tc>
                <a:extLst>
                  <a:ext uri="{0D108BD9-81ED-4DB2-BD59-A6C34878D82A}">
                    <a16:rowId xmlns:a16="http://schemas.microsoft.com/office/drawing/2014/main" val="888119875"/>
                  </a:ext>
                </a:extLst>
              </a:tr>
            </a:tbl>
          </a:graphicData>
        </a:graphic>
      </p:graphicFrame>
    </p:spTree>
    <p:extLst>
      <p:ext uri="{BB962C8B-B14F-4D97-AF65-F5344CB8AC3E}">
        <p14:creationId xmlns:p14="http://schemas.microsoft.com/office/powerpoint/2010/main" val="3498466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1F97F-E04B-378E-E4E7-24150EE2DF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69D76-2F3D-908E-DB60-223A87F48296}"/>
              </a:ext>
            </a:extLst>
          </p:cNvPr>
          <p:cNvSpPr>
            <a:spLocks noGrp="1"/>
          </p:cNvSpPr>
          <p:nvPr>
            <p:ph type="title"/>
          </p:nvPr>
        </p:nvSpPr>
        <p:spPr>
          <a:xfrm>
            <a:off x="482600" y="597408"/>
            <a:ext cx="10634472" cy="1117092"/>
          </a:xfrm>
        </p:spPr>
        <p:txBody>
          <a:bodyPr>
            <a:normAutofit fontScale="90000"/>
          </a:bodyPr>
          <a:lstStyle/>
          <a:p>
            <a:r>
              <a:rPr lang="en-CA" sz="4800" dirty="0"/>
              <a:t>Scenario Analysis In Budget Impact Analysis</a:t>
            </a:r>
          </a:p>
        </p:txBody>
      </p:sp>
      <p:graphicFrame>
        <p:nvGraphicFramePr>
          <p:cNvPr id="5" name="Content Placeholder 3">
            <a:extLst>
              <a:ext uri="{FF2B5EF4-FFF2-40B4-BE49-F238E27FC236}">
                <a16:creationId xmlns:a16="http://schemas.microsoft.com/office/drawing/2014/main" id="{8AC8C8F2-E904-E8B1-7861-124E6318D974}"/>
              </a:ext>
            </a:extLst>
          </p:cNvPr>
          <p:cNvGraphicFramePr>
            <a:graphicFrameLocks/>
          </p:cNvGraphicFramePr>
          <p:nvPr/>
        </p:nvGraphicFramePr>
        <p:xfrm>
          <a:off x="5069439" y="3936205"/>
          <a:ext cx="6934200" cy="1985554"/>
        </p:xfrm>
        <a:graphic>
          <a:graphicData uri="http://schemas.openxmlformats.org/drawingml/2006/table">
            <a:tbl>
              <a:tblPr firstRow="1" bandRow="1">
                <a:tableStyleId>{5C22544A-7EE6-4342-B048-85BDC9FD1C3A}</a:tableStyleId>
              </a:tblPr>
              <a:tblGrid>
                <a:gridCol w="1733550">
                  <a:extLst>
                    <a:ext uri="{9D8B030D-6E8A-4147-A177-3AD203B41FA5}">
                      <a16:colId xmlns:a16="http://schemas.microsoft.com/office/drawing/2014/main" val="1664120568"/>
                    </a:ext>
                  </a:extLst>
                </a:gridCol>
                <a:gridCol w="1733550">
                  <a:extLst>
                    <a:ext uri="{9D8B030D-6E8A-4147-A177-3AD203B41FA5}">
                      <a16:colId xmlns:a16="http://schemas.microsoft.com/office/drawing/2014/main" val="1932314961"/>
                    </a:ext>
                  </a:extLst>
                </a:gridCol>
                <a:gridCol w="1733550">
                  <a:extLst>
                    <a:ext uri="{9D8B030D-6E8A-4147-A177-3AD203B41FA5}">
                      <a16:colId xmlns:a16="http://schemas.microsoft.com/office/drawing/2014/main" val="2280636144"/>
                    </a:ext>
                  </a:extLst>
                </a:gridCol>
                <a:gridCol w="1733550">
                  <a:extLst>
                    <a:ext uri="{9D8B030D-6E8A-4147-A177-3AD203B41FA5}">
                      <a16:colId xmlns:a16="http://schemas.microsoft.com/office/drawing/2014/main" val="3109363647"/>
                    </a:ext>
                  </a:extLst>
                </a:gridCol>
              </a:tblGrid>
              <a:tr h="413657">
                <a:tc>
                  <a:txBody>
                    <a:bodyPr/>
                    <a:lstStyle/>
                    <a:p>
                      <a:r>
                        <a:rPr lang="en-CA" sz="1600" dirty="0"/>
                        <a:t>Drug</a:t>
                      </a:r>
                    </a:p>
                  </a:txBody>
                  <a:tcPr/>
                </a:tc>
                <a:tc>
                  <a:txBody>
                    <a:bodyPr/>
                    <a:lstStyle/>
                    <a:p>
                      <a:r>
                        <a:rPr lang="en-CA" sz="1600" dirty="0"/>
                        <a:t>Patients</a:t>
                      </a:r>
                    </a:p>
                  </a:txBody>
                  <a:tcPr/>
                </a:tc>
                <a:tc>
                  <a:txBody>
                    <a:bodyPr/>
                    <a:lstStyle/>
                    <a:p>
                      <a:r>
                        <a:rPr lang="en-CA" sz="1600" dirty="0"/>
                        <a:t>Costs Per Unit</a:t>
                      </a:r>
                    </a:p>
                  </a:txBody>
                  <a:tcPr/>
                </a:tc>
                <a:tc>
                  <a:txBody>
                    <a:bodyPr/>
                    <a:lstStyle/>
                    <a:p>
                      <a:r>
                        <a:rPr lang="en-CA" sz="1600" dirty="0"/>
                        <a:t>Market Share</a:t>
                      </a:r>
                    </a:p>
                  </a:txBody>
                  <a:tcPr/>
                </a:tc>
                <a:extLst>
                  <a:ext uri="{0D108BD9-81ED-4DB2-BD59-A6C34878D82A}">
                    <a16:rowId xmlns:a16="http://schemas.microsoft.com/office/drawing/2014/main" val="532233631"/>
                  </a:ext>
                </a:extLst>
              </a:tr>
              <a:tr h="413657">
                <a:tc>
                  <a:txBody>
                    <a:bodyPr/>
                    <a:lstStyle/>
                    <a:p>
                      <a:pPr>
                        <a:buNone/>
                      </a:pPr>
                      <a:r>
                        <a:rPr lang="en-CA" sz="1600" dirty="0"/>
                        <a:t>Surgical Procedure</a:t>
                      </a:r>
                    </a:p>
                  </a:txBody>
                  <a:tcPr anchor="ctr"/>
                </a:tc>
                <a:tc>
                  <a:txBody>
                    <a:bodyPr/>
                    <a:lstStyle/>
                    <a:p>
                      <a:pPr>
                        <a:buNone/>
                      </a:pPr>
                      <a:r>
                        <a:rPr lang="en-CA" b="1" dirty="0"/>
                        <a:t>3,200 patients</a:t>
                      </a:r>
                      <a:endParaRPr lang="en-CA" dirty="0"/>
                    </a:p>
                  </a:txBody>
                  <a:tcPr anchor="ctr"/>
                </a:tc>
                <a:tc>
                  <a:txBody>
                    <a:bodyPr/>
                    <a:lstStyle/>
                    <a:p>
                      <a:pPr>
                        <a:buNone/>
                      </a:pPr>
                      <a:r>
                        <a:rPr lang="en-CA" b="1" dirty="0"/>
                        <a:t>$9000</a:t>
                      </a:r>
                      <a:endParaRPr lang="en-CA" dirty="0"/>
                    </a:p>
                  </a:txBody>
                  <a:tcPr anchor="ctr"/>
                </a:tc>
                <a:tc>
                  <a:txBody>
                    <a:bodyPr/>
                    <a:lstStyle/>
                    <a:p>
                      <a:pPr>
                        <a:buNone/>
                      </a:pPr>
                      <a:r>
                        <a:rPr lang="en-CA" dirty="0"/>
                        <a:t>0.7</a:t>
                      </a:r>
                    </a:p>
                  </a:txBody>
                  <a:tcPr anchor="ctr"/>
                </a:tc>
                <a:extLst>
                  <a:ext uri="{0D108BD9-81ED-4DB2-BD59-A6C34878D82A}">
                    <a16:rowId xmlns:a16="http://schemas.microsoft.com/office/drawing/2014/main" val="3756861836"/>
                  </a:ext>
                </a:extLst>
              </a:tr>
              <a:tr h="413657">
                <a:tc>
                  <a:txBody>
                    <a:bodyPr/>
                    <a:lstStyle/>
                    <a:p>
                      <a:pPr>
                        <a:buNone/>
                      </a:pPr>
                      <a:r>
                        <a:rPr lang="en-CA" sz="1600" dirty="0"/>
                        <a:t>Advanced Biologic</a:t>
                      </a:r>
                    </a:p>
                  </a:txBody>
                  <a:tcPr anchor="ctr"/>
                </a:tc>
                <a:tc>
                  <a:txBody>
                    <a:bodyPr/>
                    <a:lstStyle/>
                    <a:p>
                      <a:pPr>
                        <a:buNone/>
                      </a:pPr>
                      <a:r>
                        <a:rPr lang="en-CA" b="1" dirty="0"/>
                        <a:t>1,100 patients</a:t>
                      </a:r>
                      <a:endParaRPr lang="en-CA" dirty="0"/>
                    </a:p>
                  </a:txBody>
                  <a:tcPr anchor="ctr"/>
                </a:tc>
                <a:tc>
                  <a:txBody>
                    <a:bodyPr/>
                    <a:lstStyle/>
                    <a:p>
                      <a:pPr>
                        <a:buNone/>
                      </a:pPr>
                      <a:r>
                        <a:rPr lang="en-CA" b="1" dirty="0"/>
                        <a:t>$20,000</a:t>
                      </a:r>
                      <a:endParaRPr lang="en-CA" dirty="0"/>
                    </a:p>
                  </a:txBody>
                  <a:tcPr anchor="ctr"/>
                </a:tc>
                <a:tc>
                  <a:txBody>
                    <a:bodyPr/>
                    <a:lstStyle/>
                    <a:p>
                      <a:pPr>
                        <a:buNone/>
                      </a:pPr>
                      <a:r>
                        <a:rPr lang="en-CA" dirty="0"/>
                        <a:t>0.3</a:t>
                      </a:r>
                    </a:p>
                  </a:txBody>
                  <a:tcPr anchor="ctr"/>
                </a:tc>
                <a:extLst>
                  <a:ext uri="{0D108BD9-81ED-4DB2-BD59-A6C34878D82A}">
                    <a16:rowId xmlns:a16="http://schemas.microsoft.com/office/drawing/2014/main" val="3513787475"/>
                  </a:ext>
                </a:extLst>
              </a:tr>
              <a:tr h="413657">
                <a:tc>
                  <a:txBody>
                    <a:bodyPr/>
                    <a:lstStyle/>
                    <a:p>
                      <a:pPr>
                        <a:buNone/>
                      </a:pPr>
                      <a:r>
                        <a:rPr lang="en-CA" sz="1600" dirty="0"/>
                        <a:t>Gene Therapy</a:t>
                      </a:r>
                    </a:p>
                  </a:txBody>
                  <a:tcPr anchor="ctr"/>
                </a:tc>
                <a:tc>
                  <a:txBody>
                    <a:bodyPr/>
                    <a:lstStyle/>
                    <a:p>
                      <a:pPr>
                        <a:buNone/>
                      </a:pPr>
                      <a:r>
                        <a:rPr lang="en-CA" b="1" dirty="0"/>
                        <a:t>150 patients</a:t>
                      </a:r>
                      <a:endParaRPr lang="en-CA" dirty="0"/>
                    </a:p>
                  </a:txBody>
                  <a:tcPr anchor="ctr"/>
                </a:tc>
                <a:tc>
                  <a:txBody>
                    <a:bodyPr/>
                    <a:lstStyle/>
                    <a:p>
                      <a:pPr>
                        <a:buNone/>
                      </a:pPr>
                      <a:r>
                        <a:rPr lang="en-CA" b="1" dirty="0"/>
                        <a:t>$65,000</a:t>
                      </a:r>
                      <a:endParaRPr lang="en-CA" dirty="0"/>
                    </a:p>
                  </a:txBody>
                  <a:tcPr anchor="ctr"/>
                </a:tc>
                <a:tc>
                  <a:txBody>
                    <a:bodyPr/>
                    <a:lstStyle/>
                    <a:p>
                      <a:pPr>
                        <a:buNone/>
                      </a:pPr>
                      <a:r>
                        <a:rPr lang="en-CA" dirty="0"/>
                        <a:t>0</a:t>
                      </a:r>
                    </a:p>
                  </a:txBody>
                  <a:tcPr anchor="ctr"/>
                </a:tc>
                <a:extLst>
                  <a:ext uri="{0D108BD9-81ED-4DB2-BD59-A6C34878D82A}">
                    <a16:rowId xmlns:a16="http://schemas.microsoft.com/office/drawing/2014/main" val="888119875"/>
                  </a:ext>
                </a:extLst>
              </a:tr>
            </a:tbl>
          </a:graphicData>
        </a:graphic>
      </p:graphicFrame>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E34B2961-DBC3-FA1B-CC77-0334BA9DB9B4}"/>
                  </a:ext>
                </a:extLst>
              </p:cNvPr>
              <p:cNvSpPr>
                <a:spLocks noGrp="1"/>
              </p:cNvSpPr>
              <p:nvPr>
                <p:ph idx="1"/>
              </p:nvPr>
            </p:nvSpPr>
            <p:spPr>
              <a:xfrm>
                <a:off x="188360" y="1954367"/>
                <a:ext cx="4566201" cy="3431666"/>
              </a:xfrm>
            </p:spPr>
            <p:txBody>
              <a:bodyPr/>
              <a:lstStyle/>
              <a:p>
                <a:r>
                  <a:rPr lang="en-CA" b="1" i="1" dirty="0"/>
                  <a:t>Budget Under Scenario A</a:t>
                </a:r>
                <a:br>
                  <a:rPr lang="en-CA" b="0" i="1" dirty="0">
                    <a:latin typeface="Cambria Math" panose="02040503050406030204" pitchFamily="18" charset="0"/>
                  </a:rPr>
                </a:b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𝐴</m:t>
                        </m:r>
                      </m:sub>
                    </m:sSub>
                    <m:r>
                      <a:rPr lang="en-CA" b="0" i="1" smtClean="0">
                        <a:latin typeface="Cambria Math" panose="02040503050406030204" pitchFamily="18" charset="0"/>
                      </a:rPr>
                      <m:t>=0.6</m:t>
                    </m:r>
                    <m:d>
                      <m:dPr>
                        <m:ctrlPr>
                          <a:rPr lang="en-CA" b="0" i="1" smtClean="0">
                            <a:latin typeface="Cambria Math" panose="02040503050406030204" pitchFamily="18" charset="0"/>
                          </a:rPr>
                        </m:ctrlPr>
                      </m:dPr>
                      <m:e>
                        <m:r>
                          <a:rPr lang="en-CA" b="0" i="1" smtClean="0">
                            <a:latin typeface="Cambria Math" panose="02040503050406030204" pitchFamily="18" charset="0"/>
                          </a:rPr>
                          <m:t>3200</m:t>
                        </m:r>
                      </m:e>
                    </m:d>
                    <m:d>
                      <m:dPr>
                        <m:ctrlPr>
                          <a:rPr lang="en-CA" b="0" i="1" smtClean="0">
                            <a:latin typeface="Cambria Math" panose="02040503050406030204" pitchFamily="18" charset="0"/>
                          </a:rPr>
                        </m:ctrlPr>
                      </m:dPr>
                      <m:e>
                        <m:r>
                          <a:rPr lang="en-CA" b="0" i="1" smtClean="0">
                            <a:latin typeface="Cambria Math" panose="02040503050406030204" pitchFamily="18" charset="0"/>
                          </a:rPr>
                          <m:t>9000</m:t>
                        </m:r>
                      </m:e>
                    </m:d>
                    <m:r>
                      <a:rPr lang="en-CA" b="0" i="1" smtClean="0">
                        <a:latin typeface="Cambria Math" panose="02040503050406030204" pitchFamily="18" charset="0"/>
                      </a:rPr>
                      <m:t>+</m:t>
                    </m:r>
                  </m:oMath>
                </a14:m>
                <a:br>
                  <a:rPr lang="en-CA" b="0" i="1">
                    <a:latin typeface="Cambria Math" panose="02040503050406030204" pitchFamily="18" charset="0"/>
                  </a:rPr>
                </a:br>
                <a14:m>
                  <m:oMath xmlns:m="http://schemas.openxmlformats.org/officeDocument/2006/math">
                    <m:r>
                      <a:rPr lang="en-CA" b="0" i="1" smtClean="0">
                        <a:latin typeface="Cambria Math" panose="02040503050406030204" pitchFamily="18" charset="0"/>
                      </a:rPr>
                      <m:t>0.3</m:t>
                    </m:r>
                    <m:d>
                      <m:dPr>
                        <m:ctrlPr>
                          <a:rPr lang="en-CA" b="0" i="1" smtClean="0">
                            <a:latin typeface="Cambria Math" panose="02040503050406030204" pitchFamily="18" charset="0"/>
                          </a:rPr>
                        </m:ctrlPr>
                      </m:dPr>
                      <m:e>
                        <m:r>
                          <a:rPr lang="en-CA" b="0" i="1" smtClean="0">
                            <a:latin typeface="Cambria Math" panose="02040503050406030204" pitchFamily="18" charset="0"/>
                          </a:rPr>
                          <m:t>1100</m:t>
                        </m:r>
                      </m:e>
                    </m:d>
                    <m:d>
                      <m:dPr>
                        <m:ctrlPr>
                          <a:rPr lang="en-CA" b="0" i="1" smtClean="0">
                            <a:latin typeface="Cambria Math" panose="02040503050406030204" pitchFamily="18" charset="0"/>
                          </a:rPr>
                        </m:ctrlPr>
                      </m:dPr>
                      <m:e>
                        <m:r>
                          <a:rPr lang="en-CA" b="0" i="1" smtClean="0">
                            <a:latin typeface="Cambria Math" panose="02040503050406030204" pitchFamily="18" charset="0"/>
                          </a:rPr>
                          <m:t>20000</m:t>
                        </m:r>
                      </m:e>
                    </m:d>
                    <m:r>
                      <a:rPr lang="en-CA" b="0" i="1" smtClean="0">
                        <a:latin typeface="Cambria Math" panose="02040503050406030204" pitchFamily="18" charset="0"/>
                      </a:rPr>
                      <m:t>+</m:t>
                    </m:r>
                  </m:oMath>
                </a14:m>
                <a:br>
                  <a:rPr lang="en-CA" b="0" i="1">
                    <a:latin typeface="Cambria Math" panose="02040503050406030204" pitchFamily="18" charset="0"/>
                  </a:rPr>
                </a:br>
                <a14:m>
                  <m:oMath xmlns:m="http://schemas.openxmlformats.org/officeDocument/2006/math">
                    <m:r>
                      <a:rPr lang="en-CA" b="0" i="1" smtClean="0">
                        <a:latin typeface="Cambria Math" panose="02040503050406030204" pitchFamily="18" charset="0"/>
                      </a:rPr>
                      <m:t>0.1</m:t>
                    </m:r>
                    <m:d>
                      <m:dPr>
                        <m:ctrlPr>
                          <a:rPr lang="en-CA" b="0" i="1" smtClean="0">
                            <a:latin typeface="Cambria Math" panose="02040503050406030204" pitchFamily="18" charset="0"/>
                          </a:rPr>
                        </m:ctrlPr>
                      </m:dPr>
                      <m:e>
                        <m:r>
                          <a:rPr lang="en-CA" b="0" i="1" smtClean="0">
                            <a:latin typeface="Cambria Math" panose="02040503050406030204" pitchFamily="18" charset="0"/>
                          </a:rPr>
                          <m:t>150</m:t>
                        </m:r>
                      </m:e>
                    </m:d>
                    <m:d>
                      <m:dPr>
                        <m:ctrlPr>
                          <a:rPr lang="en-CA" b="0" i="1" smtClean="0">
                            <a:latin typeface="Cambria Math" panose="02040503050406030204" pitchFamily="18" charset="0"/>
                          </a:rPr>
                        </m:ctrlPr>
                      </m:dPr>
                      <m:e>
                        <m:r>
                          <a:rPr lang="en-CA" b="0" i="1" smtClean="0">
                            <a:latin typeface="Cambria Math" panose="02040503050406030204" pitchFamily="18" charset="0"/>
                          </a:rPr>
                          <m:t>65000</m:t>
                        </m:r>
                      </m:e>
                    </m:d>
                    <m:r>
                      <a:rPr lang="en-CA" b="0" i="1" smtClean="0">
                        <a:latin typeface="Cambria Math" panose="02040503050406030204" pitchFamily="18" charset="0"/>
                      </a:rPr>
                      <m:t>≈</m:t>
                    </m:r>
                    <m:r>
                      <a:rPr lang="en-CA" b="0" i="0" smtClean="0">
                        <a:latin typeface="Cambria Math" panose="02040503050406030204" pitchFamily="18" charset="0"/>
                      </a:rPr>
                      <m:t>24.8 </m:t>
                    </m:r>
                    <m:r>
                      <m:rPr>
                        <m:sty m:val="p"/>
                      </m:rPr>
                      <a:rPr lang="en-CA" b="0" i="0" smtClean="0">
                        <a:latin typeface="Cambria Math" panose="02040503050406030204" pitchFamily="18" charset="0"/>
                      </a:rPr>
                      <m:t>Million</m:t>
                    </m:r>
                  </m:oMath>
                </a14:m>
                <a:br>
                  <a:rPr lang="en-CA" b="0" dirty="0"/>
                </a:br>
                <a:br>
                  <a:rPr lang="en-CA" b="0" dirty="0"/>
                </a:br>
                <a:r>
                  <a:rPr lang="en-CA" b="1" i="1" dirty="0"/>
                  <a:t>Budget Under Scenario B</a:t>
                </a:r>
                <a:br>
                  <a:rPr lang="en-CA" b="0" dirty="0"/>
                </a:b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𝐵</m:t>
                        </m:r>
                      </m:sub>
                    </m:sSub>
                    <m:r>
                      <a:rPr lang="en-CA" b="0" i="1" smtClean="0">
                        <a:latin typeface="Cambria Math" panose="02040503050406030204" pitchFamily="18" charset="0"/>
                      </a:rPr>
                      <m:t>=</m:t>
                    </m:r>
                  </m:oMath>
                </a14:m>
                <a:r>
                  <a:rPr lang="en-CA" dirty="0"/>
                  <a:t> </a:t>
                </a:r>
                <a14:m>
                  <m:oMath xmlns:m="http://schemas.openxmlformats.org/officeDocument/2006/math">
                    <m:r>
                      <a:rPr lang="en-CA" i="1">
                        <a:latin typeface="Cambria Math" panose="02040503050406030204" pitchFamily="18" charset="0"/>
                      </a:rPr>
                      <m:t>0.6</m:t>
                    </m:r>
                    <m:d>
                      <m:dPr>
                        <m:ctrlPr>
                          <a:rPr lang="en-CA" i="1">
                            <a:latin typeface="Cambria Math" panose="02040503050406030204" pitchFamily="18" charset="0"/>
                          </a:rPr>
                        </m:ctrlPr>
                      </m:dPr>
                      <m:e>
                        <m:r>
                          <a:rPr lang="en-CA" i="1">
                            <a:latin typeface="Cambria Math" panose="02040503050406030204" pitchFamily="18" charset="0"/>
                          </a:rPr>
                          <m:t>3200</m:t>
                        </m:r>
                      </m:e>
                    </m:d>
                    <m:d>
                      <m:dPr>
                        <m:ctrlPr>
                          <a:rPr lang="en-CA" i="1">
                            <a:latin typeface="Cambria Math" panose="02040503050406030204" pitchFamily="18" charset="0"/>
                          </a:rPr>
                        </m:ctrlPr>
                      </m:dPr>
                      <m:e>
                        <m:r>
                          <a:rPr lang="en-CA" i="1">
                            <a:latin typeface="Cambria Math" panose="02040503050406030204" pitchFamily="18" charset="0"/>
                          </a:rPr>
                          <m:t>9000</m:t>
                        </m:r>
                      </m:e>
                    </m:d>
                    <m:r>
                      <a:rPr lang="en-CA" i="1">
                        <a:latin typeface="Cambria Math" panose="02040503050406030204" pitchFamily="18" charset="0"/>
                      </a:rPr>
                      <m:t>+</m:t>
                    </m:r>
                  </m:oMath>
                </a14:m>
                <a:br>
                  <a:rPr lang="en-CA" i="1" dirty="0">
                    <a:latin typeface="Cambria Math" panose="02040503050406030204" pitchFamily="18" charset="0"/>
                  </a:rPr>
                </a:br>
                <a14:m>
                  <m:oMath xmlns:m="http://schemas.openxmlformats.org/officeDocument/2006/math">
                    <m:r>
                      <a:rPr lang="en-CA" i="1">
                        <a:latin typeface="Cambria Math" panose="02040503050406030204" pitchFamily="18" charset="0"/>
                      </a:rPr>
                      <m:t>0.3</m:t>
                    </m:r>
                    <m:d>
                      <m:dPr>
                        <m:ctrlPr>
                          <a:rPr lang="en-CA" i="1">
                            <a:latin typeface="Cambria Math" panose="02040503050406030204" pitchFamily="18" charset="0"/>
                          </a:rPr>
                        </m:ctrlPr>
                      </m:dPr>
                      <m:e>
                        <m:r>
                          <a:rPr lang="en-CA" i="1">
                            <a:latin typeface="Cambria Math" panose="02040503050406030204" pitchFamily="18" charset="0"/>
                          </a:rPr>
                          <m:t>1100</m:t>
                        </m:r>
                      </m:e>
                    </m:d>
                    <m:d>
                      <m:dPr>
                        <m:ctrlPr>
                          <a:rPr lang="en-CA" i="1">
                            <a:latin typeface="Cambria Math" panose="02040503050406030204" pitchFamily="18" charset="0"/>
                          </a:rPr>
                        </m:ctrlPr>
                      </m:dPr>
                      <m:e>
                        <m:r>
                          <a:rPr lang="en-CA" i="1">
                            <a:latin typeface="Cambria Math" panose="02040503050406030204" pitchFamily="18" charset="0"/>
                          </a:rPr>
                          <m:t>20000</m:t>
                        </m:r>
                      </m:e>
                    </m:d>
                    <m:r>
                      <a:rPr lang="en-CA" i="1">
                        <a:latin typeface="Cambria Math" panose="02040503050406030204" pitchFamily="18" charset="0"/>
                      </a:rPr>
                      <m:t>+</m:t>
                    </m:r>
                  </m:oMath>
                </a14:m>
                <a:br>
                  <a:rPr lang="en-CA" i="1">
                    <a:latin typeface="Cambria Math" panose="02040503050406030204" pitchFamily="18" charset="0"/>
                  </a:rPr>
                </a:br>
                <a14:m>
                  <m:oMath xmlns:m="http://schemas.openxmlformats.org/officeDocument/2006/math">
                    <m:r>
                      <a:rPr lang="en-CA" b="0" i="1" smtClean="0">
                        <a:latin typeface="Cambria Math" panose="02040503050406030204" pitchFamily="18" charset="0"/>
                      </a:rPr>
                      <m:t>0</m:t>
                    </m:r>
                    <m:d>
                      <m:dPr>
                        <m:ctrlPr>
                          <a:rPr lang="en-CA" i="1">
                            <a:latin typeface="Cambria Math" panose="02040503050406030204" pitchFamily="18" charset="0"/>
                          </a:rPr>
                        </m:ctrlPr>
                      </m:dPr>
                      <m:e>
                        <m:r>
                          <a:rPr lang="en-CA" i="1">
                            <a:latin typeface="Cambria Math" panose="02040503050406030204" pitchFamily="18" charset="0"/>
                          </a:rPr>
                          <m:t>150</m:t>
                        </m:r>
                      </m:e>
                    </m:d>
                    <m:d>
                      <m:dPr>
                        <m:ctrlPr>
                          <a:rPr lang="en-CA" i="1">
                            <a:latin typeface="Cambria Math" panose="02040503050406030204" pitchFamily="18" charset="0"/>
                          </a:rPr>
                        </m:ctrlPr>
                      </m:dPr>
                      <m:e>
                        <m:r>
                          <a:rPr lang="en-CA" i="1">
                            <a:latin typeface="Cambria Math" panose="02040503050406030204" pitchFamily="18" charset="0"/>
                          </a:rPr>
                          <m:t>65000</m:t>
                        </m:r>
                      </m:e>
                    </m:d>
                    <m:r>
                      <a:rPr lang="en-CA" b="0" i="1" smtClean="0">
                        <a:latin typeface="Cambria Math" panose="02040503050406030204" pitchFamily="18" charset="0"/>
                      </a:rPr>
                      <m:t>≈23.8 </m:t>
                    </m:r>
                    <m:r>
                      <m:rPr>
                        <m:sty m:val="p"/>
                      </m:rPr>
                      <a:rPr lang="en-CA" b="0" i="0" smtClean="0">
                        <a:latin typeface="Cambria Math" panose="02040503050406030204" pitchFamily="18" charset="0"/>
                      </a:rPr>
                      <m:t>Million</m:t>
                    </m:r>
                  </m:oMath>
                </a14:m>
                <a:endParaRPr lang="en-CA" dirty="0"/>
              </a:p>
            </p:txBody>
          </p:sp>
        </mc:Choice>
        <mc:Fallback xmlns="">
          <p:sp>
            <p:nvSpPr>
              <p:cNvPr id="7" name="Content Placeholder 6">
                <a:extLst>
                  <a:ext uri="{FF2B5EF4-FFF2-40B4-BE49-F238E27FC236}">
                    <a16:creationId xmlns:a16="http://schemas.microsoft.com/office/drawing/2014/main" id="{E34B2961-DBC3-FA1B-CC77-0334BA9DB9B4}"/>
                  </a:ext>
                </a:extLst>
              </p:cNvPr>
              <p:cNvSpPr>
                <a:spLocks noGrp="1" noRot="1" noChangeAspect="1" noMove="1" noResize="1" noEditPoints="1" noAdjustHandles="1" noChangeArrowheads="1" noChangeShapeType="1" noTextEdit="1"/>
              </p:cNvSpPr>
              <p:nvPr>
                <p:ph idx="1"/>
              </p:nvPr>
            </p:nvSpPr>
            <p:spPr>
              <a:xfrm>
                <a:off x="188360" y="1954367"/>
                <a:ext cx="4566201" cy="3431666"/>
              </a:xfrm>
              <a:blipFill>
                <a:blip r:embed="rId2"/>
                <a:stretch>
                  <a:fillRect l="-2136" t="-1599"/>
                </a:stretch>
              </a:blipFill>
            </p:spPr>
            <p:txBody>
              <a:bodyPr/>
              <a:lstStyle/>
              <a:p>
                <a:r>
                  <a:rPr lang="en-CA">
                    <a:noFill/>
                  </a:rPr>
                  <a:t> </a:t>
                </a:r>
              </a:p>
            </p:txBody>
          </p:sp>
        </mc:Fallback>
      </mc:AlternateContent>
      <p:sp>
        <p:nvSpPr>
          <p:cNvPr id="10" name="TextBox 9">
            <a:extLst>
              <a:ext uri="{FF2B5EF4-FFF2-40B4-BE49-F238E27FC236}">
                <a16:creationId xmlns:a16="http://schemas.microsoft.com/office/drawing/2014/main" id="{7843887A-44C7-D0C5-7C1F-F298B5160C36}"/>
              </a:ext>
            </a:extLst>
          </p:cNvPr>
          <p:cNvSpPr txBox="1"/>
          <p:nvPr/>
        </p:nvSpPr>
        <p:spPr>
          <a:xfrm rot="16200000">
            <a:off x="4300271" y="2521125"/>
            <a:ext cx="1277914" cy="369332"/>
          </a:xfrm>
          <a:prstGeom prst="rect">
            <a:avLst/>
          </a:prstGeom>
          <a:noFill/>
        </p:spPr>
        <p:txBody>
          <a:bodyPr wrap="none" rtlCol="0">
            <a:spAutoFit/>
          </a:bodyPr>
          <a:lstStyle/>
          <a:p>
            <a:r>
              <a:rPr lang="en-CA" dirty="0"/>
              <a:t>Scenario A</a:t>
            </a:r>
          </a:p>
        </p:txBody>
      </p:sp>
      <p:sp>
        <p:nvSpPr>
          <p:cNvPr id="11" name="TextBox 10">
            <a:extLst>
              <a:ext uri="{FF2B5EF4-FFF2-40B4-BE49-F238E27FC236}">
                <a16:creationId xmlns:a16="http://schemas.microsoft.com/office/drawing/2014/main" id="{484845A4-0D60-FB47-6E85-D303E9354638}"/>
              </a:ext>
            </a:extLst>
          </p:cNvPr>
          <p:cNvSpPr txBox="1"/>
          <p:nvPr/>
        </p:nvSpPr>
        <p:spPr>
          <a:xfrm rot="16200000">
            <a:off x="4255434" y="4958835"/>
            <a:ext cx="1258678" cy="369332"/>
          </a:xfrm>
          <a:prstGeom prst="rect">
            <a:avLst/>
          </a:prstGeom>
          <a:noFill/>
        </p:spPr>
        <p:txBody>
          <a:bodyPr wrap="none" rtlCol="0">
            <a:spAutoFit/>
          </a:bodyPr>
          <a:lstStyle/>
          <a:p>
            <a:r>
              <a:rPr lang="en-CA" dirty="0"/>
              <a:t>Scenario B</a:t>
            </a:r>
          </a:p>
        </p:txBody>
      </p:sp>
      <p:graphicFrame>
        <p:nvGraphicFramePr>
          <p:cNvPr id="12" name="Content Placeholder 3">
            <a:extLst>
              <a:ext uri="{FF2B5EF4-FFF2-40B4-BE49-F238E27FC236}">
                <a16:creationId xmlns:a16="http://schemas.microsoft.com/office/drawing/2014/main" id="{7E184517-2228-4B9C-D454-3452AEF7C6C7}"/>
              </a:ext>
            </a:extLst>
          </p:cNvPr>
          <p:cNvGraphicFramePr>
            <a:graphicFrameLocks/>
          </p:cNvGraphicFramePr>
          <p:nvPr/>
        </p:nvGraphicFramePr>
        <p:xfrm>
          <a:off x="5069439" y="1588699"/>
          <a:ext cx="6934200" cy="1985554"/>
        </p:xfrm>
        <a:graphic>
          <a:graphicData uri="http://schemas.openxmlformats.org/drawingml/2006/table">
            <a:tbl>
              <a:tblPr firstRow="1" bandRow="1">
                <a:tableStyleId>{5C22544A-7EE6-4342-B048-85BDC9FD1C3A}</a:tableStyleId>
              </a:tblPr>
              <a:tblGrid>
                <a:gridCol w="1733550">
                  <a:extLst>
                    <a:ext uri="{9D8B030D-6E8A-4147-A177-3AD203B41FA5}">
                      <a16:colId xmlns:a16="http://schemas.microsoft.com/office/drawing/2014/main" val="1664120568"/>
                    </a:ext>
                  </a:extLst>
                </a:gridCol>
                <a:gridCol w="1733550">
                  <a:extLst>
                    <a:ext uri="{9D8B030D-6E8A-4147-A177-3AD203B41FA5}">
                      <a16:colId xmlns:a16="http://schemas.microsoft.com/office/drawing/2014/main" val="1932314961"/>
                    </a:ext>
                  </a:extLst>
                </a:gridCol>
                <a:gridCol w="1733550">
                  <a:extLst>
                    <a:ext uri="{9D8B030D-6E8A-4147-A177-3AD203B41FA5}">
                      <a16:colId xmlns:a16="http://schemas.microsoft.com/office/drawing/2014/main" val="2280636144"/>
                    </a:ext>
                  </a:extLst>
                </a:gridCol>
                <a:gridCol w="1733550">
                  <a:extLst>
                    <a:ext uri="{9D8B030D-6E8A-4147-A177-3AD203B41FA5}">
                      <a16:colId xmlns:a16="http://schemas.microsoft.com/office/drawing/2014/main" val="3109363647"/>
                    </a:ext>
                  </a:extLst>
                </a:gridCol>
              </a:tblGrid>
              <a:tr h="413657">
                <a:tc>
                  <a:txBody>
                    <a:bodyPr/>
                    <a:lstStyle/>
                    <a:p>
                      <a:r>
                        <a:rPr lang="en-CA" sz="1600" dirty="0"/>
                        <a:t>Drug</a:t>
                      </a:r>
                    </a:p>
                  </a:txBody>
                  <a:tcPr/>
                </a:tc>
                <a:tc>
                  <a:txBody>
                    <a:bodyPr/>
                    <a:lstStyle/>
                    <a:p>
                      <a:r>
                        <a:rPr lang="en-CA" sz="1600" dirty="0"/>
                        <a:t>Patients</a:t>
                      </a:r>
                    </a:p>
                  </a:txBody>
                  <a:tcPr/>
                </a:tc>
                <a:tc>
                  <a:txBody>
                    <a:bodyPr/>
                    <a:lstStyle/>
                    <a:p>
                      <a:r>
                        <a:rPr lang="en-CA" sz="1600" dirty="0"/>
                        <a:t>Costs Per Unit</a:t>
                      </a:r>
                    </a:p>
                  </a:txBody>
                  <a:tcPr/>
                </a:tc>
                <a:tc>
                  <a:txBody>
                    <a:bodyPr/>
                    <a:lstStyle/>
                    <a:p>
                      <a:r>
                        <a:rPr lang="en-CA" sz="1600" dirty="0"/>
                        <a:t>Market Share</a:t>
                      </a:r>
                    </a:p>
                  </a:txBody>
                  <a:tcPr/>
                </a:tc>
                <a:extLst>
                  <a:ext uri="{0D108BD9-81ED-4DB2-BD59-A6C34878D82A}">
                    <a16:rowId xmlns:a16="http://schemas.microsoft.com/office/drawing/2014/main" val="532233631"/>
                  </a:ext>
                </a:extLst>
              </a:tr>
              <a:tr h="413657">
                <a:tc>
                  <a:txBody>
                    <a:bodyPr/>
                    <a:lstStyle/>
                    <a:p>
                      <a:pPr>
                        <a:buNone/>
                      </a:pPr>
                      <a:r>
                        <a:rPr lang="en-CA" sz="1600" dirty="0"/>
                        <a:t>Surgical Procedure</a:t>
                      </a:r>
                    </a:p>
                  </a:txBody>
                  <a:tcPr anchor="ctr"/>
                </a:tc>
                <a:tc>
                  <a:txBody>
                    <a:bodyPr/>
                    <a:lstStyle/>
                    <a:p>
                      <a:pPr>
                        <a:buNone/>
                      </a:pPr>
                      <a:r>
                        <a:rPr lang="en-CA" b="1" dirty="0"/>
                        <a:t>3,200 patients</a:t>
                      </a:r>
                      <a:endParaRPr lang="en-CA" dirty="0"/>
                    </a:p>
                  </a:txBody>
                  <a:tcPr anchor="ctr"/>
                </a:tc>
                <a:tc>
                  <a:txBody>
                    <a:bodyPr/>
                    <a:lstStyle/>
                    <a:p>
                      <a:pPr>
                        <a:buNone/>
                      </a:pPr>
                      <a:r>
                        <a:rPr lang="en-CA" b="1" dirty="0"/>
                        <a:t>$9000</a:t>
                      </a:r>
                      <a:endParaRPr lang="en-CA" dirty="0"/>
                    </a:p>
                  </a:txBody>
                  <a:tcPr anchor="ctr"/>
                </a:tc>
                <a:tc>
                  <a:txBody>
                    <a:bodyPr/>
                    <a:lstStyle/>
                    <a:p>
                      <a:pPr>
                        <a:buNone/>
                      </a:pPr>
                      <a:r>
                        <a:rPr lang="en-CA" dirty="0"/>
                        <a:t>0.6</a:t>
                      </a:r>
                    </a:p>
                  </a:txBody>
                  <a:tcPr anchor="ctr"/>
                </a:tc>
                <a:extLst>
                  <a:ext uri="{0D108BD9-81ED-4DB2-BD59-A6C34878D82A}">
                    <a16:rowId xmlns:a16="http://schemas.microsoft.com/office/drawing/2014/main" val="3756861836"/>
                  </a:ext>
                </a:extLst>
              </a:tr>
              <a:tr h="413657">
                <a:tc>
                  <a:txBody>
                    <a:bodyPr/>
                    <a:lstStyle/>
                    <a:p>
                      <a:pPr>
                        <a:buNone/>
                      </a:pPr>
                      <a:r>
                        <a:rPr lang="en-CA" sz="1600" dirty="0"/>
                        <a:t>Advanced Biologic</a:t>
                      </a:r>
                    </a:p>
                  </a:txBody>
                  <a:tcPr anchor="ctr"/>
                </a:tc>
                <a:tc>
                  <a:txBody>
                    <a:bodyPr/>
                    <a:lstStyle/>
                    <a:p>
                      <a:pPr>
                        <a:buNone/>
                      </a:pPr>
                      <a:r>
                        <a:rPr lang="en-CA" b="1" dirty="0"/>
                        <a:t>1,100 patients</a:t>
                      </a:r>
                      <a:endParaRPr lang="en-CA" dirty="0"/>
                    </a:p>
                  </a:txBody>
                  <a:tcPr anchor="ctr"/>
                </a:tc>
                <a:tc>
                  <a:txBody>
                    <a:bodyPr/>
                    <a:lstStyle/>
                    <a:p>
                      <a:pPr>
                        <a:buNone/>
                      </a:pPr>
                      <a:r>
                        <a:rPr lang="en-CA" b="1" dirty="0"/>
                        <a:t>$20,000</a:t>
                      </a:r>
                      <a:endParaRPr lang="en-CA" dirty="0"/>
                    </a:p>
                  </a:txBody>
                  <a:tcPr anchor="ctr"/>
                </a:tc>
                <a:tc>
                  <a:txBody>
                    <a:bodyPr/>
                    <a:lstStyle/>
                    <a:p>
                      <a:pPr>
                        <a:buNone/>
                      </a:pPr>
                      <a:r>
                        <a:rPr lang="en-CA" dirty="0"/>
                        <a:t>0.3</a:t>
                      </a:r>
                    </a:p>
                  </a:txBody>
                  <a:tcPr anchor="ctr"/>
                </a:tc>
                <a:extLst>
                  <a:ext uri="{0D108BD9-81ED-4DB2-BD59-A6C34878D82A}">
                    <a16:rowId xmlns:a16="http://schemas.microsoft.com/office/drawing/2014/main" val="3513787475"/>
                  </a:ext>
                </a:extLst>
              </a:tr>
              <a:tr h="413657">
                <a:tc>
                  <a:txBody>
                    <a:bodyPr/>
                    <a:lstStyle/>
                    <a:p>
                      <a:pPr>
                        <a:buNone/>
                      </a:pPr>
                      <a:r>
                        <a:rPr lang="en-CA" sz="1600" dirty="0"/>
                        <a:t>Gene Therapy</a:t>
                      </a:r>
                    </a:p>
                  </a:txBody>
                  <a:tcPr anchor="ctr"/>
                </a:tc>
                <a:tc>
                  <a:txBody>
                    <a:bodyPr/>
                    <a:lstStyle/>
                    <a:p>
                      <a:pPr>
                        <a:buNone/>
                      </a:pPr>
                      <a:r>
                        <a:rPr lang="en-CA" b="1" dirty="0"/>
                        <a:t>150 patients</a:t>
                      </a:r>
                      <a:endParaRPr lang="en-CA" dirty="0"/>
                    </a:p>
                  </a:txBody>
                  <a:tcPr anchor="ctr"/>
                </a:tc>
                <a:tc>
                  <a:txBody>
                    <a:bodyPr/>
                    <a:lstStyle/>
                    <a:p>
                      <a:pPr>
                        <a:buNone/>
                      </a:pPr>
                      <a:r>
                        <a:rPr lang="en-CA" b="1" dirty="0"/>
                        <a:t>$65,000</a:t>
                      </a:r>
                      <a:endParaRPr lang="en-CA" dirty="0"/>
                    </a:p>
                  </a:txBody>
                  <a:tcPr anchor="ctr"/>
                </a:tc>
                <a:tc>
                  <a:txBody>
                    <a:bodyPr/>
                    <a:lstStyle/>
                    <a:p>
                      <a:pPr>
                        <a:buNone/>
                      </a:pPr>
                      <a:r>
                        <a:rPr lang="en-CA" dirty="0"/>
                        <a:t>0.1</a:t>
                      </a:r>
                    </a:p>
                  </a:txBody>
                  <a:tcPr anchor="ctr"/>
                </a:tc>
                <a:extLst>
                  <a:ext uri="{0D108BD9-81ED-4DB2-BD59-A6C34878D82A}">
                    <a16:rowId xmlns:a16="http://schemas.microsoft.com/office/drawing/2014/main" val="888119875"/>
                  </a:ext>
                </a:extLst>
              </a:tr>
            </a:tbl>
          </a:graphicData>
        </a:graphic>
      </p:graphicFrame>
    </p:spTree>
    <p:extLst>
      <p:ext uri="{BB962C8B-B14F-4D97-AF65-F5344CB8AC3E}">
        <p14:creationId xmlns:p14="http://schemas.microsoft.com/office/powerpoint/2010/main" val="3974736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9EA97-EEF2-C245-B881-5C1080B18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B9902A-26F6-22F4-1EFE-861E3CEA3CBE}"/>
              </a:ext>
            </a:extLst>
          </p:cNvPr>
          <p:cNvSpPr>
            <a:spLocks noGrp="1"/>
          </p:cNvSpPr>
          <p:nvPr>
            <p:ph type="title"/>
          </p:nvPr>
        </p:nvSpPr>
        <p:spPr>
          <a:xfrm>
            <a:off x="482600" y="597408"/>
            <a:ext cx="10634472" cy="1117092"/>
          </a:xfrm>
        </p:spPr>
        <p:txBody>
          <a:bodyPr>
            <a:normAutofit fontScale="90000"/>
          </a:bodyPr>
          <a:lstStyle/>
          <a:p>
            <a:r>
              <a:rPr lang="en-CA" sz="4800" dirty="0"/>
              <a:t>Scenario Analysis In Budget Impact Analysis</a:t>
            </a:r>
          </a:p>
        </p:txBody>
      </p:sp>
      <p:graphicFrame>
        <p:nvGraphicFramePr>
          <p:cNvPr id="5" name="Content Placeholder 3">
            <a:extLst>
              <a:ext uri="{FF2B5EF4-FFF2-40B4-BE49-F238E27FC236}">
                <a16:creationId xmlns:a16="http://schemas.microsoft.com/office/drawing/2014/main" id="{3D451684-902B-A4A3-0FA0-571DF69FDE45}"/>
              </a:ext>
            </a:extLst>
          </p:cNvPr>
          <p:cNvGraphicFramePr>
            <a:graphicFrameLocks/>
          </p:cNvGraphicFramePr>
          <p:nvPr/>
        </p:nvGraphicFramePr>
        <p:xfrm>
          <a:off x="5069439" y="3936205"/>
          <a:ext cx="6934200" cy="1985554"/>
        </p:xfrm>
        <a:graphic>
          <a:graphicData uri="http://schemas.openxmlformats.org/drawingml/2006/table">
            <a:tbl>
              <a:tblPr firstRow="1" bandRow="1">
                <a:tableStyleId>{5C22544A-7EE6-4342-B048-85BDC9FD1C3A}</a:tableStyleId>
              </a:tblPr>
              <a:tblGrid>
                <a:gridCol w="1733550">
                  <a:extLst>
                    <a:ext uri="{9D8B030D-6E8A-4147-A177-3AD203B41FA5}">
                      <a16:colId xmlns:a16="http://schemas.microsoft.com/office/drawing/2014/main" val="1664120568"/>
                    </a:ext>
                  </a:extLst>
                </a:gridCol>
                <a:gridCol w="1733550">
                  <a:extLst>
                    <a:ext uri="{9D8B030D-6E8A-4147-A177-3AD203B41FA5}">
                      <a16:colId xmlns:a16="http://schemas.microsoft.com/office/drawing/2014/main" val="1932314961"/>
                    </a:ext>
                  </a:extLst>
                </a:gridCol>
                <a:gridCol w="1733550">
                  <a:extLst>
                    <a:ext uri="{9D8B030D-6E8A-4147-A177-3AD203B41FA5}">
                      <a16:colId xmlns:a16="http://schemas.microsoft.com/office/drawing/2014/main" val="2280636144"/>
                    </a:ext>
                  </a:extLst>
                </a:gridCol>
                <a:gridCol w="1733550">
                  <a:extLst>
                    <a:ext uri="{9D8B030D-6E8A-4147-A177-3AD203B41FA5}">
                      <a16:colId xmlns:a16="http://schemas.microsoft.com/office/drawing/2014/main" val="3109363647"/>
                    </a:ext>
                  </a:extLst>
                </a:gridCol>
              </a:tblGrid>
              <a:tr h="413657">
                <a:tc>
                  <a:txBody>
                    <a:bodyPr/>
                    <a:lstStyle/>
                    <a:p>
                      <a:r>
                        <a:rPr lang="en-CA" sz="1600" dirty="0"/>
                        <a:t>Drug</a:t>
                      </a:r>
                    </a:p>
                  </a:txBody>
                  <a:tcPr/>
                </a:tc>
                <a:tc>
                  <a:txBody>
                    <a:bodyPr/>
                    <a:lstStyle/>
                    <a:p>
                      <a:r>
                        <a:rPr lang="en-CA" sz="1600" dirty="0"/>
                        <a:t>Patients</a:t>
                      </a:r>
                    </a:p>
                  </a:txBody>
                  <a:tcPr/>
                </a:tc>
                <a:tc>
                  <a:txBody>
                    <a:bodyPr/>
                    <a:lstStyle/>
                    <a:p>
                      <a:r>
                        <a:rPr lang="en-CA" sz="1600" dirty="0"/>
                        <a:t>Costs Per Unit</a:t>
                      </a:r>
                    </a:p>
                  </a:txBody>
                  <a:tcPr/>
                </a:tc>
                <a:tc>
                  <a:txBody>
                    <a:bodyPr/>
                    <a:lstStyle/>
                    <a:p>
                      <a:r>
                        <a:rPr lang="en-CA" sz="1600" dirty="0"/>
                        <a:t>Market Share</a:t>
                      </a:r>
                    </a:p>
                  </a:txBody>
                  <a:tcPr/>
                </a:tc>
                <a:extLst>
                  <a:ext uri="{0D108BD9-81ED-4DB2-BD59-A6C34878D82A}">
                    <a16:rowId xmlns:a16="http://schemas.microsoft.com/office/drawing/2014/main" val="532233631"/>
                  </a:ext>
                </a:extLst>
              </a:tr>
              <a:tr h="413657">
                <a:tc>
                  <a:txBody>
                    <a:bodyPr/>
                    <a:lstStyle/>
                    <a:p>
                      <a:pPr>
                        <a:buNone/>
                      </a:pPr>
                      <a:r>
                        <a:rPr lang="en-CA" sz="1600" dirty="0"/>
                        <a:t>Surgical Procedure</a:t>
                      </a:r>
                    </a:p>
                  </a:txBody>
                  <a:tcPr anchor="ctr"/>
                </a:tc>
                <a:tc>
                  <a:txBody>
                    <a:bodyPr/>
                    <a:lstStyle/>
                    <a:p>
                      <a:pPr>
                        <a:buNone/>
                      </a:pPr>
                      <a:r>
                        <a:rPr lang="en-CA" b="1" dirty="0"/>
                        <a:t>3,200 patients</a:t>
                      </a:r>
                      <a:endParaRPr lang="en-CA" dirty="0"/>
                    </a:p>
                  </a:txBody>
                  <a:tcPr anchor="ctr"/>
                </a:tc>
                <a:tc>
                  <a:txBody>
                    <a:bodyPr/>
                    <a:lstStyle/>
                    <a:p>
                      <a:pPr>
                        <a:buNone/>
                      </a:pPr>
                      <a:r>
                        <a:rPr lang="en-CA" b="1" dirty="0"/>
                        <a:t>$9000</a:t>
                      </a:r>
                      <a:endParaRPr lang="en-CA" dirty="0"/>
                    </a:p>
                  </a:txBody>
                  <a:tcPr anchor="ctr"/>
                </a:tc>
                <a:tc>
                  <a:txBody>
                    <a:bodyPr/>
                    <a:lstStyle/>
                    <a:p>
                      <a:pPr>
                        <a:buNone/>
                      </a:pPr>
                      <a:r>
                        <a:rPr lang="en-CA" dirty="0"/>
                        <a:t>0.7</a:t>
                      </a:r>
                    </a:p>
                  </a:txBody>
                  <a:tcPr anchor="ctr"/>
                </a:tc>
                <a:extLst>
                  <a:ext uri="{0D108BD9-81ED-4DB2-BD59-A6C34878D82A}">
                    <a16:rowId xmlns:a16="http://schemas.microsoft.com/office/drawing/2014/main" val="3756861836"/>
                  </a:ext>
                </a:extLst>
              </a:tr>
              <a:tr h="413657">
                <a:tc>
                  <a:txBody>
                    <a:bodyPr/>
                    <a:lstStyle/>
                    <a:p>
                      <a:pPr>
                        <a:buNone/>
                      </a:pPr>
                      <a:r>
                        <a:rPr lang="en-CA" sz="1600" dirty="0"/>
                        <a:t>Advanced Biologic</a:t>
                      </a:r>
                    </a:p>
                  </a:txBody>
                  <a:tcPr anchor="ctr"/>
                </a:tc>
                <a:tc>
                  <a:txBody>
                    <a:bodyPr/>
                    <a:lstStyle/>
                    <a:p>
                      <a:pPr>
                        <a:buNone/>
                      </a:pPr>
                      <a:r>
                        <a:rPr lang="en-CA" b="1" dirty="0"/>
                        <a:t>1,100 patients</a:t>
                      </a:r>
                      <a:endParaRPr lang="en-CA" dirty="0"/>
                    </a:p>
                  </a:txBody>
                  <a:tcPr anchor="ctr"/>
                </a:tc>
                <a:tc>
                  <a:txBody>
                    <a:bodyPr/>
                    <a:lstStyle/>
                    <a:p>
                      <a:pPr>
                        <a:buNone/>
                      </a:pPr>
                      <a:r>
                        <a:rPr lang="en-CA" b="1" dirty="0"/>
                        <a:t>$20,000</a:t>
                      </a:r>
                      <a:endParaRPr lang="en-CA" dirty="0"/>
                    </a:p>
                  </a:txBody>
                  <a:tcPr anchor="ctr"/>
                </a:tc>
                <a:tc>
                  <a:txBody>
                    <a:bodyPr/>
                    <a:lstStyle/>
                    <a:p>
                      <a:pPr>
                        <a:buNone/>
                      </a:pPr>
                      <a:r>
                        <a:rPr lang="en-CA" dirty="0"/>
                        <a:t>0.3</a:t>
                      </a:r>
                    </a:p>
                  </a:txBody>
                  <a:tcPr anchor="ctr"/>
                </a:tc>
                <a:extLst>
                  <a:ext uri="{0D108BD9-81ED-4DB2-BD59-A6C34878D82A}">
                    <a16:rowId xmlns:a16="http://schemas.microsoft.com/office/drawing/2014/main" val="3513787475"/>
                  </a:ext>
                </a:extLst>
              </a:tr>
              <a:tr h="413657">
                <a:tc>
                  <a:txBody>
                    <a:bodyPr/>
                    <a:lstStyle/>
                    <a:p>
                      <a:pPr>
                        <a:buNone/>
                      </a:pPr>
                      <a:r>
                        <a:rPr lang="en-CA" sz="1600" dirty="0"/>
                        <a:t>Gene Therapy</a:t>
                      </a:r>
                    </a:p>
                  </a:txBody>
                  <a:tcPr anchor="ctr"/>
                </a:tc>
                <a:tc>
                  <a:txBody>
                    <a:bodyPr/>
                    <a:lstStyle/>
                    <a:p>
                      <a:pPr>
                        <a:buNone/>
                      </a:pPr>
                      <a:r>
                        <a:rPr lang="en-CA" b="1" dirty="0"/>
                        <a:t>150 patients</a:t>
                      </a:r>
                      <a:endParaRPr lang="en-CA" dirty="0"/>
                    </a:p>
                  </a:txBody>
                  <a:tcPr anchor="ctr"/>
                </a:tc>
                <a:tc>
                  <a:txBody>
                    <a:bodyPr/>
                    <a:lstStyle/>
                    <a:p>
                      <a:pPr>
                        <a:buNone/>
                      </a:pPr>
                      <a:r>
                        <a:rPr lang="en-CA" b="1" dirty="0"/>
                        <a:t>$65,000</a:t>
                      </a:r>
                      <a:endParaRPr lang="en-CA" dirty="0"/>
                    </a:p>
                  </a:txBody>
                  <a:tcPr anchor="ctr"/>
                </a:tc>
                <a:tc>
                  <a:txBody>
                    <a:bodyPr/>
                    <a:lstStyle/>
                    <a:p>
                      <a:pPr>
                        <a:buNone/>
                      </a:pPr>
                      <a:r>
                        <a:rPr lang="en-CA" dirty="0"/>
                        <a:t>0</a:t>
                      </a:r>
                    </a:p>
                  </a:txBody>
                  <a:tcPr anchor="ctr"/>
                </a:tc>
                <a:extLst>
                  <a:ext uri="{0D108BD9-81ED-4DB2-BD59-A6C34878D82A}">
                    <a16:rowId xmlns:a16="http://schemas.microsoft.com/office/drawing/2014/main" val="888119875"/>
                  </a:ext>
                </a:extLst>
              </a:tr>
            </a:tbl>
          </a:graphicData>
        </a:graphic>
      </p:graphicFrame>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5C3F9A4E-9655-DC70-3C4B-15E08CD28B03}"/>
                  </a:ext>
                </a:extLst>
              </p:cNvPr>
              <p:cNvSpPr>
                <a:spLocks noGrp="1"/>
              </p:cNvSpPr>
              <p:nvPr>
                <p:ph idx="1"/>
              </p:nvPr>
            </p:nvSpPr>
            <p:spPr>
              <a:xfrm>
                <a:off x="482600" y="2409826"/>
                <a:ext cx="4051299" cy="3431666"/>
              </a:xfrm>
            </p:spPr>
            <p:txBody>
              <a:bodyPr/>
              <a:lstStyle/>
              <a:p>
                <a:r>
                  <a:rPr lang="en-CA" b="1" i="1" dirty="0"/>
                  <a:t>Budget Impact:</a:t>
                </a:r>
                <a:br>
                  <a:rPr lang="en-CA" b="1" i="1" dirty="0"/>
                </a:br>
                <a14:m>
                  <m:oMath xmlns:m="http://schemas.openxmlformats.org/officeDocument/2006/math">
                    <m:r>
                      <a:rPr lang="en-CA" b="0" i="1" smtClean="0">
                        <a:latin typeface="Cambria Math" panose="02040503050406030204" pitchFamily="18" charset="0"/>
                      </a:rPr>
                      <m:t>𝜇</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𝐴</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𝐵</m:t>
                        </m:r>
                      </m:sub>
                    </m:sSub>
                  </m:oMath>
                </a14:m>
                <a:br>
                  <a:rPr lang="en-CA" b="0" i="1">
                    <a:latin typeface="Cambria Math" panose="02040503050406030204" pitchFamily="18" charset="0"/>
                  </a:rPr>
                </a:br>
                <a14:m>
                  <m:oMath xmlns:m="http://schemas.openxmlformats.org/officeDocument/2006/math">
                    <m:r>
                      <a:rPr lang="en-CA" sz="2200" b="0" i="1" smtClean="0">
                        <a:latin typeface="Cambria Math" panose="02040503050406030204" pitchFamily="18" charset="0"/>
                      </a:rPr>
                      <m:t>𝜇</m:t>
                    </m:r>
                    <m:r>
                      <a:rPr lang="en-CA" sz="2200" b="0" i="1" smtClean="0">
                        <a:latin typeface="Cambria Math" panose="02040503050406030204" pitchFamily="18" charset="0"/>
                      </a:rPr>
                      <m:t>=24.8</m:t>
                    </m:r>
                    <m:r>
                      <m:rPr>
                        <m:sty m:val="p"/>
                      </m:rPr>
                      <a:rPr lang="en-CA" sz="2200" b="0" i="0" smtClean="0">
                        <a:latin typeface="Cambria Math" panose="02040503050406030204" pitchFamily="18" charset="0"/>
                      </a:rPr>
                      <m:t>Million</m:t>
                    </m:r>
                    <m:r>
                      <a:rPr lang="en-CA" sz="2200">
                        <a:latin typeface="Cambria Math" panose="02040503050406030204" pitchFamily="18" charset="0"/>
                      </a:rPr>
                      <m:t> </m:t>
                    </m:r>
                    <m:r>
                      <a:rPr lang="en-CA" sz="2200" b="0" i="0" smtClean="0">
                        <a:latin typeface="Cambria Math" panose="02040503050406030204" pitchFamily="18" charset="0"/>
                      </a:rPr>
                      <m:t>−</m:t>
                    </m:r>
                    <m:r>
                      <a:rPr lang="en-CA" sz="2200" i="0">
                        <a:latin typeface="Cambria Math" panose="02040503050406030204" pitchFamily="18" charset="0"/>
                      </a:rPr>
                      <m:t>2</m:t>
                    </m:r>
                    <m:r>
                      <a:rPr lang="en-CA" sz="2200" b="0" i="0" smtClean="0">
                        <a:latin typeface="Cambria Math" panose="02040503050406030204" pitchFamily="18" charset="0"/>
                      </a:rPr>
                      <m:t>3.8 </m:t>
                    </m:r>
                    <m:r>
                      <m:rPr>
                        <m:sty m:val="p"/>
                      </m:rPr>
                      <a:rPr lang="en-CA" sz="2200" b="0" i="0" smtClean="0">
                        <a:latin typeface="Cambria Math" panose="02040503050406030204" pitchFamily="18" charset="0"/>
                      </a:rPr>
                      <m:t>Million</m:t>
                    </m:r>
                  </m:oMath>
                </a14:m>
                <a:br>
                  <a:rPr lang="en-CA" sz="2200" b="0" i="0">
                    <a:latin typeface="Cambria Math" panose="02040503050406030204" pitchFamily="18" charset="0"/>
                  </a:rPr>
                </a:br>
                <a14:m>
                  <m:oMath xmlns:m="http://schemas.openxmlformats.org/officeDocument/2006/math">
                    <m:r>
                      <a:rPr lang="en-CA" b="0" i="1" smtClean="0">
                        <a:latin typeface="Cambria Math" panose="02040503050406030204" pitchFamily="18" charset="0"/>
                      </a:rPr>
                      <m:t>𝜇</m:t>
                    </m:r>
                    <m:r>
                      <a:rPr lang="en-CA" b="0" i="1" smtClean="0">
                        <a:latin typeface="Cambria Math" panose="02040503050406030204" pitchFamily="18" charset="0"/>
                      </a:rPr>
                      <m:t>=1 </m:t>
                    </m:r>
                    <m:r>
                      <m:rPr>
                        <m:sty m:val="p"/>
                      </m:rPr>
                      <a:rPr lang="en-CA" b="0" i="0" smtClean="0">
                        <a:latin typeface="Cambria Math" panose="02040503050406030204" pitchFamily="18" charset="0"/>
                      </a:rPr>
                      <m:t>Million</m:t>
                    </m:r>
                  </m:oMath>
                </a14:m>
                <a:endParaRPr lang="en-CA" dirty="0"/>
              </a:p>
              <a:p>
                <a14:m>
                  <m:oMath xmlns:m="http://schemas.openxmlformats.org/officeDocument/2006/math">
                    <m:r>
                      <a:rPr lang="en-CA" b="0" i="1" smtClean="0">
                        <a:latin typeface="Cambria Math" panose="02040503050406030204" pitchFamily="18" charset="0"/>
                      </a:rPr>
                      <m:t>∴</m:t>
                    </m:r>
                  </m:oMath>
                </a14:m>
                <a:r>
                  <a:rPr lang="en-CA" i="1" dirty="0"/>
                  <a:t>the introduction of Gene therapy will have a budget impact of 1 million dollars.</a:t>
                </a:r>
              </a:p>
            </p:txBody>
          </p:sp>
        </mc:Choice>
        <mc:Fallback xmlns="">
          <p:sp>
            <p:nvSpPr>
              <p:cNvPr id="7" name="Content Placeholder 6">
                <a:extLst>
                  <a:ext uri="{FF2B5EF4-FFF2-40B4-BE49-F238E27FC236}">
                    <a16:creationId xmlns:a16="http://schemas.microsoft.com/office/drawing/2014/main" id="{5C3F9A4E-9655-DC70-3C4B-15E08CD28B03}"/>
                  </a:ext>
                </a:extLst>
              </p:cNvPr>
              <p:cNvSpPr>
                <a:spLocks noGrp="1" noRot="1" noChangeAspect="1" noMove="1" noResize="1" noEditPoints="1" noAdjustHandles="1" noChangeArrowheads="1" noChangeShapeType="1" noTextEdit="1"/>
              </p:cNvSpPr>
              <p:nvPr>
                <p:ph idx="1"/>
              </p:nvPr>
            </p:nvSpPr>
            <p:spPr>
              <a:xfrm>
                <a:off x="482600" y="2409826"/>
                <a:ext cx="4051299" cy="3431666"/>
              </a:xfrm>
              <a:blipFill>
                <a:blip r:embed="rId2"/>
                <a:stretch>
                  <a:fillRect l="-2256" t="-1421"/>
                </a:stretch>
              </a:blipFill>
            </p:spPr>
            <p:txBody>
              <a:bodyPr/>
              <a:lstStyle/>
              <a:p>
                <a:r>
                  <a:rPr lang="en-CA">
                    <a:noFill/>
                  </a:rPr>
                  <a:t> </a:t>
                </a:r>
              </a:p>
            </p:txBody>
          </p:sp>
        </mc:Fallback>
      </mc:AlternateContent>
      <p:sp>
        <p:nvSpPr>
          <p:cNvPr id="10" name="TextBox 9">
            <a:extLst>
              <a:ext uri="{FF2B5EF4-FFF2-40B4-BE49-F238E27FC236}">
                <a16:creationId xmlns:a16="http://schemas.microsoft.com/office/drawing/2014/main" id="{2F44B9BA-5898-36F3-EF98-52C3E255C696}"/>
              </a:ext>
            </a:extLst>
          </p:cNvPr>
          <p:cNvSpPr txBox="1"/>
          <p:nvPr/>
        </p:nvSpPr>
        <p:spPr>
          <a:xfrm rot="16200000">
            <a:off x="4300271" y="2521125"/>
            <a:ext cx="1277914" cy="369332"/>
          </a:xfrm>
          <a:prstGeom prst="rect">
            <a:avLst/>
          </a:prstGeom>
          <a:noFill/>
        </p:spPr>
        <p:txBody>
          <a:bodyPr wrap="none" rtlCol="0">
            <a:spAutoFit/>
          </a:bodyPr>
          <a:lstStyle/>
          <a:p>
            <a:r>
              <a:rPr lang="en-CA" dirty="0"/>
              <a:t>Scenario A</a:t>
            </a:r>
          </a:p>
        </p:txBody>
      </p:sp>
      <p:sp>
        <p:nvSpPr>
          <p:cNvPr id="11" name="TextBox 10">
            <a:extLst>
              <a:ext uri="{FF2B5EF4-FFF2-40B4-BE49-F238E27FC236}">
                <a16:creationId xmlns:a16="http://schemas.microsoft.com/office/drawing/2014/main" id="{914A0A56-6620-2B60-9E4E-5B4366AB0E52}"/>
              </a:ext>
            </a:extLst>
          </p:cNvPr>
          <p:cNvSpPr txBox="1"/>
          <p:nvPr/>
        </p:nvSpPr>
        <p:spPr>
          <a:xfrm rot="16200000">
            <a:off x="4255434" y="4958835"/>
            <a:ext cx="1258678" cy="369332"/>
          </a:xfrm>
          <a:prstGeom prst="rect">
            <a:avLst/>
          </a:prstGeom>
          <a:noFill/>
        </p:spPr>
        <p:txBody>
          <a:bodyPr wrap="none" rtlCol="0">
            <a:spAutoFit/>
          </a:bodyPr>
          <a:lstStyle/>
          <a:p>
            <a:r>
              <a:rPr lang="en-CA" dirty="0"/>
              <a:t>Scenario B</a:t>
            </a:r>
          </a:p>
        </p:txBody>
      </p:sp>
      <p:graphicFrame>
        <p:nvGraphicFramePr>
          <p:cNvPr id="12" name="Content Placeholder 3">
            <a:extLst>
              <a:ext uri="{FF2B5EF4-FFF2-40B4-BE49-F238E27FC236}">
                <a16:creationId xmlns:a16="http://schemas.microsoft.com/office/drawing/2014/main" id="{2FEEA0EF-408C-20C1-FE97-DE59BE1E5E8A}"/>
              </a:ext>
            </a:extLst>
          </p:cNvPr>
          <p:cNvGraphicFramePr>
            <a:graphicFrameLocks/>
          </p:cNvGraphicFramePr>
          <p:nvPr/>
        </p:nvGraphicFramePr>
        <p:xfrm>
          <a:off x="5069439" y="1588699"/>
          <a:ext cx="6934200" cy="1985554"/>
        </p:xfrm>
        <a:graphic>
          <a:graphicData uri="http://schemas.openxmlformats.org/drawingml/2006/table">
            <a:tbl>
              <a:tblPr firstRow="1" bandRow="1">
                <a:tableStyleId>{5C22544A-7EE6-4342-B048-85BDC9FD1C3A}</a:tableStyleId>
              </a:tblPr>
              <a:tblGrid>
                <a:gridCol w="1733550">
                  <a:extLst>
                    <a:ext uri="{9D8B030D-6E8A-4147-A177-3AD203B41FA5}">
                      <a16:colId xmlns:a16="http://schemas.microsoft.com/office/drawing/2014/main" val="1664120568"/>
                    </a:ext>
                  </a:extLst>
                </a:gridCol>
                <a:gridCol w="1733550">
                  <a:extLst>
                    <a:ext uri="{9D8B030D-6E8A-4147-A177-3AD203B41FA5}">
                      <a16:colId xmlns:a16="http://schemas.microsoft.com/office/drawing/2014/main" val="1932314961"/>
                    </a:ext>
                  </a:extLst>
                </a:gridCol>
                <a:gridCol w="1733550">
                  <a:extLst>
                    <a:ext uri="{9D8B030D-6E8A-4147-A177-3AD203B41FA5}">
                      <a16:colId xmlns:a16="http://schemas.microsoft.com/office/drawing/2014/main" val="2280636144"/>
                    </a:ext>
                  </a:extLst>
                </a:gridCol>
                <a:gridCol w="1733550">
                  <a:extLst>
                    <a:ext uri="{9D8B030D-6E8A-4147-A177-3AD203B41FA5}">
                      <a16:colId xmlns:a16="http://schemas.microsoft.com/office/drawing/2014/main" val="3109363647"/>
                    </a:ext>
                  </a:extLst>
                </a:gridCol>
              </a:tblGrid>
              <a:tr h="413657">
                <a:tc>
                  <a:txBody>
                    <a:bodyPr/>
                    <a:lstStyle/>
                    <a:p>
                      <a:r>
                        <a:rPr lang="en-CA" sz="1600" dirty="0"/>
                        <a:t>Drug</a:t>
                      </a:r>
                    </a:p>
                  </a:txBody>
                  <a:tcPr/>
                </a:tc>
                <a:tc>
                  <a:txBody>
                    <a:bodyPr/>
                    <a:lstStyle/>
                    <a:p>
                      <a:r>
                        <a:rPr lang="en-CA" sz="1600" dirty="0"/>
                        <a:t>Patients</a:t>
                      </a:r>
                    </a:p>
                  </a:txBody>
                  <a:tcPr/>
                </a:tc>
                <a:tc>
                  <a:txBody>
                    <a:bodyPr/>
                    <a:lstStyle/>
                    <a:p>
                      <a:r>
                        <a:rPr lang="en-CA" sz="1600" dirty="0"/>
                        <a:t>Costs Per Unit</a:t>
                      </a:r>
                    </a:p>
                  </a:txBody>
                  <a:tcPr/>
                </a:tc>
                <a:tc>
                  <a:txBody>
                    <a:bodyPr/>
                    <a:lstStyle/>
                    <a:p>
                      <a:r>
                        <a:rPr lang="en-CA" sz="1600" dirty="0"/>
                        <a:t>Market Share</a:t>
                      </a:r>
                    </a:p>
                  </a:txBody>
                  <a:tcPr/>
                </a:tc>
                <a:extLst>
                  <a:ext uri="{0D108BD9-81ED-4DB2-BD59-A6C34878D82A}">
                    <a16:rowId xmlns:a16="http://schemas.microsoft.com/office/drawing/2014/main" val="532233631"/>
                  </a:ext>
                </a:extLst>
              </a:tr>
              <a:tr h="413657">
                <a:tc>
                  <a:txBody>
                    <a:bodyPr/>
                    <a:lstStyle/>
                    <a:p>
                      <a:pPr>
                        <a:buNone/>
                      </a:pPr>
                      <a:r>
                        <a:rPr lang="en-CA" sz="1600" dirty="0"/>
                        <a:t>Surgical Procedure</a:t>
                      </a:r>
                    </a:p>
                  </a:txBody>
                  <a:tcPr anchor="ctr"/>
                </a:tc>
                <a:tc>
                  <a:txBody>
                    <a:bodyPr/>
                    <a:lstStyle/>
                    <a:p>
                      <a:pPr>
                        <a:buNone/>
                      </a:pPr>
                      <a:r>
                        <a:rPr lang="en-CA" b="1" dirty="0"/>
                        <a:t>3,200 patients</a:t>
                      </a:r>
                      <a:endParaRPr lang="en-CA" dirty="0"/>
                    </a:p>
                  </a:txBody>
                  <a:tcPr anchor="ctr"/>
                </a:tc>
                <a:tc>
                  <a:txBody>
                    <a:bodyPr/>
                    <a:lstStyle/>
                    <a:p>
                      <a:pPr>
                        <a:buNone/>
                      </a:pPr>
                      <a:r>
                        <a:rPr lang="en-CA" b="1" dirty="0"/>
                        <a:t>$9000</a:t>
                      </a:r>
                      <a:endParaRPr lang="en-CA" dirty="0"/>
                    </a:p>
                  </a:txBody>
                  <a:tcPr anchor="ctr"/>
                </a:tc>
                <a:tc>
                  <a:txBody>
                    <a:bodyPr/>
                    <a:lstStyle/>
                    <a:p>
                      <a:pPr>
                        <a:buNone/>
                      </a:pPr>
                      <a:r>
                        <a:rPr lang="en-CA" dirty="0"/>
                        <a:t>0.6</a:t>
                      </a:r>
                    </a:p>
                  </a:txBody>
                  <a:tcPr anchor="ctr"/>
                </a:tc>
                <a:extLst>
                  <a:ext uri="{0D108BD9-81ED-4DB2-BD59-A6C34878D82A}">
                    <a16:rowId xmlns:a16="http://schemas.microsoft.com/office/drawing/2014/main" val="3756861836"/>
                  </a:ext>
                </a:extLst>
              </a:tr>
              <a:tr h="413657">
                <a:tc>
                  <a:txBody>
                    <a:bodyPr/>
                    <a:lstStyle/>
                    <a:p>
                      <a:pPr>
                        <a:buNone/>
                      </a:pPr>
                      <a:r>
                        <a:rPr lang="en-CA" sz="1600" dirty="0"/>
                        <a:t>Advanced Biologic</a:t>
                      </a:r>
                    </a:p>
                  </a:txBody>
                  <a:tcPr anchor="ctr"/>
                </a:tc>
                <a:tc>
                  <a:txBody>
                    <a:bodyPr/>
                    <a:lstStyle/>
                    <a:p>
                      <a:pPr>
                        <a:buNone/>
                      </a:pPr>
                      <a:r>
                        <a:rPr lang="en-CA" b="1" dirty="0"/>
                        <a:t>1,100 patients</a:t>
                      </a:r>
                      <a:endParaRPr lang="en-CA" dirty="0"/>
                    </a:p>
                  </a:txBody>
                  <a:tcPr anchor="ctr"/>
                </a:tc>
                <a:tc>
                  <a:txBody>
                    <a:bodyPr/>
                    <a:lstStyle/>
                    <a:p>
                      <a:pPr>
                        <a:buNone/>
                      </a:pPr>
                      <a:r>
                        <a:rPr lang="en-CA" b="1" dirty="0"/>
                        <a:t>$20,000</a:t>
                      </a:r>
                      <a:endParaRPr lang="en-CA" dirty="0"/>
                    </a:p>
                  </a:txBody>
                  <a:tcPr anchor="ctr"/>
                </a:tc>
                <a:tc>
                  <a:txBody>
                    <a:bodyPr/>
                    <a:lstStyle/>
                    <a:p>
                      <a:pPr>
                        <a:buNone/>
                      </a:pPr>
                      <a:r>
                        <a:rPr lang="en-CA" dirty="0"/>
                        <a:t>0.3</a:t>
                      </a:r>
                    </a:p>
                  </a:txBody>
                  <a:tcPr anchor="ctr"/>
                </a:tc>
                <a:extLst>
                  <a:ext uri="{0D108BD9-81ED-4DB2-BD59-A6C34878D82A}">
                    <a16:rowId xmlns:a16="http://schemas.microsoft.com/office/drawing/2014/main" val="3513787475"/>
                  </a:ext>
                </a:extLst>
              </a:tr>
              <a:tr h="413657">
                <a:tc>
                  <a:txBody>
                    <a:bodyPr/>
                    <a:lstStyle/>
                    <a:p>
                      <a:pPr>
                        <a:buNone/>
                      </a:pPr>
                      <a:r>
                        <a:rPr lang="en-CA" sz="1600" dirty="0"/>
                        <a:t>Gene Therapy</a:t>
                      </a:r>
                    </a:p>
                  </a:txBody>
                  <a:tcPr anchor="ctr"/>
                </a:tc>
                <a:tc>
                  <a:txBody>
                    <a:bodyPr/>
                    <a:lstStyle/>
                    <a:p>
                      <a:pPr>
                        <a:buNone/>
                      </a:pPr>
                      <a:r>
                        <a:rPr lang="en-CA" b="1" dirty="0"/>
                        <a:t>150 patients</a:t>
                      </a:r>
                      <a:endParaRPr lang="en-CA" dirty="0"/>
                    </a:p>
                  </a:txBody>
                  <a:tcPr anchor="ctr"/>
                </a:tc>
                <a:tc>
                  <a:txBody>
                    <a:bodyPr/>
                    <a:lstStyle/>
                    <a:p>
                      <a:pPr>
                        <a:buNone/>
                      </a:pPr>
                      <a:r>
                        <a:rPr lang="en-CA" b="1" dirty="0"/>
                        <a:t>$65,000</a:t>
                      </a:r>
                      <a:endParaRPr lang="en-CA" dirty="0"/>
                    </a:p>
                  </a:txBody>
                  <a:tcPr anchor="ctr"/>
                </a:tc>
                <a:tc>
                  <a:txBody>
                    <a:bodyPr/>
                    <a:lstStyle/>
                    <a:p>
                      <a:pPr>
                        <a:buNone/>
                      </a:pPr>
                      <a:r>
                        <a:rPr lang="en-CA" dirty="0"/>
                        <a:t>0.1</a:t>
                      </a:r>
                    </a:p>
                  </a:txBody>
                  <a:tcPr anchor="ctr"/>
                </a:tc>
                <a:extLst>
                  <a:ext uri="{0D108BD9-81ED-4DB2-BD59-A6C34878D82A}">
                    <a16:rowId xmlns:a16="http://schemas.microsoft.com/office/drawing/2014/main" val="888119875"/>
                  </a:ext>
                </a:extLst>
              </a:tr>
            </a:tbl>
          </a:graphicData>
        </a:graphic>
      </p:graphicFrame>
    </p:spTree>
    <p:extLst>
      <p:ext uri="{BB962C8B-B14F-4D97-AF65-F5344CB8AC3E}">
        <p14:creationId xmlns:p14="http://schemas.microsoft.com/office/powerpoint/2010/main" val="3031646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A84F8-8B6A-CA11-70DF-DAAB14FE34FB}"/>
              </a:ext>
            </a:extLst>
          </p:cNvPr>
          <p:cNvSpPr>
            <a:spLocks noGrp="1"/>
          </p:cNvSpPr>
          <p:nvPr>
            <p:ph type="ctrTitle"/>
          </p:nvPr>
        </p:nvSpPr>
        <p:spPr/>
        <p:txBody>
          <a:bodyPr/>
          <a:lstStyle/>
          <a:p>
            <a:r>
              <a:rPr lang="en-CA" dirty="0"/>
              <a:t>Budget Impact Analysis “Implied” from Cost Effectiveness Analysis</a:t>
            </a:r>
          </a:p>
        </p:txBody>
      </p:sp>
      <p:sp>
        <p:nvSpPr>
          <p:cNvPr id="3" name="Subtitle 2">
            <a:extLst>
              <a:ext uri="{FF2B5EF4-FFF2-40B4-BE49-F238E27FC236}">
                <a16:creationId xmlns:a16="http://schemas.microsoft.com/office/drawing/2014/main" id="{EA2CBFC2-A3CB-0783-BE8A-417F8236A9D2}"/>
              </a:ext>
            </a:extLst>
          </p:cNvPr>
          <p:cNvSpPr>
            <a:spLocks noGrp="1"/>
          </p:cNvSpPr>
          <p:nvPr>
            <p:ph type="subTitle" idx="1"/>
          </p:nvPr>
        </p:nvSpPr>
        <p:spPr/>
        <p:txBody>
          <a:bodyPr/>
          <a:lstStyle/>
          <a:p>
            <a:endParaRPr lang="en-CA" dirty="0"/>
          </a:p>
        </p:txBody>
      </p:sp>
    </p:spTree>
    <p:extLst>
      <p:ext uri="{BB962C8B-B14F-4D97-AF65-F5344CB8AC3E}">
        <p14:creationId xmlns:p14="http://schemas.microsoft.com/office/powerpoint/2010/main" val="2613311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2AA78-204E-4F40-9B54-A1A4C3A64336}"/>
              </a:ext>
            </a:extLst>
          </p:cNvPr>
          <p:cNvSpPr>
            <a:spLocks noGrp="1"/>
          </p:cNvSpPr>
          <p:nvPr>
            <p:ph type="title"/>
          </p:nvPr>
        </p:nvSpPr>
        <p:spPr/>
        <p:txBody>
          <a:bodyPr/>
          <a:lstStyle/>
          <a:p>
            <a:r>
              <a:rPr lang="en-CA" dirty="0"/>
              <a:t>Cost Effectiveness Analysis VS Budget Impact Analysis</a:t>
            </a:r>
          </a:p>
        </p:txBody>
      </p:sp>
      <p:sp>
        <p:nvSpPr>
          <p:cNvPr id="3" name="Content Placeholder 2">
            <a:extLst>
              <a:ext uri="{FF2B5EF4-FFF2-40B4-BE49-F238E27FC236}">
                <a16:creationId xmlns:a16="http://schemas.microsoft.com/office/drawing/2014/main" id="{64905696-55F3-46C9-86CA-308A889E58F2}"/>
              </a:ext>
            </a:extLst>
          </p:cNvPr>
          <p:cNvSpPr>
            <a:spLocks noGrp="1"/>
          </p:cNvSpPr>
          <p:nvPr>
            <p:ph idx="1"/>
          </p:nvPr>
        </p:nvSpPr>
        <p:spPr/>
        <p:txBody>
          <a:bodyPr>
            <a:normAutofit/>
          </a:bodyPr>
          <a:lstStyle/>
          <a:p>
            <a:r>
              <a:rPr lang="en-CA" dirty="0"/>
              <a:t>There are two analytical steps a new treatment must pass in order for it to be added to a menu of treatments a third party would pay for.</a:t>
            </a:r>
          </a:p>
          <a:p>
            <a:r>
              <a:rPr lang="en-CA" dirty="0"/>
              <a:t>This being cost effectiveness analysis and the next is budget impact analysis.</a:t>
            </a:r>
          </a:p>
          <a:p>
            <a:r>
              <a:rPr lang="en-CA" dirty="0"/>
              <a:t>We note that the methods of cost effectiveness analysis are quite theoretically sound both in terms of economic theory and clinical relevance, however budget impact analysis is not.</a:t>
            </a:r>
          </a:p>
          <a:p>
            <a:r>
              <a:rPr lang="en-CA" dirty="0"/>
              <a:t>This is because the way we have discussed the models of budget impact analysis thus far are based on external choice of uptake rates and substitution patterns between drugs rather than being informed by a both economically and medically sound framework.</a:t>
            </a:r>
          </a:p>
          <a:p>
            <a:r>
              <a:rPr lang="en-CA" dirty="0"/>
              <a:t>We ask: </a:t>
            </a:r>
            <a:r>
              <a:rPr lang="en-CA" b="1" dirty="0"/>
              <a:t>What do we need to do in order to use our cost effectiveness models such as decision trees and </a:t>
            </a:r>
            <a:r>
              <a:rPr lang="en-CA" b="1" dirty="0" err="1"/>
              <a:t>markov</a:t>
            </a:r>
            <a:r>
              <a:rPr lang="en-CA" b="1" dirty="0"/>
              <a:t> models as working models of budget impact analysis?</a:t>
            </a:r>
          </a:p>
          <a:p>
            <a:endParaRPr lang="en-CA" dirty="0"/>
          </a:p>
        </p:txBody>
      </p:sp>
    </p:spTree>
    <p:extLst>
      <p:ext uri="{BB962C8B-B14F-4D97-AF65-F5344CB8AC3E}">
        <p14:creationId xmlns:p14="http://schemas.microsoft.com/office/powerpoint/2010/main" val="744718122"/>
      </p:ext>
    </p:extLst>
  </p:cSld>
  <p:clrMapOvr>
    <a:masterClrMapping/>
  </p:clrMapOvr>
  <mc:AlternateContent xmlns:mc="http://schemas.openxmlformats.org/markup-compatibility/2006" xmlns:p14="http://schemas.microsoft.com/office/powerpoint/2010/main">
    <mc:Choice Requires="p14">
      <p:transition spd="slow" p14:dur="2000" advTm="47377"/>
    </mc:Choice>
    <mc:Fallback xmlns="">
      <p:transition spd="slow" advTm="47377"/>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8CEF5-1D0E-4A7F-AE98-423900EF42D3}"/>
              </a:ext>
            </a:extLst>
          </p:cNvPr>
          <p:cNvSpPr>
            <a:spLocks noGrp="1"/>
          </p:cNvSpPr>
          <p:nvPr>
            <p:ph type="title"/>
          </p:nvPr>
        </p:nvSpPr>
        <p:spPr/>
        <p:txBody>
          <a:bodyPr/>
          <a:lstStyle/>
          <a:p>
            <a:r>
              <a:rPr lang="en-CA" dirty="0"/>
              <a:t>How to theoretically ground Budget Impact Analysis</a:t>
            </a:r>
          </a:p>
        </p:txBody>
      </p:sp>
      <p:sp>
        <p:nvSpPr>
          <p:cNvPr id="3" name="Content Placeholder 2">
            <a:extLst>
              <a:ext uri="{FF2B5EF4-FFF2-40B4-BE49-F238E27FC236}">
                <a16:creationId xmlns:a16="http://schemas.microsoft.com/office/drawing/2014/main" id="{37082D16-7A81-486B-A5C7-72992E388FB5}"/>
              </a:ext>
            </a:extLst>
          </p:cNvPr>
          <p:cNvSpPr>
            <a:spLocks noGrp="1"/>
          </p:cNvSpPr>
          <p:nvPr>
            <p:ph idx="1"/>
          </p:nvPr>
        </p:nvSpPr>
        <p:spPr/>
        <p:txBody>
          <a:bodyPr/>
          <a:lstStyle/>
          <a:p>
            <a:r>
              <a:rPr lang="en-CA" dirty="0"/>
              <a:t>There is a presentation by Mike Paulden from the University of Alberta titled “</a:t>
            </a:r>
            <a:r>
              <a:rPr lang="en-US" dirty="0"/>
              <a:t>Cost-effectiveness analysis and budget impact assessment: Combining the two for the aid of decision makers” which does exactly this. (link to presentation in description).</a:t>
            </a:r>
          </a:p>
          <a:p>
            <a:r>
              <a:rPr lang="en-US" dirty="0"/>
              <a:t>The way this is done is through a transformation of our CE plane. And noting that budget impact is simply just a “total change in costs”.</a:t>
            </a:r>
          </a:p>
          <a:p>
            <a:r>
              <a:rPr lang="en-US" dirty="0"/>
              <a:t>Even though there is currently no working paper at this time, this type of thinking “</a:t>
            </a:r>
            <a:r>
              <a:rPr lang="en-US" dirty="0" err="1"/>
              <a:t>microfounds</a:t>
            </a:r>
            <a:r>
              <a:rPr lang="en-US" dirty="0"/>
              <a:t>” budget impact analysis in the decision making of clinicians as they look at the clinical pathway as embodied by decision tree or Markov models.</a:t>
            </a:r>
            <a:endParaRPr lang="en-CA" dirty="0"/>
          </a:p>
        </p:txBody>
      </p:sp>
    </p:spTree>
    <p:extLst>
      <p:ext uri="{BB962C8B-B14F-4D97-AF65-F5344CB8AC3E}">
        <p14:creationId xmlns:p14="http://schemas.microsoft.com/office/powerpoint/2010/main" val="1846702363"/>
      </p:ext>
    </p:extLst>
  </p:cSld>
  <p:clrMapOvr>
    <a:masterClrMapping/>
  </p:clrMapOvr>
  <mc:AlternateContent xmlns:mc="http://schemas.openxmlformats.org/markup-compatibility/2006" xmlns:p14="http://schemas.microsoft.com/office/powerpoint/2010/main">
    <mc:Choice Requires="p14">
      <p:transition spd="slow" p14:dur="2000" advTm="45891"/>
    </mc:Choice>
    <mc:Fallback xmlns="">
      <p:transition spd="slow" advTm="45891"/>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EE43C-91CD-4062-B04C-4FC9E11291E2}"/>
              </a:ext>
            </a:extLst>
          </p:cNvPr>
          <p:cNvSpPr>
            <a:spLocks noGrp="1"/>
          </p:cNvSpPr>
          <p:nvPr>
            <p:ph type="title"/>
          </p:nvPr>
        </p:nvSpPr>
        <p:spPr>
          <a:xfrm>
            <a:off x="443" y="711009"/>
            <a:ext cx="10515600" cy="1325563"/>
          </a:xfrm>
        </p:spPr>
        <p:txBody>
          <a:bodyPr>
            <a:normAutofit/>
          </a:bodyPr>
          <a:lstStyle/>
          <a:p>
            <a:r>
              <a:rPr lang="en-CA" sz="4000" dirty="0"/>
              <a:t>Paulden’s Approach</a:t>
            </a:r>
          </a:p>
        </p:txBody>
      </p:sp>
      <p:cxnSp>
        <p:nvCxnSpPr>
          <p:cNvPr id="4" name="Straight Connector 3">
            <a:extLst>
              <a:ext uri="{FF2B5EF4-FFF2-40B4-BE49-F238E27FC236}">
                <a16:creationId xmlns:a16="http://schemas.microsoft.com/office/drawing/2014/main" id="{AEAE1ED5-BCCF-4267-A533-98176CA2B554}"/>
              </a:ext>
            </a:extLst>
          </p:cNvPr>
          <p:cNvCxnSpPr>
            <a:cxnSpLocks/>
          </p:cNvCxnSpPr>
          <p:nvPr/>
        </p:nvCxnSpPr>
        <p:spPr>
          <a:xfrm>
            <a:off x="5596682" y="996327"/>
            <a:ext cx="0" cy="5116945"/>
          </a:xfrm>
          <a:prstGeom prst="line">
            <a:avLst/>
          </a:prstGeom>
          <a:ln w="57150"/>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F4F0CB70-812D-49DD-848E-C2BBB2DAA55D}"/>
              </a:ext>
            </a:extLst>
          </p:cNvPr>
          <p:cNvCxnSpPr>
            <a:cxnSpLocks/>
          </p:cNvCxnSpPr>
          <p:nvPr/>
        </p:nvCxnSpPr>
        <p:spPr>
          <a:xfrm flipH="1">
            <a:off x="2474791" y="3510927"/>
            <a:ext cx="6373091" cy="0"/>
          </a:xfrm>
          <a:prstGeom prst="line">
            <a:avLst/>
          </a:prstGeom>
          <a:ln w="571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7307D3C-530B-4E70-AF67-3FB109851316}"/>
                  </a:ext>
                </a:extLst>
              </p:cNvPr>
              <p:cNvSpPr txBox="1"/>
              <p:nvPr/>
            </p:nvSpPr>
            <p:spPr>
              <a:xfrm>
                <a:off x="4996537" y="811661"/>
                <a:ext cx="523412"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oMath>
                  </m:oMathPara>
                </a14:m>
                <a:endParaRPr lang="en-CA" dirty="0"/>
              </a:p>
            </p:txBody>
          </p:sp>
        </mc:Choice>
        <mc:Fallback xmlns="">
          <p:sp>
            <p:nvSpPr>
              <p:cNvPr id="6" name="TextBox 5">
                <a:extLst>
                  <a:ext uri="{FF2B5EF4-FFF2-40B4-BE49-F238E27FC236}">
                    <a16:creationId xmlns:a16="http://schemas.microsoft.com/office/drawing/2014/main" id="{07307D3C-530B-4E70-AF67-3FB109851316}"/>
                  </a:ext>
                </a:extLst>
              </p:cNvPr>
              <p:cNvSpPr txBox="1">
                <a:spLocks noRot="1" noChangeAspect="1" noMove="1" noResize="1" noEditPoints="1" noAdjustHandles="1" noChangeArrowheads="1" noChangeShapeType="1" noTextEdit="1"/>
              </p:cNvSpPr>
              <p:nvPr/>
            </p:nvSpPr>
            <p:spPr>
              <a:xfrm>
                <a:off x="4996537" y="811661"/>
                <a:ext cx="523412" cy="369332"/>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2D3A862-6896-4422-AF8E-A9D1C1069140}"/>
                  </a:ext>
                </a:extLst>
              </p:cNvPr>
              <p:cNvSpPr txBox="1"/>
              <p:nvPr/>
            </p:nvSpPr>
            <p:spPr>
              <a:xfrm>
                <a:off x="8456867" y="3584817"/>
                <a:ext cx="508473"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ΔE</m:t>
                      </m:r>
                    </m:oMath>
                  </m:oMathPara>
                </a14:m>
                <a:endParaRPr lang="en-CA" dirty="0"/>
              </a:p>
            </p:txBody>
          </p:sp>
        </mc:Choice>
        <mc:Fallback xmlns="">
          <p:sp>
            <p:nvSpPr>
              <p:cNvPr id="7" name="TextBox 6">
                <a:extLst>
                  <a:ext uri="{FF2B5EF4-FFF2-40B4-BE49-F238E27FC236}">
                    <a16:creationId xmlns:a16="http://schemas.microsoft.com/office/drawing/2014/main" id="{52D3A862-6896-4422-AF8E-A9D1C1069140}"/>
                  </a:ext>
                </a:extLst>
              </p:cNvPr>
              <p:cNvSpPr txBox="1">
                <a:spLocks noRot="1" noChangeAspect="1" noMove="1" noResize="1" noEditPoints="1" noAdjustHandles="1" noChangeArrowheads="1" noChangeShapeType="1" noTextEdit="1"/>
              </p:cNvSpPr>
              <p:nvPr/>
            </p:nvSpPr>
            <p:spPr>
              <a:xfrm>
                <a:off x="8456867" y="3584817"/>
                <a:ext cx="508473" cy="369332"/>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62A469A-E5E4-4088-AE82-B0710A11D8A2}"/>
                  </a:ext>
                </a:extLst>
              </p:cNvPr>
              <p:cNvSpPr txBox="1"/>
              <p:nvPr/>
            </p:nvSpPr>
            <p:spPr>
              <a:xfrm>
                <a:off x="8461718" y="723917"/>
                <a:ext cx="361766"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𝜆</m:t>
                      </m:r>
                    </m:oMath>
                  </m:oMathPara>
                </a14:m>
                <a:endParaRPr lang="en-CA" dirty="0"/>
              </a:p>
            </p:txBody>
          </p:sp>
        </mc:Choice>
        <mc:Fallback xmlns="">
          <p:sp>
            <p:nvSpPr>
              <p:cNvPr id="8" name="TextBox 7">
                <a:extLst>
                  <a:ext uri="{FF2B5EF4-FFF2-40B4-BE49-F238E27FC236}">
                    <a16:creationId xmlns:a16="http://schemas.microsoft.com/office/drawing/2014/main" id="{262A469A-E5E4-4088-AE82-B0710A11D8A2}"/>
                  </a:ext>
                </a:extLst>
              </p:cNvPr>
              <p:cNvSpPr txBox="1">
                <a:spLocks noRot="1" noChangeAspect="1" noMove="1" noResize="1" noEditPoints="1" noAdjustHandles="1" noChangeArrowheads="1" noChangeShapeType="1" noTextEdit="1"/>
              </p:cNvSpPr>
              <p:nvPr/>
            </p:nvSpPr>
            <p:spPr>
              <a:xfrm>
                <a:off x="8461718" y="723917"/>
                <a:ext cx="361766" cy="369332"/>
              </a:xfrm>
              <a:prstGeom prst="rect">
                <a:avLst/>
              </a:prstGeom>
              <a:blipFill>
                <a:blip r:embed="rId6"/>
                <a:stretch>
                  <a:fillRect/>
                </a:stretch>
              </a:blipFill>
            </p:spPr>
            <p:txBody>
              <a:bodyPr/>
              <a:lstStyle/>
              <a:p>
                <a:r>
                  <a:rPr lang="en-CA">
                    <a:noFill/>
                  </a:rPr>
                  <a:t> </a:t>
                </a:r>
              </a:p>
            </p:txBody>
          </p:sp>
        </mc:Fallback>
      </mc:AlternateContent>
      <p:cxnSp>
        <p:nvCxnSpPr>
          <p:cNvPr id="9" name="Straight Connector 8">
            <a:extLst>
              <a:ext uri="{FF2B5EF4-FFF2-40B4-BE49-F238E27FC236}">
                <a16:creationId xmlns:a16="http://schemas.microsoft.com/office/drawing/2014/main" id="{80FC232C-AFEF-40B0-AC34-EF15714E3578}"/>
              </a:ext>
            </a:extLst>
          </p:cNvPr>
          <p:cNvCxnSpPr>
            <a:cxnSpLocks/>
          </p:cNvCxnSpPr>
          <p:nvPr/>
        </p:nvCxnSpPr>
        <p:spPr>
          <a:xfrm flipV="1">
            <a:off x="2576392" y="562218"/>
            <a:ext cx="6105236" cy="5814104"/>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3343835"/>
      </p:ext>
    </p:extLst>
  </p:cSld>
  <p:clrMapOvr>
    <a:masterClrMapping/>
  </p:clrMapOvr>
  <mc:AlternateContent xmlns:mc="http://schemas.openxmlformats.org/markup-compatibility/2006" xmlns:p14="http://schemas.microsoft.com/office/powerpoint/2010/main">
    <mc:Choice Requires="p14">
      <p:transition spd="slow" p14:dur="2000" advTm="21543"/>
    </mc:Choice>
    <mc:Fallback xmlns="">
      <p:transition spd="slow" advTm="21543"/>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EAE1ED5-BCCF-4267-A533-98176CA2B554}"/>
              </a:ext>
            </a:extLst>
          </p:cNvPr>
          <p:cNvCxnSpPr>
            <a:cxnSpLocks/>
          </p:cNvCxnSpPr>
          <p:nvPr/>
        </p:nvCxnSpPr>
        <p:spPr>
          <a:xfrm>
            <a:off x="5596682" y="996327"/>
            <a:ext cx="0" cy="5116945"/>
          </a:xfrm>
          <a:prstGeom prst="line">
            <a:avLst/>
          </a:prstGeom>
          <a:ln w="57150"/>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F4F0CB70-812D-49DD-848E-C2BBB2DAA55D}"/>
              </a:ext>
            </a:extLst>
          </p:cNvPr>
          <p:cNvCxnSpPr>
            <a:cxnSpLocks/>
          </p:cNvCxnSpPr>
          <p:nvPr/>
        </p:nvCxnSpPr>
        <p:spPr>
          <a:xfrm flipH="1">
            <a:off x="2474791" y="3510927"/>
            <a:ext cx="6373091" cy="0"/>
          </a:xfrm>
          <a:prstGeom prst="line">
            <a:avLst/>
          </a:prstGeom>
          <a:ln w="571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7307D3C-530B-4E70-AF67-3FB109851316}"/>
                  </a:ext>
                </a:extLst>
              </p:cNvPr>
              <p:cNvSpPr txBox="1"/>
              <p:nvPr/>
            </p:nvSpPr>
            <p:spPr>
              <a:xfrm>
                <a:off x="4631610" y="811661"/>
                <a:ext cx="965072"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6" name="TextBox 5">
                <a:extLst>
                  <a:ext uri="{FF2B5EF4-FFF2-40B4-BE49-F238E27FC236}">
                    <a16:creationId xmlns:a16="http://schemas.microsoft.com/office/drawing/2014/main" id="{07307D3C-530B-4E70-AF67-3FB109851316}"/>
                  </a:ext>
                </a:extLst>
              </p:cNvPr>
              <p:cNvSpPr txBox="1">
                <a:spLocks noRot="1" noChangeAspect="1" noMove="1" noResize="1" noEditPoints="1" noAdjustHandles="1" noChangeArrowheads="1" noChangeShapeType="1" noTextEdit="1"/>
              </p:cNvSpPr>
              <p:nvPr/>
            </p:nvSpPr>
            <p:spPr>
              <a:xfrm>
                <a:off x="4631610" y="811661"/>
                <a:ext cx="965072" cy="369332"/>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2D3A862-6896-4422-AF8E-A9D1C1069140}"/>
                  </a:ext>
                </a:extLst>
              </p:cNvPr>
              <p:cNvSpPr txBox="1"/>
              <p:nvPr/>
            </p:nvSpPr>
            <p:spPr>
              <a:xfrm>
                <a:off x="8456867" y="3584817"/>
                <a:ext cx="950132"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ΔE</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7" name="TextBox 6">
                <a:extLst>
                  <a:ext uri="{FF2B5EF4-FFF2-40B4-BE49-F238E27FC236}">
                    <a16:creationId xmlns:a16="http://schemas.microsoft.com/office/drawing/2014/main" id="{52D3A862-6896-4422-AF8E-A9D1C1069140}"/>
                  </a:ext>
                </a:extLst>
              </p:cNvPr>
              <p:cNvSpPr txBox="1">
                <a:spLocks noRot="1" noChangeAspect="1" noMove="1" noResize="1" noEditPoints="1" noAdjustHandles="1" noChangeArrowheads="1" noChangeShapeType="1" noTextEdit="1"/>
              </p:cNvSpPr>
              <p:nvPr/>
            </p:nvSpPr>
            <p:spPr>
              <a:xfrm>
                <a:off x="8456867" y="3584817"/>
                <a:ext cx="950132" cy="369332"/>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62A469A-E5E4-4088-AE82-B0710A11D8A2}"/>
                  </a:ext>
                </a:extLst>
              </p:cNvPr>
              <p:cNvSpPr txBox="1"/>
              <p:nvPr/>
            </p:nvSpPr>
            <p:spPr>
              <a:xfrm>
                <a:off x="8658301" y="442329"/>
                <a:ext cx="361766"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𝜆</m:t>
                      </m:r>
                    </m:oMath>
                  </m:oMathPara>
                </a14:m>
                <a:endParaRPr lang="en-CA" dirty="0"/>
              </a:p>
            </p:txBody>
          </p:sp>
        </mc:Choice>
        <mc:Fallback xmlns="">
          <p:sp>
            <p:nvSpPr>
              <p:cNvPr id="8" name="TextBox 7">
                <a:extLst>
                  <a:ext uri="{FF2B5EF4-FFF2-40B4-BE49-F238E27FC236}">
                    <a16:creationId xmlns:a16="http://schemas.microsoft.com/office/drawing/2014/main" id="{262A469A-E5E4-4088-AE82-B0710A11D8A2}"/>
                  </a:ext>
                </a:extLst>
              </p:cNvPr>
              <p:cNvSpPr txBox="1">
                <a:spLocks noRot="1" noChangeAspect="1" noMove="1" noResize="1" noEditPoints="1" noAdjustHandles="1" noChangeArrowheads="1" noChangeShapeType="1" noTextEdit="1"/>
              </p:cNvSpPr>
              <p:nvPr/>
            </p:nvSpPr>
            <p:spPr>
              <a:xfrm>
                <a:off x="8658301" y="442329"/>
                <a:ext cx="361766" cy="369332"/>
              </a:xfrm>
              <a:prstGeom prst="rect">
                <a:avLst/>
              </a:prstGeom>
              <a:blipFill>
                <a:blip r:embed="rId6"/>
                <a:stretch>
                  <a:fillRect/>
                </a:stretch>
              </a:blipFill>
            </p:spPr>
            <p:txBody>
              <a:bodyPr/>
              <a:lstStyle/>
              <a:p>
                <a:r>
                  <a:rPr lang="en-CA">
                    <a:noFill/>
                  </a:rPr>
                  <a:t> </a:t>
                </a:r>
              </a:p>
            </p:txBody>
          </p:sp>
        </mc:Fallback>
      </mc:AlternateContent>
      <p:cxnSp>
        <p:nvCxnSpPr>
          <p:cNvPr id="9" name="Straight Connector 8">
            <a:extLst>
              <a:ext uri="{FF2B5EF4-FFF2-40B4-BE49-F238E27FC236}">
                <a16:creationId xmlns:a16="http://schemas.microsoft.com/office/drawing/2014/main" id="{80FC232C-AFEF-40B0-AC34-EF15714E3578}"/>
              </a:ext>
            </a:extLst>
          </p:cNvPr>
          <p:cNvCxnSpPr>
            <a:cxnSpLocks/>
          </p:cNvCxnSpPr>
          <p:nvPr/>
        </p:nvCxnSpPr>
        <p:spPr>
          <a:xfrm flipV="1">
            <a:off x="2576392" y="562218"/>
            <a:ext cx="6105236" cy="581410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2943289D-29DE-07C7-2DA3-7787353BF161}"/>
              </a:ext>
            </a:extLst>
          </p:cNvPr>
          <p:cNvSpPr txBox="1">
            <a:spLocks/>
          </p:cNvSpPr>
          <p:nvPr/>
        </p:nvSpPr>
        <p:spPr>
          <a:xfrm>
            <a:off x="443" y="711009"/>
            <a:ext cx="10515600" cy="1325563"/>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r>
              <a:rPr lang="en-CA" sz="4000"/>
              <a:t>Paulden’s Approach</a:t>
            </a:r>
            <a:endParaRPr lang="en-CA" sz="4000" dirty="0"/>
          </a:p>
        </p:txBody>
      </p:sp>
    </p:spTree>
    <p:extLst>
      <p:ext uri="{BB962C8B-B14F-4D97-AF65-F5344CB8AC3E}">
        <p14:creationId xmlns:p14="http://schemas.microsoft.com/office/powerpoint/2010/main" val="3206427897"/>
      </p:ext>
    </p:extLst>
  </p:cSld>
  <p:clrMapOvr>
    <a:masterClrMapping/>
  </p:clrMapOvr>
  <mc:AlternateContent xmlns:mc="http://schemas.openxmlformats.org/markup-compatibility/2006" xmlns:p14="http://schemas.microsoft.com/office/powerpoint/2010/main">
    <mc:Choice Requires="p14">
      <p:transition spd="slow" p14:dur="2000" advTm="17006"/>
    </mc:Choice>
    <mc:Fallback xmlns="">
      <p:transition spd="slow" advTm="17006"/>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EAE1ED5-BCCF-4267-A533-98176CA2B554}"/>
              </a:ext>
            </a:extLst>
          </p:cNvPr>
          <p:cNvCxnSpPr>
            <a:cxnSpLocks/>
          </p:cNvCxnSpPr>
          <p:nvPr/>
        </p:nvCxnSpPr>
        <p:spPr>
          <a:xfrm>
            <a:off x="5596682" y="996327"/>
            <a:ext cx="0" cy="5116945"/>
          </a:xfrm>
          <a:prstGeom prst="line">
            <a:avLst/>
          </a:prstGeom>
          <a:ln w="57150"/>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F4F0CB70-812D-49DD-848E-C2BBB2DAA55D}"/>
              </a:ext>
            </a:extLst>
          </p:cNvPr>
          <p:cNvCxnSpPr>
            <a:cxnSpLocks/>
          </p:cNvCxnSpPr>
          <p:nvPr/>
        </p:nvCxnSpPr>
        <p:spPr>
          <a:xfrm flipH="1">
            <a:off x="2474791" y="3510927"/>
            <a:ext cx="6373091" cy="0"/>
          </a:xfrm>
          <a:prstGeom prst="line">
            <a:avLst/>
          </a:prstGeom>
          <a:ln w="571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7307D3C-530B-4E70-AF67-3FB109851316}"/>
                  </a:ext>
                </a:extLst>
              </p:cNvPr>
              <p:cNvSpPr txBox="1"/>
              <p:nvPr/>
            </p:nvSpPr>
            <p:spPr>
              <a:xfrm>
                <a:off x="4631610" y="811661"/>
                <a:ext cx="965072"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6" name="TextBox 5">
                <a:extLst>
                  <a:ext uri="{FF2B5EF4-FFF2-40B4-BE49-F238E27FC236}">
                    <a16:creationId xmlns:a16="http://schemas.microsoft.com/office/drawing/2014/main" id="{07307D3C-530B-4E70-AF67-3FB109851316}"/>
                  </a:ext>
                </a:extLst>
              </p:cNvPr>
              <p:cNvSpPr txBox="1">
                <a:spLocks noRot="1" noChangeAspect="1" noMove="1" noResize="1" noEditPoints="1" noAdjustHandles="1" noChangeArrowheads="1" noChangeShapeType="1" noTextEdit="1"/>
              </p:cNvSpPr>
              <p:nvPr/>
            </p:nvSpPr>
            <p:spPr>
              <a:xfrm>
                <a:off x="4631610" y="811661"/>
                <a:ext cx="965072" cy="369332"/>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2D3A862-6896-4422-AF8E-A9D1C1069140}"/>
                  </a:ext>
                </a:extLst>
              </p:cNvPr>
              <p:cNvSpPr txBox="1"/>
              <p:nvPr/>
            </p:nvSpPr>
            <p:spPr>
              <a:xfrm>
                <a:off x="8456867" y="3584817"/>
                <a:ext cx="950132"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ΔE</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7" name="TextBox 6">
                <a:extLst>
                  <a:ext uri="{FF2B5EF4-FFF2-40B4-BE49-F238E27FC236}">
                    <a16:creationId xmlns:a16="http://schemas.microsoft.com/office/drawing/2014/main" id="{52D3A862-6896-4422-AF8E-A9D1C1069140}"/>
                  </a:ext>
                </a:extLst>
              </p:cNvPr>
              <p:cNvSpPr txBox="1">
                <a:spLocks noRot="1" noChangeAspect="1" noMove="1" noResize="1" noEditPoints="1" noAdjustHandles="1" noChangeArrowheads="1" noChangeShapeType="1" noTextEdit="1"/>
              </p:cNvSpPr>
              <p:nvPr/>
            </p:nvSpPr>
            <p:spPr>
              <a:xfrm>
                <a:off x="8456867" y="3584817"/>
                <a:ext cx="950132" cy="369332"/>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62A469A-E5E4-4088-AE82-B0710A11D8A2}"/>
                  </a:ext>
                </a:extLst>
              </p:cNvPr>
              <p:cNvSpPr txBox="1"/>
              <p:nvPr/>
            </p:nvSpPr>
            <p:spPr>
              <a:xfrm>
                <a:off x="8658301" y="442329"/>
                <a:ext cx="361766" cy="369332"/>
              </a:xfrm>
              <a:prstGeom prst="rect">
                <a:avLst/>
              </a:prstGeom>
              <a:noFill/>
            </p:spPr>
            <p:txBody>
              <a:bodyPr wrap="none" rtlCol="0">
                <a:spAutoFit/>
              </a:bodyPr>
              <a:lstStyle/>
              <a:p>
                <a:pPr/>
                <a14:m>
                  <m:oMathPara xmlns:m="http://schemas.openxmlformats.org/officeDocument/2006/math">
                    <m:oMath>
                      <m:r>
                        <a:rPr lang="en-CA" b="0" i="1" smtClean="0">
                          <a:latin typeface="Cambria Math" panose="02040503050406030204" pitchFamily="18" charset="0"/>
                        </a:rPr>
                        <m:t>𝜆</m:t>
                      </m:r>
                    </m:oMath>
                  </m:oMathPara>
                </a14:m>
                <a:endParaRPr lang="en-CA" dirty="0"/>
              </a:p>
            </p:txBody>
          </p:sp>
        </mc:Choice>
        <mc:Fallback xmlns="">
          <p:sp>
            <p:nvSpPr>
              <p:cNvPr id="8" name="TextBox 7">
                <a:extLst>
                  <a:ext uri="{FF2B5EF4-FFF2-40B4-BE49-F238E27FC236}">
                    <a16:creationId xmlns:a16="http://schemas.microsoft.com/office/drawing/2014/main" id="{262A469A-E5E4-4088-AE82-B0710A11D8A2}"/>
                  </a:ext>
                </a:extLst>
              </p:cNvPr>
              <p:cNvSpPr txBox="1">
                <a:spLocks noRot="1" noChangeAspect="1" noMove="1" noResize="1" noEditPoints="1" noAdjustHandles="1" noChangeArrowheads="1" noChangeShapeType="1" noTextEdit="1"/>
              </p:cNvSpPr>
              <p:nvPr/>
            </p:nvSpPr>
            <p:spPr>
              <a:xfrm>
                <a:off x="8658301" y="442329"/>
                <a:ext cx="361766" cy="369332"/>
              </a:xfrm>
              <a:prstGeom prst="rect">
                <a:avLst/>
              </a:prstGeom>
              <a:blipFill>
                <a:blip r:embed="rId6"/>
                <a:stretch>
                  <a:fillRect/>
                </a:stretch>
              </a:blipFill>
            </p:spPr>
            <p:txBody>
              <a:bodyPr/>
              <a:lstStyle/>
              <a:p>
                <a:r>
                  <a:rPr lang="en-CA">
                    <a:noFill/>
                  </a:rPr>
                  <a:t> </a:t>
                </a:r>
              </a:p>
            </p:txBody>
          </p:sp>
        </mc:Fallback>
      </mc:AlternateContent>
      <p:cxnSp>
        <p:nvCxnSpPr>
          <p:cNvPr id="9" name="Straight Connector 8">
            <a:extLst>
              <a:ext uri="{FF2B5EF4-FFF2-40B4-BE49-F238E27FC236}">
                <a16:creationId xmlns:a16="http://schemas.microsoft.com/office/drawing/2014/main" id="{80FC232C-AFEF-40B0-AC34-EF15714E3578}"/>
              </a:ext>
            </a:extLst>
          </p:cNvPr>
          <p:cNvCxnSpPr>
            <a:cxnSpLocks/>
          </p:cNvCxnSpPr>
          <p:nvPr/>
        </p:nvCxnSpPr>
        <p:spPr>
          <a:xfrm flipV="1">
            <a:off x="2576392" y="562218"/>
            <a:ext cx="6105236" cy="5814104"/>
          </a:xfrm>
          <a:prstGeom prst="line">
            <a:avLst/>
          </a:prstGeom>
          <a:ln w="571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447E41A-A106-4A42-BD85-9904D8D1558D}"/>
                  </a:ext>
                </a:extLst>
              </p:cNvPr>
              <p:cNvSpPr txBox="1"/>
              <p:nvPr/>
            </p:nvSpPr>
            <p:spPr>
              <a:xfrm>
                <a:off x="8281133" y="1323924"/>
                <a:ext cx="3815403" cy="1164934"/>
              </a:xfrm>
              <a:prstGeom prst="rect">
                <a:avLst/>
              </a:prstGeom>
              <a:noFill/>
            </p:spPr>
            <p:txBody>
              <a:bodyPr wrap="none" rtlCol="0">
                <a:spAutoFit/>
              </a:bodyPr>
              <a:lstStyle/>
              <a:p>
                <a:pPr/>
                <a:r>
                  <a:rPr lang="en-CA" dirty="0"/>
                  <a:t>Our solution concept does not change.</a:t>
                </a:r>
                <a:br>
                  <a:rPr lang="en-CA" dirty="0"/>
                </a:br>
                <a:r>
                  <a:rPr lang="en-CA" dirty="0"/>
                  <a:t>This is because: </a:t>
                </a:r>
                <a:br>
                  <a:rPr lang="en-CA" dirty="0"/>
                </a:br>
                <a14:m>
                  <m:oMathPara xmlns:m="http://schemas.openxmlformats.org/officeDocument/2006/math">
                    <m:oMath>
                      <m:r>
                        <a:rPr lang="en-CA" b="0" i="1" smtClean="0">
                          <a:latin typeface="Cambria Math" panose="02040503050406030204" pitchFamily="18" charset="0"/>
                        </a:rPr>
                        <m:t>𝜆</m:t>
                      </m:r>
                      <m:r>
                        <a:rPr lang="en-CA" b="0" i="1" smtClean="0">
                          <a:latin typeface="Cambria Math" panose="02040503050406030204" pitchFamily="18" charset="0"/>
                        </a:rPr>
                        <m:t>=</m:t>
                      </m:r>
                      <m:f>
                        <m:fPr>
                          <m:ctrlPr>
                            <a:rPr lang="en-CA" b="0" i="0" smtClean="0">
                              <a:latin typeface="Cambria Math" panose="02040503050406030204" pitchFamily="18" charset="0"/>
                            </a:rPr>
                          </m:ctrlPr>
                        </m:fPr>
                        <m:num>
                          <m:r>
                            <m:rPr>
                              <m:sty m:val="p"/>
                            </m:rPr>
                            <a:rPr lang="en-CA" b="0" i="0" smtClean="0">
                              <a:latin typeface="Cambria Math" panose="02040503050406030204" pitchFamily="18" charset="0"/>
                            </a:rPr>
                            <m:t>Δ</m:t>
                          </m:r>
                          <m:r>
                            <m:rPr>
                              <m:sty m:val="p"/>
                            </m:rPr>
                            <a:rPr lang="en-CA" b="0" i="1" smtClean="0">
                              <a:latin typeface="Cambria Math" panose="02040503050406030204" pitchFamily="18" charset="0"/>
                            </a:rPr>
                            <m:t>C</m:t>
                          </m:r>
                          <m:r>
                            <a:rPr lang="en-CA" b="0" i="1" smtClean="0">
                              <a:latin typeface="Cambria Math" panose="02040503050406030204" pitchFamily="18" charset="0"/>
                            </a:rPr>
                            <m:t>×</m:t>
                          </m:r>
                          <m:r>
                            <a:rPr lang="en-CA" b="0" i="1" smtClean="0">
                              <a:latin typeface="Cambria Math" panose="02040503050406030204" pitchFamily="18" charset="0"/>
                            </a:rPr>
                            <m:t>𝑁</m:t>
                          </m:r>
                          <m:r>
                            <a:rPr lang="en-CA" b="0" i="1" smtClean="0">
                              <a:latin typeface="Cambria Math" panose="02040503050406030204" pitchFamily="18" charset="0"/>
                            </a:rPr>
                            <m:t> </m:t>
                          </m:r>
                        </m:num>
                        <m:den>
                          <m:r>
                            <m:rPr>
                              <m:sty m:val="p"/>
                            </m:rPr>
                            <a:rPr lang="en-CA" b="0" i="0" smtClean="0">
                              <a:latin typeface="Cambria Math" panose="02040503050406030204" pitchFamily="18" charset="0"/>
                            </a:rPr>
                            <m:t>Δ</m:t>
                          </m:r>
                          <m:r>
                            <a:rPr lang="en-CA" b="0" i="1" smtClean="0">
                              <a:latin typeface="Cambria Math" panose="02040503050406030204" pitchFamily="18" charset="0"/>
                            </a:rPr>
                            <m:t>𝐸</m:t>
                          </m:r>
                          <m:r>
                            <a:rPr lang="en-CA" b="0" i="1" smtClean="0">
                              <a:latin typeface="Cambria Math" panose="02040503050406030204" pitchFamily="18" charset="0"/>
                            </a:rPr>
                            <m:t>×</m:t>
                          </m:r>
                          <m:r>
                            <a:rPr lang="en-CA" b="0" i="1" smtClean="0">
                              <a:latin typeface="Cambria Math" panose="02040503050406030204" pitchFamily="18" charset="0"/>
                            </a:rPr>
                            <m:t>𝑁</m:t>
                          </m:r>
                        </m:den>
                      </m:f>
                      <m:r>
                        <a:rPr lang="en-CA" b="0" i="1" smtClean="0">
                          <a:latin typeface="Cambria Math" panose="02040503050406030204" pitchFamily="18" charset="0"/>
                        </a:rPr>
                        <m:t>=</m:t>
                      </m:r>
                      <m:f>
                        <m:fPr>
                          <m:ctrlPr>
                            <a:rPr lang="en-CA" b="0" i="0" smtClean="0">
                              <a:latin typeface="Cambria Math" panose="02040503050406030204" pitchFamily="18" charset="0"/>
                            </a:rPr>
                          </m:ctrlPr>
                        </m:fPr>
                        <m:num>
                          <m:r>
                            <m:rPr>
                              <m:sty m:val="p"/>
                            </m:rPr>
                            <a:rPr lang="en-CA" b="0" i="0" smtClean="0">
                              <a:latin typeface="Cambria Math" panose="02040503050406030204" pitchFamily="18" charset="0"/>
                            </a:rPr>
                            <m:t>Δ</m:t>
                          </m:r>
                          <m:r>
                            <a:rPr lang="en-CA" b="0" i="1" smtClean="0">
                              <a:latin typeface="Cambria Math" panose="02040503050406030204" pitchFamily="18" charset="0"/>
                            </a:rPr>
                            <m:t>𝐶</m:t>
                          </m:r>
                        </m:num>
                        <m:den>
                          <m:r>
                            <m:rPr>
                              <m:sty m:val="p"/>
                            </m:rPr>
                            <a:rPr lang="en-CA" b="0" i="0" smtClean="0">
                              <a:latin typeface="Cambria Math" panose="02040503050406030204" pitchFamily="18" charset="0"/>
                            </a:rPr>
                            <m:t>Δ</m:t>
                          </m:r>
                          <m:r>
                            <a:rPr lang="en-CA" b="0" i="1" smtClean="0">
                              <a:latin typeface="Cambria Math" panose="02040503050406030204" pitchFamily="18" charset="0"/>
                            </a:rPr>
                            <m:t>𝐸</m:t>
                          </m:r>
                        </m:den>
                      </m:f>
                    </m:oMath>
                  </m:oMathPara>
                </a14:m>
                <a:endParaRPr lang="en-CA" dirty="0"/>
              </a:p>
            </p:txBody>
          </p:sp>
        </mc:Choice>
        <mc:Fallback xmlns="">
          <p:sp>
            <p:nvSpPr>
              <p:cNvPr id="3" name="TextBox 2">
                <a:extLst>
                  <a:ext uri="{FF2B5EF4-FFF2-40B4-BE49-F238E27FC236}">
                    <a16:creationId xmlns:a16="http://schemas.microsoft.com/office/drawing/2014/main" id="{E447E41A-A106-4A42-BD85-9904D8D1558D}"/>
                  </a:ext>
                </a:extLst>
              </p:cNvPr>
              <p:cNvSpPr txBox="1">
                <a:spLocks noRot="1" noChangeAspect="1" noMove="1" noResize="1" noEditPoints="1" noAdjustHandles="1" noChangeArrowheads="1" noChangeShapeType="1" noTextEdit="1"/>
              </p:cNvSpPr>
              <p:nvPr/>
            </p:nvSpPr>
            <p:spPr>
              <a:xfrm>
                <a:off x="8281133" y="1323924"/>
                <a:ext cx="3815403" cy="1164934"/>
              </a:xfrm>
              <a:prstGeom prst="rect">
                <a:avLst/>
              </a:prstGeom>
              <a:blipFill>
                <a:blip r:embed="rId7"/>
                <a:stretch>
                  <a:fillRect l="-1278" t="-2618" r="-799"/>
                </a:stretch>
              </a:blipFill>
            </p:spPr>
            <p:txBody>
              <a:bodyPr/>
              <a:lstStyle/>
              <a:p>
                <a:r>
                  <a:rPr lang="en-CA">
                    <a:noFill/>
                  </a:rPr>
                  <a:t> </a:t>
                </a:r>
              </a:p>
            </p:txBody>
          </p:sp>
        </mc:Fallback>
      </mc:AlternateContent>
      <p:sp>
        <p:nvSpPr>
          <p:cNvPr id="13" name="Title 1">
            <a:extLst>
              <a:ext uri="{FF2B5EF4-FFF2-40B4-BE49-F238E27FC236}">
                <a16:creationId xmlns:a16="http://schemas.microsoft.com/office/drawing/2014/main" id="{6501C837-9636-BA65-7BFD-B597B3DF443B}"/>
              </a:ext>
            </a:extLst>
          </p:cNvPr>
          <p:cNvSpPr>
            <a:spLocks noGrp="1"/>
          </p:cNvSpPr>
          <p:nvPr>
            <p:ph type="title"/>
          </p:nvPr>
        </p:nvSpPr>
        <p:spPr>
          <a:xfrm>
            <a:off x="443" y="711009"/>
            <a:ext cx="10515600" cy="1325563"/>
          </a:xfrm>
        </p:spPr>
        <p:txBody>
          <a:bodyPr>
            <a:normAutofit/>
          </a:bodyPr>
          <a:lstStyle/>
          <a:p>
            <a:r>
              <a:rPr lang="en-CA" sz="4000" dirty="0"/>
              <a:t>Paulden’s Approach</a:t>
            </a:r>
          </a:p>
        </p:txBody>
      </p:sp>
    </p:spTree>
    <p:extLst>
      <p:ext uri="{BB962C8B-B14F-4D97-AF65-F5344CB8AC3E}">
        <p14:creationId xmlns:p14="http://schemas.microsoft.com/office/powerpoint/2010/main" val="3698463228"/>
      </p:ext>
    </p:extLst>
  </p:cSld>
  <p:clrMapOvr>
    <a:masterClrMapping/>
  </p:clrMapOvr>
  <mc:AlternateContent xmlns:mc="http://schemas.openxmlformats.org/markup-compatibility/2006" xmlns:p14="http://schemas.microsoft.com/office/powerpoint/2010/main">
    <mc:Choice Requires="p14">
      <p:transition spd="slow" p14:dur="2000" advTm="29731"/>
    </mc:Choice>
    <mc:Fallback xmlns="">
      <p:transition spd="slow" advTm="29731"/>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EE43C-91CD-4062-B04C-4FC9E11291E2}"/>
              </a:ext>
            </a:extLst>
          </p:cNvPr>
          <p:cNvSpPr>
            <a:spLocks noGrp="1"/>
          </p:cNvSpPr>
          <p:nvPr>
            <p:ph type="title"/>
          </p:nvPr>
        </p:nvSpPr>
        <p:spPr>
          <a:xfrm>
            <a:off x="249110" y="-130337"/>
            <a:ext cx="10515600" cy="1325563"/>
          </a:xfrm>
        </p:spPr>
        <p:txBody>
          <a:bodyPr>
            <a:normAutofit fontScale="90000"/>
          </a:bodyPr>
          <a:lstStyle/>
          <a:p>
            <a:r>
              <a:rPr lang="en-CA" dirty="0"/>
              <a:t>What we can do with Paulden’s Approach</a:t>
            </a:r>
          </a:p>
        </p:txBody>
      </p:sp>
      <p:cxnSp>
        <p:nvCxnSpPr>
          <p:cNvPr id="4" name="Straight Connector 3">
            <a:extLst>
              <a:ext uri="{FF2B5EF4-FFF2-40B4-BE49-F238E27FC236}">
                <a16:creationId xmlns:a16="http://schemas.microsoft.com/office/drawing/2014/main" id="{AEAE1ED5-BCCF-4267-A533-98176CA2B554}"/>
              </a:ext>
            </a:extLst>
          </p:cNvPr>
          <p:cNvCxnSpPr>
            <a:cxnSpLocks/>
          </p:cNvCxnSpPr>
          <p:nvPr/>
        </p:nvCxnSpPr>
        <p:spPr>
          <a:xfrm>
            <a:off x="3356402" y="1069479"/>
            <a:ext cx="0" cy="5116945"/>
          </a:xfrm>
          <a:prstGeom prst="line">
            <a:avLst/>
          </a:prstGeom>
          <a:ln w="57150"/>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F4F0CB70-812D-49DD-848E-C2BBB2DAA55D}"/>
              </a:ext>
            </a:extLst>
          </p:cNvPr>
          <p:cNvCxnSpPr>
            <a:cxnSpLocks/>
          </p:cNvCxnSpPr>
          <p:nvPr/>
        </p:nvCxnSpPr>
        <p:spPr>
          <a:xfrm flipH="1">
            <a:off x="234511" y="3584079"/>
            <a:ext cx="6373091" cy="0"/>
          </a:xfrm>
          <a:prstGeom prst="line">
            <a:avLst/>
          </a:prstGeom>
          <a:ln w="571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7307D3C-530B-4E70-AF67-3FB109851316}"/>
                  </a:ext>
                </a:extLst>
              </p:cNvPr>
              <p:cNvSpPr txBox="1"/>
              <p:nvPr/>
            </p:nvSpPr>
            <p:spPr>
              <a:xfrm>
                <a:off x="2391330" y="884813"/>
                <a:ext cx="965072" cy="369332"/>
              </a:xfrm>
              <a:prstGeom prst="rect">
                <a:avLst/>
              </a:prstGeom>
              <a:noFill/>
            </p:spPr>
            <p:txBody>
              <a:bodyPr wrap="squar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6" name="TextBox 5">
                <a:extLst>
                  <a:ext uri="{FF2B5EF4-FFF2-40B4-BE49-F238E27FC236}">
                    <a16:creationId xmlns:a16="http://schemas.microsoft.com/office/drawing/2014/main" id="{07307D3C-530B-4E70-AF67-3FB109851316}"/>
                  </a:ext>
                </a:extLst>
              </p:cNvPr>
              <p:cNvSpPr txBox="1">
                <a:spLocks noRot="1" noChangeAspect="1" noMove="1" noResize="1" noEditPoints="1" noAdjustHandles="1" noChangeArrowheads="1" noChangeShapeType="1" noTextEdit="1"/>
              </p:cNvSpPr>
              <p:nvPr/>
            </p:nvSpPr>
            <p:spPr>
              <a:xfrm>
                <a:off x="2391330" y="884813"/>
                <a:ext cx="965072" cy="369332"/>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2D3A862-6896-4422-AF8E-A9D1C1069140}"/>
                  </a:ext>
                </a:extLst>
              </p:cNvPr>
              <p:cNvSpPr txBox="1"/>
              <p:nvPr/>
            </p:nvSpPr>
            <p:spPr>
              <a:xfrm>
                <a:off x="6216587" y="3657969"/>
                <a:ext cx="950132" cy="369332"/>
              </a:xfrm>
              <a:prstGeom prst="rect">
                <a:avLst/>
              </a:prstGeom>
              <a:noFill/>
            </p:spPr>
            <p:txBody>
              <a:bodyPr wrap="square" rtlCol="0">
                <a:spAutoFit/>
              </a:bodyPr>
              <a:lstStyle/>
              <a:p>
                <a:pPr/>
                <a14:m>
                  <m:oMathPara xmlns:m="http://schemas.openxmlformats.org/officeDocument/2006/math">
                    <m:oMath>
                      <m:r>
                        <m:rPr>
                          <m:sty m:val="p"/>
                        </m:rPr>
                        <a:rPr lang="en-CA" b="0" i="0" smtClean="0">
                          <a:latin typeface="Cambria Math" panose="02040503050406030204" pitchFamily="18" charset="0"/>
                        </a:rPr>
                        <m:t>ΔE</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7" name="TextBox 6">
                <a:extLst>
                  <a:ext uri="{FF2B5EF4-FFF2-40B4-BE49-F238E27FC236}">
                    <a16:creationId xmlns:a16="http://schemas.microsoft.com/office/drawing/2014/main" id="{52D3A862-6896-4422-AF8E-A9D1C1069140}"/>
                  </a:ext>
                </a:extLst>
              </p:cNvPr>
              <p:cNvSpPr txBox="1">
                <a:spLocks noRot="1" noChangeAspect="1" noMove="1" noResize="1" noEditPoints="1" noAdjustHandles="1" noChangeArrowheads="1" noChangeShapeType="1" noTextEdit="1"/>
              </p:cNvSpPr>
              <p:nvPr/>
            </p:nvSpPr>
            <p:spPr>
              <a:xfrm>
                <a:off x="6216587" y="3657969"/>
                <a:ext cx="950132" cy="369332"/>
              </a:xfrm>
              <a:prstGeom prst="rect">
                <a:avLst/>
              </a:prstGeom>
              <a:blipFill>
                <a:blip r:embed="rId5"/>
                <a:stretch>
                  <a:fillRect/>
                </a:stretch>
              </a:blipFill>
            </p:spPr>
            <p:txBody>
              <a:bodyPr/>
              <a:lstStyle/>
              <a:p>
                <a:r>
                  <a:rPr lang="en-CA">
                    <a:noFill/>
                  </a:rPr>
                  <a:t> </a:t>
                </a:r>
              </a:p>
            </p:txBody>
          </p:sp>
        </mc:Fallback>
      </mc:AlternateContent>
      <p:sp>
        <p:nvSpPr>
          <p:cNvPr id="3" name="Oval 2">
            <a:extLst>
              <a:ext uri="{FF2B5EF4-FFF2-40B4-BE49-F238E27FC236}">
                <a16:creationId xmlns:a16="http://schemas.microsoft.com/office/drawing/2014/main" id="{5F57B284-E267-4BF3-B186-95C79DD9BF15}"/>
              </a:ext>
            </a:extLst>
          </p:cNvPr>
          <p:cNvSpPr/>
          <p:nvPr/>
        </p:nvSpPr>
        <p:spPr>
          <a:xfrm>
            <a:off x="3733805" y="260101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Oval 9">
            <a:extLst>
              <a:ext uri="{FF2B5EF4-FFF2-40B4-BE49-F238E27FC236}">
                <a16:creationId xmlns:a16="http://schemas.microsoft.com/office/drawing/2014/main" id="{EBED7CC2-EE9D-4A01-B829-AA32FF534F48}"/>
              </a:ext>
            </a:extLst>
          </p:cNvPr>
          <p:cNvSpPr/>
          <p:nvPr/>
        </p:nvSpPr>
        <p:spPr>
          <a:xfrm>
            <a:off x="3886205" y="275341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Oval 10">
            <a:extLst>
              <a:ext uri="{FF2B5EF4-FFF2-40B4-BE49-F238E27FC236}">
                <a16:creationId xmlns:a16="http://schemas.microsoft.com/office/drawing/2014/main" id="{9A3B219A-E17F-4848-B2B6-769F73EAF6EE}"/>
              </a:ext>
            </a:extLst>
          </p:cNvPr>
          <p:cNvSpPr/>
          <p:nvPr/>
        </p:nvSpPr>
        <p:spPr>
          <a:xfrm>
            <a:off x="4038605" y="290581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a:extLst>
              <a:ext uri="{FF2B5EF4-FFF2-40B4-BE49-F238E27FC236}">
                <a16:creationId xmlns:a16="http://schemas.microsoft.com/office/drawing/2014/main" id="{A7741668-6B3B-49B5-9F1B-069EC2B9E621}"/>
              </a:ext>
            </a:extLst>
          </p:cNvPr>
          <p:cNvSpPr/>
          <p:nvPr/>
        </p:nvSpPr>
        <p:spPr>
          <a:xfrm>
            <a:off x="4191005" y="305821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Oval 12">
            <a:extLst>
              <a:ext uri="{FF2B5EF4-FFF2-40B4-BE49-F238E27FC236}">
                <a16:creationId xmlns:a16="http://schemas.microsoft.com/office/drawing/2014/main" id="{3B19F62C-CE0A-453C-8655-5B4C67A5B59A}"/>
              </a:ext>
            </a:extLst>
          </p:cNvPr>
          <p:cNvSpPr/>
          <p:nvPr/>
        </p:nvSpPr>
        <p:spPr>
          <a:xfrm>
            <a:off x="4038604" y="234892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Oval 13">
            <a:extLst>
              <a:ext uri="{FF2B5EF4-FFF2-40B4-BE49-F238E27FC236}">
                <a16:creationId xmlns:a16="http://schemas.microsoft.com/office/drawing/2014/main" id="{CA7A7727-FC44-43E1-A7BD-C3A286B6B062}"/>
              </a:ext>
            </a:extLst>
          </p:cNvPr>
          <p:cNvSpPr/>
          <p:nvPr/>
        </p:nvSpPr>
        <p:spPr>
          <a:xfrm>
            <a:off x="4191004" y="250132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Oval 14">
            <a:extLst>
              <a:ext uri="{FF2B5EF4-FFF2-40B4-BE49-F238E27FC236}">
                <a16:creationId xmlns:a16="http://schemas.microsoft.com/office/drawing/2014/main" id="{7897B0AF-EAF0-4414-961E-B84F9461AFC7}"/>
              </a:ext>
            </a:extLst>
          </p:cNvPr>
          <p:cNvSpPr/>
          <p:nvPr/>
        </p:nvSpPr>
        <p:spPr>
          <a:xfrm>
            <a:off x="4343404" y="265372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Oval 15">
            <a:extLst>
              <a:ext uri="{FF2B5EF4-FFF2-40B4-BE49-F238E27FC236}">
                <a16:creationId xmlns:a16="http://schemas.microsoft.com/office/drawing/2014/main" id="{4B3D5D95-7682-46FC-B680-0C084B6877FD}"/>
              </a:ext>
            </a:extLst>
          </p:cNvPr>
          <p:cNvSpPr/>
          <p:nvPr/>
        </p:nvSpPr>
        <p:spPr>
          <a:xfrm>
            <a:off x="4495804" y="280612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Oval 16">
            <a:extLst>
              <a:ext uri="{FF2B5EF4-FFF2-40B4-BE49-F238E27FC236}">
                <a16:creationId xmlns:a16="http://schemas.microsoft.com/office/drawing/2014/main" id="{FFE7DABB-3E6F-4C37-BBDD-44B0536E875D}"/>
              </a:ext>
            </a:extLst>
          </p:cNvPr>
          <p:cNvSpPr/>
          <p:nvPr/>
        </p:nvSpPr>
        <p:spPr>
          <a:xfrm>
            <a:off x="4648204" y="295852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Oval 17">
            <a:extLst>
              <a:ext uri="{FF2B5EF4-FFF2-40B4-BE49-F238E27FC236}">
                <a16:creationId xmlns:a16="http://schemas.microsoft.com/office/drawing/2014/main" id="{97D6AC66-5406-4B6F-9A57-8572D4EA779B}"/>
              </a:ext>
            </a:extLst>
          </p:cNvPr>
          <p:cNvSpPr/>
          <p:nvPr/>
        </p:nvSpPr>
        <p:spPr>
          <a:xfrm>
            <a:off x="4233124" y="18454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Oval 18">
            <a:extLst>
              <a:ext uri="{FF2B5EF4-FFF2-40B4-BE49-F238E27FC236}">
                <a16:creationId xmlns:a16="http://schemas.microsoft.com/office/drawing/2014/main" id="{F4B16CF5-01C7-4E1C-BE0D-0F975D2D23CA}"/>
              </a:ext>
            </a:extLst>
          </p:cNvPr>
          <p:cNvSpPr/>
          <p:nvPr/>
        </p:nvSpPr>
        <p:spPr>
          <a:xfrm>
            <a:off x="4385524" y="19978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Oval 19">
            <a:extLst>
              <a:ext uri="{FF2B5EF4-FFF2-40B4-BE49-F238E27FC236}">
                <a16:creationId xmlns:a16="http://schemas.microsoft.com/office/drawing/2014/main" id="{7A879D50-96B5-4462-A097-CD33357471F9}"/>
              </a:ext>
            </a:extLst>
          </p:cNvPr>
          <p:cNvSpPr/>
          <p:nvPr/>
        </p:nvSpPr>
        <p:spPr>
          <a:xfrm>
            <a:off x="4537924" y="21502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Oval 20">
            <a:extLst>
              <a:ext uri="{FF2B5EF4-FFF2-40B4-BE49-F238E27FC236}">
                <a16:creationId xmlns:a16="http://schemas.microsoft.com/office/drawing/2014/main" id="{FEF70DC1-0348-4B4B-9843-275B35CA8CCA}"/>
              </a:ext>
            </a:extLst>
          </p:cNvPr>
          <p:cNvSpPr/>
          <p:nvPr/>
        </p:nvSpPr>
        <p:spPr>
          <a:xfrm>
            <a:off x="4690324" y="23026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Oval 21">
            <a:extLst>
              <a:ext uri="{FF2B5EF4-FFF2-40B4-BE49-F238E27FC236}">
                <a16:creationId xmlns:a16="http://schemas.microsoft.com/office/drawing/2014/main" id="{D1F132E2-AF35-4EEE-B7BC-52338E1F105E}"/>
              </a:ext>
            </a:extLst>
          </p:cNvPr>
          <p:cNvSpPr/>
          <p:nvPr/>
        </p:nvSpPr>
        <p:spPr>
          <a:xfrm>
            <a:off x="4842724" y="24550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Oval 22">
            <a:extLst>
              <a:ext uri="{FF2B5EF4-FFF2-40B4-BE49-F238E27FC236}">
                <a16:creationId xmlns:a16="http://schemas.microsoft.com/office/drawing/2014/main" id="{5AD45F0A-7AF5-4185-9286-323AC51C0415}"/>
              </a:ext>
            </a:extLst>
          </p:cNvPr>
          <p:cNvSpPr/>
          <p:nvPr/>
        </p:nvSpPr>
        <p:spPr>
          <a:xfrm>
            <a:off x="4282446" y="223250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Oval 23">
            <a:extLst>
              <a:ext uri="{FF2B5EF4-FFF2-40B4-BE49-F238E27FC236}">
                <a16:creationId xmlns:a16="http://schemas.microsoft.com/office/drawing/2014/main" id="{99D24D74-E12B-44B9-8CAC-EF0AC433A2CC}"/>
              </a:ext>
            </a:extLst>
          </p:cNvPr>
          <p:cNvSpPr/>
          <p:nvPr/>
        </p:nvSpPr>
        <p:spPr>
          <a:xfrm>
            <a:off x="4995124" y="26074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Oval 24">
            <a:extLst>
              <a:ext uri="{FF2B5EF4-FFF2-40B4-BE49-F238E27FC236}">
                <a16:creationId xmlns:a16="http://schemas.microsoft.com/office/drawing/2014/main" id="{72DACCF5-954E-452B-B263-47FF951A5801}"/>
              </a:ext>
            </a:extLst>
          </p:cNvPr>
          <p:cNvSpPr/>
          <p:nvPr/>
        </p:nvSpPr>
        <p:spPr>
          <a:xfrm>
            <a:off x="5147524" y="27598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Oval 25">
            <a:extLst>
              <a:ext uri="{FF2B5EF4-FFF2-40B4-BE49-F238E27FC236}">
                <a16:creationId xmlns:a16="http://schemas.microsoft.com/office/drawing/2014/main" id="{C6118C64-B7CE-4F0A-8AC2-D01162829ABA}"/>
              </a:ext>
            </a:extLst>
          </p:cNvPr>
          <p:cNvSpPr/>
          <p:nvPr/>
        </p:nvSpPr>
        <p:spPr>
          <a:xfrm>
            <a:off x="4394949" y="23698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Oval 26">
            <a:extLst>
              <a:ext uri="{FF2B5EF4-FFF2-40B4-BE49-F238E27FC236}">
                <a16:creationId xmlns:a16="http://schemas.microsoft.com/office/drawing/2014/main" id="{D475BDDB-2763-4177-8A48-4EB42D607A37}"/>
              </a:ext>
            </a:extLst>
          </p:cNvPr>
          <p:cNvSpPr/>
          <p:nvPr/>
        </p:nvSpPr>
        <p:spPr>
          <a:xfrm>
            <a:off x="5299924" y="29122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Oval 27">
            <a:extLst>
              <a:ext uri="{FF2B5EF4-FFF2-40B4-BE49-F238E27FC236}">
                <a16:creationId xmlns:a16="http://schemas.microsoft.com/office/drawing/2014/main" id="{37B65677-2920-46C5-9A3E-EE8C9DAAE457}"/>
              </a:ext>
            </a:extLst>
          </p:cNvPr>
          <p:cNvSpPr/>
          <p:nvPr/>
        </p:nvSpPr>
        <p:spPr>
          <a:xfrm>
            <a:off x="3969331" y="263232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Oval 28">
            <a:extLst>
              <a:ext uri="{FF2B5EF4-FFF2-40B4-BE49-F238E27FC236}">
                <a16:creationId xmlns:a16="http://schemas.microsoft.com/office/drawing/2014/main" id="{30E73610-7BD3-41C1-B9ED-480A95A80E14}"/>
              </a:ext>
            </a:extLst>
          </p:cNvPr>
          <p:cNvSpPr/>
          <p:nvPr/>
        </p:nvSpPr>
        <p:spPr>
          <a:xfrm>
            <a:off x="4587246" y="253730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Oval 29">
            <a:extLst>
              <a:ext uri="{FF2B5EF4-FFF2-40B4-BE49-F238E27FC236}">
                <a16:creationId xmlns:a16="http://schemas.microsoft.com/office/drawing/2014/main" id="{1998C7A0-99C4-4FA4-ACE3-E5548DCC7AC0}"/>
              </a:ext>
            </a:extLst>
          </p:cNvPr>
          <p:cNvSpPr/>
          <p:nvPr/>
        </p:nvSpPr>
        <p:spPr>
          <a:xfrm>
            <a:off x="4739646" y="268970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Oval 30">
            <a:extLst>
              <a:ext uri="{FF2B5EF4-FFF2-40B4-BE49-F238E27FC236}">
                <a16:creationId xmlns:a16="http://schemas.microsoft.com/office/drawing/2014/main" id="{063D83DA-F174-49A2-812C-D10D2228AE7B}"/>
              </a:ext>
            </a:extLst>
          </p:cNvPr>
          <p:cNvSpPr/>
          <p:nvPr/>
        </p:nvSpPr>
        <p:spPr>
          <a:xfrm>
            <a:off x="4892046" y="284210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Oval 31">
            <a:extLst>
              <a:ext uri="{FF2B5EF4-FFF2-40B4-BE49-F238E27FC236}">
                <a16:creationId xmlns:a16="http://schemas.microsoft.com/office/drawing/2014/main" id="{5083CC16-0C90-4F25-A2AA-004DD359D3B2}"/>
              </a:ext>
            </a:extLst>
          </p:cNvPr>
          <p:cNvSpPr/>
          <p:nvPr/>
        </p:nvSpPr>
        <p:spPr>
          <a:xfrm>
            <a:off x="4121731" y="278472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Oval 32">
            <a:extLst>
              <a:ext uri="{FF2B5EF4-FFF2-40B4-BE49-F238E27FC236}">
                <a16:creationId xmlns:a16="http://schemas.microsoft.com/office/drawing/2014/main" id="{AE06EB6B-598C-486B-9323-59F4EF6A8E84}"/>
              </a:ext>
            </a:extLst>
          </p:cNvPr>
          <p:cNvSpPr/>
          <p:nvPr/>
        </p:nvSpPr>
        <p:spPr>
          <a:xfrm>
            <a:off x="4274131" y="293712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Oval 33">
            <a:extLst>
              <a:ext uri="{FF2B5EF4-FFF2-40B4-BE49-F238E27FC236}">
                <a16:creationId xmlns:a16="http://schemas.microsoft.com/office/drawing/2014/main" id="{93339B2B-C945-4247-94B5-E61A74E2DAF5}"/>
              </a:ext>
            </a:extLst>
          </p:cNvPr>
          <p:cNvSpPr/>
          <p:nvPr/>
        </p:nvSpPr>
        <p:spPr>
          <a:xfrm>
            <a:off x="4426531" y="308952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Oval 34">
            <a:extLst>
              <a:ext uri="{FF2B5EF4-FFF2-40B4-BE49-F238E27FC236}">
                <a16:creationId xmlns:a16="http://schemas.microsoft.com/office/drawing/2014/main" id="{20AFB2B6-7A0B-4C49-865B-07DD200A3FEF}"/>
              </a:ext>
            </a:extLst>
          </p:cNvPr>
          <p:cNvSpPr/>
          <p:nvPr/>
        </p:nvSpPr>
        <p:spPr>
          <a:xfrm>
            <a:off x="3376363" y="349694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Oval 35">
            <a:extLst>
              <a:ext uri="{FF2B5EF4-FFF2-40B4-BE49-F238E27FC236}">
                <a16:creationId xmlns:a16="http://schemas.microsoft.com/office/drawing/2014/main" id="{96FC0F30-15AF-481D-AB2A-6D60682CA5E5}"/>
              </a:ext>
            </a:extLst>
          </p:cNvPr>
          <p:cNvSpPr/>
          <p:nvPr/>
        </p:nvSpPr>
        <p:spPr>
          <a:xfrm>
            <a:off x="3528763" y="364934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Oval 36">
            <a:extLst>
              <a:ext uri="{FF2B5EF4-FFF2-40B4-BE49-F238E27FC236}">
                <a16:creationId xmlns:a16="http://schemas.microsoft.com/office/drawing/2014/main" id="{16CA5E5F-DAF6-4832-95C5-193B71C7454D}"/>
              </a:ext>
            </a:extLst>
          </p:cNvPr>
          <p:cNvSpPr/>
          <p:nvPr/>
        </p:nvSpPr>
        <p:spPr>
          <a:xfrm>
            <a:off x="3681163" y="380174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Oval 37">
            <a:extLst>
              <a:ext uri="{FF2B5EF4-FFF2-40B4-BE49-F238E27FC236}">
                <a16:creationId xmlns:a16="http://schemas.microsoft.com/office/drawing/2014/main" id="{6D913749-D9DC-4AC1-880E-DAECAE88405B}"/>
              </a:ext>
            </a:extLst>
          </p:cNvPr>
          <p:cNvSpPr/>
          <p:nvPr/>
        </p:nvSpPr>
        <p:spPr>
          <a:xfrm>
            <a:off x="3833563" y="395414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Oval 38">
            <a:extLst>
              <a:ext uri="{FF2B5EF4-FFF2-40B4-BE49-F238E27FC236}">
                <a16:creationId xmlns:a16="http://schemas.microsoft.com/office/drawing/2014/main" id="{C3FAB0F9-98F3-4795-A709-DCC94E850E12}"/>
              </a:ext>
            </a:extLst>
          </p:cNvPr>
          <p:cNvSpPr/>
          <p:nvPr/>
        </p:nvSpPr>
        <p:spPr>
          <a:xfrm>
            <a:off x="3681162" y="324485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Oval 39">
            <a:extLst>
              <a:ext uri="{FF2B5EF4-FFF2-40B4-BE49-F238E27FC236}">
                <a16:creationId xmlns:a16="http://schemas.microsoft.com/office/drawing/2014/main" id="{01EA33DF-C66E-4667-BEA7-9BAEC703E3F6}"/>
              </a:ext>
            </a:extLst>
          </p:cNvPr>
          <p:cNvSpPr/>
          <p:nvPr/>
        </p:nvSpPr>
        <p:spPr>
          <a:xfrm>
            <a:off x="3833562" y="339725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Oval 40">
            <a:extLst>
              <a:ext uri="{FF2B5EF4-FFF2-40B4-BE49-F238E27FC236}">
                <a16:creationId xmlns:a16="http://schemas.microsoft.com/office/drawing/2014/main" id="{4C7BFD1C-C649-4E65-8466-DF2420A9F1AA}"/>
              </a:ext>
            </a:extLst>
          </p:cNvPr>
          <p:cNvSpPr/>
          <p:nvPr/>
        </p:nvSpPr>
        <p:spPr>
          <a:xfrm>
            <a:off x="3985962" y="354965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Oval 41">
            <a:extLst>
              <a:ext uri="{FF2B5EF4-FFF2-40B4-BE49-F238E27FC236}">
                <a16:creationId xmlns:a16="http://schemas.microsoft.com/office/drawing/2014/main" id="{B79EAAD4-CA9A-48B0-894B-7C2B5BCC5C78}"/>
              </a:ext>
            </a:extLst>
          </p:cNvPr>
          <p:cNvSpPr/>
          <p:nvPr/>
        </p:nvSpPr>
        <p:spPr>
          <a:xfrm>
            <a:off x="4138362" y="370205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3" name="Oval 42">
            <a:extLst>
              <a:ext uri="{FF2B5EF4-FFF2-40B4-BE49-F238E27FC236}">
                <a16:creationId xmlns:a16="http://schemas.microsoft.com/office/drawing/2014/main" id="{4D7D563B-3872-456D-BDDE-C0AD69044DE4}"/>
              </a:ext>
            </a:extLst>
          </p:cNvPr>
          <p:cNvSpPr/>
          <p:nvPr/>
        </p:nvSpPr>
        <p:spPr>
          <a:xfrm>
            <a:off x="4290762" y="385445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Oval 43">
            <a:extLst>
              <a:ext uri="{FF2B5EF4-FFF2-40B4-BE49-F238E27FC236}">
                <a16:creationId xmlns:a16="http://schemas.microsoft.com/office/drawing/2014/main" id="{8CEAD553-FEDB-49FA-81F5-BA5FEF1B8462}"/>
              </a:ext>
            </a:extLst>
          </p:cNvPr>
          <p:cNvSpPr/>
          <p:nvPr/>
        </p:nvSpPr>
        <p:spPr>
          <a:xfrm>
            <a:off x="3875682" y="27413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5" name="Oval 44">
            <a:extLst>
              <a:ext uri="{FF2B5EF4-FFF2-40B4-BE49-F238E27FC236}">
                <a16:creationId xmlns:a16="http://schemas.microsoft.com/office/drawing/2014/main" id="{AFFE994C-E70A-4C37-A943-D11AAB86B2D0}"/>
              </a:ext>
            </a:extLst>
          </p:cNvPr>
          <p:cNvSpPr/>
          <p:nvPr/>
        </p:nvSpPr>
        <p:spPr>
          <a:xfrm>
            <a:off x="4028082" y="28937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Oval 45">
            <a:extLst>
              <a:ext uri="{FF2B5EF4-FFF2-40B4-BE49-F238E27FC236}">
                <a16:creationId xmlns:a16="http://schemas.microsoft.com/office/drawing/2014/main" id="{2623FCF8-9E6F-4B8F-878B-3E14B3F7591B}"/>
              </a:ext>
            </a:extLst>
          </p:cNvPr>
          <p:cNvSpPr/>
          <p:nvPr/>
        </p:nvSpPr>
        <p:spPr>
          <a:xfrm>
            <a:off x="4180482" y="30461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 name="Oval 46">
            <a:extLst>
              <a:ext uri="{FF2B5EF4-FFF2-40B4-BE49-F238E27FC236}">
                <a16:creationId xmlns:a16="http://schemas.microsoft.com/office/drawing/2014/main" id="{D3993E65-07AF-4182-95E9-12B0C25DCD38}"/>
              </a:ext>
            </a:extLst>
          </p:cNvPr>
          <p:cNvSpPr/>
          <p:nvPr/>
        </p:nvSpPr>
        <p:spPr>
          <a:xfrm>
            <a:off x="4332882" y="31985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8" name="Oval 47">
            <a:extLst>
              <a:ext uri="{FF2B5EF4-FFF2-40B4-BE49-F238E27FC236}">
                <a16:creationId xmlns:a16="http://schemas.microsoft.com/office/drawing/2014/main" id="{DE902535-F857-4CED-BC94-BC40F30CE31A}"/>
              </a:ext>
            </a:extLst>
          </p:cNvPr>
          <p:cNvSpPr/>
          <p:nvPr/>
        </p:nvSpPr>
        <p:spPr>
          <a:xfrm>
            <a:off x="4485282" y="33509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Oval 48">
            <a:extLst>
              <a:ext uri="{FF2B5EF4-FFF2-40B4-BE49-F238E27FC236}">
                <a16:creationId xmlns:a16="http://schemas.microsoft.com/office/drawing/2014/main" id="{44F6AF3B-5BC6-45D7-A042-A9AC1A653AF7}"/>
              </a:ext>
            </a:extLst>
          </p:cNvPr>
          <p:cNvSpPr/>
          <p:nvPr/>
        </p:nvSpPr>
        <p:spPr>
          <a:xfrm>
            <a:off x="3925004" y="312843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0" name="Oval 49">
            <a:extLst>
              <a:ext uri="{FF2B5EF4-FFF2-40B4-BE49-F238E27FC236}">
                <a16:creationId xmlns:a16="http://schemas.microsoft.com/office/drawing/2014/main" id="{5F9EBE47-B3E1-419C-AC55-E929598FDB96}"/>
              </a:ext>
            </a:extLst>
          </p:cNvPr>
          <p:cNvSpPr/>
          <p:nvPr/>
        </p:nvSpPr>
        <p:spPr>
          <a:xfrm>
            <a:off x="4637682" y="35033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Oval 50">
            <a:extLst>
              <a:ext uri="{FF2B5EF4-FFF2-40B4-BE49-F238E27FC236}">
                <a16:creationId xmlns:a16="http://schemas.microsoft.com/office/drawing/2014/main" id="{6C44023F-17BC-4895-8FF0-A091568D3761}"/>
              </a:ext>
            </a:extLst>
          </p:cNvPr>
          <p:cNvSpPr/>
          <p:nvPr/>
        </p:nvSpPr>
        <p:spPr>
          <a:xfrm>
            <a:off x="4790082" y="36557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2" name="Oval 51">
            <a:extLst>
              <a:ext uri="{FF2B5EF4-FFF2-40B4-BE49-F238E27FC236}">
                <a16:creationId xmlns:a16="http://schemas.microsoft.com/office/drawing/2014/main" id="{48D3CC53-A934-4611-978D-94AD2F3E6C99}"/>
              </a:ext>
            </a:extLst>
          </p:cNvPr>
          <p:cNvSpPr/>
          <p:nvPr/>
        </p:nvSpPr>
        <p:spPr>
          <a:xfrm>
            <a:off x="4037507" y="326574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3" name="Oval 52">
            <a:extLst>
              <a:ext uri="{FF2B5EF4-FFF2-40B4-BE49-F238E27FC236}">
                <a16:creationId xmlns:a16="http://schemas.microsoft.com/office/drawing/2014/main" id="{15B02DFC-3086-40F5-ABF6-760F2FD292BD}"/>
              </a:ext>
            </a:extLst>
          </p:cNvPr>
          <p:cNvSpPr/>
          <p:nvPr/>
        </p:nvSpPr>
        <p:spPr>
          <a:xfrm>
            <a:off x="3611889" y="352825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4" name="Oval 53">
            <a:extLst>
              <a:ext uri="{FF2B5EF4-FFF2-40B4-BE49-F238E27FC236}">
                <a16:creationId xmlns:a16="http://schemas.microsoft.com/office/drawing/2014/main" id="{913C7AE0-ED50-4780-BA2E-36EF84884AC9}"/>
              </a:ext>
            </a:extLst>
          </p:cNvPr>
          <p:cNvSpPr/>
          <p:nvPr/>
        </p:nvSpPr>
        <p:spPr>
          <a:xfrm>
            <a:off x="4229804" y="343323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5" name="Oval 54">
            <a:extLst>
              <a:ext uri="{FF2B5EF4-FFF2-40B4-BE49-F238E27FC236}">
                <a16:creationId xmlns:a16="http://schemas.microsoft.com/office/drawing/2014/main" id="{4A926640-E2D5-4566-AD00-B1A449C819BD}"/>
              </a:ext>
            </a:extLst>
          </p:cNvPr>
          <p:cNvSpPr/>
          <p:nvPr/>
        </p:nvSpPr>
        <p:spPr>
          <a:xfrm>
            <a:off x="4382204" y="358563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6" name="Oval 55">
            <a:extLst>
              <a:ext uri="{FF2B5EF4-FFF2-40B4-BE49-F238E27FC236}">
                <a16:creationId xmlns:a16="http://schemas.microsoft.com/office/drawing/2014/main" id="{5360CE76-E39C-4044-8AE2-481049B899FB}"/>
              </a:ext>
            </a:extLst>
          </p:cNvPr>
          <p:cNvSpPr/>
          <p:nvPr/>
        </p:nvSpPr>
        <p:spPr>
          <a:xfrm>
            <a:off x="4534604" y="373803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7" name="Oval 56">
            <a:extLst>
              <a:ext uri="{FF2B5EF4-FFF2-40B4-BE49-F238E27FC236}">
                <a16:creationId xmlns:a16="http://schemas.microsoft.com/office/drawing/2014/main" id="{8820F53A-3B15-4934-BCA5-66D2B52B66F0}"/>
              </a:ext>
            </a:extLst>
          </p:cNvPr>
          <p:cNvSpPr/>
          <p:nvPr/>
        </p:nvSpPr>
        <p:spPr>
          <a:xfrm>
            <a:off x="3764289" y="368065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8" name="Oval 57">
            <a:extLst>
              <a:ext uri="{FF2B5EF4-FFF2-40B4-BE49-F238E27FC236}">
                <a16:creationId xmlns:a16="http://schemas.microsoft.com/office/drawing/2014/main" id="{C6997184-C0FE-4E7B-AD22-A19E9FB32802}"/>
              </a:ext>
            </a:extLst>
          </p:cNvPr>
          <p:cNvSpPr/>
          <p:nvPr/>
        </p:nvSpPr>
        <p:spPr>
          <a:xfrm>
            <a:off x="3916689" y="383305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9" name="Oval 58">
            <a:extLst>
              <a:ext uri="{FF2B5EF4-FFF2-40B4-BE49-F238E27FC236}">
                <a16:creationId xmlns:a16="http://schemas.microsoft.com/office/drawing/2014/main" id="{BAF14F54-74AF-4086-A923-18319C0C2D8A}"/>
              </a:ext>
            </a:extLst>
          </p:cNvPr>
          <p:cNvSpPr/>
          <p:nvPr/>
        </p:nvSpPr>
        <p:spPr>
          <a:xfrm>
            <a:off x="4069089" y="398545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0" name="Oval 59">
            <a:extLst>
              <a:ext uri="{FF2B5EF4-FFF2-40B4-BE49-F238E27FC236}">
                <a16:creationId xmlns:a16="http://schemas.microsoft.com/office/drawing/2014/main" id="{AAF27EF0-AE61-43A3-9023-BD2AD03ACF33}"/>
              </a:ext>
            </a:extLst>
          </p:cNvPr>
          <p:cNvSpPr/>
          <p:nvPr/>
        </p:nvSpPr>
        <p:spPr>
          <a:xfrm>
            <a:off x="4287712" y="35566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1" name="Oval 60">
            <a:extLst>
              <a:ext uri="{FF2B5EF4-FFF2-40B4-BE49-F238E27FC236}">
                <a16:creationId xmlns:a16="http://schemas.microsoft.com/office/drawing/2014/main" id="{CB86DF86-4AAE-4962-8CA6-3A8235ABDDCC}"/>
              </a:ext>
            </a:extLst>
          </p:cNvPr>
          <p:cNvSpPr/>
          <p:nvPr/>
        </p:nvSpPr>
        <p:spPr>
          <a:xfrm>
            <a:off x="4440112" y="37090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2" name="Oval 61">
            <a:extLst>
              <a:ext uri="{FF2B5EF4-FFF2-40B4-BE49-F238E27FC236}">
                <a16:creationId xmlns:a16="http://schemas.microsoft.com/office/drawing/2014/main" id="{45018CD3-76B3-41DE-A2F7-DF9E1840D606}"/>
              </a:ext>
            </a:extLst>
          </p:cNvPr>
          <p:cNvSpPr/>
          <p:nvPr/>
        </p:nvSpPr>
        <p:spPr>
          <a:xfrm>
            <a:off x="4592512" y="38614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3" name="Oval 62">
            <a:extLst>
              <a:ext uri="{FF2B5EF4-FFF2-40B4-BE49-F238E27FC236}">
                <a16:creationId xmlns:a16="http://schemas.microsoft.com/office/drawing/2014/main" id="{8BD320B1-E015-4E10-9EDB-6042ACCCDDB9}"/>
              </a:ext>
            </a:extLst>
          </p:cNvPr>
          <p:cNvSpPr/>
          <p:nvPr/>
        </p:nvSpPr>
        <p:spPr>
          <a:xfrm>
            <a:off x="4744912" y="40138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4" name="Oval 63">
            <a:extLst>
              <a:ext uri="{FF2B5EF4-FFF2-40B4-BE49-F238E27FC236}">
                <a16:creationId xmlns:a16="http://schemas.microsoft.com/office/drawing/2014/main" id="{E4788904-4172-4487-A1EE-0B7C6FDE3EF9}"/>
              </a:ext>
            </a:extLst>
          </p:cNvPr>
          <p:cNvSpPr/>
          <p:nvPr/>
        </p:nvSpPr>
        <p:spPr>
          <a:xfrm>
            <a:off x="4592511" y="33045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5" name="Oval 64">
            <a:extLst>
              <a:ext uri="{FF2B5EF4-FFF2-40B4-BE49-F238E27FC236}">
                <a16:creationId xmlns:a16="http://schemas.microsoft.com/office/drawing/2014/main" id="{786B1B03-6055-4772-A61E-1649429157D6}"/>
              </a:ext>
            </a:extLst>
          </p:cNvPr>
          <p:cNvSpPr/>
          <p:nvPr/>
        </p:nvSpPr>
        <p:spPr>
          <a:xfrm>
            <a:off x="4744911" y="34569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6" name="Oval 65">
            <a:extLst>
              <a:ext uri="{FF2B5EF4-FFF2-40B4-BE49-F238E27FC236}">
                <a16:creationId xmlns:a16="http://schemas.microsoft.com/office/drawing/2014/main" id="{F5AE57DA-CBC4-4A5E-AB32-F58C086D7E21}"/>
              </a:ext>
            </a:extLst>
          </p:cNvPr>
          <p:cNvSpPr/>
          <p:nvPr/>
        </p:nvSpPr>
        <p:spPr>
          <a:xfrm>
            <a:off x="4897311" y="36093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7" name="Oval 66">
            <a:extLst>
              <a:ext uri="{FF2B5EF4-FFF2-40B4-BE49-F238E27FC236}">
                <a16:creationId xmlns:a16="http://schemas.microsoft.com/office/drawing/2014/main" id="{ED437819-74A8-454F-8D4B-58B423D6B74D}"/>
              </a:ext>
            </a:extLst>
          </p:cNvPr>
          <p:cNvSpPr/>
          <p:nvPr/>
        </p:nvSpPr>
        <p:spPr>
          <a:xfrm>
            <a:off x="5049711" y="37617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8" name="Oval 67">
            <a:extLst>
              <a:ext uri="{FF2B5EF4-FFF2-40B4-BE49-F238E27FC236}">
                <a16:creationId xmlns:a16="http://schemas.microsoft.com/office/drawing/2014/main" id="{CC825FB0-F2BE-46A2-8FFE-AEC2E7CADA28}"/>
              </a:ext>
            </a:extLst>
          </p:cNvPr>
          <p:cNvSpPr/>
          <p:nvPr/>
        </p:nvSpPr>
        <p:spPr>
          <a:xfrm>
            <a:off x="5202111" y="39141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9" name="Oval 68">
            <a:extLst>
              <a:ext uri="{FF2B5EF4-FFF2-40B4-BE49-F238E27FC236}">
                <a16:creationId xmlns:a16="http://schemas.microsoft.com/office/drawing/2014/main" id="{96E9FD36-B4B0-447D-B7CA-6F7012E62297}"/>
              </a:ext>
            </a:extLst>
          </p:cNvPr>
          <p:cNvSpPr/>
          <p:nvPr/>
        </p:nvSpPr>
        <p:spPr>
          <a:xfrm>
            <a:off x="4787031" y="28010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0" name="Oval 69">
            <a:extLst>
              <a:ext uri="{FF2B5EF4-FFF2-40B4-BE49-F238E27FC236}">
                <a16:creationId xmlns:a16="http://schemas.microsoft.com/office/drawing/2014/main" id="{2255843F-3E96-4723-AAF2-6D7BD8443CF6}"/>
              </a:ext>
            </a:extLst>
          </p:cNvPr>
          <p:cNvSpPr/>
          <p:nvPr/>
        </p:nvSpPr>
        <p:spPr>
          <a:xfrm>
            <a:off x="4939431" y="29534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1" name="Oval 70">
            <a:extLst>
              <a:ext uri="{FF2B5EF4-FFF2-40B4-BE49-F238E27FC236}">
                <a16:creationId xmlns:a16="http://schemas.microsoft.com/office/drawing/2014/main" id="{A4AA25E0-6786-4981-9151-24AE3F77A69D}"/>
              </a:ext>
            </a:extLst>
          </p:cNvPr>
          <p:cNvSpPr/>
          <p:nvPr/>
        </p:nvSpPr>
        <p:spPr>
          <a:xfrm>
            <a:off x="5091831" y="31058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2" name="Oval 71">
            <a:extLst>
              <a:ext uri="{FF2B5EF4-FFF2-40B4-BE49-F238E27FC236}">
                <a16:creationId xmlns:a16="http://schemas.microsoft.com/office/drawing/2014/main" id="{DDA08D14-A5C7-42BD-91F6-8AE8D24D35E2}"/>
              </a:ext>
            </a:extLst>
          </p:cNvPr>
          <p:cNvSpPr/>
          <p:nvPr/>
        </p:nvSpPr>
        <p:spPr>
          <a:xfrm>
            <a:off x="5244231" y="32582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3" name="Oval 72">
            <a:extLst>
              <a:ext uri="{FF2B5EF4-FFF2-40B4-BE49-F238E27FC236}">
                <a16:creationId xmlns:a16="http://schemas.microsoft.com/office/drawing/2014/main" id="{DE347C27-841A-40F4-96F6-5E530E35998E}"/>
              </a:ext>
            </a:extLst>
          </p:cNvPr>
          <p:cNvSpPr/>
          <p:nvPr/>
        </p:nvSpPr>
        <p:spPr>
          <a:xfrm>
            <a:off x="5396631" y="34106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4" name="Oval 73">
            <a:extLst>
              <a:ext uri="{FF2B5EF4-FFF2-40B4-BE49-F238E27FC236}">
                <a16:creationId xmlns:a16="http://schemas.microsoft.com/office/drawing/2014/main" id="{C35A1A91-3143-4590-A229-330FB335119F}"/>
              </a:ext>
            </a:extLst>
          </p:cNvPr>
          <p:cNvSpPr/>
          <p:nvPr/>
        </p:nvSpPr>
        <p:spPr>
          <a:xfrm>
            <a:off x="4836353" y="318810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5" name="Oval 74">
            <a:extLst>
              <a:ext uri="{FF2B5EF4-FFF2-40B4-BE49-F238E27FC236}">
                <a16:creationId xmlns:a16="http://schemas.microsoft.com/office/drawing/2014/main" id="{2E2B744E-88F8-47DB-A7DE-8133CAE9267E}"/>
              </a:ext>
            </a:extLst>
          </p:cNvPr>
          <p:cNvSpPr/>
          <p:nvPr/>
        </p:nvSpPr>
        <p:spPr>
          <a:xfrm>
            <a:off x="5549031" y="35630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6" name="Oval 75">
            <a:extLst>
              <a:ext uri="{FF2B5EF4-FFF2-40B4-BE49-F238E27FC236}">
                <a16:creationId xmlns:a16="http://schemas.microsoft.com/office/drawing/2014/main" id="{126B171F-3940-4BFB-951B-69D8DBCAFF43}"/>
              </a:ext>
            </a:extLst>
          </p:cNvPr>
          <p:cNvSpPr/>
          <p:nvPr/>
        </p:nvSpPr>
        <p:spPr>
          <a:xfrm>
            <a:off x="5701431" y="37154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7" name="Oval 76">
            <a:extLst>
              <a:ext uri="{FF2B5EF4-FFF2-40B4-BE49-F238E27FC236}">
                <a16:creationId xmlns:a16="http://schemas.microsoft.com/office/drawing/2014/main" id="{A047D286-4782-4AFB-B4E2-2C7A07FE0604}"/>
              </a:ext>
            </a:extLst>
          </p:cNvPr>
          <p:cNvSpPr/>
          <p:nvPr/>
        </p:nvSpPr>
        <p:spPr>
          <a:xfrm>
            <a:off x="4948856" y="332541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8" name="Oval 77">
            <a:extLst>
              <a:ext uri="{FF2B5EF4-FFF2-40B4-BE49-F238E27FC236}">
                <a16:creationId xmlns:a16="http://schemas.microsoft.com/office/drawing/2014/main" id="{AA09D543-0E02-4301-B897-7BB6994C38CD}"/>
              </a:ext>
            </a:extLst>
          </p:cNvPr>
          <p:cNvSpPr/>
          <p:nvPr/>
        </p:nvSpPr>
        <p:spPr>
          <a:xfrm>
            <a:off x="4523238" y="358792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9" name="Oval 78">
            <a:extLst>
              <a:ext uri="{FF2B5EF4-FFF2-40B4-BE49-F238E27FC236}">
                <a16:creationId xmlns:a16="http://schemas.microsoft.com/office/drawing/2014/main" id="{9DD605F8-B850-4939-B67A-CC1857E69232}"/>
              </a:ext>
            </a:extLst>
          </p:cNvPr>
          <p:cNvSpPr/>
          <p:nvPr/>
        </p:nvSpPr>
        <p:spPr>
          <a:xfrm>
            <a:off x="5141153" y="349290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0" name="Oval 79">
            <a:extLst>
              <a:ext uri="{FF2B5EF4-FFF2-40B4-BE49-F238E27FC236}">
                <a16:creationId xmlns:a16="http://schemas.microsoft.com/office/drawing/2014/main" id="{E9BA5146-1503-49CC-98B2-0651681DEA07}"/>
              </a:ext>
            </a:extLst>
          </p:cNvPr>
          <p:cNvSpPr/>
          <p:nvPr/>
        </p:nvSpPr>
        <p:spPr>
          <a:xfrm>
            <a:off x="5293553" y="364530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1" name="Oval 80">
            <a:extLst>
              <a:ext uri="{FF2B5EF4-FFF2-40B4-BE49-F238E27FC236}">
                <a16:creationId xmlns:a16="http://schemas.microsoft.com/office/drawing/2014/main" id="{EB90AA96-6391-4409-9623-E586ADE5B32E}"/>
              </a:ext>
            </a:extLst>
          </p:cNvPr>
          <p:cNvSpPr/>
          <p:nvPr/>
        </p:nvSpPr>
        <p:spPr>
          <a:xfrm>
            <a:off x="5445953" y="379770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2" name="Oval 81">
            <a:extLst>
              <a:ext uri="{FF2B5EF4-FFF2-40B4-BE49-F238E27FC236}">
                <a16:creationId xmlns:a16="http://schemas.microsoft.com/office/drawing/2014/main" id="{D37ACCC7-AE18-4639-8359-4432C691B689}"/>
              </a:ext>
            </a:extLst>
          </p:cNvPr>
          <p:cNvSpPr/>
          <p:nvPr/>
        </p:nvSpPr>
        <p:spPr>
          <a:xfrm>
            <a:off x="4675638" y="374032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3" name="Oval 82">
            <a:extLst>
              <a:ext uri="{FF2B5EF4-FFF2-40B4-BE49-F238E27FC236}">
                <a16:creationId xmlns:a16="http://schemas.microsoft.com/office/drawing/2014/main" id="{F3137FEF-158B-4D9C-B1F4-31349E6BA178}"/>
              </a:ext>
            </a:extLst>
          </p:cNvPr>
          <p:cNvSpPr/>
          <p:nvPr/>
        </p:nvSpPr>
        <p:spPr>
          <a:xfrm>
            <a:off x="4828038" y="389272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4" name="Oval 83">
            <a:extLst>
              <a:ext uri="{FF2B5EF4-FFF2-40B4-BE49-F238E27FC236}">
                <a16:creationId xmlns:a16="http://schemas.microsoft.com/office/drawing/2014/main" id="{4D465651-48BF-48CD-AF7A-5639DAB9C226}"/>
              </a:ext>
            </a:extLst>
          </p:cNvPr>
          <p:cNvSpPr/>
          <p:nvPr/>
        </p:nvSpPr>
        <p:spPr>
          <a:xfrm>
            <a:off x="4980438" y="404512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5" name="Oval 84">
            <a:extLst>
              <a:ext uri="{FF2B5EF4-FFF2-40B4-BE49-F238E27FC236}">
                <a16:creationId xmlns:a16="http://schemas.microsoft.com/office/drawing/2014/main" id="{878E72EF-183E-4444-82BC-DC09AF86FAEF}"/>
              </a:ext>
            </a:extLst>
          </p:cNvPr>
          <p:cNvSpPr/>
          <p:nvPr/>
        </p:nvSpPr>
        <p:spPr>
          <a:xfrm>
            <a:off x="2931351" y="306035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6" name="Oval 85">
            <a:extLst>
              <a:ext uri="{FF2B5EF4-FFF2-40B4-BE49-F238E27FC236}">
                <a16:creationId xmlns:a16="http://schemas.microsoft.com/office/drawing/2014/main" id="{803C297A-829D-4704-A5CC-641357DCA711}"/>
              </a:ext>
            </a:extLst>
          </p:cNvPr>
          <p:cNvSpPr/>
          <p:nvPr/>
        </p:nvSpPr>
        <p:spPr>
          <a:xfrm>
            <a:off x="3083751" y="321275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7" name="Oval 86">
            <a:extLst>
              <a:ext uri="{FF2B5EF4-FFF2-40B4-BE49-F238E27FC236}">
                <a16:creationId xmlns:a16="http://schemas.microsoft.com/office/drawing/2014/main" id="{ABF6151B-2AD0-452D-81CA-201D053D02AF}"/>
              </a:ext>
            </a:extLst>
          </p:cNvPr>
          <p:cNvSpPr/>
          <p:nvPr/>
        </p:nvSpPr>
        <p:spPr>
          <a:xfrm>
            <a:off x="3236151" y="336515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8" name="Oval 87">
            <a:extLst>
              <a:ext uri="{FF2B5EF4-FFF2-40B4-BE49-F238E27FC236}">
                <a16:creationId xmlns:a16="http://schemas.microsoft.com/office/drawing/2014/main" id="{6E7B2CE8-42BA-475E-A37B-E59FEE35E02A}"/>
              </a:ext>
            </a:extLst>
          </p:cNvPr>
          <p:cNvSpPr/>
          <p:nvPr/>
        </p:nvSpPr>
        <p:spPr>
          <a:xfrm>
            <a:off x="3388551" y="351755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9" name="Oval 88">
            <a:extLst>
              <a:ext uri="{FF2B5EF4-FFF2-40B4-BE49-F238E27FC236}">
                <a16:creationId xmlns:a16="http://schemas.microsoft.com/office/drawing/2014/main" id="{84E44D56-E487-4A1B-821F-89F068288F68}"/>
              </a:ext>
            </a:extLst>
          </p:cNvPr>
          <p:cNvSpPr/>
          <p:nvPr/>
        </p:nvSpPr>
        <p:spPr>
          <a:xfrm>
            <a:off x="3236150" y="280827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0" name="Oval 89">
            <a:extLst>
              <a:ext uri="{FF2B5EF4-FFF2-40B4-BE49-F238E27FC236}">
                <a16:creationId xmlns:a16="http://schemas.microsoft.com/office/drawing/2014/main" id="{6C5B25AD-3A40-4F5E-BDA8-1E01BB199E79}"/>
              </a:ext>
            </a:extLst>
          </p:cNvPr>
          <p:cNvSpPr/>
          <p:nvPr/>
        </p:nvSpPr>
        <p:spPr>
          <a:xfrm>
            <a:off x="3388550" y="296067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1" name="Oval 90">
            <a:extLst>
              <a:ext uri="{FF2B5EF4-FFF2-40B4-BE49-F238E27FC236}">
                <a16:creationId xmlns:a16="http://schemas.microsoft.com/office/drawing/2014/main" id="{A8135C19-8904-4F7C-BEAE-34974F713AD2}"/>
              </a:ext>
            </a:extLst>
          </p:cNvPr>
          <p:cNvSpPr/>
          <p:nvPr/>
        </p:nvSpPr>
        <p:spPr>
          <a:xfrm>
            <a:off x="3540950" y="311307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2" name="Oval 91">
            <a:extLst>
              <a:ext uri="{FF2B5EF4-FFF2-40B4-BE49-F238E27FC236}">
                <a16:creationId xmlns:a16="http://schemas.microsoft.com/office/drawing/2014/main" id="{D65D9114-4506-465E-8A12-97A603C84567}"/>
              </a:ext>
            </a:extLst>
          </p:cNvPr>
          <p:cNvSpPr/>
          <p:nvPr/>
        </p:nvSpPr>
        <p:spPr>
          <a:xfrm>
            <a:off x="3693350" y="326547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3" name="Oval 92">
            <a:extLst>
              <a:ext uri="{FF2B5EF4-FFF2-40B4-BE49-F238E27FC236}">
                <a16:creationId xmlns:a16="http://schemas.microsoft.com/office/drawing/2014/main" id="{C3226C92-FCA9-4356-BE8C-8FB74F6F29E2}"/>
              </a:ext>
            </a:extLst>
          </p:cNvPr>
          <p:cNvSpPr/>
          <p:nvPr/>
        </p:nvSpPr>
        <p:spPr>
          <a:xfrm>
            <a:off x="3845750" y="341787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4" name="Oval 93">
            <a:extLst>
              <a:ext uri="{FF2B5EF4-FFF2-40B4-BE49-F238E27FC236}">
                <a16:creationId xmlns:a16="http://schemas.microsoft.com/office/drawing/2014/main" id="{4BAD65FB-0EFD-470C-8C45-0CC77A4CDF5C}"/>
              </a:ext>
            </a:extLst>
          </p:cNvPr>
          <p:cNvSpPr/>
          <p:nvPr/>
        </p:nvSpPr>
        <p:spPr>
          <a:xfrm>
            <a:off x="3430670" y="23048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5" name="Oval 94">
            <a:extLst>
              <a:ext uri="{FF2B5EF4-FFF2-40B4-BE49-F238E27FC236}">
                <a16:creationId xmlns:a16="http://schemas.microsoft.com/office/drawing/2014/main" id="{17CE32F2-E28A-4CE9-B0E0-B78BF215F66A}"/>
              </a:ext>
            </a:extLst>
          </p:cNvPr>
          <p:cNvSpPr/>
          <p:nvPr/>
        </p:nvSpPr>
        <p:spPr>
          <a:xfrm>
            <a:off x="3583070" y="24572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6" name="Oval 95">
            <a:extLst>
              <a:ext uri="{FF2B5EF4-FFF2-40B4-BE49-F238E27FC236}">
                <a16:creationId xmlns:a16="http://schemas.microsoft.com/office/drawing/2014/main" id="{611147A8-02DA-4427-BAFA-59446234B682}"/>
              </a:ext>
            </a:extLst>
          </p:cNvPr>
          <p:cNvSpPr/>
          <p:nvPr/>
        </p:nvSpPr>
        <p:spPr>
          <a:xfrm>
            <a:off x="3735470" y="26096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7" name="Oval 96">
            <a:extLst>
              <a:ext uri="{FF2B5EF4-FFF2-40B4-BE49-F238E27FC236}">
                <a16:creationId xmlns:a16="http://schemas.microsoft.com/office/drawing/2014/main" id="{E01AD58A-3A9C-4F43-8B80-0DA5E1AE78CD}"/>
              </a:ext>
            </a:extLst>
          </p:cNvPr>
          <p:cNvSpPr/>
          <p:nvPr/>
        </p:nvSpPr>
        <p:spPr>
          <a:xfrm>
            <a:off x="3887870" y="27620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8" name="Oval 97">
            <a:extLst>
              <a:ext uri="{FF2B5EF4-FFF2-40B4-BE49-F238E27FC236}">
                <a16:creationId xmlns:a16="http://schemas.microsoft.com/office/drawing/2014/main" id="{B4610250-CDE3-4EEE-8085-E52E5DFAFC61}"/>
              </a:ext>
            </a:extLst>
          </p:cNvPr>
          <p:cNvSpPr/>
          <p:nvPr/>
        </p:nvSpPr>
        <p:spPr>
          <a:xfrm>
            <a:off x="4040270" y="29144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9" name="Oval 98">
            <a:extLst>
              <a:ext uri="{FF2B5EF4-FFF2-40B4-BE49-F238E27FC236}">
                <a16:creationId xmlns:a16="http://schemas.microsoft.com/office/drawing/2014/main" id="{588CC098-9D24-4075-B9A6-B2CEF346074F}"/>
              </a:ext>
            </a:extLst>
          </p:cNvPr>
          <p:cNvSpPr/>
          <p:nvPr/>
        </p:nvSpPr>
        <p:spPr>
          <a:xfrm>
            <a:off x="3479992" y="269185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0" name="Oval 99">
            <a:extLst>
              <a:ext uri="{FF2B5EF4-FFF2-40B4-BE49-F238E27FC236}">
                <a16:creationId xmlns:a16="http://schemas.microsoft.com/office/drawing/2014/main" id="{026D1300-E62F-415F-ACBC-513EB296D8F9}"/>
              </a:ext>
            </a:extLst>
          </p:cNvPr>
          <p:cNvSpPr/>
          <p:nvPr/>
        </p:nvSpPr>
        <p:spPr>
          <a:xfrm>
            <a:off x="4192670" y="30668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1" name="Oval 100">
            <a:extLst>
              <a:ext uri="{FF2B5EF4-FFF2-40B4-BE49-F238E27FC236}">
                <a16:creationId xmlns:a16="http://schemas.microsoft.com/office/drawing/2014/main" id="{5D4F3442-DA0C-4672-B0EA-0BB2A81489A2}"/>
              </a:ext>
            </a:extLst>
          </p:cNvPr>
          <p:cNvSpPr/>
          <p:nvPr/>
        </p:nvSpPr>
        <p:spPr>
          <a:xfrm>
            <a:off x="4345070" y="32192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2" name="Oval 101">
            <a:extLst>
              <a:ext uri="{FF2B5EF4-FFF2-40B4-BE49-F238E27FC236}">
                <a16:creationId xmlns:a16="http://schemas.microsoft.com/office/drawing/2014/main" id="{90ABB4DD-60A7-412B-B7C3-043962CB9384}"/>
              </a:ext>
            </a:extLst>
          </p:cNvPr>
          <p:cNvSpPr/>
          <p:nvPr/>
        </p:nvSpPr>
        <p:spPr>
          <a:xfrm>
            <a:off x="3592495" y="282916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3" name="Oval 102">
            <a:extLst>
              <a:ext uri="{FF2B5EF4-FFF2-40B4-BE49-F238E27FC236}">
                <a16:creationId xmlns:a16="http://schemas.microsoft.com/office/drawing/2014/main" id="{B2DE9222-C066-44A1-906E-43C2F679722A}"/>
              </a:ext>
            </a:extLst>
          </p:cNvPr>
          <p:cNvSpPr/>
          <p:nvPr/>
        </p:nvSpPr>
        <p:spPr>
          <a:xfrm>
            <a:off x="3166877" y="309167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 name="Oval 103">
            <a:extLst>
              <a:ext uri="{FF2B5EF4-FFF2-40B4-BE49-F238E27FC236}">
                <a16:creationId xmlns:a16="http://schemas.microsoft.com/office/drawing/2014/main" id="{8A553B91-5A3C-47A8-891B-5A45D6778C58}"/>
              </a:ext>
            </a:extLst>
          </p:cNvPr>
          <p:cNvSpPr/>
          <p:nvPr/>
        </p:nvSpPr>
        <p:spPr>
          <a:xfrm>
            <a:off x="3784792" y="299665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5" name="Oval 104">
            <a:extLst>
              <a:ext uri="{FF2B5EF4-FFF2-40B4-BE49-F238E27FC236}">
                <a16:creationId xmlns:a16="http://schemas.microsoft.com/office/drawing/2014/main" id="{1CFB862C-D7D5-4BCD-B7BC-1FCCF9973B88}"/>
              </a:ext>
            </a:extLst>
          </p:cNvPr>
          <p:cNvSpPr/>
          <p:nvPr/>
        </p:nvSpPr>
        <p:spPr>
          <a:xfrm>
            <a:off x="3937192" y="314905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 name="Oval 105">
            <a:extLst>
              <a:ext uri="{FF2B5EF4-FFF2-40B4-BE49-F238E27FC236}">
                <a16:creationId xmlns:a16="http://schemas.microsoft.com/office/drawing/2014/main" id="{3BA8F966-1372-4318-A5BC-DF397E508850}"/>
              </a:ext>
            </a:extLst>
          </p:cNvPr>
          <p:cNvSpPr/>
          <p:nvPr/>
        </p:nvSpPr>
        <p:spPr>
          <a:xfrm>
            <a:off x="4089592" y="330145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7" name="Oval 106">
            <a:extLst>
              <a:ext uri="{FF2B5EF4-FFF2-40B4-BE49-F238E27FC236}">
                <a16:creationId xmlns:a16="http://schemas.microsoft.com/office/drawing/2014/main" id="{E8974DBE-C4B3-422F-B9D6-473AB289BB83}"/>
              </a:ext>
            </a:extLst>
          </p:cNvPr>
          <p:cNvSpPr/>
          <p:nvPr/>
        </p:nvSpPr>
        <p:spPr>
          <a:xfrm>
            <a:off x="3319277" y="324407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8" name="Oval 107">
            <a:extLst>
              <a:ext uri="{FF2B5EF4-FFF2-40B4-BE49-F238E27FC236}">
                <a16:creationId xmlns:a16="http://schemas.microsoft.com/office/drawing/2014/main" id="{D75551DB-5F02-488D-A06C-FF1DC7E2FA6D}"/>
              </a:ext>
            </a:extLst>
          </p:cNvPr>
          <p:cNvSpPr/>
          <p:nvPr/>
        </p:nvSpPr>
        <p:spPr>
          <a:xfrm>
            <a:off x="3471677" y="339647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9" name="Oval 108">
            <a:extLst>
              <a:ext uri="{FF2B5EF4-FFF2-40B4-BE49-F238E27FC236}">
                <a16:creationId xmlns:a16="http://schemas.microsoft.com/office/drawing/2014/main" id="{2D5B78D2-1653-487B-9132-503D3954ED31}"/>
              </a:ext>
            </a:extLst>
          </p:cNvPr>
          <p:cNvSpPr/>
          <p:nvPr/>
        </p:nvSpPr>
        <p:spPr>
          <a:xfrm>
            <a:off x="3624077" y="354887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0" name="Oval 109">
            <a:extLst>
              <a:ext uri="{FF2B5EF4-FFF2-40B4-BE49-F238E27FC236}">
                <a16:creationId xmlns:a16="http://schemas.microsoft.com/office/drawing/2014/main" id="{7702D241-92F5-4B38-943E-74EA190B945D}"/>
              </a:ext>
            </a:extLst>
          </p:cNvPr>
          <p:cNvSpPr/>
          <p:nvPr/>
        </p:nvSpPr>
        <p:spPr>
          <a:xfrm>
            <a:off x="3622814" y="227911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1" name="Oval 110">
            <a:extLst>
              <a:ext uri="{FF2B5EF4-FFF2-40B4-BE49-F238E27FC236}">
                <a16:creationId xmlns:a16="http://schemas.microsoft.com/office/drawing/2014/main" id="{4C4B11C3-EBED-4F53-AB11-51EE37B25C12}"/>
              </a:ext>
            </a:extLst>
          </p:cNvPr>
          <p:cNvSpPr/>
          <p:nvPr/>
        </p:nvSpPr>
        <p:spPr>
          <a:xfrm>
            <a:off x="3775214" y="243151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2" name="Oval 111">
            <a:extLst>
              <a:ext uri="{FF2B5EF4-FFF2-40B4-BE49-F238E27FC236}">
                <a16:creationId xmlns:a16="http://schemas.microsoft.com/office/drawing/2014/main" id="{9F4E0F87-D48B-4695-BE57-3EE6B69A2811}"/>
              </a:ext>
            </a:extLst>
          </p:cNvPr>
          <p:cNvSpPr/>
          <p:nvPr/>
        </p:nvSpPr>
        <p:spPr>
          <a:xfrm>
            <a:off x="3927614" y="258391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3" name="Oval 112">
            <a:extLst>
              <a:ext uri="{FF2B5EF4-FFF2-40B4-BE49-F238E27FC236}">
                <a16:creationId xmlns:a16="http://schemas.microsoft.com/office/drawing/2014/main" id="{3B7F425B-9C0A-4732-8265-D934C923B698}"/>
              </a:ext>
            </a:extLst>
          </p:cNvPr>
          <p:cNvSpPr/>
          <p:nvPr/>
        </p:nvSpPr>
        <p:spPr>
          <a:xfrm>
            <a:off x="4080014" y="273631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4" name="Oval 113">
            <a:extLst>
              <a:ext uri="{FF2B5EF4-FFF2-40B4-BE49-F238E27FC236}">
                <a16:creationId xmlns:a16="http://schemas.microsoft.com/office/drawing/2014/main" id="{14EF5209-0CF0-48A4-88F8-F7B6EDE0FE49}"/>
              </a:ext>
            </a:extLst>
          </p:cNvPr>
          <p:cNvSpPr/>
          <p:nvPr/>
        </p:nvSpPr>
        <p:spPr>
          <a:xfrm>
            <a:off x="3927613" y="202702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5" name="Oval 114">
            <a:extLst>
              <a:ext uri="{FF2B5EF4-FFF2-40B4-BE49-F238E27FC236}">
                <a16:creationId xmlns:a16="http://schemas.microsoft.com/office/drawing/2014/main" id="{CA1E5706-12ED-4B0C-999D-394B28C7840F}"/>
              </a:ext>
            </a:extLst>
          </p:cNvPr>
          <p:cNvSpPr/>
          <p:nvPr/>
        </p:nvSpPr>
        <p:spPr>
          <a:xfrm>
            <a:off x="4080013" y="217942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6" name="Oval 115">
            <a:extLst>
              <a:ext uri="{FF2B5EF4-FFF2-40B4-BE49-F238E27FC236}">
                <a16:creationId xmlns:a16="http://schemas.microsoft.com/office/drawing/2014/main" id="{1AED3242-6818-4FD7-9EFB-3BBCC237F63B}"/>
              </a:ext>
            </a:extLst>
          </p:cNvPr>
          <p:cNvSpPr/>
          <p:nvPr/>
        </p:nvSpPr>
        <p:spPr>
          <a:xfrm>
            <a:off x="4232413" y="233182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7" name="Oval 116">
            <a:extLst>
              <a:ext uri="{FF2B5EF4-FFF2-40B4-BE49-F238E27FC236}">
                <a16:creationId xmlns:a16="http://schemas.microsoft.com/office/drawing/2014/main" id="{5F60B3D9-6E34-4330-8E96-965F3DE3A98B}"/>
              </a:ext>
            </a:extLst>
          </p:cNvPr>
          <p:cNvSpPr/>
          <p:nvPr/>
        </p:nvSpPr>
        <p:spPr>
          <a:xfrm>
            <a:off x="4384813" y="248422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8" name="Oval 117">
            <a:extLst>
              <a:ext uri="{FF2B5EF4-FFF2-40B4-BE49-F238E27FC236}">
                <a16:creationId xmlns:a16="http://schemas.microsoft.com/office/drawing/2014/main" id="{DCDCCC96-8885-49E3-9815-06A8E46678DB}"/>
              </a:ext>
            </a:extLst>
          </p:cNvPr>
          <p:cNvSpPr/>
          <p:nvPr/>
        </p:nvSpPr>
        <p:spPr>
          <a:xfrm>
            <a:off x="4537213" y="263662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9" name="Oval 118">
            <a:extLst>
              <a:ext uri="{FF2B5EF4-FFF2-40B4-BE49-F238E27FC236}">
                <a16:creationId xmlns:a16="http://schemas.microsoft.com/office/drawing/2014/main" id="{59A858DE-F087-4BE2-9B7C-4A53C83E6B5C}"/>
              </a:ext>
            </a:extLst>
          </p:cNvPr>
          <p:cNvSpPr/>
          <p:nvPr/>
        </p:nvSpPr>
        <p:spPr>
          <a:xfrm>
            <a:off x="4122133" y="15235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0" name="Oval 119">
            <a:extLst>
              <a:ext uri="{FF2B5EF4-FFF2-40B4-BE49-F238E27FC236}">
                <a16:creationId xmlns:a16="http://schemas.microsoft.com/office/drawing/2014/main" id="{8A5AB66D-D1C0-49DC-A754-2BD44263E746}"/>
              </a:ext>
            </a:extLst>
          </p:cNvPr>
          <p:cNvSpPr/>
          <p:nvPr/>
        </p:nvSpPr>
        <p:spPr>
          <a:xfrm>
            <a:off x="4274533" y="16759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1" name="Oval 120">
            <a:extLst>
              <a:ext uri="{FF2B5EF4-FFF2-40B4-BE49-F238E27FC236}">
                <a16:creationId xmlns:a16="http://schemas.microsoft.com/office/drawing/2014/main" id="{BF5F46A3-68B9-4318-B97D-34FE5432F165}"/>
              </a:ext>
            </a:extLst>
          </p:cNvPr>
          <p:cNvSpPr/>
          <p:nvPr/>
        </p:nvSpPr>
        <p:spPr>
          <a:xfrm>
            <a:off x="4426933" y="18283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2" name="Oval 121">
            <a:extLst>
              <a:ext uri="{FF2B5EF4-FFF2-40B4-BE49-F238E27FC236}">
                <a16:creationId xmlns:a16="http://schemas.microsoft.com/office/drawing/2014/main" id="{0520BC9B-4447-478E-853E-B259A623C9E0}"/>
              </a:ext>
            </a:extLst>
          </p:cNvPr>
          <p:cNvSpPr/>
          <p:nvPr/>
        </p:nvSpPr>
        <p:spPr>
          <a:xfrm>
            <a:off x="4579333" y="19807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3" name="Oval 122">
            <a:extLst>
              <a:ext uri="{FF2B5EF4-FFF2-40B4-BE49-F238E27FC236}">
                <a16:creationId xmlns:a16="http://schemas.microsoft.com/office/drawing/2014/main" id="{7805A758-070C-464A-9D73-38F810502AA1}"/>
              </a:ext>
            </a:extLst>
          </p:cNvPr>
          <p:cNvSpPr/>
          <p:nvPr/>
        </p:nvSpPr>
        <p:spPr>
          <a:xfrm>
            <a:off x="4731733" y="21331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4" name="Oval 123">
            <a:extLst>
              <a:ext uri="{FF2B5EF4-FFF2-40B4-BE49-F238E27FC236}">
                <a16:creationId xmlns:a16="http://schemas.microsoft.com/office/drawing/2014/main" id="{DB42BF95-B9E0-4DFE-9D90-38CFF27C3EAE}"/>
              </a:ext>
            </a:extLst>
          </p:cNvPr>
          <p:cNvSpPr/>
          <p:nvPr/>
        </p:nvSpPr>
        <p:spPr>
          <a:xfrm>
            <a:off x="4171455" y="19106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5" name="Oval 124">
            <a:extLst>
              <a:ext uri="{FF2B5EF4-FFF2-40B4-BE49-F238E27FC236}">
                <a16:creationId xmlns:a16="http://schemas.microsoft.com/office/drawing/2014/main" id="{C3CC1ABD-7651-4A6A-A8D5-8EFAA6CBC239}"/>
              </a:ext>
            </a:extLst>
          </p:cNvPr>
          <p:cNvSpPr/>
          <p:nvPr/>
        </p:nvSpPr>
        <p:spPr>
          <a:xfrm>
            <a:off x="4884133" y="22855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6" name="Oval 125">
            <a:extLst>
              <a:ext uri="{FF2B5EF4-FFF2-40B4-BE49-F238E27FC236}">
                <a16:creationId xmlns:a16="http://schemas.microsoft.com/office/drawing/2014/main" id="{E090AF65-3B86-49C6-8F47-6B16999EE349}"/>
              </a:ext>
            </a:extLst>
          </p:cNvPr>
          <p:cNvSpPr/>
          <p:nvPr/>
        </p:nvSpPr>
        <p:spPr>
          <a:xfrm>
            <a:off x="5036533" y="24379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7" name="Oval 126">
            <a:extLst>
              <a:ext uri="{FF2B5EF4-FFF2-40B4-BE49-F238E27FC236}">
                <a16:creationId xmlns:a16="http://schemas.microsoft.com/office/drawing/2014/main" id="{B34E94B6-60F3-4CFC-ABD6-6D38C3C17F64}"/>
              </a:ext>
            </a:extLst>
          </p:cNvPr>
          <p:cNvSpPr/>
          <p:nvPr/>
        </p:nvSpPr>
        <p:spPr>
          <a:xfrm>
            <a:off x="4283958" y="204791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8" name="Oval 127">
            <a:extLst>
              <a:ext uri="{FF2B5EF4-FFF2-40B4-BE49-F238E27FC236}">
                <a16:creationId xmlns:a16="http://schemas.microsoft.com/office/drawing/2014/main" id="{40FE8D5E-602F-4F5B-AA96-DD7E44474365}"/>
              </a:ext>
            </a:extLst>
          </p:cNvPr>
          <p:cNvSpPr/>
          <p:nvPr/>
        </p:nvSpPr>
        <p:spPr>
          <a:xfrm>
            <a:off x="3858340" y="231043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9" name="Oval 128">
            <a:extLst>
              <a:ext uri="{FF2B5EF4-FFF2-40B4-BE49-F238E27FC236}">
                <a16:creationId xmlns:a16="http://schemas.microsoft.com/office/drawing/2014/main" id="{CE369D0D-EEB3-4F69-9F35-087E31C2210F}"/>
              </a:ext>
            </a:extLst>
          </p:cNvPr>
          <p:cNvSpPr/>
          <p:nvPr/>
        </p:nvSpPr>
        <p:spPr>
          <a:xfrm>
            <a:off x="4476255" y="22154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0" name="Oval 129">
            <a:extLst>
              <a:ext uri="{FF2B5EF4-FFF2-40B4-BE49-F238E27FC236}">
                <a16:creationId xmlns:a16="http://schemas.microsoft.com/office/drawing/2014/main" id="{E20FF904-C516-4650-95D8-C3C791436309}"/>
              </a:ext>
            </a:extLst>
          </p:cNvPr>
          <p:cNvSpPr/>
          <p:nvPr/>
        </p:nvSpPr>
        <p:spPr>
          <a:xfrm>
            <a:off x="4628655" y="23678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1" name="Oval 130">
            <a:extLst>
              <a:ext uri="{FF2B5EF4-FFF2-40B4-BE49-F238E27FC236}">
                <a16:creationId xmlns:a16="http://schemas.microsoft.com/office/drawing/2014/main" id="{75F0DBAD-F766-4CD5-B0C1-E422A601846B}"/>
              </a:ext>
            </a:extLst>
          </p:cNvPr>
          <p:cNvSpPr/>
          <p:nvPr/>
        </p:nvSpPr>
        <p:spPr>
          <a:xfrm>
            <a:off x="4781055" y="25202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2" name="Oval 131">
            <a:extLst>
              <a:ext uri="{FF2B5EF4-FFF2-40B4-BE49-F238E27FC236}">
                <a16:creationId xmlns:a16="http://schemas.microsoft.com/office/drawing/2014/main" id="{ABB93EAB-125B-41F5-A4B5-E42447EDC0D9}"/>
              </a:ext>
            </a:extLst>
          </p:cNvPr>
          <p:cNvSpPr/>
          <p:nvPr/>
        </p:nvSpPr>
        <p:spPr>
          <a:xfrm>
            <a:off x="4010740" y="246283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3" name="Oval 132">
            <a:extLst>
              <a:ext uri="{FF2B5EF4-FFF2-40B4-BE49-F238E27FC236}">
                <a16:creationId xmlns:a16="http://schemas.microsoft.com/office/drawing/2014/main" id="{3AF8A026-5FE9-4C1E-8C64-36E5D8D453CA}"/>
              </a:ext>
            </a:extLst>
          </p:cNvPr>
          <p:cNvSpPr/>
          <p:nvPr/>
        </p:nvSpPr>
        <p:spPr>
          <a:xfrm>
            <a:off x="4163140" y="261523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4" name="Oval 133">
            <a:extLst>
              <a:ext uri="{FF2B5EF4-FFF2-40B4-BE49-F238E27FC236}">
                <a16:creationId xmlns:a16="http://schemas.microsoft.com/office/drawing/2014/main" id="{1AB14C69-0246-4395-A766-8790A95C1D96}"/>
              </a:ext>
            </a:extLst>
          </p:cNvPr>
          <p:cNvSpPr/>
          <p:nvPr/>
        </p:nvSpPr>
        <p:spPr>
          <a:xfrm>
            <a:off x="4315540" y="276763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5" name="Oval 134">
            <a:extLst>
              <a:ext uri="{FF2B5EF4-FFF2-40B4-BE49-F238E27FC236}">
                <a16:creationId xmlns:a16="http://schemas.microsoft.com/office/drawing/2014/main" id="{D0FCB924-FA2B-49E7-84A0-DE4A3494D66B}"/>
              </a:ext>
            </a:extLst>
          </p:cNvPr>
          <p:cNvSpPr/>
          <p:nvPr/>
        </p:nvSpPr>
        <p:spPr>
          <a:xfrm>
            <a:off x="4496914" y="224976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6" name="Oval 135">
            <a:extLst>
              <a:ext uri="{FF2B5EF4-FFF2-40B4-BE49-F238E27FC236}">
                <a16:creationId xmlns:a16="http://schemas.microsoft.com/office/drawing/2014/main" id="{1C18F280-113B-4EA8-8C57-FEB12410EE88}"/>
              </a:ext>
            </a:extLst>
          </p:cNvPr>
          <p:cNvSpPr/>
          <p:nvPr/>
        </p:nvSpPr>
        <p:spPr>
          <a:xfrm>
            <a:off x="4649314" y="240216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7" name="Oval 136">
            <a:extLst>
              <a:ext uri="{FF2B5EF4-FFF2-40B4-BE49-F238E27FC236}">
                <a16:creationId xmlns:a16="http://schemas.microsoft.com/office/drawing/2014/main" id="{23688623-0F11-4997-AD78-738345C89833}"/>
              </a:ext>
            </a:extLst>
          </p:cNvPr>
          <p:cNvSpPr/>
          <p:nvPr/>
        </p:nvSpPr>
        <p:spPr>
          <a:xfrm>
            <a:off x="4801714" y="255456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8" name="Oval 137">
            <a:extLst>
              <a:ext uri="{FF2B5EF4-FFF2-40B4-BE49-F238E27FC236}">
                <a16:creationId xmlns:a16="http://schemas.microsoft.com/office/drawing/2014/main" id="{F4F32FC9-6D80-4D9C-980D-557876555C4C}"/>
              </a:ext>
            </a:extLst>
          </p:cNvPr>
          <p:cNvSpPr/>
          <p:nvPr/>
        </p:nvSpPr>
        <p:spPr>
          <a:xfrm>
            <a:off x="4954114" y="270696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9" name="Oval 138">
            <a:extLst>
              <a:ext uri="{FF2B5EF4-FFF2-40B4-BE49-F238E27FC236}">
                <a16:creationId xmlns:a16="http://schemas.microsoft.com/office/drawing/2014/main" id="{2DB8F44F-DA69-4638-B8E3-6F5517AD109B}"/>
              </a:ext>
            </a:extLst>
          </p:cNvPr>
          <p:cNvSpPr/>
          <p:nvPr/>
        </p:nvSpPr>
        <p:spPr>
          <a:xfrm>
            <a:off x="4801713" y="199767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0" name="Oval 139">
            <a:extLst>
              <a:ext uri="{FF2B5EF4-FFF2-40B4-BE49-F238E27FC236}">
                <a16:creationId xmlns:a16="http://schemas.microsoft.com/office/drawing/2014/main" id="{CDB4903C-A423-40F5-9BFD-05B83A2A3326}"/>
              </a:ext>
            </a:extLst>
          </p:cNvPr>
          <p:cNvSpPr/>
          <p:nvPr/>
        </p:nvSpPr>
        <p:spPr>
          <a:xfrm>
            <a:off x="4954113" y="215007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1" name="Oval 140">
            <a:extLst>
              <a:ext uri="{FF2B5EF4-FFF2-40B4-BE49-F238E27FC236}">
                <a16:creationId xmlns:a16="http://schemas.microsoft.com/office/drawing/2014/main" id="{376C7A9B-B7FF-4E61-9733-0274FF1528FB}"/>
              </a:ext>
            </a:extLst>
          </p:cNvPr>
          <p:cNvSpPr/>
          <p:nvPr/>
        </p:nvSpPr>
        <p:spPr>
          <a:xfrm>
            <a:off x="5106513" y="230247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2" name="Oval 141">
            <a:extLst>
              <a:ext uri="{FF2B5EF4-FFF2-40B4-BE49-F238E27FC236}">
                <a16:creationId xmlns:a16="http://schemas.microsoft.com/office/drawing/2014/main" id="{A3CC1881-AA28-4091-952A-257EF1E63A04}"/>
              </a:ext>
            </a:extLst>
          </p:cNvPr>
          <p:cNvSpPr/>
          <p:nvPr/>
        </p:nvSpPr>
        <p:spPr>
          <a:xfrm>
            <a:off x="5258913" y="245487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3" name="Oval 142">
            <a:extLst>
              <a:ext uri="{FF2B5EF4-FFF2-40B4-BE49-F238E27FC236}">
                <a16:creationId xmlns:a16="http://schemas.microsoft.com/office/drawing/2014/main" id="{B49DC7F2-3EF4-4DDA-BDDE-419F13ED1B24}"/>
              </a:ext>
            </a:extLst>
          </p:cNvPr>
          <p:cNvSpPr/>
          <p:nvPr/>
        </p:nvSpPr>
        <p:spPr>
          <a:xfrm>
            <a:off x="5411313" y="260727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4" name="Oval 143">
            <a:extLst>
              <a:ext uri="{FF2B5EF4-FFF2-40B4-BE49-F238E27FC236}">
                <a16:creationId xmlns:a16="http://schemas.microsoft.com/office/drawing/2014/main" id="{F54B984A-76B5-42DE-9A7B-A64AA14EC0FB}"/>
              </a:ext>
            </a:extLst>
          </p:cNvPr>
          <p:cNvSpPr/>
          <p:nvPr/>
        </p:nvSpPr>
        <p:spPr>
          <a:xfrm>
            <a:off x="4996233" y="14942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5" name="Oval 144">
            <a:extLst>
              <a:ext uri="{FF2B5EF4-FFF2-40B4-BE49-F238E27FC236}">
                <a16:creationId xmlns:a16="http://schemas.microsoft.com/office/drawing/2014/main" id="{B1892DC4-F07A-48FE-B465-39B7392D6516}"/>
              </a:ext>
            </a:extLst>
          </p:cNvPr>
          <p:cNvSpPr/>
          <p:nvPr/>
        </p:nvSpPr>
        <p:spPr>
          <a:xfrm>
            <a:off x="5148633" y="16466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6" name="Oval 145">
            <a:extLst>
              <a:ext uri="{FF2B5EF4-FFF2-40B4-BE49-F238E27FC236}">
                <a16:creationId xmlns:a16="http://schemas.microsoft.com/office/drawing/2014/main" id="{F2B411CE-73BA-468E-B444-04A109A2710D}"/>
              </a:ext>
            </a:extLst>
          </p:cNvPr>
          <p:cNvSpPr/>
          <p:nvPr/>
        </p:nvSpPr>
        <p:spPr>
          <a:xfrm>
            <a:off x="5301033" y="17990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7" name="Oval 146">
            <a:extLst>
              <a:ext uri="{FF2B5EF4-FFF2-40B4-BE49-F238E27FC236}">
                <a16:creationId xmlns:a16="http://schemas.microsoft.com/office/drawing/2014/main" id="{C398403F-EA7B-49E6-9D2E-CA1AA7BA13F0}"/>
              </a:ext>
            </a:extLst>
          </p:cNvPr>
          <p:cNvSpPr/>
          <p:nvPr/>
        </p:nvSpPr>
        <p:spPr>
          <a:xfrm>
            <a:off x="5453433" y="19514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8" name="Oval 147">
            <a:extLst>
              <a:ext uri="{FF2B5EF4-FFF2-40B4-BE49-F238E27FC236}">
                <a16:creationId xmlns:a16="http://schemas.microsoft.com/office/drawing/2014/main" id="{0C401491-B150-4543-9C55-3F7AEF198FCA}"/>
              </a:ext>
            </a:extLst>
          </p:cNvPr>
          <p:cNvSpPr/>
          <p:nvPr/>
        </p:nvSpPr>
        <p:spPr>
          <a:xfrm>
            <a:off x="5605833" y="21038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9" name="Oval 148">
            <a:extLst>
              <a:ext uri="{FF2B5EF4-FFF2-40B4-BE49-F238E27FC236}">
                <a16:creationId xmlns:a16="http://schemas.microsoft.com/office/drawing/2014/main" id="{A987265E-F25D-4EC6-86D8-62D4809A9E87}"/>
              </a:ext>
            </a:extLst>
          </p:cNvPr>
          <p:cNvSpPr/>
          <p:nvPr/>
        </p:nvSpPr>
        <p:spPr>
          <a:xfrm>
            <a:off x="5045555" y="18812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0" name="Oval 149">
            <a:extLst>
              <a:ext uri="{FF2B5EF4-FFF2-40B4-BE49-F238E27FC236}">
                <a16:creationId xmlns:a16="http://schemas.microsoft.com/office/drawing/2014/main" id="{47013FC9-F932-404C-9E83-9058DEA9CC83}"/>
              </a:ext>
            </a:extLst>
          </p:cNvPr>
          <p:cNvSpPr/>
          <p:nvPr/>
        </p:nvSpPr>
        <p:spPr>
          <a:xfrm>
            <a:off x="5758233" y="22562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1" name="Oval 150">
            <a:extLst>
              <a:ext uri="{FF2B5EF4-FFF2-40B4-BE49-F238E27FC236}">
                <a16:creationId xmlns:a16="http://schemas.microsoft.com/office/drawing/2014/main" id="{4D210047-8BB5-4CAE-A9EE-A9A6A5BA76BC}"/>
              </a:ext>
            </a:extLst>
          </p:cNvPr>
          <p:cNvSpPr/>
          <p:nvPr/>
        </p:nvSpPr>
        <p:spPr>
          <a:xfrm>
            <a:off x="5910633" y="24086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2" name="Oval 151">
            <a:extLst>
              <a:ext uri="{FF2B5EF4-FFF2-40B4-BE49-F238E27FC236}">
                <a16:creationId xmlns:a16="http://schemas.microsoft.com/office/drawing/2014/main" id="{240118E7-5D1A-4311-8760-81F017F88C6A}"/>
              </a:ext>
            </a:extLst>
          </p:cNvPr>
          <p:cNvSpPr/>
          <p:nvPr/>
        </p:nvSpPr>
        <p:spPr>
          <a:xfrm>
            <a:off x="5158058" y="201857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3" name="Oval 152">
            <a:extLst>
              <a:ext uri="{FF2B5EF4-FFF2-40B4-BE49-F238E27FC236}">
                <a16:creationId xmlns:a16="http://schemas.microsoft.com/office/drawing/2014/main" id="{D25B3E8B-E127-4B65-8355-ADF46CD69159}"/>
              </a:ext>
            </a:extLst>
          </p:cNvPr>
          <p:cNvSpPr/>
          <p:nvPr/>
        </p:nvSpPr>
        <p:spPr>
          <a:xfrm>
            <a:off x="4732440" y="228108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4" name="Oval 153">
            <a:extLst>
              <a:ext uri="{FF2B5EF4-FFF2-40B4-BE49-F238E27FC236}">
                <a16:creationId xmlns:a16="http://schemas.microsoft.com/office/drawing/2014/main" id="{A6438CD7-6AC3-4BC2-AFF3-A67E3CABC22C}"/>
              </a:ext>
            </a:extLst>
          </p:cNvPr>
          <p:cNvSpPr/>
          <p:nvPr/>
        </p:nvSpPr>
        <p:spPr>
          <a:xfrm>
            <a:off x="5350355" y="21860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5" name="Oval 154">
            <a:extLst>
              <a:ext uri="{FF2B5EF4-FFF2-40B4-BE49-F238E27FC236}">
                <a16:creationId xmlns:a16="http://schemas.microsoft.com/office/drawing/2014/main" id="{A929890E-D0F5-4B73-AA7D-885B7E52FA84}"/>
              </a:ext>
            </a:extLst>
          </p:cNvPr>
          <p:cNvSpPr/>
          <p:nvPr/>
        </p:nvSpPr>
        <p:spPr>
          <a:xfrm>
            <a:off x="5502755" y="23384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6" name="Oval 155">
            <a:extLst>
              <a:ext uri="{FF2B5EF4-FFF2-40B4-BE49-F238E27FC236}">
                <a16:creationId xmlns:a16="http://schemas.microsoft.com/office/drawing/2014/main" id="{132CF812-D713-43CB-85C8-821798D86132}"/>
              </a:ext>
            </a:extLst>
          </p:cNvPr>
          <p:cNvSpPr/>
          <p:nvPr/>
        </p:nvSpPr>
        <p:spPr>
          <a:xfrm>
            <a:off x="5655155" y="24908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7" name="Oval 156">
            <a:extLst>
              <a:ext uri="{FF2B5EF4-FFF2-40B4-BE49-F238E27FC236}">
                <a16:creationId xmlns:a16="http://schemas.microsoft.com/office/drawing/2014/main" id="{365456C7-0E14-43E7-BE37-BAD3FE58AB4F}"/>
              </a:ext>
            </a:extLst>
          </p:cNvPr>
          <p:cNvSpPr/>
          <p:nvPr/>
        </p:nvSpPr>
        <p:spPr>
          <a:xfrm>
            <a:off x="4884840" y="243348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8" name="Oval 157">
            <a:extLst>
              <a:ext uri="{FF2B5EF4-FFF2-40B4-BE49-F238E27FC236}">
                <a16:creationId xmlns:a16="http://schemas.microsoft.com/office/drawing/2014/main" id="{0D208D8E-6554-4598-A934-6AFC8EEED7C2}"/>
              </a:ext>
            </a:extLst>
          </p:cNvPr>
          <p:cNvSpPr/>
          <p:nvPr/>
        </p:nvSpPr>
        <p:spPr>
          <a:xfrm>
            <a:off x="5037240" y="258588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9" name="Oval 158">
            <a:extLst>
              <a:ext uri="{FF2B5EF4-FFF2-40B4-BE49-F238E27FC236}">
                <a16:creationId xmlns:a16="http://schemas.microsoft.com/office/drawing/2014/main" id="{C7764121-F9F1-44EF-B97D-2FDD050C278E}"/>
              </a:ext>
            </a:extLst>
          </p:cNvPr>
          <p:cNvSpPr/>
          <p:nvPr/>
        </p:nvSpPr>
        <p:spPr>
          <a:xfrm>
            <a:off x="5189640" y="273828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0" name="Oval 159">
            <a:extLst>
              <a:ext uri="{FF2B5EF4-FFF2-40B4-BE49-F238E27FC236}">
                <a16:creationId xmlns:a16="http://schemas.microsoft.com/office/drawing/2014/main" id="{B39E123B-E0D3-4E6F-938B-29F85069DCF3}"/>
              </a:ext>
            </a:extLst>
          </p:cNvPr>
          <p:cNvSpPr/>
          <p:nvPr/>
        </p:nvSpPr>
        <p:spPr>
          <a:xfrm>
            <a:off x="5436438" y="272998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1" name="Oval 160">
            <a:extLst>
              <a:ext uri="{FF2B5EF4-FFF2-40B4-BE49-F238E27FC236}">
                <a16:creationId xmlns:a16="http://schemas.microsoft.com/office/drawing/2014/main" id="{E5A32F6E-243A-409C-8BC4-CA7487B297D8}"/>
              </a:ext>
            </a:extLst>
          </p:cNvPr>
          <p:cNvSpPr/>
          <p:nvPr/>
        </p:nvSpPr>
        <p:spPr>
          <a:xfrm>
            <a:off x="5588838" y="288238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2" name="Oval 161">
            <a:extLst>
              <a:ext uri="{FF2B5EF4-FFF2-40B4-BE49-F238E27FC236}">
                <a16:creationId xmlns:a16="http://schemas.microsoft.com/office/drawing/2014/main" id="{6F39C052-7C71-4076-A834-C2984DC3B61B}"/>
              </a:ext>
            </a:extLst>
          </p:cNvPr>
          <p:cNvSpPr/>
          <p:nvPr/>
        </p:nvSpPr>
        <p:spPr>
          <a:xfrm>
            <a:off x="5741238" y="303478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3" name="Oval 162">
            <a:extLst>
              <a:ext uri="{FF2B5EF4-FFF2-40B4-BE49-F238E27FC236}">
                <a16:creationId xmlns:a16="http://schemas.microsoft.com/office/drawing/2014/main" id="{7EBF9D9E-D06F-4451-8272-F2A9BC77F675}"/>
              </a:ext>
            </a:extLst>
          </p:cNvPr>
          <p:cNvSpPr/>
          <p:nvPr/>
        </p:nvSpPr>
        <p:spPr>
          <a:xfrm>
            <a:off x="5485760" y="311702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4" name="Oval 163">
            <a:extLst>
              <a:ext uri="{FF2B5EF4-FFF2-40B4-BE49-F238E27FC236}">
                <a16:creationId xmlns:a16="http://schemas.microsoft.com/office/drawing/2014/main" id="{DA87259D-AB5E-45A5-95AD-8629CF08039B}"/>
              </a:ext>
            </a:extLst>
          </p:cNvPr>
          <p:cNvSpPr/>
          <p:nvPr/>
        </p:nvSpPr>
        <p:spPr>
          <a:xfrm>
            <a:off x="5638160" y="326942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5" name="Oval 164">
            <a:extLst>
              <a:ext uri="{FF2B5EF4-FFF2-40B4-BE49-F238E27FC236}">
                <a16:creationId xmlns:a16="http://schemas.microsoft.com/office/drawing/2014/main" id="{E065F0DF-34FE-4406-9123-7691D8C55477}"/>
              </a:ext>
            </a:extLst>
          </p:cNvPr>
          <p:cNvSpPr/>
          <p:nvPr/>
        </p:nvSpPr>
        <p:spPr>
          <a:xfrm>
            <a:off x="5543668" y="32404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6" name="Oval 165">
            <a:extLst>
              <a:ext uri="{FF2B5EF4-FFF2-40B4-BE49-F238E27FC236}">
                <a16:creationId xmlns:a16="http://schemas.microsoft.com/office/drawing/2014/main" id="{09EDB509-7D0A-41C2-826C-ABEE1C103075}"/>
              </a:ext>
            </a:extLst>
          </p:cNvPr>
          <p:cNvSpPr/>
          <p:nvPr/>
        </p:nvSpPr>
        <p:spPr>
          <a:xfrm>
            <a:off x="5696068" y="33928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7" name="Oval 166">
            <a:extLst>
              <a:ext uri="{FF2B5EF4-FFF2-40B4-BE49-F238E27FC236}">
                <a16:creationId xmlns:a16="http://schemas.microsoft.com/office/drawing/2014/main" id="{B70A8E20-E4AA-46FD-8B2A-03F83758700C}"/>
              </a:ext>
            </a:extLst>
          </p:cNvPr>
          <p:cNvSpPr/>
          <p:nvPr/>
        </p:nvSpPr>
        <p:spPr>
          <a:xfrm>
            <a:off x="5696067" y="283591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8" name="Oval 167">
            <a:extLst>
              <a:ext uri="{FF2B5EF4-FFF2-40B4-BE49-F238E27FC236}">
                <a16:creationId xmlns:a16="http://schemas.microsoft.com/office/drawing/2014/main" id="{C15825A4-C35A-4B40-9661-9F948AE2EEF5}"/>
              </a:ext>
            </a:extLst>
          </p:cNvPr>
          <p:cNvSpPr/>
          <p:nvPr/>
        </p:nvSpPr>
        <p:spPr>
          <a:xfrm>
            <a:off x="5626794" y="31193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9" name="Oval 168">
            <a:extLst>
              <a:ext uri="{FF2B5EF4-FFF2-40B4-BE49-F238E27FC236}">
                <a16:creationId xmlns:a16="http://schemas.microsoft.com/office/drawing/2014/main" id="{36174607-672F-4692-B590-1C77CC671910}"/>
              </a:ext>
            </a:extLst>
          </p:cNvPr>
          <p:cNvSpPr/>
          <p:nvPr/>
        </p:nvSpPr>
        <p:spPr>
          <a:xfrm>
            <a:off x="5448626" y="275060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0" name="Oval 169">
            <a:extLst>
              <a:ext uri="{FF2B5EF4-FFF2-40B4-BE49-F238E27FC236}">
                <a16:creationId xmlns:a16="http://schemas.microsoft.com/office/drawing/2014/main" id="{F126B8B3-D136-48AB-8706-BE9A81780908}"/>
              </a:ext>
            </a:extLst>
          </p:cNvPr>
          <p:cNvSpPr/>
          <p:nvPr/>
        </p:nvSpPr>
        <p:spPr>
          <a:xfrm>
            <a:off x="4621889" y="146709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1" name="Oval 170">
            <a:extLst>
              <a:ext uri="{FF2B5EF4-FFF2-40B4-BE49-F238E27FC236}">
                <a16:creationId xmlns:a16="http://schemas.microsoft.com/office/drawing/2014/main" id="{A53CD5A6-D3A2-42F1-AC08-E57B5B25B5EF}"/>
              </a:ext>
            </a:extLst>
          </p:cNvPr>
          <p:cNvSpPr/>
          <p:nvPr/>
        </p:nvSpPr>
        <p:spPr>
          <a:xfrm>
            <a:off x="4774289" y="161949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2" name="Oval 171">
            <a:extLst>
              <a:ext uri="{FF2B5EF4-FFF2-40B4-BE49-F238E27FC236}">
                <a16:creationId xmlns:a16="http://schemas.microsoft.com/office/drawing/2014/main" id="{087B2756-D388-4ACD-BC06-54DFE9638BF7}"/>
              </a:ext>
            </a:extLst>
          </p:cNvPr>
          <p:cNvSpPr/>
          <p:nvPr/>
        </p:nvSpPr>
        <p:spPr>
          <a:xfrm>
            <a:off x="4926689" y="177189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3" name="Oval 172">
            <a:extLst>
              <a:ext uri="{FF2B5EF4-FFF2-40B4-BE49-F238E27FC236}">
                <a16:creationId xmlns:a16="http://schemas.microsoft.com/office/drawing/2014/main" id="{01A8F13D-5496-4B05-B30B-3A585FE081BC}"/>
              </a:ext>
            </a:extLst>
          </p:cNvPr>
          <p:cNvSpPr/>
          <p:nvPr/>
        </p:nvSpPr>
        <p:spPr>
          <a:xfrm>
            <a:off x="4671211" y="185413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4" name="Oval 173">
            <a:extLst>
              <a:ext uri="{FF2B5EF4-FFF2-40B4-BE49-F238E27FC236}">
                <a16:creationId xmlns:a16="http://schemas.microsoft.com/office/drawing/2014/main" id="{E3D8ACB7-3145-499A-9C50-FE79A09114F5}"/>
              </a:ext>
            </a:extLst>
          </p:cNvPr>
          <p:cNvSpPr/>
          <p:nvPr/>
        </p:nvSpPr>
        <p:spPr>
          <a:xfrm>
            <a:off x="4823611" y="200653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5" name="Oval 174">
            <a:extLst>
              <a:ext uri="{FF2B5EF4-FFF2-40B4-BE49-F238E27FC236}">
                <a16:creationId xmlns:a16="http://schemas.microsoft.com/office/drawing/2014/main" id="{8500C648-AB92-473E-9839-6ECCE416F626}"/>
              </a:ext>
            </a:extLst>
          </p:cNvPr>
          <p:cNvSpPr/>
          <p:nvPr/>
        </p:nvSpPr>
        <p:spPr>
          <a:xfrm>
            <a:off x="4729119" y="19775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6" name="Oval 175">
            <a:extLst>
              <a:ext uri="{FF2B5EF4-FFF2-40B4-BE49-F238E27FC236}">
                <a16:creationId xmlns:a16="http://schemas.microsoft.com/office/drawing/2014/main" id="{38D92663-2BC8-4D59-8127-3BBBA40A2BE0}"/>
              </a:ext>
            </a:extLst>
          </p:cNvPr>
          <p:cNvSpPr/>
          <p:nvPr/>
        </p:nvSpPr>
        <p:spPr>
          <a:xfrm>
            <a:off x="4881519" y="21299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7" name="Oval 176">
            <a:extLst>
              <a:ext uri="{FF2B5EF4-FFF2-40B4-BE49-F238E27FC236}">
                <a16:creationId xmlns:a16="http://schemas.microsoft.com/office/drawing/2014/main" id="{578EFEFA-5614-436D-A330-4F8B2D73ECD8}"/>
              </a:ext>
            </a:extLst>
          </p:cNvPr>
          <p:cNvSpPr/>
          <p:nvPr/>
        </p:nvSpPr>
        <p:spPr>
          <a:xfrm>
            <a:off x="4881518" y="157302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8" name="Oval 177">
            <a:extLst>
              <a:ext uri="{FF2B5EF4-FFF2-40B4-BE49-F238E27FC236}">
                <a16:creationId xmlns:a16="http://schemas.microsoft.com/office/drawing/2014/main" id="{421D6E2F-EED3-4CA8-B212-01E4FEDEA017}"/>
              </a:ext>
            </a:extLst>
          </p:cNvPr>
          <p:cNvSpPr/>
          <p:nvPr/>
        </p:nvSpPr>
        <p:spPr>
          <a:xfrm>
            <a:off x="4812245" y="185643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9" name="Oval 178">
            <a:extLst>
              <a:ext uri="{FF2B5EF4-FFF2-40B4-BE49-F238E27FC236}">
                <a16:creationId xmlns:a16="http://schemas.microsoft.com/office/drawing/2014/main" id="{D78010AC-8D0B-4100-B9D4-B5786AF331A6}"/>
              </a:ext>
            </a:extLst>
          </p:cNvPr>
          <p:cNvSpPr/>
          <p:nvPr/>
        </p:nvSpPr>
        <p:spPr>
          <a:xfrm>
            <a:off x="4634077" y="148771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0" name="Oval 179">
            <a:extLst>
              <a:ext uri="{FF2B5EF4-FFF2-40B4-BE49-F238E27FC236}">
                <a16:creationId xmlns:a16="http://schemas.microsoft.com/office/drawing/2014/main" id="{6EA4BD1A-DB21-4008-A6CA-CE3AFA97B4DC}"/>
              </a:ext>
            </a:extLst>
          </p:cNvPr>
          <p:cNvSpPr/>
          <p:nvPr/>
        </p:nvSpPr>
        <p:spPr>
          <a:xfrm>
            <a:off x="3443227" y="252788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1" name="Oval 180">
            <a:extLst>
              <a:ext uri="{FF2B5EF4-FFF2-40B4-BE49-F238E27FC236}">
                <a16:creationId xmlns:a16="http://schemas.microsoft.com/office/drawing/2014/main" id="{CD13E8E8-191E-441B-A344-E625AF693C09}"/>
              </a:ext>
            </a:extLst>
          </p:cNvPr>
          <p:cNvSpPr/>
          <p:nvPr/>
        </p:nvSpPr>
        <p:spPr>
          <a:xfrm>
            <a:off x="3595627" y="268028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2" name="Oval 181">
            <a:extLst>
              <a:ext uri="{FF2B5EF4-FFF2-40B4-BE49-F238E27FC236}">
                <a16:creationId xmlns:a16="http://schemas.microsoft.com/office/drawing/2014/main" id="{C9D79743-C66A-4CA3-B152-95730EAD211F}"/>
              </a:ext>
            </a:extLst>
          </p:cNvPr>
          <p:cNvSpPr/>
          <p:nvPr/>
        </p:nvSpPr>
        <p:spPr>
          <a:xfrm>
            <a:off x="3748027" y="283268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3" name="Oval 182">
            <a:extLst>
              <a:ext uri="{FF2B5EF4-FFF2-40B4-BE49-F238E27FC236}">
                <a16:creationId xmlns:a16="http://schemas.microsoft.com/office/drawing/2014/main" id="{E51B3BD4-01B8-40EA-99C0-384134798EC5}"/>
              </a:ext>
            </a:extLst>
          </p:cNvPr>
          <p:cNvSpPr/>
          <p:nvPr/>
        </p:nvSpPr>
        <p:spPr>
          <a:xfrm>
            <a:off x="3492549" y="291492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4" name="Oval 183">
            <a:extLst>
              <a:ext uri="{FF2B5EF4-FFF2-40B4-BE49-F238E27FC236}">
                <a16:creationId xmlns:a16="http://schemas.microsoft.com/office/drawing/2014/main" id="{8FA410E5-EA5E-4CD7-9428-22E8BF49EFBE}"/>
              </a:ext>
            </a:extLst>
          </p:cNvPr>
          <p:cNvSpPr/>
          <p:nvPr/>
        </p:nvSpPr>
        <p:spPr>
          <a:xfrm>
            <a:off x="3644949" y="306732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5" name="Oval 184">
            <a:extLst>
              <a:ext uri="{FF2B5EF4-FFF2-40B4-BE49-F238E27FC236}">
                <a16:creationId xmlns:a16="http://schemas.microsoft.com/office/drawing/2014/main" id="{E09C205D-18F2-4882-8625-88510522E5CF}"/>
              </a:ext>
            </a:extLst>
          </p:cNvPr>
          <p:cNvSpPr/>
          <p:nvPr/>
        </p:nvSpPr>
        <p:spPr>
          <a:xfrm>
            <a:off x="3550457" y="303830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6" name="Oval 185">
            <a:extLst>
              <a:ext uri="{FF2B5EF4-FFF2-40B4-BE49-F238E27FC236}">
                <a16:creationId xmlns:a16="http://schemas.microsoft.com/office/drawing/2014/main" id="{AEC08FAF-7FCC-4F44-B950-A3FBDB758C1F}"/>
              </a:ext>
            </a:extLst>
          </p:cNvPr>
          <p:cNvSpPr/>
          <p:nvPr/>
        </p:nvSpPr>
        <p:spPr>
          <a:xfrm>
            <a:off x="3702857" y="319070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7" name="Oval 186">
            <a:extLst>
              <a:ext uri="{FF2B5EF4-FFF2-40B4-BE49-F238E27FC236}">
                <a16:creationId xmlns:a16="http://schemas.microsoft.com/office/drawing/2014/main" id="{6E16B796-F4C0-40C3-9E15-F51FE5EFC32F}"/>
              </a:ext>
            </a:extLst>
          </p:cNvPr>
          <p:cNvSpPr/>
          <p:nvPr/>
        </p:nvSpPr>
        <p:spPr>
          <a:xfrm>
            <a:off x="3702856" y="263381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8" name="Oval 187">
            <a:extLst>
              <a:ext uri="{FF2B5EF4-FFF2-40B4-BE49-F238E27FC236}">
                <a16:creationId xmlns:a16="http://schemas.microsoft.com/office/drawing/2014/main" id="{0CB5A02B-2BB6-4129-8DA0-28B969C0184C}"/>
              </a:ext>
            </a:extLst>
          </p:cNvPr>
          <p:cNvSpPr/>
          <p:nvPr/>
        </p:nvSpPr>
        <p:spPr>
          <a:xfrm>
            <a:off x="3633583" y="291721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9" name="Oval 188">
            <a:extLst>
              <a:ext uri="{FF2B5EF4-FFF2-40B4-BE49-F238E27FC236}">
                <a16:creationId xmlns:a16="http://schemas.microsoft.com/office/drawing/2014/main" id="{7817E124-F052-4883-B014-740D35E27904}"/>
              </a:ext>
            </a:extLst>
          </p:cNvPr>
          <p:cNvSpPr/>
          <p:nvPr/>
        </p:nvSpPr>
        <p:spPr>
          <a:xfrm>
            <a:off x="3455415" y="254850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0" name="Oval 189">
            <a:extLst>
              <a:ext uri="{FF2B5EF4-FFF2-40B4-BE49-F238E27FC236}">
                <a16:creationId xmlns:a16="http://schemas.microsoft.com/office/drawing/2014/main" id="{B5CFDC9C-26FF-4DF3-AF06-059087D9E49F}"/>
              </a:ext>
            </a:extLst>
          </p:cNvPr>
          <p:cNvSpPr/>
          <p:nvPr/>
        </p:nvSpPr>
        <p:spPr>
          <a:xfrm>
            <a:off x="5053449" y="1358512"/>
            <a:ext cx="121915" cy="1147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1" name="Oval 190">
            <a:extLst>
              <a:ext uri="{FF2B5EF4-FFF2-40B4-BE49-F238E27FC236}">
                <a16:creationId xmlns:a16="http://schemas.microsoft.com/office/drawing/2014/main" id="{012AEBE2-9F85-40FF-9691-0559BFA40A76}"/>
              </a:ext>
            </a:extLst>
          </p:cNvPr>
          <p:cNvSpPr/>
          <p:nvPr/>
        </p:nvSpPr>
        <p:spPr>
          <a:xfrm>
            <a:off x="5205849" y="15109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2" name="Oval 191">
            <a:extLst>
              <a:ext uri="{FF2B5EF4-FFF2-40B4-BE49-F238E27FC236}">
                <a16:creationId xmlns:a16="http://schemas.microsoft.com/office/drawing/2014/main" id="{B5445896-20BB-43B5-8D20-36BB2610C00A}"/>
              </a:ext>
            </a:extLst>
          </p:cNvPr>
          <p:cNvSpPr/>
          <p:nvPr/>
        </p:nvSpPr>
        <p:spPr>
          <a:xfrm>
            <a:off x="5358249" y="16633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3" name="Oval 192">
            <a:extLst>
              <a:ext uri="{FF2B5EF4-FFF2-40B4-BE49-F238E27FC236}">
                <a16:creationId xmlns:a16="http://schemas.microsoft.com/office/drawing/2014/main" id="{BA70BCE7-1E1D-4393-B747-9B94498E5D2D}"/>
              </a:ext>
            </a:extLst>
          </p:cNvPr>
          <p:cNvSpPr/>
          <p:nvPr/>
        </p:nvSpPr>
        <p:spPr>
          <a:xfrm>
            <a:off x="5102771" y="174555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4" name="Oval 193">
            <a:extLst>
              <a:ext uri="{FF2B5EF4-FFF2-40B4-BE49-F238E27FC236}">
                <a16:creationId xmlns:a16="http://schemas.microsoft.com/office/drawing/2014/main" id="{275F7630-5E75-423A-A8F7-2B2AAF68C3AC}"/>
              </a:ext>
            </a:extLst>
          </p:cNvPr>
          <p:cNvSpPr/>
          <p:nvPr/>
        </p:nvSpPr>
        <p:spPr>
          <a:xfrm>
            <a:off x="5255171" y="189795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5" name="Oval 194">
            <a:extLst>
              <a:ext uri="{FF2B5EF4-FFF2-40B4-BE49-F238E27FC236}">
                <a16:creationId xmlns:a16="http://schemas.microsoft.com/office/drawing/2014/main" id="{1898D637-6643-47BB-B351-E692F093CB95}"/>
              </a:ext>
            </a:extLst>
          </p:cNvPr>
          <p:cNvSpPr/>
          <p:nvPr/>
        </p:nvSpPr>
        <p:spPr>
          <a:xfrm>
            <a:off x="5160679" y="186893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6" name="Oval 195">
            <a:extLst>
              <a:ext uri="{FF2B5EF4-FFF2-40B4-BE49-F238E27FC236}">
                <a16:creationId xmlns:a16="http://schemas.microsoft.com/office/drawing/2014/main" id="{87EC364F-FAF4-4932-900B-42D2DDE7BF2B}"/>
              </a:ext>
            </a:extLst>
          </p:cNvPr>
          <p:cNvSpPr/>
          <p:nvPr/>
        </p:nvSpPr>
        <p:spPr>
          <a:xfrm>
            <a:off x="5313079" y="202133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7" name="Oval 196">
            <a:extLst>
              <a:ext uri="{FF2B5EF4-FFF2-40B4-BE49-F238E27FC236}">
                <a16:creationId xmlns:a16="http://schemas.microsoft.com/office/drawing/2014/main" id="{A15BF5D3-4FB9-4444-A0A9-871759FC6B17}"/>
              </a:ext>
            </a:extLst>
          </p:cNvPr>
          <p:cNvSpPr/>
          <p:nvPr/>
        </p:nvSpPr>
        <p:spPr>
          <a:xfrm>
            <a:off x="5313078" y="146444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8" name="Oval 197">
            <a:extLst>
              <a:ext uri="{FF2B5EF4-FFF2-40B4-BE49-F238E27FC236}">
                <a16:creationId xmlns:a16="http://schemas.microsoft.com/office/drawing/2014/main" id="{A378F3BA-F20F-4266-9732-3393A25BEC07}"/>
              </a:ext>
            </a:extLst>
          </p:cNvPr>
          <p:cNvSpPr/>
          <p:nvPr/>
        </p:nvSpPr>
        <p:spPr>
          <a:xfrm>
            <a:off x="5243805" y="174785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9" name="Oval 198">
            <a:extLst>
              <a:ext uri="{FF2B5EF4-FFF2-40B4-BE49-F238E27FC236}">
                <a16:creationId xmlns:a16="http://schemas.microsoft.com/office/drawing/2014/main" id="{A1B110F7-1255-41EF-A803-E583A2E23C51}"/>
              </a:ext>
            </a:extLst>
          </p:cNvPr>
          <p:cNvSpPr/>
          <p:nvPr/>
        </p:nvSpPr>
        <p:spPr>
          <a:xfrm>
            <a:off x="5065637" y="137913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200" name="Oval 199">
            <a:extLst>
              <a:ext uri="{FF2B5EF4-FFF2-40B4-BE49-F238E27FC236}">
                <a16:creationId xmlns:a16="http://schemas.microsoft.com/office/drawing/2014/main" id="{A56A40AF-4CA0-4C64-A503-2256BD559907}"/>
              </a:ext>
            </a:extLst>
          </p:cNvPr>
          <p:cNvSpPr/>
          <p:nvPr/>
        </p:nvSpPr>
        <p:spPr>
          <a:xfrm>
            <a:off x="5415931" y="24725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1" name="Oval 200">
            <a:extLst>
              <a:ext uri="{FF2B5EF4-FFF2-40B4-BE49-F238E27FC236}">
                <a16:creationId xmlns:a16="http://schemas.microsoft.com/office/drawing/2014/main" id="{9B8BD9DA-920D-4BF8-94F6-D81D8FE2B248}"/>
              </a:ext>
            </a:extLst>
          </p:cNvPr>
          <p:cNvSpPr/>
          <p:nvPr/>
        </p:nvSpPr>
        <p:spPr>
          <a:xfrm>
            <a:off x="5568331" y="26249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2" name="Oval 201">
            <a:extLst>
              <a:ext uri="{FF2B5EF4-FFF2-40B4-BE49-F238E27FC236}">
                <a16:creationId xmlns:a16="http://schemas.microsoft.com/office/drawing/2014/main" id="{56598737-0D03-4049-A990-57C369580CFE}"/>
              </a:ext>
            </a:extLst>
          </p:cNvPr>
          <p:cNvSpPr/>
          <p:nvPr/>
        </p:nvSpPr>
        <p:spPr>
          <a:xfrm>
            <a:off x="5720731" y="27773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3" name="Oval 202">
            <a:extLst>
              <a:ext uri="{FF2B5EF4-FFF2-40B4-BE49-F238E27FC236}">
                <a16:creationId xmlns:a16="http://schemas.microsoft.com/office/drawing/2014/main" id="{F2465002-3643-493A-8F1C-20990BD52961}"/>
              </a:ext>
            </a:extLst>
          </p:cNvPr>
          <p:cNvSpPr/>
          <p:nvPr/>
        </p:nvSpPr>
        <p:spPr>
          <a:xfrm>
            <a:off x="5465253" y="285956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4" name="Oval 203">
            <a:extLst>
              <a:ext uri="{FF2B5EF4-FFF2-40B4-BE49-F238E27FC236}">
                <a16:creationId xmlns:a16="http://schemas.microsoft.com/office/drawing/2014/main" id="{33633074-11FD-4120-9F13-E98F2A91F79B}"/>
              </a:ext>
            </a:extLst>
          </p:cNvPr>
          <p:cNvSpPr/>
          <p:nvPr/>
        </p:nvSpPr>
        <p:spPr>
          <a:xfrm>
            <a:off x="5617653" y="301196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5" name="Oval 204">
            <a:extLst>
              <a:ext uri="{FF2B5EF4-FFF2-40B4-BE49-F238E27FC236}">
                <a16:creationId xmlns:a16="http://schemas.microsoft.com/office/drawing/2014/main" id="{52825867-79C1-4FA1-84F5-016F1B6A5085}"/>
              </a:ext>
            </a:extLst>
          </p:cNvPr>
          <p:cNvSpPr/>
          <p:nvPr/>
        </p:nvSpPr>
        <p:spPr>
          <a:xfrm>
            <a:off x="5523161" y="298294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6" name="Oval 205">
            <a:extLst>
              <a:ext uri="{FF2B5EF4-FFF2-40B4-BE49-F238E27FC236}">
                <a16:creationId xmlns:a16="http://schemas.microsoft.com/office/drawing/2014/main" id="{C075C1BE-1442-4EF1-A8B4-A089A314C062}"/>
              </a:ext>
            </a:extLst>
          </p:cNvPr>
          <p:cNvSpPr/>
          <p:nvPr/>
        </p:nvSpPr>
        <p:spPr>
          <a:xfrm>
            <a:off x="5675561" y="313534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7" name="Oval 206">
            <a:extLst>
              <a:ext uri="{FF2B5EF4-FFF2-40B4-BE49-F238E27FC236}">
                <a16:creationId xmlns:a16="http://schemas.microsoft.com/office/drawing/2014/main" id="{B6E737C8-AD9F-43C6-B7FC-FCC94789D078}"/>
              </a:ext>
            </a:extLst>
          </p:cNvPr>
          <p:cNvSpPr/>
          <p:nvPr/>
        </p:nvSpPr>
        <p:spPr>
          <a:xfrm>
            <a:off x="5675560" y="257845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8" name="Oval 207">
            <a:extLst>
              <a:ext uri="{FF2B5EF4-FFF2-40B4-BE49-F238E27FC236}">
                <a16:creationId xmlns:a16="http://schemas.microsoft.com/office/drawing/2014/main" id="{D890054B-4F86-49DB-9FCD-B25BB605135C}"/>
              </a:ext>
            </a:extLst>
          </p:cNvPr>
          <p:cNvSpPr/>
          <p:nvPr/>
        </p:nvSpPr>
        <p:spPr>
          <a:xfrm>
            <a:off x="5606287" y="28618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9" name="Oval 208">
            <a:extLst>
              <a:ext uri="{FF2B5EF4-FFF2-40B4-BE49-F238E27FC236}">
                <a16:creationId xmlns:a16="http://schemas.microsoft.com/office/drawing/2014/main" id="{7CF6116E-3DE6-475E-8DBB-E8B1D784F7F8}"/>
              </a:ext>
            </a:extLst>
          </p:cNvPr>
          <p:cNvSpPr/>
          <p:nvPr/>
        </p:nvSpPr>
        <p:spPr>
          <a:xfrm>
            <a:off x="5428119" y="249314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3" name="Right Brace 212">
            <a:extLst>
              <a:ext uri="{FF2B5EF4-FFF2-40B4-BE49-F238E27FC236}">
                <a16:creationId xmlns:a16="http://schemas.microsoft.com/office/drawing/2014/main" id="{561B704C-38D3-48FC-8B49-70C2F8E4719A}"/>
              </a:ext>
            </a:extLst>
          </p:cNvPr>
          <p:cNvSpPr/>
          <p:nvPr/>
        </p:nvSpPr>
        <p:spPr>
          <a:xfrm>
            <a:off x="6720840" y="777240"/>
            <a:ext cx="897869" cy="5632694"/>
          </a:xfrm>
          <a:prstGeom prst="righ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214" name="TextBox 213">
                <a:extLst>
                  <a:ext uri="{FF2B5EF4-FFF2-40B4-BE49-F238E27FC236}">
                    <a16:creationId xmlns:a16="http://schemas.microsoft.com/office/drawing/2014/main" id="{5AFF07E4-5EE4-49E8-8495-0FC7AEBDC648}"/>
                  </a:ext>
                </a:extLst>
              </p:cNvPr>
              <p:cNvSpPr txBox="1"/>
              <p:nvPr/>
            </p:nvSpPr>
            <p:spPr>
              <a:xfrm>
                <a:off x="9061329" y="2446581"/>
                <a:ext cx="965072"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214" name="TextBox 213">
                <a:extLst>
                  <a:ext uri="{FF2B5EF4-FFF2-40B4-BE49-F238E27FC236}">
                    <a16:creationId xmlns:a16="http://schemas.microsoft.com/office/drawing/2014/main" id="{5AFF07E4-5EE4-49E8-8495-0FC7AEBDC648}"/>
                  </a:ext>
                </a:extLst>
              </p:cNvPr>
              <p:cNvSpPr txBox="1">
                <a:spLocks noRot="1" noChangeAspect="1" noMove="1" noResize="1" noEditPoints="1" noAdjustHandles="1" noChangeArrowheads="1" noChangeShapeType="1" noTextEdit="1"/>
              </p:cNvSpPr>
              <p:nvPr/>
            </p:nvSpPr>
            <p:spPr>
              <a:xfrm>
                <a:off x="9061329" y="2446581"/>
                <a:ext cx="965072" cy="369332"/>
              </a:xfrm>
              <a:prstGeom prst="rect">
                <a:avLst/>
              </a:prstGeom>
              <a:blipFill>
                <a:blip r:embed="rId6"/>
                <a:stretch>
                  <a:fillRect/>
                </a:stretch>
              </a:blipFill>
            </p:spPr>
            <p:txBody>
              <a:bodyPr/>
              <a:lstStyle/>
              <a:p>
                <a:r>
                  <a:rPr lang="en-CA">
                    <a:noFill/>
                  </a:rPr>
                  <a:t> </a:t>
                </a:r>
              </a:p>
            </p:txBody>
          </p:sp>
        </mc:Fallback>
      </mc:AlternateContent>
      <p:cxnSp>
        <p:nvCxnSpPr>
          <p:cNvPr id="217" name="Straight Connector 216">
            <a:extLst>
              <a:ext uri="{FF2B5EF4-FFF2-40B4-BE49-F238E27FC236}">
                <a16:creationId xmlns:a16="http://schemas.microsoft.com/office/drawing/2014/main" id="{821F0CF7-903E-4FA7-9750-11AD3E8E4D0C}"/>
              </a:ext>
            </a:extLst>
          </p:cNvPr>
          <p:cNvCxnSpPr>
            <a:cxnSpLocks/>
          </p:cNvCxnSpPr>
          <p:nvPr/>
        </p:nvCxnSpPr>
        <p:spPr>
          <a:xfrm flipH="1" flipV="1">
            <a:off x="7824008" y="2381305"/>
            <a:ext cx="3601830" cy="43880"/>
          </a:xfrm>
          <a:prstGeom prst="line">
            <a:avLst/>
          </a:prstGeom>
          <a:ln w="57150"/>
        </p:spPr>
        <p:style>
          <a:lnRef idx="1">
            <a:schemeClr val="dk1"/>
          </a:lnRef>
          <a:fillRef idx="0">
            <a:schemeClr val="dk1"/>
          </a:fillRef>
          <a:effectRef idx="0">
            <a:schemeClr val="dk1"/>
          </a:effectRef>
          <a:fontRef idx="minor">
            <a:schemeClr val="tx1"/>
          </a:fontRef>
        </p:style>
      </p:cxnSp>
      <p:cxnSp>
        <p:nvCxnSpPr>
          <p:cNvPr id="221" name="Straight Connector 220">
            <a:extLst>
              <a:ext uri="{FF2B5EF4-FFF2-40B4-BE49-F238E27FC236}">
                <a16:creationId xmlns:a16="http://schemas.microsoft.com/office/drawing/2014/main" id="{0239FA8B-79C9-4AB2-B3AF-BF31E1CCE44D}"/>
              </a:ext>
            </a:extLst>
          </p:cNvPr>
          <p:cNvCxnSpPr>
            <a:cxnSpLocks/>
          </p:cNvCxnSpPr>
          <p:nvPr/>
        </p:nvCxnSpPr>
        <p:spPr>
          <a:xfrm flipH="1" flipV="1">
            <a:off x="7824008" y="5185465"/>
            <a:ext cx="3601830" cy="43880"/>
          </a:xfrm>
          <a:prstGeom prst="line">
            <a:avLst/>
          </a:prstGeom>
          <a:ln w="571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2" name="TextBox 221">
                <a:extLst>
                  <a:ext uri="{FF2B5EF4-FFF2-40B4-BE49-F238E27FC236}">
                    <a16:creationId xmlns:a16="http://schemas.microsoft.com/office/drawing/2014/main" id="{7751DB6F-882D-4125-BE8C-3AB1DBB45ED9}"/>
                  </a:ext>
                </a:extLst>
              </p:cNvPr>
              <p:cNvSpPr txBox="1"/>
              <p:nvPr/>
            </p:nvSpPr>
            <p:spPr>
              <a:xfrm>
                <a:off x="9164185" y="5232569"/>
                <a:ext cx="950132" cy="369332"/>
              </a:xfrm>
              <a:prstGeom prst="rect">
                <a:avLst/>
              </a:prstGeom>
              <a:noFill/>
            </p:spPr>
            <p:txBody>
              <a:bodyPr wrap="square" rtlCol="0">
                <a:spAutoFit/>
              </a:bodyPr>
              <a:lstStyle/>
              <a:p>
                <a:pPr/>
                <a14:m>
                  <m:oMathPara xmlns:m="http://schemas.openxmlformats.org/officeDocument/2006/math">
                    <m:oMath>
                      <m:r>
                        <m:rPr>
                          <m:sty m:val="p"/>
                        </m:rPr>
                        <a:rPr lang="en-CA" b="0" i="0" smtClean="0">
                          <a:latin typeface="Cambria Math" panose="02040503050406030204" pitchFamily="18" charset="0"/>
                        </a:rPr>
                        <m:t>ΔE</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222" name="TextBox 221">
                <a:extLst>
                  <a:ext uri="{FF2B5EF4-FFF2-40B4-BE49-F238E27FC236}">
                    <a16:creationId xmlns:a16="http://schemas.microsoft.com/office/drawing/2014/main" id="{7751DB6F-882D-4125-BE8C-3AB1DBB45ED9}"/>
                  </a:ext>
                </a:extLst>
              </p:cNvPr>
              <p:cNvSpPr txBox="1">
                <a:spLocks noRot="1" noChangeAspect="1" noMove="1" noResize="1" noEditPoints="1" noAdjustHandles="1" noChangeArrowheads="1" noChangeShapeType="1" noTextEdit="1"/>
              </p:cNvSpPr>
              <p:nvPr/>
            </p:nvSpPr>
            <p:spPr>
              <a:xfrm>
                <a:off x="9164185" y="5232569"/>
                <a:ext cx="950132" cy="369332"/>
              </a:xfrm>
              <a:prstGeom prst="rect">
                <a:avLst/>
              </a:prstGeom>
              <a:blipFill>
                <a:blip r:embed="rId7"/>
                <a:stretch>
                  <a:fillRect/>
                </a:stretch>
              </a:blipFill>
            </p:spPr>
            <p:txBody>
              <a:bodyPr/>
              <a:lstStyle/>
              <a:p>
                <a:r>
                  <a:rPr lang="en-CA">
                    <a:noFill/>
                  </a:rPr>
                  <a:t> </a:t>
                </a:r>
              </a:p>
            </p:txBody>
          </p:sp>
        </mc:Fallback>
      </mc:AlternateContent>
      <p:sp>
        <p:nvSpPr>
          <p:cNvPr id="232" name="Freeform: Shape 231">
            <a:extLst>
              <a:ext uri="{FF2B5EF4-FFF2-40B4-BE49-F238E27FC236}">
                <a16:creationId xmlns:a16="http://schemas.microsoft.com/office/drawing/2014/main" id="{3FF52A3B-98F6-4496-A6E1-36D9CF59B88F}"/>
              </a:ext>
            </a:extLst>
          </p:cNvPr>
          <p:cNvSpPr/>
          <p:nvPr/>
        </p:nvSpPr>
        <p:spPr>
          <a:xfrm>
            <a:off x="7913285" y="985993"/>
            <a:ext cx="3428990" cy="1336717"/>
          </a:xfrm>
          <a:custGeom>
            <a:avLst/>
            <a:gdLst>
              <a:gd name="connsiteX0" fmla="*/ 0 w 4014216"/>
              <a:gd name="connsiteY0" fmla="*/ 1709947 h 1709947"/>
              <a:gd name="connsiteX1" fmla="*/ 1143000 w 4014216"/>
              <a:gd name="connsiteY1" fmla="*/ 1106443 h 1709947"/>
              <a:gd name="connsiteX2" fmla="*/ 1993392 w 4014216"/>
              <a:gd name="connsiteY2" fmla="*/ 19 h 1709947"/>
              <a:gd name="connsiteX3" fmla="*/ 2807208 w 4014216"/>
              <a:gd name="connsiteY3" fmla="*/ 1079011 h 1709947"/>
              <a:gd name="connsiteX4" fmla="*/ 4014216 w 4014216"/>
              <a:gd name="connsiteY4" fmla="*/ 1709947 h 17099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4216" h="1709947">
                <a:moveTo>
                  <a:pt x="0" y="1709947"/>
                </a:moveTo>
                <a:cubicBezTo>
                  <a:pt x="405384" y="1550689"/>
                  <a:pt x="810768" y="1391431"/>
                  <a:pt x="1143000" y="1106443"/>
                </a:cubicBezTo>
                <a:cubicBezTo>
                  <a:pt x="1475232" y="821455"/>
                  <a:pt x="1716024" y="4591"/>
                  <a:pt x="1993392" y="19"/>
                </a:cubicBezTo>
                <a:cubicBezTo>
                  <a:pt x="2270760" y="-4553"/>
                  <a:pt x="2470404" y="794023"/>
                  <a:pt x="2807208" y="1079011"/>
                </a:cubicBezTo>
                <a:cubicBezTo>
                  <a:pt x="3144012" y="1363999"/>
                  <a:pt x="3579114" y="1536973"/>
                  <a:pt x="4014216" y="1709947"/>
                </a:cubicBezTo>
              </a:path>
            </a:pathLst>
          </a:cu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3" name="Freeform: Shape 232">
            <a:extLst>
              <a:ext uri="{FF2B5EF4-FFF2-40B4-BE49-F238E27FC236}">
                <a16:creationId xmlns:a16="http://schemas.microsoft.com/office/drawing/2014/main" id="{6DB20B2A-C27A-4777-984E-A320A7721199}"/>
              </a:ext>
            </a:extLst>
          </p:cNvPr>
          <p:cNvSpPr/>
          <p:nvPr/>
        </p:nvSpPr>
        <p:spPr>
          <a:xfrm>
            <a:off x="7924756" y="3852788"/>
            <a:ext cx="3428990" cy="1336717"/>
          </a:xfrm>
          <a:custGeom>
            <a:avLst/>
            <a:gdLst>
              <a:gd name="connsiteX0" fmla="*/ 0 w 4014216"/>
              <a:gd name="connsiteY0" fmla="*/ 1709947 h 1709947"/>
              <a:gd name="connsiteX1" fmla="*/ 1143000 w 4014216"/>
              <a:gd name="connsiteY1" fmla="*/ 1106443 h 1709947"/>
              <a:gd name="connsiteX2" fmla="*/ 1993392 w 4014216"/>
              <a:gd name="connsiteY2" fmla="*/ 19 h 1709947"/>
              <a:gd name="connsiteX3" fmla="*/ 2807208 w 4014216"/>
              <a:gd name="connsiteY3" fmla="*/ 1079011 h 1709947"/>
              <a:gd name="connsiteX4" fmla="*/ 4014216 w 4014216"/>
              <a:gd name="connsiteY4" fmla="*/ 1709947 h 17099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4216" h="1709947">
                <a:moveTo>
                  <a:pt x="0" y="1709947"/>
                </a:moveTo>
                <a:cubicBezTo>
                  <a:pt x="405384" y="1550689"/>
                  <a:pt x="810768" y="1391431"/>
                  <a:pt x="1143000" y="1106443"/>
                </a:cubicBezTo>
                <a:cubicBezTo>
                  <a:pt x="1475232" y="821455"/>
                  <a:pt x="1716024" y="4591"/>
                  <a:pt x="1993392" y="19"/>
                </a:cubicBezTo>
                <a:cubicBezTo>
                  <a:pt x="2270760" y="-4553"/>
                  <a:pt x="2470404" y="794023"/>
                  <a:pt x="2807208" y="1079011"/>
                </a:cubicBezTo>
                <a:cubicBezTo>
                  <a:pt x="3144012" y="1363999"/>
                  <a:pt x="3579114" y="1536973"/>
                  <a:pt x="4014216" y="1709947"/>
                </a:cubicBezTo>
              </a:path>
            </a:pathLst>
          </a:cu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10142998"/>
      </p:ext>
    </p:extLst>
  </p:cSld>
  <p:clrMapOvr>
    <a:masterClrMapping/>
  </p:clrMapOvr>
  <mc:AlternateContent xmlns:mc="http://schemas.openxmlformats.org/markup-compatibility/2006" xmlns:p14="http://schemas.microsoft.com/office/powerpoint/2010/main">
    <mc:Choice Requires="p14">
      <p:transition spd="slow" p14:dur="2000" advTm="42850"/>
    </mc:Choice>
    <mc:Fallback xmlns="">
      <p:transition spd="slow" advTm="4285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EE43C-91CD-4062-B04C-4FC9E11291E2}"/>
              </a:ext>
            </a:extLst>
          </p:cNvPr>
          <p:cNvSpPr>
            <a:spLocks noGrp="1"/>
          </p:cNvSpPr>
          <p:nvPr>
            <p:ph type="title"/>
          </p:nvPr>
        </p:nvSpPr>
        <p:spPr>
          <a:xfrm>
            <a:off x="249110" y="-166587"/>
            <a:ext cx="10515600" cy="1325563"/>
          </a:xfrm>
        </p:spPr>
        <p:txBody>
          <a:bodyPr>
            <a:normAutofit fontScale="90000"/>
          </a:bodyPr>
          <a:lstStyle/>
          <a:p>
            <a:r>
              <a:rPr lang="en-CA" dirty="0"/>
              <a:t>What we can do with Paulden’s Approach</a:t>
            </a:r>
          </a:p>
        </p:txBody>
      </p:sp>
      <p:cxnSp>
        <p:nvCxnSpPr>
          <p:cNvPr id="4" name="Straight Connector 3">
            <a:extLst>
              <a:ext uri="{FF2B5EF4-FFF2-40B4-BE49-F238E27FC236}">
                <a16:creationId xmlns:a16="http://schemas.microsoft.com/office/drawing/2014/main" id="{AEAE1ED5-BCCF-4267-A533-98176CA2B554}"/>
              </a:ext>
            </a:extLst>
          </p:cNvPr>
          <p:cNvCxnSpPr>
            <a:cxnSpLocks/>
          </p:cNvCxnSpPr>
          <p:nvPr/>
        </p:nvCxnSpPr>
        <p:spPr>
          <a:xfrm>
            <a:off x="3356402" y="1069479"/>
            <a:ext cx="0" cy="5116945"/>
          </a:xfrm>
          <a:prstGeom prst="line">
            <a:avLst/>
          </a:prstGeom>
          <a:ln w="57150"/>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F4F0CB70-812D-49DD-848E-C2BBB2DAA55D}"/>
              </a:ext>
            </a:extLst>
          </p:cNvPr>
          <p:cNvCxnSpPr>
            <a:cxnSpLocks/>
          </p:cNvCxnSpPr>
          <p:nvPr/>
        </p:nvCxnSpPr>
        <p:spPr>
          <a:xfrm flipH="1">
            <a:off x="234511" y="3584079"/>
            <a:ext cx="6373091" cy="0"/>
          </a:xfrm>
          <a:prstGeom prst="line">
            <a:avLst/>
          </a:prstGeom>
          <a:ln w="571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7307D3C-530B-4E70-AF67-3FB109851316}"/>
                  </a:ext>
                </a:extLst>
              </p:cNvPr>
              <p:cNvSpPr txBox="1"/>
              <p:nvPr/>
            </p:nvSpPr>
            <p:spPr>
              <a:xfrm>
                <a:off x="2391330" y="884813"/>
                <a:ext cx="965072" cy="369332"/>
              </a:xfrm>
              <a:prstGeom prst="rect">
                <a:avLst/>
              </a:prstGeom>
              <a:noFill/>
            </p:spPr>
            <p:txBody>
              <a:bodyPr wrap="squar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6" name="TextBox 5">
                <a:extLst>
                  <a:ext uri="{FF2B5EF4-FFF2-40B4-BE49-F238E27FC236}">
                    <a16:creationId xmlns:a16="http://schemas.microsoft.com/office/drawing/2014/main" id="{07307D3C-530B-4E70-AF67-3FB109851316}"/>
                  </a:ext>
                </a:extLst>
              </p:cNvPr>
              <p:cNvSpPr txBox="1">
                <a:spLocks noRot="1" noChangeAspect="1" noMove="1" noResize="1" noEditPoints="1" noAdjustHandles="1" noChangeArrowheads="1" noChangeShapeType="1" noTextEdit="1"/>
              </p:cNvSpPr>
              <p:nvPr/>
            </p:nvSpPr>
            <p:spPr>
              <a:xfrm>
                <a:off x="2391330" y="884813"/>
                <a:ext cx="965072" cy="369332"/>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2D3A862-6896-4422-AF8E-A9D1C1069140}"/>
                  </a:ext>
                </a:extLst>
              </p:cNvPr>
              <p:cNvSpPr txBox="1"/>
              <p:nvPr/>
            </p:nvSpPr>
            <p:spPr>
              <a:xfrm>
                <a:off x="6216587" y="3657969"/>
                <a:ext cx="950132" cy="369332"/>
              </a:xfrm>
              <a:prstGeom prst="rect">
                <a:avLst/>
              </a:prstGeom>
              <a:noFill/>
            </p:spPr>
            <p:txBody>
              <a:bodyPr wrap="square" rtlCol="0">
                <a:spAutoFit/>
              </a:bodyPr>
              <a:lstStyle/>
              <a:p>
                <a:pPr/>
                <a14:m>
                  <m:oMathPara xmlns:m="http://schemas.openxmlformats.org/officeDocument/2006/math">
                    <m:oMath>
                      <m:r>
                        <m:rPr>
                          <m:sty m:val="p"/>
                        </m:rPr>
                        <a:rPr lang="en-CA" b="0" i="0" smtClean="0">
                          <a:latin typeface="Cambria Math" panose="02040503050406030204" pitchFamily="18" charset="0"/>
                        </a:rPr>
                        <m:t>ΔE</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7" name="TextBox 6">
                <a:extLst>
                  <a:ext uri="{FF2B5EF4-FFF2-40B4-BE49-F238E27FC236}">
                    <a16:creationId xmlns:a16="http://schemas.microsoft.com/office/drawing/2014/main" id="{52D3A862-6896-4422-AF8E-A9D1C1069140}"/>
                  </a:ext>
                </a:extLst>
              </p:cNvPr>
              <p:cNvSpPr txBox="1">
                <a:spLocks noRot="1" noChangeAspect="1" noMove="1" noResize="1" noEditPoints="1" noAdjustHandles="1" noChangeArrowheads="1" noChangeShapeType="1" noTextEdit="1"/>
              </p:cNvSpPr>
              <p:nvPr/>
            </p:nvSpPr>
            <p:spPr>
              <a:xfrm>
                <a:off x="6216587" y="3657969"/>
                <a:ext cx="950132" cy="369332"/>
              </a:xfrm>
              <a:prstGeom prst="rect">
                <a:avLst/>
              </a:prstGeom>
              <a:blipFill>
                <a:blip r:embed="rId5"/>
                <a:stretch>
                  <a:fillRect/>
                </a:stretch>
              </a:blipFill>
            </p:spPr>
            <p:txBody>
              <a:bodyPr/>
              <a:lstStyle/>
              <a:p>
                <a:r>
                  <a:rPr lang="en-CA">
                    <a:noFill/>
                  </a:rPr>
                  <a:t> </a:t>
                </a:r>
              </a:p>
            </p:txBody>
          </p:sp>
        </mc:Fallback>
      </mc:AlternateContent>
      <p:sp>
        <p:nvSpPr>
          <p:cNvPr id="3" name="Oval 2">
            <a:extLst>
              <a:ext uri="{FF2B5EF4-FFF2-40B4-BE49-F238E27FC236}">
                <a16:creationId xmlns:a16="http://schemas.microsoft.com/office/drawing/2014/main" id="{5F57B284-E267-4BF3-B186-95C79DD9BF15}"/>
              </a:ext>
            </a:extLst>
          </p:cNvPr>
          <p:cNvSpPr/>
          <p:nvPr/>
        </p:nvSpPr>
        <p:spPr>
          <a:xfrm>
            <a:off x="3733805" y="260101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Oval 9">
            <a:extLst>
              <a:ext uri="{FF2B5EF4-FFF2-40B4-BE49-F238E27FC236}">
                <a16:creationId xmlns:a16="http://schemas.microsoft.com/office/drawing/2014/main" id="{EBED7CC2-EE9D-4A01-B829-AA32FF534F48}"/>
              </a:ext>
            </a:extLst>
          </p:cNvPr>
          <p:cNvSpPr/>
          <p:nvPr/>
        </p:nvSpPr>
        <p:spPr>
          <a:xfrm>
            <a:off x="3886205" y="275341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Oval 10">
            <a:extLst>
              <a:ext uri="{FF2B5EF4-FFF2-40B4-BE49-F238E27FC236}">
                <a16:creationId xmlns:a16="http://schemas.microsoft.com/office/drawing/2014/main" id="{9A3B219A-E17F-4848-B2B6-769F73EAF6EE}"/>
              </a:ext>
            </a:extLst>
          </p:cNvPr>
          <p:cNvSpPr/>
          <p:nvPr/>
        </p:nvSpPr>
        <p:spPr>
          <a:xfrm>
            <a:off x="4038605" y="290581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a:extLst>
              <a:ext uri="{FF2B5EF4-FFF2-40B4-BE49-F238E27FC236}">
                <a16:creationId xmlns:a16="http://schemas.microsoft.com/office/drawing/2014/main" id="{A7741668-6B3B-49B5-9F1B-069EC2B9E621}"/>
              </a:ext>
            </a:extLst>
          </p:cNvPr>
          <p:cNvSpPr/>
          <p:nvPr/>
        </p:nvSpPr>
        <p:spPr>
          <a:xfrm>
            <a:off x="4191005" y="305821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Oval 12">
            <a:extLst>
              <a:ext uri="{FF2B5EF4-FFF2-40B4-BE49-F238E27FC236}">
                <a16:creationId xmlns:a16="http://schemas.microsoft.com/office/drawing/2014/main" id="{3B19F62C-CE0A-453C-8655-5B4C67A5B59A}"/>
              </a:ext>
            </a:extLst>
          </p:cNvPr>
          <p:cNvSpPr/>
          <p:nvPr/>
        </p:nvSpPr>
        <p:spPr>
          <a:xfrm>
            <a:off x="4038604" y="234892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Oval 13">
            <a:extLst>
              <a:ext uri="{FF2B5EF4-FFF2-40B4-BE49-F238E27FC236}">
                <a16:creationId xmlns:a16="http://schemas.microsoft.com/office/drawing/2014/main" id="{CA7A7727-FC44-43E1-A7BD-C3A286B6B062}"/>
              </a:ext>
            </a:extLst>
          </p:cNvPr>
          <p:cNvSpPr/>
          <p:nvPr/>
        </p:nvSpPr>
        <p:spPr>
          <a:xfrm>
            <a:off x="4191004" y="250132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Oval 14">
            <a:extLst>
              <a:ext uri="{FF2B5EF4-FFF2-40B4-BE49-F238E27FC236}">
                <a16:creationId xmlns:a16="http://schemas.microsoft.com/office/drawing/2014/main" id="{7897B0AF-EAF0-4414-961E-B84F9461AFC7}"/>
              </a:ext>
            </a:extLst>
          </p:cNvPr>
          <p:cNvSpPr/>
          <p:nvPr/>
        </p:nvSpPr>
        <p:spPr>
          <a:xfrm>
            <a:off x="4343404" y="265372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Oval 15">
            <a:extLst>
              <a:ext uri="{FF2B5EF4-FFF2-40B4-BE49-F238E27FC236}">
                <a16:creationId xmlns:a16="http://schemas.microsoft.com/office/drawing/2014/main" id="{4B3D5D95-7682-46FC-B680-0C084B6877FD}"/>
              </a:ext>
            </a:extLst>
          </p:cNvPr>
          <p:cNvSpPr/>
          <p:nvPr/>
        </p:nvSpPr>
        <p:spPr>
          <a:xfrm>
            <a:off x="4495804" y="280612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Oval 16">
            <a:extLst>
              <a:ext uri="{FF2B5EF4-FFF2-40B4-BE49-F238E27FC236}">
                <a16:creationId xmlns:a16="http://schemas.microsoft.com/office/drawing/2014/main" id="{FFE7DABB-3E6F-4C37-BBDD-44B0536E875D}"/>
              </a:ext>
            </a:extLst>
          </p:cNvPr>
          <p:cNvSpPr/>
          <p:nvPr/>
        </p:nvSpPr>
        <p:spPr>
          <a:xfrm>
            <a:off x="4648204" y="295852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Oval 17">
            <a:extLst>
              <a:ext uri="{FF2B5EF4-FFF2-40B4-BE49-F238E27FC236}">
                <a16:creationId xmlns:a16="http://schemas.microsoft.com/office/drawing/2014/main" id="{97D6AC66-5406-4B6F-9A57-8572D4EA779B}"/>
              </a:ext>
            </a:extLst>
          </p:cNvPr>
          <p:cNvSpPr/>
          <p:nvPr/>
        </p:nvSpPr>
        <p:spPr>
          <a:xfrm>
            <a:off x="4233124" y="18454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Oval 18">
            <a:extLst>
              <a:ext uri="{FF2B5EF4-FFF2-40B4-BE49-F238E27FC236}">
                <a16:creationId xmlns:a16="http://schemas.microsoft.com/office/drawing/2014/main" id="{F4B16CF5-01C7-4E1C-BE0D-0F975D2D23CA}"/>
              </a:ext>
            </a:extLst>
          </p:cNvPr>
          <p:cNvSpPr/>
          <p:nvPr/>
        </p:nvSpPr>
        <p:spPr>
          <a:xfrm>
            <a:off x="4385524" y="19978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Oval 19">
            <a:extLst>
              <a:ext uri="{FF2B5EF4-FFF2-40B4-BE49-F238E27FC236}">
                <a16:creationId xmlns:a16="http://schemas.microsoft.com/office/drawing/2014/main" id="{7A879D50-96B5-4462-A097-CD33357471F9}"/>
              </a:ext>
            </a:extLst>
          </p:cNvPr>
          <p:cNvSpPr/>
          <p:nvPr/>
        </p:nvSpPr>
        <p:spPr>
          <a:xfrm>
            <a:off x="4537924" y="21502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Oval 20">
            <a:extLst>
              <a:ext uri="{FF2B5EF4-FFF2-40B4-BE49-F238E27FC236}">
                <a16:creationId xmlns:a16="http://schemas.microsoft.com/office/drawing/2014/main" id="{FEF70DC1-0348-4B4B-9843-275B35CA8CCA}"/>
              </a:ext>
            </a:extLst>
          </p:cNvPr>
          <p:cNvSpPr/>
          <p:nvPr/>
        </p:nvSpPr>
        <p:spPr>
          <a:xfrm>
            <a:off x="4690324" y="23026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Oval 21">
            <a:extLst>
              <a:ext uri="{FF2B5EF4-FFF2-40B4-BE49-F238E27FC236}">
                <a16:creationId xmlns:a16="http://schemas.microsoft.com/office/drawing/2014/main" id="{D1F132E2-AF35-4EEE-B7BC-52338E1F105E}"/>
              </a:ext>
            </a:extLst>
          </p:cNvPr>
          <p:cNvSpPr/>
          <p:nvPr/>
        </p:nvSpPr>
        <p:spPr>
          <a:xfrm>
            <a:off x="4842724" y="24550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Oval 22">
            <a:extLst>
              <a:ext uri="{FF2B5EF4-FFF2-40B4-BE49-F238E27FC236}">
                <a16:creationId xmlns:a16="http://schemas.microsoft.com/office/drawing/2014/main" id="{5AD45F0A-7AF5-4185-9286-323AC51C0415}"/>
              </a:ext>
            </a:extLst>
          </p:cNvPr>
          <p:cNvSpPr/>
          <p:nvPr/>
        </p:nvSpPr>
        <p:spPr>
          <a:xfrm>
            <a:off x="4282446" y="223250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Oval 23">
            <a:extLst>
              <a:ext uri="{FF2B5EF4-FFF2-40B4-BE49-F238E27FC236}">
                <a16:creationId xmlns:a16="http://schemas.microsoft.com/office/drawing/2014/main" id="{99D24D74-E12B-44B9-8CAC-EF0AC433A2CC}"/>
              </a:ext>
            </a:extLst>
          </p:cNvPr>
          <p:cNvSpPr/>
          <p:nvPr/>
        </p:nvSpPr>
        <p:spPr>
          <a:xfrm>
            <a:off x="4995124" y="26074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Oval 24">
            <a:extLst>
              <a:ext uri="{FF2B5EF4-FFF2-40B4-BE49-F238E27FC236}">
                <a16:creationId xmlns:a16="http://schemas.microsoft.com/office/drawing/2014/main" id="{72DACCF5-954E-452B-B263-47FF951A5801}"/>
              </a:ext>
            </a:extLst>
          </p:cNvPr>
          <p:cNvSpPr/>
          <p:nvPr/>
        </p:nvSpPr>
        <p:spPr>
          <a:xfrm>
            <a:off x="5147524" y="27598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Oval 25">
            <a:extLst>
              <a:ext uri="{FF2B5EF4-FFF2-40B4-BE49-F238E27FC236}">
                <a16:creationId xmlns:a16="http://schemas.microsoft.com/office/drawing/2014/main" id="{C6118C64-B7CE-4F0A-8AC2-D01162829ABA}"/>
              </a:ext>
            </a:extLst>
          </p:cNvPr>
          <p:cNvSpPr/>
          <p:nvPr/>
        </p:nvSpPr>
        <p:spPr>
          <a:xfrm>
            <a:off x="4394949" y="23698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Oval 26">
            <a:extLst>
              <a:ext uri="{FF2B5EF4-FFF2-40B4-BE49-F238E27FC236}">
                <a16:creationId xmlns:a16="http://schemas.microsoft.com/office/drawing/2014/main" id="{D475BDDB-2763-4177-8A48-4EB42D607A37}"/>
              </a:ext>
            </a:extLst>
          </p:cNvPr>
          <p:cNvSpPr/>
          <p:nvPr/>
        </p:nvSpPr>
        <p:spPr>
          <a:xfrm>
            <a:off x="5299924" y="29122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Oval 27">
            <a:extLst>
              <a:ext uri="{FF2B5EF4-FFF2-40B4-BE49-F238E27FC236}">
                <a16:creationId xmlns:a16="http://schemas.microsoft.com/office/drawing/2014/main" id="{37B65677-2920-46C5-9A3E-EE8C9DAAE457}"/>
              </a:ext>
            </a:extLst>
          </p:cNvPr>
          <p:cNvSpPr/>
          <p:nvPr/>
        </p:nvSpPr>
        <p:spPr>
          <a:xfrm>
            <a:off x="3969331" y="263232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Oval 28">
            <a:extLst>
              <a:ext uri="{FF2B5EF4-FFF2-40B4-BE49-F238E27FC236}">
                <a16:creationId xmlns:a16="http://schemas.microsoft.com/office/drawing/2014/main" id="{30E73610-7BD3-41C1-B9ED-480A95A80E14}"/>
              </a:ext>
            </a:extLst>
          </p:cNvPr>
          <p:cNvSpPr/>
          <p:nvPr/>
        </p:nvSpPr>
        <p:spPr>
          <a:xfrm>
            <a:off x="4587246" y="253730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Oval 29">
            <a:extLst>
              <a:ext uri="{FF2B5EF4-FFF2-40B4-BE49-F238E27FC236}">
                <a16:creationId xmlns:a16="http://schemas.microsoft.com/office/drawing/2014/main" id="{1998C7A0-99C4-4FA4-ACE3-E5548DCC7AC0}"/>
              </a:ext>
            </a:extLst>
          </p:cNvPr>
          <p:cNvSpPr/>
          <p:nvPr/>
        </p:nvSpPr>
        <p:spPr>
          <a:xfrm>
            <a:off x="4739646" y="268970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Oval 30">
            <a:extLst>
              <a:ext uri="{FF2B5EF4-FFF2-40B4-BE49-F238E27FC236}">
                <a16:creationId xmlns:a16="http://schemas.microsoft.com/office/drawing/2014/main" id="{063D83DA-F174-49A2-812C-D10D2228AE7B}"/>
              </a:ext>
            </a:extLst>
          </p:cNvPr>
          <p:cNvSpPr/>
          <p:nvPr/>
        </p:nvSpPr>
        <p:spPr>
          <a:xfrm>
            <a:off x="4892046" y="284210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Oval 31">
            <a:extLst>
              <a:ext uri="{FF2B5EF4-FFF2-40B4-BE49-F238E27FC236}">
                <a16:creationId xmlns:a16="http://schemas.microsoft.com/office/drawing/2014/main" id="{5083CC16-0C90-4F25-A2AA-004DD359D3B2}"/>
              </a:ext>
            </a:extLst>
          </p:cNvPr>
          <p:cNvSpPr/>
          <p:nvPr/>
        </p:nvSpPr>
        <p:spPr>
          <a:xfrm>
            <a:off x="4121731" y="278472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Oval 32">
            <a:extLst>
              <a:ext uri="{FF2B5EF4-FFF2-40B4-BE49-F238E27FC236}">
                <a16:creationId xmlns:a16="http://schemas.microsoft.com/office/drawing/2014/main" id="{AE06EB6B-598C-486B-9323-59F4EF6A8E84}"/>
              </a:ext>
            </a:extLst>
          </p:cNvPr>
          <p:cNvSpPr/>
          <p:nvPr/>
        </p:nvSpPr>
        <p:spPr>
          <a:xfrm>
            <a:off x="4274131" y="293712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Oval 33">
            <a:extLst>
              <a:ext uri="{FF2B5EF4-FFF2-40B4-BE49-F238E27FC236}">
                <a16:creationId xmlns:a16="http://schemas.microsoft.com/office/drawing/2014/main" id="{93339B2B-C945-4247-94B5-E61A74E2DAF5}"/>
              </a:ext>
            </a:extLst>
          </p:cNvPr>
          <p:cNvSpPr/>
          <p:nvPr/>
        </p:nvSpPr>
        <p:spPr>
          <a:xfrm>
            <a:off x="4426531" y="308952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Oval 34">
            <a:extLst>
              <a:ext uri="{FF2B5EF4-FFF2-40B4-BE49-F238E27FC236}">
                <a16:creationId xmlns:a16="http://schemas.microsoft.com/office/drawing/2014/main" id="{20AFB2B6-7A0B-4C49-865B-07DD200A3FEF}"/>
              </a:ext>
            </a:extLst>
          </p:cNvPr>
          <p:cNvSpPr/>
          <p:nvPr/>
        </p:nvSpPr>
        <p:spPr>
          <a:xfrm>
            <a:off x="3376363" y="349694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Oval 35">
            <a:extLst>
              <a:ext uri="{FF2B5EF4-FFF2-40B4-BE49-F238E27FC236}">
                <a16:creationId xmlns:a16="http://schemas.microsoft.com/office/drawing/2014/main" id="{96FC0F30-15AF-481D-AB2A-6D60682CA5E5}"/>
              </a:ext>
            </a:extLst>
          </p:cNvPr>
          <p:cNvSpPr/>
          <p:nvPr/>
        </p:nvSpPr>
        <p:spPr>
          <a:xfrm>
            <a:off x="3528763" y="364934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Oval 36">
            <a:extLst>
              <a:ext uri="{FF2B5EF4-FFF2-40B4-BE49-F238E27FC236}">
                <a16:creationId xmlns:a16="http://schemas.microsoft.com/office/drawing/2014/main" id="{16CA5E5F-DAF6-4832-95C5-193B71C7454D}"/>
              </a:ext>
            </a:extLst>
          </p:cNvPr>
          <p:cNvSpPr/>
          <p:nvPr/>
        </p:nvSpPr>
        <p:spPr>
          <a:xfrm>
            <a:off x="3681163" y="380174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Oval 37">
            <a:extLst>
              <a:ext uri="{FF2B5EF4-FFF2-40B4-BE49-F238E27FC236}">
                <a16:creationId xmlns:a16="http://schemas.microsoft.com/office/drawing/2014/main" id="{6D913749-D9DC-4AC1-880E-DAECAE88405B}"/>
              </a:ext>
            </a:extLst>
          </p:cNvPr>
          <p:cNvSpPr/>
          <p:nvPr/>
        </p:nvSpPr>
        <p:spPr>
          <a:xfrm>
            <a:off x="3833563" y="395414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Oval 38">
            <a:extLst>
              <a:ext uri="{FF2B5EF4-FFF2-40B4-BE49-F238E27FC236}">
                <a16:creationId xmlns:a16="http://schemas.microsoft.com/office/drawing/2014/main" id="{C3FAB0F9-98F3-4795-A709-DCC94E850E12}"/>
              </a:ext>
            </a:extLst>
          </p:cNvPr>
          <p:cNvSpPr/>
          <p:nvPr/>
        </p:nvSpPr>
        <p:spPr>
          <a:xfrm>
            <a:off x="3681162" y="324485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Oval 39">
            <a:extLst>
              <a:ext uri="{FF2B5EF4-FFF2-40B4-BE49-F238E27FC236}">
                <a16:creationId xmlns:a16="http://schemas.microsoft.com/office/drawing/2014/main" id="{01EA33DF-C66E-4667-BEA7-9BAEC703E3F6}"/>
              </a:ext>
            </a:extLst>
          </p:cNvPr>
          <p:cNvSpPr/>
          <p:nvPr/>
        </p:nvSpPr>
        <p:spPr>
          <a:xfrm>
            <a:off x="3833562" y="339725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Oval 40">
            <a:extLst>
              <a:ext uri="{FF2B5EF4-FFF2-40B4-BE49-F238E27FC236}">
                <a16:creationId xmlns:a16="http://schemas.microsoft.com/office/drawing/2014/main" id="{4C7BFD1C-C649-4E65-8466-DF2420A9F1AA}"/>
              </a:ext>
            </a:extLst>
          </p:cNvPr>
          <p:cNvSpPr/>
          <p:nvPr/>
        </p:nvSpPr>
        <p:spPr>
          <a:xfrm>
            <a:off x="3985962" y="354965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Oval 41">
            <a:extLst>
              <a:ext uri="{FF2B5EF4-FFF2-40B4-BE49-F238E27FC236}">
                <a16:creationId xmlns:a16="http://schemas.microsoft.com/office/drawing/2014/main" id="{B79EAAD4-CA9A-48B0-894B-7C2B5BCC5C78}"/>
              </a:ext>
            </a:extLst>
          </p:cNvPr>
          <p:cNvSpPr/>
          <p:nvPr/>
        </p:nvSpPr>
        <p:spPr>
          <a:xfrm>
            <a:off x="4138362" y="370205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3" name="Oval 42">
            <a:extLst>
              <a:ext uri="{FF2B5EF4-FFF2-40B4-BE49-F238E27FC236}">
                <a16:creationId xmlns:a16="http://schemas.microsoft.com/office/drawing/2014/main" id="{4D7D563B-3872-456D-BDDE-C0AD69044DE4}"/>
              </a:ext>
            </a:extLst>
          </p:cNvPr>
          <p:cNvSpPr/>
          <p:nvPr/>
        </p:nvSpPr>
        <p:spPr>
          <a:xfrm>
            <a:off x="4290762" y="385445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Oval 43">
            <a:extLst>
              <a:ext uri="{FF2B5EF4-FFF2-40B4-BE49-F238E27FC236}">
                <a16:creationId xmlns:a16="http://schemas.microsoft.com/office/drawing/2014/main" id="{8CEAD553-FEDB-49FA-81F5-BA5FEF1B8462}"/>
              </a:ext>
            </a:extLst>
          </p:cNvPr>
          <p:cNvSpPr/>
          <p:nvPr/>
        </p:nvSpPr>
        <p:spPr>
          <a:xfrm>
            <a:off x="3875682" y="27413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5" name="Oval 44">
            <a:extLst>
              <a:ext uri="{FF2B5EF4-FFF2-40B4-BE49-F238E27FC236}">
                <a16:creationId xmlns:a16="http://schemas.microsoft.com/office/drawing/2014/main" id="{AFFE994C-E70A-4C37-A943-D11AAB86B2D0}"/>
              </a:ext>
            </a:extLst>
          </p:cNvPr>
          <p:cNvSpPr/>
          <p:nvPr/>
        </p:nvSpPr>
        <p:spPr>
          <a:xfrm>
            <a:off x="4028082" y="28937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Oval 45">
            <a:extLst>
              <a:ext uri="{FF2B5EF4-FFF2-40B4-BE49-F238E27FC236}">
                <a16:creationId xmlns:a16="http://schemas.microsoft.com/office/drawing/2014/main" id="{2623FCF8-9E6F-4B8F-878B-3E14B3F7591B}"/>
              </a:ext>
            </a:extLst>
          </p:cNvPr>
          <p:cNvSpPr/>
          <p:nvPr/>
        </p:nvSpPr>
        <p:spPr>
          <a:xfrm>
            <a:off x="4180482" y="30461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 name="Oval 46">
            <a:extLst>
              <a:ext uri="{FF2B5EF4-FFF2-40B4-BE49-F238E27FC236}">
                <a16:creationId xmlns:a16="http://schemas.microsoft.com/office/drawing/2014/main" id="{D3993E65-07AF-4182-95E9-12B0C25DCD38}"/>
              </a:ext>
            </a:extLst>
          </p:cNvPr>
          <p:cNvSpPr/>
          <p:nvPr/>
        </p:nvSpPr>
        <p:spPr>
          <a:xfrm>
            <a:off x="4332882" y="31985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8" name="Oval 47">
            <a:extLst>
              <a:ext uri="{FF2B5EF4-FFF2-40B4-BE49-F238E27FC236}">
                <a16:creationId xmlns:a16="http://schemas.microsoft.com/office/drawing/2014/main" id="{DE902535-F857-4CED-BC94-BC40F30CE31A}"/>
              </a:ext>
            </a:extLst>
          </p:cNvPr>
          <p:cNvSpPr/>
          <p:nvPr/>
        </p:nvSpPr>
        <p:spPr>
          <a:xfrm>
            <a:off x="4485282" y="33509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Oval 48">
            <a:extLst>
              <a:ext uri="{FF2B5EF4-FFF2-40B4-BE49-F238E27FC236}">
                <a16:creationId xmlns:a16="http://schemas.microsoft.com/office/drawing/2014/main" id="{44F6AF3B-5BC6-45D7-A042-A9AC1A653AF7}"/>
              </a:ext>
            </a:extLst>
          </p:cNvPr>
          <p:cNvSpPr/>
          <p:nvPr/>
        </p:nvSpPr>
        <p:spPr>
          <a:xfrm>
            <a:off x="3925004" y="312843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0" name="Oval 49">
            <a:extLst>
              <a:ext uri="{FF2B5EF4-FFF2-40B4-BE49-F238E27FC236}">
                <a16:creationId xmlns:a16="http://schemas.microsoft.com/office/drawing/2014/main" id="{5F9EBE47-B3E1-419C-AC55-E929598FDB96}"/>
              </a:ext>
            </a:extLst>
          </p:cNvPr>
          <p:cNvSpPr/>
          <p:nvPr/>
        </p:nvSpPr>
        <p:spPr>
          <a:xfrm>
            <a:off x="4637682" y="35033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Oval 50">
            <a:extLst>
              <a:ext uri="{FF2B5EF4-FFF2-40B4-BE49-F238E27FC236}">
                <a16:creationId xmlns:a16="http://schemas.microsoft.com/office/drawing/2014/main" id="{6C44023F-17BC-4895-8FF0-A091568D3761}"/>
              </a:ext>
            </a:extLst>
          </p:cNvPr>
          <p:cNvSpPr/>
          <p:nvPr/>
        </p:nvSpPr>
        <p:spPr>
          <a:xfrm>
            <a:off x="4790082" y="36557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2" name="Oval 51">
            <a:extLst>
              <a:ext uri="{FF2B5EF4-FFF2-40B4-BE49-F238E27FC236}">
                <a16:creationId xmlns:a16="http://schemas.microsoft.com/office/drawing/2014/main" id="{48D3CC53-A934-4611-978D-94AD2F3E6C99}"/>
              </a:ext>
            </a:extLst>
          </p:cNvPr>
          <p:cNvSpPr/>
          <p:nvPr/>
        </p:nvSpPr>
        <p:spPr>
          <a:xfrm>
            <a:off x="4037507" y="326574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3" name="Oval 52">
            <a:extLst>
              <a:ext uri="{FF2B5EF4-FFF2-40B4-BE49-F238E27FC236}">
                <a16:creationId xmlns:a16="http://schemas.microsoft.com/office/drawing/2014/main" id="{15B02DFC-3086-40F5-ABF6-760F2FD292BD}"/>
              </a:ext>
            </a:extLst>
          </p:cNvPr>
          <p:cNvSpPr/>
          <p:nvPr/>
        </p:nvSpPr>
        <p:spPr>
          <a:xfrm>
            <a:off x="3611889" y="352825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4" name="Oval 53">
            <a:extLst>
              <a:ext uri="{FF2B5EF4-FFF2-40B4-BE49-F238E27FC236}">
                <a16:creationId xmlns:a16="http://schemas.microsoft.com/office/drawing/2014/main" id="{913C7AE0-ED50-4780-BA2E-36EF84884AC9}"/>
              </a:ext>
            </a:extLst>
          </p:cNvPr>
          <p:cNvSpPr/>
          <p:nvPr/>
        </p:nvSpPr>
        <p:spPr>
          <a:xfrm>
            <a:off x="4229804" y="343323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5" name="Oval 54">
            <a:extLst>
              <a:ext uri="{FF2B5EF4-FFF2-40B4-BE49-F238E27FC236}">
                <a16:creationId xmlns:a16="http://schemas.microsoft.com/office/drawing/2014/main" id="{4A926640-E2D5-4566-AD00-B1A449C819BD}"/>
              </a:ext>
            </a:extLst>
          </p:cNvPr>
          <p:cNvSpPr/>
          <p:nvPr/>
        </p:nvSpPr>
        <p:spPr>
          <a:xfrm>
            <a:off x="4382204" y="358563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6" name="Oval 55">
            <a:extLst>
              <a:ext uri="{FF2B5EF4-FFF2-40B4-BE49-F238E27FC236}">
                <a16:creationId xmlns:a16="http://schemas.microsoft.com/office/drawing/2014/main" id="{5360CE76-E39C-4044-8AE2-481049B899FB}"/>
              </a:ext>
            </a:extLst>
          </p:cNvPr>
          <p:cNvSpPr/>
          <p:nvPr/>
        </p:nvSpPr>
        <p:spPr>
          <a:xfrm>
            <a:off x="4534604" y="373803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7" name="Oval 56">
            <a:extLst>
              <a:ext uri="{FF2B5EF4-FFF2-40B4-BE49-F238E27FC236}">
                <a16:creationId xmlns:a16="http://schemas.microsoft.com/office/drawing/2014/main" id="{8820F53A-3B15-4934-BCA5-66D2B52B66F0}"/>
              </a:ext>
            </a:extLst>
          </p:cNvPr>
          <p:cNvSpPr/>
          <p:nvPr/>
        </p:nvSpPr>
        <p:spPr>
          <a:xfrm>
            <a:off x="3764289" y="368065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8" name="Oval 57">
            <a:extLst>
              <a:ext uri="{FF2B5EF4-FFF2-40B4-BE49-F238E27FC236}">
                <a16:creationId xmlns:a16="http://schemas.microsoft.com/office/drawing/2014/main" id="{C6997184-C0FE-4E7B-AD22-A19E9FB32802}"/>
              </a:ext>
            </a:extLst>
          </p:cNvPr>
          <p:cNvSpPr/>
          <p:nvPr/>
        </p:nvSpPr>
        <p:spPr>
          <a:xfrm>
            <a:off x="3916689" y="383305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9" name="Oval 58">
            <a:extLst>
              <a:ext uri="{FF2B5EF4-FFF2-40B4-BE49-F238E27FC236}">
                <a16:creationId xmlns:a16="http://schemas.microsoft.com/office/drawing/2014/main" id="{BAF14F54-74AF-4086-A923-18319C0C2D8A}"/>
              </a:ext>
            </a:extLst>
          </p:cNvPr>
          <p:cNvSpPr/>
          <p:nvPr/>
        </p:nvSpPr>
        <p:spPr>
          <a:xfrm>
            <a:off x="4069089" y="398545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0" name="Oval 59">
            <a:extLst>
              <a:ext uri="{FF2B5EF4-FFF2-40B4-BE49-F238E27FC236}">
                <a16:creationId xmlns:a16="http://schemas.microsoft.com/office/drawing/2014/main" id="{AAF27EF0-AE61-43A3-9023-BD2AD03ACF33}"/>
              </a:ext>
            </a:extLst>
          </p:cNvPr>
          <p:cNvSpPr/>
          <p:nvPr/>
        </p:nvSpPr>
        <p:spPr>
          <a:xfrm>
            <a:off x="4287712" y="35566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1" name="Oval 60">
            <a:extLst>
              <a:ext uri="{FF2B5EF4-FFF2-40B4-BE49-F238E27FC236}">
                <a16:creationId xmlns:a16="http://schemas.microsoft.com/office/drawing/2014/main" id="{CB86DF86-4AAE-4962-8CA6-3A8235ABDDCC}"/>
              </a:ext>
            </a:extLst>
          </p:cNvPr>
          <p:cNvSpPr/>
          <p:nvPr/>
        </p:nvSpPr>
        <p:spPr>
          <a:xfrm>
            <a:off x="4440112" y="37090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2" name="Oval 61">
            <a:extLst>
              <a:ext uri="{FF2B5EF4-FFF2-40B4-BE49-F238E27FC236}">
                <a16:creationId xmlns:a16="http://schemas.microsoft.com/office/drawing/2014/main" id="{45018CD3-76B3-41DE-A2F7-DF9E1840D606}"/>
              </a:ext>
            </a:extLst>
          </p:cNvPr>
          <p:cNvSpPr/>
          <p:nvPr/>
        </p:nvSpPr>
        <p:spPr>
          <a:xfrm>
            <a:off x="4592512" y="38614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3" name="Oval 62">
            <a:extLst>
              <a:ext uri="{FF2B5EF4-FFF2-40B4-BE49-F238E27FC236}">
                <a16:creationId xmlns:a16="http://schemas.microsoft.com/office/drawing/2014/main" id="{8BD320B1-E015-4E10-9EDB-6042ACCCDDB9}"/>
              </a:ext>
            </a:extLst>
          </p:cNvPr>
          <p:cNvSpPr/>
          <p:nvPr/>
        </p:nvSpPr>
        <p:spPr>
          <a:xfrm>
            <a:off x="4744912" y="40138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4" name="Oval 63">
            <a:extLst>
              <a:ext uri="{FF2B5EF4-FFF2-40B4-BE49-F238E27FC236}">
                <a16:creationId xmlns:a16="http://schemas.microsoft.com/office/drawing/2014/main" id="{E4788904-4172-4487-A1EE-0B7C6FDE3EF9}"/>
              </a:ext>
            </a:extLst>
          </p:cNvPr>
          <p:cNvSpPr/>
          <p:nvPr/>
        </p:nvSpPr>
        <p:spPr>
          <a:xfrm>
            <a:off x="4592511" y="33045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5" name="Oval 64">
            <a:extLst>
              <a:ext uri="{FF2B5EF4-FFF2-40B4-BE49-F238E27FC236}">
                <a16:creationId xmlns:a16="http://schemas.microsoft.com/office/drawing/2014/main" id="{786B1B03-6055-4772-A61E-1649429157D6}"/>
              </a:ext>
            </a:extLst>
          </p:cNvPr>
          <p:cNvSpPr/>
          <p:nvPr/>
        </p:nvSpPr>
        <p:spPr>
          <a:xfrm>
            <a:off x="4744911" y="34569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6" name="Oval 65">
            <a:extLst>
              <a:ext uri="{FF2B5EF4-FFF2-40B4-BE49-F238E27FC236}">
                <a16:creationId xmlns:a16="http://schemas.microsoft.com/office/drawing/2014/main" id="{F5AE57DA-CBC4-4A5E-AB32-F58C086D7E21}"/>
              </a:ext>
            </a:extLst>
          </p:cNvPr>
          <p:cNvSpPr/>
          <p:nvPr/>
        </p:nvSpPr>
        <p:spPr>
          <a:xfrm>
            <a:off x="4897311" y="36093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7" name="Oval 66">
            <a:extLst>
              <a:ext uri="{FF2B5EF4-FFF2-40B4-BE49-F238E27FC236}">
                <a16:creationId xmlns:a16="http://schemas.microsoft.com/office/drawing/2014/main" id="{ED437819-74A8-454F-8D4B-58B423D6B74D}"/>
              </a:ext>
            </a:extLst>
          </p:cNvPr>
          <p:cNvSpPr/>
          <p:nvPr/>
        </p:nvSpPr>
        <p:spPr>
          <a:xfrm>
            <a:off x="5049711" y="37617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8" name="Oval 67">
            <a:extLst>
              <a:ext uri="{FF2B5EF4-FFF2-40B4-BE49-F238E27FC236}">
                <a16:creationId xmlns:a16="http://schemas.microsoft.com/office/drawing/2014/main" id="{CC825FB0-F2BE-46A2-8FFE-AEC2E7CADA28}"/>
              </a:ext>
            </a:extLst>
          </p:cNvPr>
          <p:cNvSpPr/>
          <p:nvPr/>
        </p:nvSpPr>
        <p:spPr>
          <a:xfrm>
            <a:off x="5202111" y="39141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9" name="Oval 68">
            <a:extLst>
              <a:ext uri="{FF2B5EF4-FFF2-40B4-BE49-F238E27FC236}">
                <a16:creationId xmlns:a16="http://schemas.microsoft.com/office/drawing/2014/main" id="{96E9FD36-B4B0-447D-B7CA-6F7012E62297}"/>
              </a:ext>
            </a:extLst>
          </p:cNvPr>
          <p:cNvSpPr/>
          <p:nvPr/>
        </p:nvSpPr>
        <p:spPr>
          <a:xfrm>
            <a:off x="4787031" y="28010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0" name="Oval 69">
            <a:extLst>
              <a:ext uri="{FF2B5EF4-FFF2-40B4-BE49-F238E27FC236}">
                <a16:creationId xmlns:a16="http://schemas.microsoft.com/office/drawing/2014/main" id="{2255843F-3E96-4723-AAF2-6D7BD8443CF6}"/>
              </a:ext>
            </a:extLst>
          </p:cNvPr>
          <p:cNvSpPr/>
          <p:nvPr/>
        </p:nvSpPr>
        <p:spPr>
          <a:xfrm>
            <a:off x="4939431" y="29534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1" name="Oval 70">
            <a:extLst>
              <a:ext uri="{FF2B5EF4-FFF2-40B4-BE49-F238E27FC236}">
                <a16:creationId xmlns:a16="http://schemas.microsoft.com/office/drawing/2014/main" id="{A4AA25E0-6786-4981-9151-24AE3F77A69D}"/>
              </a:ext>
            </a:extLst>
          </p:cNvPr>
          <p:cNvSpPr/>
          <p:nvPr/>
        </p:nvSpPr>
        <p:spPr>
          <a:xfrm>
            <a:off x="5091831" y="31058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2" name="Oval 71">
            <a:extLst>
              <a:ext uri="{FF2B5EF4-FFF2-40B4-BE49-F238E27FC236}">
                <a16:creationId xmlns:a16="http://schemas.microsoft.com/office/drawing/2014/main" id="{DDA08D14-A5C7-42BD-91F6-8AE8D24D35E2}"/>
              </a:ext>
            </a:extLst>
          </p:cNvPr>
          <p:cNvSpPr/>
          <p:nvPr/>
        </p:nvSpPr>
        <p:spPr>
          <a:xfrm>
            <a:off x="5244231" y="32582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3" name="Oval 72">
            <a:extLst>
              <a:ext uri="{FF2B5EF4-FFF2-40B4-BE49-F238E27FC236}">
                <a16:creationId xmlns:a16="http://schemas.microsoft.com/office/drawing/2014/main" id="{DE347C27-841A-40F4-96F6-5E530E35998E}"/>
              </a:ext>
            </a:extLst>
          </p:cNvPr>
          <p:cNvSpPr/>
          <p:nvPr/>
        </p:nvSpPr>
        <p:spPr>
          <a:xfrm>
            <a:off x="5396631" y="34106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4" name="Oval 73">
            <a:extLst>
              <a:ext uri="{FF2B5EF4-FFF2-40B4-BE49-F238E27FC236}">
                <a16:creationId xmlns:a16="http://schemas.microsoft.com/office/drawing/2014/main" id="{C35A1A91-3143-4590-A229-330FB335119F}"/>
              </a:ext>
            </a:extLst>
          </p:cNvPr>
          <p:cNvSpPr/>
          <p:nvPr/>
        </p:nvSpPr>
        <p:spPr>
          <a:xfrm>
            <a:off x="4836353" y="318810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5" name="Oval 74">
            <a:extLst>
              <a:ext uri="{FF2B5EF4-FFF2-40B4-BE49-F238E27FC236}">
                <a16:creationId xmlns:a16="http://schemas.microsoft.com/office/drawing/2014/main" id="{2E2B744E-88F8-47DB-A7DE-8133CAE9267E}"/>
              </a:ext>
            </a:extLst>
          </p:cNvPr>
          <p:cNvSpPr/>
          <p:nvPr/>
        </p:nvSpPr>
        <p:spPr>
          <a:xfrm>
            <a:off x="5549031" y="35630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6" name="Oval 75">
            <a:extLst>
              <a:ext uri="{FF2B5EF4-FFF2-40B4-BE49-F238E27FC236}">
                <a16:creationId xmlns:a16="http://schemas.microsoft.com/office/drawing/2014/main" id="{126B171F-3940-4BFB-951B-69D8DBCAFF43}"/>
              </a:ext>
            </a:extLst>
          </p:cNvPr>
          <p:cNvSpPr/>
          <p:nvPr/>
        </p:nvSpPr>
        <p:spPr>
          <a:xfrm>
            <a:off x="5701431" y="37154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7" name="Oval 76">
            <a:extLst>
              <a:ext uri="{FF2B5EF4-FFF2-40B4-BE49-F238E27FC236}">
                <a16:creationId xmlns:a16="http://schemas.microsoft.com/office/drawing/2014/main" id="{A047D286-4782-4AFB-B4E2-2C7A07FE0604}"/>
              </a:ext>
            </a:extLst>
          </p:cNvPr>
          <p:cNvSpPr/>
          <p:nvPr/>
        </p:nvSpPr>
        <p:spPr>
          <a:xfrm>
            <a:off x="4948856" y="332541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8" name="Oval 77">
            <a:extLst>
              <a:ext uri="{FF2B5EF4-FFF2-40B4-BE49-F238E27FC236}">
                <a16:creationId xmlns:a16="http://schemas.microsoft.com/office/drawing/2014/main" id="{AA09D543-0E02-4301-B897-7BB6994C38CD}"/>
              </a:ext>
            </a:extLst>
          </p:cNvPr>
          <p:cNvSpPr/>
          <p:nvPr/>
        </p:nvSpPr>
        <p:spPr>
          <a:xfrm>
            <a:off x="4523238" y="358792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9" name="Oval 78">
            <a:extLst>
              <a:ext uri="{FF2B5EF4-FFF2-40B4-BE49-F238E27FC236}">
                <a16:creationId xmlns:a16="http://schemas.microsoft.com/office/drawing/2014/main" id="{9DD605F8-B850-4939-B67A-CC1857E69232}"/>
              </a:ext>
            </a:extLst>
          </p:cNvPr>
          <p:cNvSpPr/>
          <p:nvPr/>
        </p:nvSpPr>
        <p:spPr>
          <a:xfrm>
            <a:off x="5141153" y="349290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0" name="Oval 79">
            <a:extLst>
              <a:ext uri="{FF2B5EF4-FFF2-40B4-BE49-F238E27FC236}">
                <a16:creationId xmlns:a16="http://schemas.microsoft.com/office/drawing/2014/main" id="{E9BA5146-1503-49CC-98B2-0651681DEA07}"/>
              </a:ext>
            </a:extLst>
          </p:cNvPr>
          <p:cNvSpPr/>
          <p:nvPr/>
        </p:nvSpPr>
        <p:spPr>
          <a:xfrm>
            <a:off x="5293553" y="364530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1" name="Oval 80">
            <a:extLst>
              <a:ext uri="{FF2B5EF4-FFF2-40B4-BE49-F238E27FC236}">
                <a16:creationId xmlns:a16="http://schemas.microsoft.com/office/drawing/2014/main" id="{EB90AA96-6391-4409-9623-E586ADE5B32E}"/>
              </a:ext>
            </a:extLst>
          </p:cNvPr>
          <p:cNvSpPr/>
          <p:nvPr/>
        </p:nvSpPr>
        <p:spPr>
          <a:xfrm>
            <a:off x="5445953" y="379770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2" name="Oval 81">
            <a:extLst>
              <a:ext uri="{FF2B5EF4-FFF2-40B4-BE49-F238E27FC236}">
                <a16:creationId xmlns:a16="http://schemas.microsoft.com/office/drawing/2014/main" id="{D37ACCC7-AE18-4639-8359-4432C691B689}"/>
              </a:ext>
            </a:extLst>
          </p:cNvPr>
          <p:cNvSpPr/>
          <p:nvPr/>
        </p:nvSpPr>
        <p:spPr>
          <a:xfrm>
            <a:off x="4675638" y="374032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3" name="Oval 82">
            <a:extLst>
              <a:ext uri="{FF2B5EF4-FFF2-40B4-BE49-F238E27FC236}">
                <a16:creationId xmlns:a16="http://schemas.microsoft.com/office/drawing/2014/main" id="{F3137FEF-158B-4D9C-B1F4-31349E6BA178}"/>
              </a:ext>
            </a:extLst>
          </p:cNvPr>
          <p:cNvSpPr/>
          <p:nvPr/>
        </p:nvSpPr>
        <p:spPr>
          <a:xfrm>
            <a:off x="4828038" y="389272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4" name="Oval 83">
            <a:extLst>
              <a:ext uri="{FF2B5EF4-FFF2-40B4-BE49-F238E27FC236}">
                <a16:creationId xmlns:a16="http://schemas.microsoft.com/office/drawing/2014/main" id="{4D465651-48BF-48CD-AF7A-5639DAB9C226}"/>
              </a:ext>
            </a:extLst>
          </p:cNvPr>
          <p:cNvSpPr/>
          <p:nvPr/>
        </p:nvSpPr>
        <p:spPr>
          <a:xfrm>
            <a:off x="4980438" y="404512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5" name="Oval 84">
            <a:extLst>
              <a:ext uri="{FF2B5EF4-FFF2-40B4-BE49-F238E27FC236}">
                <a16:creationId xmlns:a16="http://schemas.microsoft.com/office/drawing/2014/main" id="{878E72EF-183E-4444-82BC-DC09AF86FAEF}"/>
              </a:ext>
            </a:extLst>
          </p:cNvPr>
          <p:cNvSpPr/>
          <p:nvPr/>
        </p:nvSpPr>
        <p:spPr>
          <a:xfrm>
            <a:off x="2931351" y="306035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6" name="Oval 85">
            <a:extLst>
              <a:ext uri="{FF2B5EF4-FFF2-40B4-BE49-F238E27FC236}">
                <a16:creationId xmlns:a16="http://schemas.microsoft.com/office/drawing/2014/main" id="{803C297A-829D-4704-A5CC-641357DCA711}"/>
              </a:ext>
            </a:extLst>
          </p:cNvPr>
          <p:cNvSpPr/>
          <p:nvPr/>
        </p:nvSpPr>
        <p:spPr>
          <a:xfrm>
            <a:off x="3083751" y="321275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7" name="Oval 86">
            <a:extLst>
              <a:ext uri="{FF2B5EF4-FFF2-40B4-BE49-F238E27FC236}">
                <a16:creationId xmlns:a16="http://schemas.microsoft.com/office/drawing/2014/main" id="{ABF6151B-2AD0-452D-81CA-201D053D02AF}"/>
              </a:ext>
            </a:extLst>
          </p:cNvPr>
          <p:cNvSpPr/>
          <p:nvPr/>
        </p:nvSpPr>
        <p:spPr>
          <a:xfrm>
            <a:off x="3236151" y="336515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8" name="Oval 87">
            <a:extLst>
              <a:ext uri="{FF2B5EF4-FFF2-40B4-BE49-F238E27FC236}">
                <a16:creationId xmlns:a16="http://schemas.microsoft.com/office/drawing/2014/main" id="{6E7B2CE8-42BA-475E-A37B-E59FEE35E02A}"/>
              </a:ext>
            </a:extLst>
          </p:cNvPr>
          <p:cNvSpPr/>
          <p:nvPr/>
        </p:nvSpPr>
        <p:spPr>
          <a:xfrm>
            <a:off x="3388551" y="351755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9" name="Oval 88">
            <a:extLst>
              <a:ext uri="{FF2B5EF4-FFF2-40B4-BE49-F238E27FC236}">
                <a16:creationId xmlns:a16="http://schemas.microsoft.com/office/drawing/2014/main" id="{84E44D56-E487-4A1B-821F-89F068288F68}"/>
              </a:ext>
            </a:extLst>
          </p:cNvPr>
          <p:cNvSpPr/>
          <p:nvPr/>
        </p:nvSpPr>
        <p:spPr>
          <a:xfrm>
            <a:off x="3236150" y="280827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0" name="Oval 89">
            <a:extLst>
              <a:ext uri="{FF2B5EF4-FFF2-40B4-BE49-F238E27FC236}">
                <a16:creationId xmlns:a16="http://schemas.microsoft.com/office/drawing/2014/main" id="{6C5B25AD-3A40-4F5E-BDA8-1E01BB199E79}"/>
              </a:ext>
            </a:extLst>
          </p:cNvPr>
          <p:cNvSpPr/>
          <p:nvPr/>
        </p:nvSpPr>
        <p:spPr>
          <a:xfrm>
            <a:off x="3388550" y="296067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1" name="Oval 90">
            <a:extLst>
              <a:ext uri="{FF2B5EF4-FFF2-40B4-BE49-F238E27FC236}">
                <a16:creationId xmlns:a16="http://schemas.microsoft.com/office/drawing/2014/main" id="{A8135C19-8904-4F7C-BEAE-34974F713AD2}"/>
              </a:ext>
            </a:extLst>
          </p:cNvPr>
          <p:cNvSpPr/>
          <p:nvPr/>
        </p:nvSpPr>
        <p:spPr>
          <a:xfrm>
            <a:off x="3540950" y="311307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2" name="Oval 91">
            <a:extLst>
              <a:ext uri="{FF2B5EF4-FFF2-40B4-BE49-F238E27FC236}">
                <a16:creationId xmlns:a16="http://schemas.microsoft.com/office/drawing/2014/main" id="{D65D9114-4506-465E-8A12-97A603C84567}"/>
              </a:ext>
            </a:extLst>
          </p:cNvPr>
          <p:cNvSpPr/>
          <p:nvPr/>
        </p:nvSpPr>
        <p:spPr>
          <a:xfrm>
            <a:off x="3693350" y="326547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3" name="Oval 92">
            <a:extLst>
              <a:ext uri="{FF2B5EF4-FFF2-40B4-BE49-F238E27FC236}">
                <a16:creationId xmlns:a16="http://schemas.microsoft.com/office/drawing/2014/main" id="{C3226C92-FCA9-4356-BE8C-8FB74F6F29E2}"/>
              </a:ext>
            </a:extLst>
          </p:cNvPr>
          <p:cNvSpPr/>
          <p:nvPr/>
        </p:nvSpPr>
        <p:spPr>
          <a:xfrm>
            <a:off x="3845750" y="341787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4" name="Oval 93">
            <a:extLst>
              <a:ext uri="{FF2B5EF4-FFF2-40B4-BE49-F238E27FC236}">
                <a16:creationId xmlns:a16="http://schemas.microsoft.com/office/drawing/2014/main" id="{4BAD65FB-0EFD-470C-8C45-0CC77A4CDF5C}"/>
              </a:ext>
            </a:extLst>
          </p:cNvPr>
          <p:cNvSpPr/>
          <p:nvPr/>
        </p:nvSpPr>
        <p:spPr>
          <a:xfrm>
            <a:off x="3430670" y="23048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5" name="Oval 94">
            <a:extLst>
              <a:ext uri="{FF2B5EF4-FFF2-40B4-BE49-F238E27FC236}">
                <a16:creationId xmlns:a16="http://schemas.microsoft.com/office/drawing/2014/main" id="{17CE32F2-E28A-4CE9-B0E0-B78BF215F66A}"/>
              </a:ext>
            </a:extLst>
          </p:cNvPr>
          <p:cNvSpPr/>
          <p:nvPr/>
        </p:nvSpPr>
        <p:spPr>
          <a:xfrm>
            <a:off x="3583070" y="24572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6" name="Oval 95">
            <a:extLst>
              <a:ext uri="{FF2B5EF4-FFF2-40B4-BE49-F238E27FC236}">
                <a16:creationId xmlns:a16="http://schemas.microsoft.com/office/drawing/2014/main" id="{611147A8-02DA-4427-BAFA-59446234B682}"/>
              </a:ext>
            </a:extLst>
          </p:cNvPr>
          <p:cNvSpPr/>
          <p:nvPr/>
        </p:nvSpPr>
        <p:spPr>
          <a:xfrm>
            <a:off x="3735470" y="26096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7" name="Oval 96">
            <a:extLst>
              <a:ext uri="{FF2B5EF4-FFF2-40B4-BE49-F238E27FC236}">
                <a16:creationId xmlns:a16="http://schemas.microsoft.com/office/drawing/2014/main" id="{E01AD58A-3A9C-4F43-8B80-0DA5E1AE78CD}"/>
              </a:ext>
            </a:extLst>
          </p:cNvPr>
          <p:cNvSpPr/>
          <p:nvPr/>
        </p:nvSpPr>
        <p:spPr>
          <a:xfrm>
            <a:off x="3887870" y="27620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8" name="Oval 97">
            <a:extLst>
              <a:ext uri="{FF2B5EF4-FFF2-40B4-BE49-F238E27FC236}">
                <a16:creationId xmlns:a16="http://schemas.microsoft.com/office/drawing/2014/main" id="{B4610250-CDE3-4EEE-8085-E52E5DFAFC61}"/>
              </a:ext>
            </a:extLst>
          </p:cNvPr>
          <p:cNvSpPr/>
          <p:nvPr/>
        </p:nvSpPr>
        <p:spPr>
          <a:xfrm>
            <a:off x="4040270" y="29144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9" name="Oval 98">
            <a:extLst>
              <a:ext uri="{FF2B5EF4-FFF2-40B4-BE49-F238E27FC236}">
                <a16:creationId xmlns:a16="http://schemas.microsoft.com/office/drawing/2014/main" id="{588CC098-9D24-4075-B9A6-B2CEF346074F}"/>
              </a:ext>
            </a:extLst>
          </p:cNvPr>
          <p:cNvSpPr/>
          <p:nvPr/>
        </p:nvSpPr>
        <p:spPr>
          <a:xfrm>
            <a:off x="3479992" y="269185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0" name="Oval 99">
            <a:extLst>
              <a:ext uri="{FF2B5EF4-FFF2-40B4-BE49-F238E27FC236}">
                <a16:creationId xmlns:a16="http://schemas.microsoft.com/office/drawing/2014/main" id="{026D1300-E62F-415F-ACBC-513EB296D8F9}"/>
              </a:ext>
            </a:extLst>
          </p:cNvPr>
          <p:cNvSpPr/>
          <p:nvPr/>
        </p:nvSpPr>
        <p:spPr>
          <a:xfrm>
            <a:off x="4192670" y="30668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1" name="Oval 100">
            <a:extLst>
              <a:ext uri="{FF2B5EF4-FFF2-40B4-BE49-F238E27FC236}">
                <a16:creationId xmlns:a16="http://schemas.microsoft.com/office/drawing/2014/main" id="{5D4F3442-DA0C-4672-B0EA-0BB2A81489A2}"/>
              </a:ext>
            </a:extLst>
          </p:cNvPr>
          <p:cNvSpPr/>
          <p:nvPr/>
        </p:nvSpPr>
        <p:spPr>
          <a:xfrm>
            <a:off x="4345070" y="32192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2" name="Oval 101">
            <a:extLst>
              <a:ext uri="{FF2B5EF4-FFF2-40B4-BE49-F238E27FC236}">
                <a16:creationId xmlns:a16="http://schemas.microsoft.com/office/drawing/2014/main" id="{90ABB4DD-60A7-412B-B7C3-043962CB9384}"/>
              </a:ext>
            </a:extLst>
          </p:cNvPr>
          <p:cNvSpPr/>
          <p:nvPr/>
        </p:nvSpPr>
        <p:spPr>
          <a:xfrm>
            <a:off x="3592495" y="282916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3" name="Oval 102">
            <a:extLst>
              <a:ext uri="{FF2B5EF4-FFF2-40B4-BE49-F238E27FC236}">
                <a16:creationId xmlns:a16="http://schemas.microsoft.com/office/drawing/2014/main" id="{B2DE9222-C066-44A1-906E-43C2F679722A}"/>
              </a:ext>
            </a:extLst>
          </p:cNvPr>
          <p:cNvSpPr/>
          <p:nvPr/>
        </p:nvSpPr>
        <p:spPr>
          <a:xfrm>
            <a:off x="3166877" y="309167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 name="Oval 103">
            <a:extLst>
              <a:ext uri="{FF2B5EF4-FFF2-40B4-BE49-F238E27FC236}">
                <a16:creationId xmlns:a16="http://schemas.microsoft.com/office/drawing/2014/main" id="{8A553B91-5A3C-47A8-891B-5A45D6778C58}"/>
              </a:ext>
            </a:extLst>
          </p:cNvPr>
          <p:cNvSpPr/>
          <p:nvPr/>
        </p:nvSpPr>
        <p:spPr>
          <a:xfrm>
            <a:off x="3784792" y="299665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5" name="Oval 104">
            <a:extLst>
              <a:ext uri="{FF2B5EF4-FFF2-40B4-BE49-F238E27FC236}">
                <a16:creationId xmlns:a16="http://schemas.microsoft.com/office/drawing/2014/main" id="{1CFB862C-D7D5-4BCD-B7BC-1FCCF9973B88}"/>
              </a:ext>
            </a:extLst>
          </p:cNvPr>
          <p:cNvSpPr/>
          <p:nvPr/>
        </p:nvSpPr>
        <p:spPr>
          <a:xfrm>
            <a:off x="3937192" y="314905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 name="Oval 105">
            <a:extLst>
              <a:ext uri="{FF2B5EF4-FFF2-40B4-BE49-F238E27FC236}">
                <a16:creationId xmlns:a16="http://schemas.microsoft.com/office/drawing/2014/main" id="{3BA8F966-1372-4318-A5BC-DF397E508850}"/>
              </a:ext>
            </a:extLst>
          </p:cNvPr>
          <p:cNvSpPr/>
          <p:nvPr/>
        </p:nvSpPr>
        <p:spPr>
          <a:xfrm>
            <a:off x="4089592" y="330145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7" name="Oval 106">
            <a:extLst>
              <a:ext uri="{FF2B5EF4-FFF2-40B4-BE49-F238E27FC236}">
                <a16:creationId xmlns:a16="http://schemas.microsoft.com/office/drawing/2014/main" id="{E8974DBE-C4B3-422F-B9D6-473AB289BB83}"/>
              </a:ext>
            </a:extLst>
          </p:cNvPr>
          <p:cNvSpPr/>
          <p:nvPr/>
        </p:nvSpPr>
        <p:spPr>
          <a:xfrm>
            <a:off x="3319277" y="324407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8" name="Oval 107">
            <a:extLst>
              <a:ext uri="{FF2B5EF4-FFF2-40B4-BE49-F238E27FC236}">
                <a16:creationId xmlns:a16="http://schemas.microsoft.com/office/drawing/2014/main" id="{D75551DB-5F02-488D-A06C-FF1DC7E2FA6D}"/>
              </a:ext>
            </a:extLst>
          </p:cNvPr>
          <p:cNvSpPr/>
          <p:nvPr/>
        </p:nvSpPr>
        <p:spPr>
          <a:xfrm>
            <a:off x="3471677" y="339647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9" name="Oval 108">
            <a:extLst>
              <a:ext uri="{FF2B5EF4-FFF2-40B4-BE49-F238E27FC236}">
                <a16:creationId xmlns:a16="http://schemas.microsoft.com/office/drawing/2014/main" id="{2D5B78D2-1653-487B-9132-503D3954ED31}"/>
              </a:ext>
            </a:extLst>
          </p:cNvPr>
          <p:cNvSpPr/>
          <p:nvPr/>
        </p:nvSpPr>
        <p:spPr>
          <a:xfrm>
            <a:off x="3624077" y="354887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0" name="Oval 109">
            <a:extLst>
              <a:ext uri="{FF2B5EF4-FFF2-40B4-BE49-F238E27FC236}">
                <a16:creationId xmlns:a16="http://schemas.microsoft.com/office/drawing/2014/main" id="{7702D241-92F5-4B38-943E-74EA190B945D}"/>
              </a:ext>
            </a:extLst>
          </p:cNvPr>
          <p:cNvSpPr/>
          <p:nvPr/>
        </p:nvSpPr>
        <p:spPr>
          <a:xfrm>
            <a:off x="3622814" y="227911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1" name="Oval 110">
            <a:extLst>
              <a:ext uri="{FF2B5EF4-FFF2-40B4-BE49-F238E27FC236}">
                <a16:creationId xmlns:a16="http://schemas.microsoft.com/office/drawing/2014/main" id="{4C4B11C3-EBED-4F53-AB11-51EE37B25C12}"/>
              </a:ext>
            </a:extLst>
          </p:cNvPr>
          <p:cNvSpPr/>
          <p:nvPr/>
        </p:nvSpPr>
        <p:spPr>
          <a:xfrm>
            <a:off x="3775214" y="243151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2" name="Oval 111">
            <a:extLst>
              <a:ext uri="{FF2B5EF4-FFF2-40B4-BE49-F238E27FC236}">
                <a16:creationId xmlns:a16="http://schemas.microsoft.com/office/drawing/2014/main" id="{9F4E0F87-D48B-4695-BE57-3EE6B69A2811}"/>
              </a:ext>
            </a:extLst>
          </p:cNvPr>
          <p:cNvSpPr/>
          <p:nvPr/>
        </p:nvSpPr>
        <p:spPr>
          <a:xfrm>
            <a:off x="3927614" y="258391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3" name="Oval 112">
            <a:extLst>
              <a:ext uri="{FF2B5EF4-FFF2-40B4-BE49-F238E27FC236}">
                <a16:creationId xmlns:a16="http://schemas.microsoft.com/office/drawing/2014/main" id="{3B7F425B-9C0A-4732-8265-D934C923B698}"/>
              </a:ext>
            </a:extLst>
          </p:cNvPr>
          <p:cNvSpPr/>
          <p:nvPr/>
        </p:nvSpPr>
        <p:spPr>
          <a:xfrm>
            <a:off x="4080014" y="273631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4" name="Oval 113">
            <a:extLst>
              <a:ext uri="{FF2B5EF4-FFF2-40B4-BE49-F238E27FC236}">
                <a16:creationId xmlns:a16="http://schemas.microsoft.com/office/drawing/2014/main" id="{14EF5209-0CF0-48A4-88F8-F7B6EDE0FE49}"/>
              </a:ext>
            </a:extLst>
          </p:cNvPr>
          <p:cNvSpPr/>
          <p:nvPr/>
        </p:nvSpPr>
        <p:spPr>
          <a:xfrm>
            <a:off x="3927613" y="202702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5" name="Oval 114">
            <a:extLst>
              <a:ext uri="{FF2B5EF4-FFF2-40B4-BE49-F238E27FC236}">
                <a16:creationId xmlns:a16="http://schemas.microsoft.com/office/drawing/2014/main" id="{CA1E5706-12ED-4B0C-999D-394B28C7840F}"/>
              </a:ext>
            </a:extLst>
          </p:cNvPr>
          <p:cNvSpPr/>
          <p:nvPr/>
        </p:nvSpPr>
        <p:spPr>
          <a:xfrm>
            <a:off x="4080013" y="217942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6" name="Oval 115">
            <a:extLst>
              <a:ext uri="{FF2B5EF4-FFF2-40B4-BE49-F238E27FC236}">
                <a16:creationId xmlns:a16="http://schemas.microsoft.com/office/drawing/2014/main" id="{1AED3242-6818-4FD7-9EFB-3BBCC237F63B}"/>
              </a:ext>
            </a:extLst>
          </p:cNvPr>
          <p:cNvSpPr/>
          <p:nvPr/>
        </p:nvSpPr>
        <p:spPr>
          <a:xfrm>
            <a:off x="4232413" y="233182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7" name="Oval 116">
            <a:extLst>
              <a:ext uri="{FF2B5EF4-FFF2-40B4-BE49-F238E27FC236}">
                <a16:creationId xmlns:a16="http://schemas.microsoft.com/office/drawing/2014/main" id="{5F60B3D9-6E34-4330-8E96-965F3DE3A98B}"/>
              </a:ext>
            </a:extLst>
          </p:cNvPr>
          <p:cNvSpPr/>
          <p:nvPr/>
        </p:nvSpPr>
        <p:spPr>
          <a:xfrm>
            <a:off x="4384813" y="248422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8" name="Oval 117">
            <a:extLst>
              <a:ext uri="{FF2B5EF4-FFF2-40B4-BE49-F238E27FC236}">
                <a16:creationId xmlns:a16="http://schemas.microsoft.com/office/drawing/2014/main" id="{DCDCCC96-8885-49E3-9815-06A8E46678DB}"/>
              </a:ext>
            </a:extLst>
          </p:cNvPr>
          <p:cNvSpPr/>
          <p:nvPr/>
        </p:nvSpPr>
        <p:spPr>
          <a:xfrm>
            <a:off x="4537213" y="263662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9" name="Oval 118">
            <a:extLst>
              <a:ext uri="{FF2B5EF4-FFF2-40B4-BE49-F238E27FC236}">
                <a16:creationId xmlns:a16="http://schemas.microsoft.com/office/drawing/2014/main" id="{59A858DE-F087-4BE2-9B7C-4A53C83E6B5C}"/>
              </a:ext>
            </a:extLst>
          </p:cNvPr>
          <p:cNvSpPr/>
          <p:nvPr/>
        </p:nvSpPr>
        <p:spPr>
          <a:xfrm>
            <a:off x="4122133" y="15235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0" name="Oval 119">
            <a:extLst>
              <a:ext uri="{FF2B5EF4-FFF2-40B4-BE49-F238E27FC236}">
                <a16:creationId xmlns:a16="http://schemas.microsoft.com/office/drawing/2014/main" id="{8A5AB66D-D1C0-49DC-A754-2BD44263E746}"/>
              </a:ext>
            </a:extLst>
          </p:cNvPr>
          <p:cNvSpPr/>
          <p:nvPr/>
        </p:nvSpPr>
        <p:spPr>
          <a:xfrm>
            <a:off x="4274533" y="16759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1" name="Oval 120">
            <a:extLst>
              <a:ext uri="{FF2B5EF4-FFF2-40B4-BE49-F238E27FC236}">
                <a16:creationId xmlns:a16="http://schemas.microsoft.com/office/drawing/2014/main" id="{BF5F46A3-68B9-4318-B97D-34FE5432F165}"/>
              </a:ext>
            </a:extLst>
          </p:cNvPr>
          <p:cNvSpPr/>
          <p:nvPr/>
        </p:nvSpPr>
        <p:spPr>
          <a:xfrm>
            <a:off x="4426933" y="18283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2" name="Oval 121">
            <a:extLst>
              <a:ext uri="{FF2B5EF4-FFF2-40B4-BE49-F238E27FC236}">
                <a16:creationId xmlns:a16="http://schemas.microsoft.com/office/drawing/2014/main" id="{0520BC9B-4447-478E-853E-B259A623C9E0}"/>
              </a:ext>
            </a:extLst>
          </p:cNvPr>
          <p:cNvSpPr/>
          <p:nvPr/>
        </p:nvSpPr>
        <p:spPr>
          <a:xfrm>
            <a:off x="4579333" y="19807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3" name="Oval 122">
            <a:extLst>
              <a:ext uri="{FF2B5EF4-FFF2-40B4-BE49-F238E27FC236}">
                <a16:creationId xmlns:a16="http://schemas.microsoft.com/office/drawing/2014/main" id="{7805A758-070C-464A-9D73-38F810502AA1}"/>
              </a:ext>
            </a:extLst>
          </p:cNvPr>
          <p:cNvSpPr/>
          <p:nvPr/>
        </p:nvSpPr>
        <p:spPr>
          <a:xfrm>
            <a:off x="4731733" y="21331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4" name="Oval 123">
            <a:extLst>
              <a:ext uri="{FF2B5EF4-FFF2-40B4-BE49-F238E27FC236}">
                <a16:creationId xmlns:a16="http://schemas.microsoft.com/office/drawing/2014/main" id="{DB42BF95-B9E0-4DFE-9D90-38CFF27C3EAE}"/>
              </a:ext>
            </a:extLst>
          </p:cNvPr>
          <p:cNvSpPr/>
          <p:nvPr/>
        </p:nvSpPr>
        <p:spPr>
          <a:xfrm>
            <a:off x="4171455" y="19106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5" name="Oval 124">
            <a:extLst>
              <a:ext uri="{FF2B5EF4-FFF2-40B4-BE49-F238E27FC236}">
                <a16:creationId xmlns:a16="http://schemas.microsoft.com/office/drawing/2014/main" id="{C3CC1ABD-7651-4A6A-A8D5-8EFAA6CBC239}"/>
              </a:ext>
            </a:extLst>
          </p:cNvPr>
          <p:cNvSpPr/>
          <p:nvPr/>
        </p:nvSpPr>
        <p:spPr>
          <a:xfrm>
            <a:off x="4884133" y="22855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6" name="Oval 125">
            <a:extLst>
              <a:ext uri="{FF2B5EF4-FFF2-40B4-BE49-F238E27FC236}">
                <a16:creationId xmlns:a16="http://schemas.microsoft.com/office/drawing/2014/main" id="{E090AF65-3B86-49C6-8F47-6B16999EE349}"/>
              </a:ext>
            </a:extLst>
          </p:cNvPr>
          <p:cNvSpPr/>
          <p:nvPr/>
        </p:nvSpPr>
        <p:spPr>
          <a:xfrm>
            <a:off x="5036533" y="24379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7" name="Oval 126">
            <a:extLst>
              <a:ext uri="{FF2B5EF4-FFF2-40B4-BE49-F238E27FC236}">
                <a16:creationId xmlns:a16="http://schemas.microsoft.com/office/drawing/2014/main" id="{B34E94B6-60F3-4CFC-ABD6-6D38C3C17F64}"/>
              </a:ext>
            </a:extLst>
          </p:cNvPr>
          <p:cNvSpPr/>
          <p:nvPr/>
        </p:nvSpPr>
        <p:spPr>
          <a:xfrm>
            <a:off x="4283958" y="204791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8" name="Oval 127">
            <a:extLst>
              <a:ext uri="{FF2B5EF4-FFF2-40B4-BE49-F238E27FC236}">
                <a16:creationId xmlns:a16="http://schemas.microsoft.com/office/drawing/2014/main" id="{40FE8D5E-602F-4F5B-AA96-DD7E44474365}"/>
              </a:ext>
            </a:extLst>
          </p:cNvPr>
          <p:cNvSpPr/>
          <p:nvPr/>
        </p:nvSpPr>
        <p:spPr>
          <a:xfrm>
            <a:off x="3858340" y="231043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9" name="Oval 128">
            <a:extLst>
              <a:ext uri="{FF2B5EF4-FFF2-40B4-BE49-F238E27FC236}">
                <a16:creationId xmlns:a16="http://schemas.microsoft.com/office/drawing/2014/main" id="{CE369D0D-EEB3-4F69-9F35-087E31C2210F}"/>
              </a:ext>
            </a:extLst>
          </p:cNvPr>
          <p:cNvSpPr/>
          <p:nvPr/>
        </p:nvSpPr>
        <p:spPr>
          <a:xfrm>
            <a:off x="4476255" y="22154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0" name="Oval 129">
            <a:extLst>
              <a:ext uri="{FF2B5EF4-FFF2-40B4-BE49-F238E27FC236}">
                <a16:creationId xmlns:a16="http://schemas.microsoft.com/office/drawing/2014/main" id="{E20FF904-C516-4650-95D8-C3C791436309}"/>
              </a:ext>
            </a:extLst>
          </p:cNvPr>
          <p:cNvSpPr/>
          <p:nvPr/>
        </p:nvSpPr>
        <p:spPr>
          <a:xfrm>
            <a:off x="4628655" y="23678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1" name="Oval 130">
            <a:extLst>
              <a:ext uri="{FF2B5EF4-FFF2-40B4-BE49-F238E27FC236}">
                <a16:creationId xmlns:a16="http://schemas.microsoft.com/office/drawing/2014/main" id="{75F0DBAD-F766-4CD5-B0C1-E422A601846B}"/>
              </a:ext>
            </a:extLst>
          </p:cNvPr>
          <p:cNvSpPr/>
          <p:nvPr/>
        </p:nvSpPr>
        <p:spPr>
          <a:xfrm>
            <a:off x="4781055" y="25202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2" name="Oval 131">
            <a:extLst>
              <a:ext uri="{FF2B5EF4-FFF2-40B4-BE49-F238E27FC236}">
                <a16:creationId xmlns:a16="http://schemas.microsoft.com/office/drawing/2014/main" id="{ABB93EAB-125B-41F5-A4B5-E42447EDC0D9}"/>
              </a:ext>
            </a:extLst>
          </p:cNvPr>
          <p:cNvSpPr/>
          <p:nvPr/>
        </p:nvSpPr>
        <p:spPr>
          <a:xfrm>
            <a:off x="4010740" y="246283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3" name="Oval 132">
            <a:extLst>
              <a:ext uri="{FF2B5EF4-FFF2-40B4-BE49-F238E27FC236}">
                <a16:creationId xmlns:a16="http://schemas.microsoft.com/office/drawing/2014/main" id="{3AF8A026-5FE9-4C1E-8C64-36E5D8D453CA}"/>
              </a:ext>
            </a:extLst>
          </p:cNvPr>
          <p:cNvSpPr/>
          <p:nvPr/>
        </p:nvSpPr>
        <p:spPr>
          <a:xfrm>
            <a:off x="4163140" y="261523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4" name="Oval 133">
            <a:extLst>
              <a:ext uri="{FF2B5EF4-FFF2-40B4-BE49-F238E27FC236}">
                <a16:creationId xmlns:a16="http://schemas.microsoft.com/office/drawing/2014/main" id="{1AB14C69-0246-4395-A766-8790A95C1D96}"/>
              </a:ext>
            </a:extLst>
          </p:cNvPr>
          <p:cNvSpPr/>
          <p:nvPr/>
        </p:nvSpPr>
        <p:spPr>
          <a:xfrm>
            <a:off x="4315540" y="276763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5" name="Oval 134">
            <a:extLst>
              <a:ext uri="{FF2B5EF4-FFF2-40B4-BE49-F238E27FC236}">
                <a16:creationId xmlns:a16="http://schemas.microsoft.com/office/drawing/2014/main" id="{D0FCB924-FA2B-49E7-84A0-DE4A3494D66B}"/>
              </a:ext>
            </a:extLst>
          </p:cNvPr>
          <p:cNvSpPr/>
          <p:nvPr/>
        </p:nvSpPr>
        <p:spPr>
          <a:xfrm>
            <a:off x="4496914" y="224976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6" name="Oval 135">
            <a:extLst>
              <a:ext uri="{FF2B5EF4-FFF2-40B4-BE49-F238E27FC236}">
                <a16:creationId xmlns:a16="http://schemas.microsoft.com/office/drawing/2014/main" id="{1C18F280-113B-4EA8-8C57-FEB12410EE88}"/>
              </a:ext>
            </a:extLst>
          </p:cNvPr>
          <p:cNvSpPr/>
          <p:nvPr/>
        </p:nvSpPr>
        <p:spPr>
          <a:xfrm>
            <a:off x="4649314" y="240216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7" name="Oval 136">
            <a:extLst>
              <a:ext uri="{FF2B5EF4-FFF2-40B4-BE49-F238E27FC236}">
                <a16:creationId xmlns:a16="http://schemas.microsoft.com/office/drawing/2014/main" id="{23688623-0F11-4997-AD78-738345C89833}"/>
              </a:ext>
            </a:extLst>
          </p:cNvPr>
          <p:cNvSpPr/>
          <p:nvPr/>
        </p:nvSpPr>
        <p:spPr>
          <a:xfrm>
            <a:off x="4801714" y="255456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8" name="Oval 137">
            <a:extLst>
              <a:ext uri="{FF2B5EF4-FFF2-40B4-BE49-F238E27FC236}">
                <a16:creationId xmlns:a16="http://schemas.microsoft.com/office/drawing/2014/main" id="{F4F32FC9-6D80-4D9C-980D-557876555C4C}"/>
              </a:ext>
            </a:extLst>
          </p:cNvPr>
          <p:cNvSpPr/>
          <p:nvPr/>
        </p:nvSpPr>
        <p:spPr>
          <a:xfrm>
            <a:off x="4954114" y="270696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9" name="Oval 138">
            <a:extLst>
              <a:ext uri="{FF2B5EF4-FFF2-40B4-BE49-F238E27FC236}">
                <a16:creationId xmlns:a16="http://schemas.microsoft.com/office/drawing/2014/main" id="{2DB8F44F-DA69-4638-B8E3-6F5517AD109B}"/>
              </a:ext>
            </a:extLst>
          </p:cNvPr>
          <p:cNvSpPr/>
          <p:nvPr/>
        </p:nvSpPr>
        <p:spPr>
          <a:xfrm>
            <a:off x="4801713" y="199767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0" name="Oval 139">
            <a:extLst>
              <a:ext uri="{FF2B5EF4-FFF2-40B4-BE49-F238E27FC236}">
                <a16:creationId xmlns:a16="http://schemas.microsoft.com/office/drawing/2014/main" id="{CDB4903C-A423-40F5-9BFD-05B83A2A3326}"/>
              </a:ext>
            </a:extLst>
          </p:cNvPr>
          <p:cNvSpPr/>
          <p:nvPr/>
        </p:nvSpPr>
        <p:spPr>
          <a:xfrm>
            <a:off x="4954113" y="215007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1" name="Oval 140">
            <a:extLst>
              <a:ext uri="{FF2B5EF4-FFF2-40B4-BE49-F238E27FC236}">
                <a16:creationId xmlns:a16="http://schemas.microsoft.com/office/drawing/2014/main" id="{376C7A9B-B7FF-4E61-9733-0274FF1528FB}"/>
              </a:ext>
            </a:extLst>
          </p:cNvPr>
          <p:cNvSpPr/>
          <p:nvPr/>
        </p:nvSpPr>
        <p:spPr>
          <a:xfrm>
            <a:off x="5106513" y="230247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2" name="Oval 141">
            <a:extLst>
              <a:ext uri="{FF2B5EF4-FFF2-40B4-BE49-F238E27FC236}">
                <a16:creationId xmlns:a16="http://schemas.microsoft.com/office/drawing/2014/main" id="{A3CC1881-AA28-4091-952A-257EF1E63A04}"/>
              </a:ext>
            </a:extLst>
          </p:cNvPr>
          <p:cNvSpPr/>
          <p:nvPr/>
        </p:nvSpPr>
        <p:spPr>
          <a:xfrm>
            <a:off x="5258913" y="245487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3" name="Oval 142">
            <a:extLst>
              <a:ext uri="{FF2B5EF4-FFF2-40B4-BE49-F238E27FC236}">
                <a16:creationId xmlns:a16="http://schemas.microsoft.com/office/drawing/2014/main" id="{B49DC7F2-3EF4-4DDA-BDDE-419F13ED1B24}"/>
              </a:ext>
            </a:extLst>
          </p:cNvPr>
          <p:cNvSpPr/>
          <p:nvPr/>
        </p:nvSpPr>
        <p:spPr>
          <a:xfrm>
            <a:off x="5411313" y="260727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4" name="Oval 143">
            <a:extLst>
              <a:ext uri="{FF2B5EF4-FFF2-40B4-BE49-F238E27FC236}">
                <a16:creationId xmlns:a16="http://schemas.microsoft.com/office/drawing/2014/main" id="{F54B984A-76B5-42DE-9A7B-A64AA14EC0FB}"/>
              </a:ext>
            </a:extLst>
          </p:cNvPr>
          <p:cNvSpPr/>
          <p:nvPr/>
        </p:nvSpPr>
        <p:spPr>
          <a:xfrm>
            <a:off x="4996233" y="14942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5" name="Oval 144">
            <a:extLst>
              <a:ext uri="{FF2B5EF4-FFF2-40B4-BE49-F238E27FC236}">
                <a16:creationId xmlns:a16="http://schemas.microsoft.com/office/drawing/2014/main" id="{B1892DC4-F07A-48FE-B465-39B7392D6516}"/>
              </a:ext>
            </a:extLst>
          </p:cNvPr>
          <p:cNvSpPr/>
          <p:nvPr/>
        </p:nvSpPr>
        <p:spPr>
          <a:xfrm>
            <a:off x="5148633" y="16466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6" name="Oval 145">
            <a:extLst>
              <a:ext uri="{FF2B5EF4-FFF2-40B4-BE49-F238E27FC236}">
                <a16:creationId xmlns:a16="http://schemas.microsoft.com/office/drawing/2014/main" id="{F2B411CE-73BA-468E-B444-04A109A2710D}"/>
              </a:ext>
            </a:extLst>
          </p:cNvPr>
          <p:cNvSpPr/>
          <p:nvPr/>
        </p:nvSpPr>
        <p:spPr>
          <a:xfrm>
            <a:off x="5301033" y="17990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7" name="Oval 146">
            <a:extLst>
              <a:ext uri="{FF2B5EF4-FFF2-40B4-BE49-F238E27FC236}">
                <a16:creationId xmlns:a16="http://schemas.microsoft.com/office/drawing/2014/main" id="{C398403F-EA7B-49E6-9D2E-CA1AA7BA13F0}"/>
              </a:ext>
            </a:extLst>
          </p:cNvPr>
          <p:cNvSpPr/>
          <p:nvPr/>
        </p:nvSpPr>
        <p:spPr>
          <a:xfrm>
            <a:off x="5453433" y="19514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8" name="Oval 147">
            <a:extLst>
              <a:ext uri="{FF2B5EF4-FFF2-40B4-BE49-F238E27FC236}">
                <a16:creationId xmlns:a16="http://schemas.microsoft.com/office/drawing/2014/main" id="{0C401491-B150-4543-9C55-3F7AEF198FCA}"/>
              </a:ext>
            </a:extLst>
          </p:cNvPr>
          <p:cNvSpPr/>
          <p:nvPr/>
        </p:nvSpPr>
        <p:spPr>
          <a:xfrm>
            <a:off x="5605833" y="21038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9" name="Oval 148">
            <a:extLst>
              <a:ext uri="{FF2B5EF4-FFF2-40B4-BE49-F238E27FC236}">
                <a16:creationId xmlns:a16="http://schemas.microsoft.com/office/drawing/2014/main" id="{A987265E-F25D-4EC6-86D8-62D4809A9E87}"/>
              </a:ext>
            </a:extLst>
          </p:cNvPr>
          <p:cNvSpPr/>
          <p:nvPr/>
        </p:nvSpPr>
        <p:spPr>
          <a:xfrm>
            <a:off x="5045555" y="18812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0" name="Oval 149">
            <a:extLst>
              <a:ext uri="{FF2B5EF4-FFF2-40B4-BE49-F238E27FC236}">
                <a16:creationId xmlns:a16="http://schemas.microsoft.com/office/drawing/2014/main" id="{47013FC9-F932-404C-9E83-9058DEA9CC83}"/>
              </a:ext>
            </a:extLst>
          </p:cNvPr>
          <p:cNvSpPr/>
          <p:nvPr/>
        </p:nvSpPr>
        <p:spPr>
          <a:xfrm>
            <a:off x="5758233" y="22562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1" name="Oval 150">
            <a:extLst>
              <a:ext uri="{FF2B5EF4-FFF2-40B4-BE49-F238E27FC236}">
                <a16:creationId xmlns:a16="http://schemas.microsoft.com/office/drawing/2014/main" id="{4D210047-8BB5-4CAE-A9EE-A9A6A5BA76BC}"/>
              </a:ext>
            </a:extLst>
          </p:cNvPr>
          <p:cNvSpPr/>
          <p:nvPr/>
        </p:nvSpPr>
        <p:spPr>
          <a:xfrm>
            <a:off x="5910633" y="24086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2" name="Oval 151">
            <a:extLst>
              <a:ext uri="{FF2B5EF4-FFF2-40B4-BE49-F238E27FC236}">
                <a16:creationId xmlns:a16="http://schemas.microsoft.com/office/drawing/2014/main" id="{240118E7-5D1A-4311-8760-81F017F88C6A}"/>
              </a:ext>
            </a:extLst>
          </p:cNvPr>
          <p:cNvSpPr/>
          <p:nvPr/>
        </p:nvSpPr>
        <p:spPr>
          <a:xfrm>
            <a:off x="5158058" y="201857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3" name="Oval 152">
            <a:extLst>
              <a:ext uri="{FF2B5EF4-FFF2-40B4-BE49-F238E27FC236}">
                <a16:creationId xmlns:a16="http://schemas.microsoft.com/office/drawing/2014/main" id="{D25B3E8B-E127-4B65-8355-ADF46CD69159}"/>
              </a:ext>
            </a:extLst>
          </p:cNvPr>
          <p:cNvSpPr/>
          <p:nvPr/>
        </p:nvSpPr>
        <p:spPr>
          <a:xfrm>
            <a:off x="4732440" y="228108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4" name="Oval 153">
            <a:extLst>
              <a:ext uri="{FF2B5EF4-FFF2-40B4-BE49-F238E27FC236}">
                <a16:creationId xmlns:a16="http://schemas.microsoft.com/office/drawing/2014/main" id="{A6438CD7-6AC3-4BC2-AFF3-A67E3CABC22C}"/>
              </a:ext>
            </a:extLst>
          </p:cNvPr>
          <p:cNvSpPr/>
          <p:nvPr/>
        </p:nvSpPr>
        <p:spPr>
          <a:xfrm>
            <a:off x="5350355" y="21860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5" name="Oval 154">
            <a:extLst>
              <a:ext uri="{FF2B5EF4-FFF2-40B4-BE49-F238E27FC236}">
                <a16:creationId xmlns:a16="http://schemas.microsoft.com/office/drawing/2014/main" id="{A929890E-D0F5-4B73-AA7D-885B7E52FA84}"/>
              </a:ext>
            </a:extLst>
          </p:cNvPr>
          <p:cNvSpPr/>
          <p:nvPr/>
        </p:nvSpPr>
        <p:spPr>
          <a:xfrm>
            <a:off x="5502755" y="23384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6" name="Oval 155">
            <a:extLst>
              <a:ext uri="{FF2B5EF4-FFF2-40B4-BE49-F238E27FC236}">
                <a16:creationId xmlns:a16="http://schemas.microsoft.com/office/drawing/2014/main" id="{132CF812-D713-43CB-85C8-821798D86132}"/>
              </a:ext>
            </a:extLst>
          </p:cNvPr>
          <p:cNvSpPr/>
          <p:nvPr/>
        </p:nvSpPr>
        <p:spPr>
          <a:xfrm>
            <a:off x="5655155" y="24908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7" name="Oval 156">
            <a:extLst>
              <a:ext uri="{FF2B5EF4-FFF2-40B4-BE49-F238E27FC236}">
                <a16:creationId xmlns:a16="http://schemas.microsoft.com/office/drawing/2014/main" id="{365456C7-0E14-43E7-BE37-BAD3FE58AB4F}"/>
              </a:ext>
            </a:extLst>
          </p:cNvPr>
          <p:cNvSpPr/>
          <p:nvPr/>
        </p:nvSpPr>
        <p:spPr>
          <a:xfrm>
            <a:off x="4884840" y="243348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8" name="Oval 157">
            <a:extLst>
              <a:ext uri="{FF2B5EF4-FFF2-40B4-BE49-F238E27FC236}">
                <a16:creationId xmlns:a16="http://schemas.microsoft.com/office/drawing/2014/main" id="{0D208D8E-6554-4598-A934-6AFC8EEED7C2}"/>
              </a:ext>
            </a:extLst>
          </p:cNvPr>
          <p:cNvSpPr/>
          <p:nvPr/>
        </p:nvSpPr>
        <p:spPr>
          <a:xfrm>
            <a:off x="5037240" y="258588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9" name="Oval 158">
            <a:extLst>
              <a:ext uri="{FF2B5EF4-FFF2-40B4-BE49-F238E27FC236}">
                <a16:creationId xmlns:a16="http://schemas.microsoft.com/office/drawing/2014/main" id="{C7764121-F9F1-44EF-B97D-2FDD050C278E}"/>
              </a:ext>
            </a:extLst>
          </p:cNvPr>
          <p:cNvSpPr/>
          <p:nvPr/>
        </p:nvSpPr>
        <p:spPr>
          <a:xfrm>
            <a:off x="5189640" y="273828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0" name="Oval 159">
            <a:extLst>
              <a:ext uri="{FF2B5EF4-FFF2-40B4-BE49-F238E27FC236}">
                <a16:creationId xmlns:a16="http://schemas.microsoft.com/office/drawing/2014/main" id="{B39E123B-E0D3-4E6F-938B-29F85069DCF3}"/>
              </a:ext>
            </a:extLst>
          </p:cNvPr>
          <p:cNvSpPr/>
          <p:nvPr/>
        </p:nvSpPr>
        <p:spPr>
          <a:xfrm>
            <a:off x="5436438" y="272998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1" name="Oval 160">
            <a:extLst>
              <a:ext uri="{FF2B5EF4-FFF2-40B4-BE49-F238E27FC236}">
                <a16:creationId xmlns:a16="http://schemas.microsoft.com/office/drawing/2014/main" id="{E5A32F6E-243A-409C-8BC4-CA7487B297D8}"/>
              </a:ext>
            </a:extLst>
          </p:cNvPr>
          <p:cNvSpPr/>
          <p:nvPr/>
        </p:nvSpPr>
        <p:spPr>
          <a:xfrm>
            <a:off x="5588838" y="288238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2" name="Oval 161">
            <a:extLst>
              <a:ext uri="{FF2B5EF4-FFF2-40B4-BE49-F238E27FC236}">
                <a16:creationId xmlns:a16="http://schemas.microsoft.com/office/drawing/2014/main" id="{6F39C052-7C71-4076-A834-C2984DC3B61B}"/>
              </a:ext>
            </a:extLst>
          </p:cNvPr>
          <p:cNvSpPr/>
          <p:nvPr/>
        </p:nvSpPr>
        <p:spPr>
          <a:xfrm>
            <a:off x="5741238" y="303478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3" name="Oval 162">
            <a:extLst>
              <a:ext uri="{FF2B5EF4-FFF2-40B4-BE49-F238E27FC236}">
                <a16:creationId xmlns:a16="http://schemas.microsoft.com/office/drawing/2014/main" id="{7EBF9D9E-D06F-4451-8272-F2A9BC77F675}"/>
              </a:ext>
            </a:extLst>
          </p:cNvPr>
          <p:cNvSpPr/>
          <p:nvPr/>
        </p:nvSpPr>
        <p:spPr>
          <a:xfrm>
            <a:off x="5485760" y="311702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4" name="Oval 163">
            <a:extLst>
              <a:ext uri="{FF2B5EF4-FFF2-40B4-BE49-F238E27FC236}">
                <a16:creationId xmlns:a16="http://schemas.microsoft.com/office/drawing/2014/main" id="{DA87259D-AB5E-45A5-95AD-8629CF08039B}"/>
              </a:ext>
            </a:extLst>
          </p:cNvPr>
          <p:cNvSpPr/>
          <p:nvPr/>
        </p:nvSpPr>
        <p:spPr>
          <a:xfrm>
            <a:off x="5638160" y="326942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5" name="Oval 164">
            <a:extLst>
              <a:ext uri="{FF2B5EF4-FFF2-40B4-BE49-F238E27FC236}">
                <a16:creationId xmlns:a16="http://schemas.microsoft.com/office/drawing/2014/main" id="{E065F0DF-34FE-4406-9123-7691D8C55477}"/>
              </a:ext>
            </a:extLst>
          </p:cNvPr>
          <p:cNvSpPr/>
          <p:nvPr/>
        </p:nvSpPr>
        <p:spPr>
          <a:xfrm>
            <a:off x="5543668" y="32404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6" name="Oval 165">
            <a:extLst>
              <a:ext uri="{FF2B5EF4-FFF2-40B4-BE49-F238E27FC236}">
                <a16:creationId xmlns:a16="http://schemas.microsoft.com/office/drawing/2014/main" id="{09EDB509-7D0A-41C2-826C-ABEE1C103075}"/>
              </a:ext>
            </a:extLst>
          </p:cNvPr>
          <p:cNvSpPr/>
          <p:nvPr/>
        </p:nvSpPr>
        <p:spPr>
          <a:xfrm>
            <a:off x="5696068" y="33928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7" name="Oval 166">
            <a:extLst>
              <a:ext uri="{FF2B5EF4-FFF2-40B4-BE49-F238E27FC236}">
                <a16:creationId xmlns:a16="http://schemas.microsoft.com/office/drawing/2014/main" id="{B70A8E20-E4AA-46FD-8B2A-03F83758700C}"/>
              </a:ext>
            </a:extLst>
          </p:cNvPr>
          <p:cNvSpPr/>
          <p:nvPr/>
        </p:nvSpPr>
        <p:spPr>
          <a:xfrm>
            <a:off x="5696067" y="283591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8" name="Oval 167">
            <a:extLst>
              <a:ext uri="{FF2B5EF4-FFF2-40B4-BE49-F238E27FC236}">
                <a16:creationId xmlns:a16="http://schemas.microsoft.com/office/drawing/2014/main" id="{C15825A4-C35A-4B40-9661-9F948AE2EEF5}"/>
              </a:ext>
            </a:extLst>
          </p:cNvPr>
          <p:cNvSpPr/>
          <p:nvPr/>
        </p:nvSpPr>
        <p:spPr>
          <a:xfrm>
            <a:off x="5626794" y="31193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9" name="Oval 168">
            <a:extLst>
              <a:ext uri="{FF2B5EF4-FFF2-40B4-BE49-F238E27FC236}">
                <a16:creationId xmlns:a16="http://schemas.microsoft.com/office/drawing/2014/main" id="{36174607-672F-4692-B590-1C77CC671910}"/>
              </a:ext>
            </a:extLst>
          </p:cNvPr>
          <p:cNvSpPr/>
          <p:nvPr/>
        </p:nvSpPr>
        <p:spPr>
          <a:xfrm>
            <a:off x="5448626" y="275060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0" name="Oval 169">
            <a:extLst>
              <a:ext uri="{FF2B5EF4-FFF2-40B4-BE49-F238E27FC236}">
                <a16:creationId xmlns:a16="http://schemas.microsoft.com/office/drawing/2014/main" id="{F126B8B3-D136-48AB-8706-BE9A81780908}"/>
              </a:ext>
            </a:extLst>
          </p:cNvPr>
          <p:cNvSpPr/>
          <p:nvPr/>
        </p:nvSpPr>
        <p:spPr>
          <a:xfrm>
            <a:off x="4621889" y="146709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1" name="Oval 170">
            <a:extLst>
              <a:ext uri="{FF2B5EF4-FFF2-40B4-BE49-F238E27FC236}">
                <a16:creationId xmlns:a16="http://schemas.microsoft.com/office/drawing/2014/main" id="{A53CD5A6-D3A2-42F1-AC08-E57B5B25B5EF}"/>
              </a:ext>
            </a:extLst>
          </p:cNvPr>
          <p:cNvSpPr/>
          <p:nvPr/>
        </p:nvSpPr>
        <p:spPr>
          <a:xfrm>
            <a:off x="4774289" y="161949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2" name="Oval 171">
            <a:extLst>
              <a:ext uri="{FF2B5EF4-FFF2-40B4-BE49-F238E27FC236}">
                <a16:creationId xmlns:a16="http://schemas.microsoft.com/office/drawing/2014/main" id="{087B2756-D388-4ACD-BC06-54DFE9638BF7}"/>
              </a:ext>
            </a:extLst>
          </p:cNvPr>
          <p:cNvSpPr/>
          <p:nvPr/>
        </p:nvSpPr>
        <p:spPr>
          <a:xfrm>
            <a:off x="4926689" y="177189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3" name="Oval 172">
            <a:extLst>
              <a:ext uri="{FF2B5EF4-FFF2-40B4-BE49-F238E27FC236}">
                <a16:creationId xmlns:a16="http://schemas.microsoft.com/office/drawing/2014/main" id="{01A8F13D-5496-4B05-B30B-3A585FE081BC}"/>
              </a:ext>
            </a:extLst>
          </p:cNvPr>
          <p:cNvSpPr/>
          <p:nvPr/>
        </p:nvSpPr>
        <p:spPr>
          <a:xfrm>
            <a:off x="4671211" y="185413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4" name="Oval 173">
            <a:extLst>
              <a:ext uri="{FF2B5EF4-FFF2-40B4-BE49-F238E27FC236}">
                <a16:creationId xmlns:a16="http://schemas.microsoft.com/office/drawing/2014/main" id="{E3D8ACB7-3145-499A-9C50-FE79A09114F5}"/>
              </a:ext>
            </a:extLst>
          </p:cNvPr>
          <p:cNvSpPr/>
          <p:nvPr/>
        </p:nvSpPr>
        <p:spPr>
          <a:xfrm>
            <a:off x="4823611" y="200653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5" name="Oval 174">
            <a:extLst>
              <a:ext uri="{FF2B5EF4-FFF2-40B4-BE49-F238E27FC236}">
                <a16:creationId xmlns:a16="http://schemas.microsoft.com/office/drawing/2014/main" id="{8500C648-AB92-473E-9839-6ECCE416F626}"/>
              </a:ext>
            </a:extLst>
          </p:cNvPr>
          <p:cNvSpPr/>
          <p:nvPr/>
        </p:nvSpPr>
        <p:spPr>
          <a:xfrm>
            <a:off x="4729119" y="19775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6" name="Oval 175">
            <a:extLst>
              <a:ext uri="{FF2B5EF4-FFF2-40B4-BE49-F238E27FC236}">
                <a16:creationId xmlns:a16="http://schemas.microsoft.com/office/drawing/2014/main" id="{38D92663-2BC8-4D59-8127-3BBBA40A2BE0}"/>
              </a:ext>
            </a:extLst>
          </p:cNvPr>
          <p:cNvSpPr/>
          <p:nvPr/>
        </p:nvSpPr>
        <p:spPr>
          <a:xfrm>
            <a:off x="4881519" y="21299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7" name="Oval 176">
            <a:extLst>
              <a:ext uri="{FF2B5EF4-FFF2-40B4-BE49-F238E27FC236}">
                <a16:creationId xmlns:a16="http://schemas.microsoft.com/office/drawing/2014/main" id="{578EFEFA-5614-436D-A330-4F8B2D73ECD8}"/>
              </a:ext>
            </a:extLst>
          </p:cNvPr>
          <p:cNvSpPr/>
          <p:nvPr/>
        </p:nvSpPr>
        <p:spPr>
          <a:xfrm>
            <a:off x="4881518" y="157302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8" name="Oval 177">
            <a:extLst>
              <a:ext uri="{FF2B5EF4-FFF2-40B4-BE49-F238E27FC236}">
                <a16:creationId xmlns:a16="http://schemas.microsoft.com/office/drawing/2014/main" id="{421D6E2F-EED3-4CA8-B212-01E4FEDEA017}"/>
              </a:ext>
            </a:extLst>
          </p:cNvPr>
          <p:cNvSpPr/>
          <p:nvPr/>
        </p:nvSpPr>
        <p:spPr>
          <a:xfrm>
            <a:off x="4812245" y="185643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9" name="Oval 178">
            <a:extLst>
              <a:ext uri="{FF2B5EF4-FFF2-40B4-BE49-F238E27FC236}">
                <a16:creationId xmlns:a16="http://schemas.microsoft.com/office/drawing/2014/main" id="{D78010AC-8D0B-4100-B9D4-B5786AF331A6}"/>
              </a:ext>
            </a:extLst>
          </p:cNvPr>
          <p:cNvSpPr/>
          <p:nvPr/>
        </p:nvSpPr>
        <p:spPr>
          <a:xfrm>
            <a:off x="4634077" y="148771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0" name="Oval 179">
            <a:extLst>
              <a:ext uri="{FF2B5EF4-FFF2-40B4-BE49-F238E27FC236}">
                <a16:creationId xmlns:a16="http://schemas.microsoft.com/office/drawing/2014/main" id="{6EA4BD1A-DB21-4008-A6CA-CE3AFA97B4DC}"/>
              </a:ext>
            </a:extLst>
          </p:cNvPr>
          <p:cNvSpPr/>
          <p:nvPr/>
        </p:nvSpPr>
        <p:spPr>
          <a:xfrm>
            <a:off x="3443227" y="252788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1" name="Oval 180">
            <a:extLst>
              <a:ext uri="{FF2B5EF4-FFF2-40B4-BE49-F238E27FC236}">
                <a16:creationId xmlns:a16="http://schemas.microsoft.com/office/drawing/2014/main" id="{CD13E8E8-191E-441B-A344-E625AF693C09}"/>
              </a:ext>
            </a:extLst>
          </p:cNvPr>
          <p:cNvSpPr/>
          <p:nvPr/>
        </p:nvSpPr>
        <p:spPr>
          <a:xfrm>
            <a:off x="3595627" y="268028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2" name="Oval 181">
            <a:extLst>
              <a:ext uri="{FF2B5EF4-FFF2-40B4-BE49-F238E27FC236}">
                <a16:creationId xmlns:a16="http://schemas.microsoft.com/office/drawing/2014/main" id="{C9D79743-C66A-4CA3-B152-95730EAD211F}"/>
              </a:ext>
            </a:extLst>
          </p:cNvPr>
          <p:cNvSpPr/>
          <p:nvPr/>
        </p:nvSpPr>
        <p:spPr>
          <a:xfrm>
            <a:off x="3748027" y="283268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3" name="Oval 182">
            <a:extLst>
              <a:ext uri="{FF2B5EF4-FFF2-40B4-BE49-F238E27FC236}">
                <a16:creationId xmlns:a16="http://schemas.microsoft.com/office/drawing/2014/main" id="{E51B3BD4-01B8-40EA-99C0-384134798EC5}"/>
              </a:ext>
            </a:extLst>
          </p:cNvPr>
          <p:cNvSpPr/>
          <p:nvPr/>
        </p:nvSpPr>
        <p:spPr>
          <a:xfrm>
            <a:off x="3492549" y="291492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4" name="Oval 183">
            <a:extLst>
              <a:ext uri="{FF2B5EF4-FFF2-40B4-BE49-F238E27FC236}">
                <a16:creationId xmlns:a16="http://schemas.microsoft.com/office/drawing/2014/main" id="{8FA410E5-EA5E-4CD7-9428-22E8BF49EFBE}"/>
              </a:ext>
            </a:extLst>
          </p:cNvPr>
          <p:cNvSpPr/>
          <p:nvPr/>
        </p:nvSpPr>
        <p:spPr>
          <a:xfrm>
            <a:off x="3644949" y="306732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5" name="Oval 184">
            <a:extLst>
              <a:ext uri="{FF2B5EF4-FFF2-40B4-BE49-F238E27FC236}">
                <a16:creationId xmlns:a16="http://schemas.microsoft.com/office/drawing/2014/main" id="{E09C205D-18F2-4882-8625-88510522E5CF}"/>
              </a:ext>
            </a:extLst>
          </p:cNvPr>
          <p:cNvSpPr/>
          <p:nvPr/>
        </p:nvSpPr>
        <p:spPr>
          <a:xfrm>
            <a:off x="3550457" y="303830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6" name="Oval 185">
            <a:extLst>
              <a:ext uri="{FF2B5EF4-FFF2-40B4-BE49-F238E27FC236}">
                <a16:creationId xmlns:a16="http://schemas.microsoft.com/office/drawing/2014/main" id="{AEC08FAF-7FCC-4F44-B950-A3FBDB758C1F}"/>
              </a:ext>
            </a:extLst>
          </p:cNvPr>
          <p:cNvSpPr/>
          <p:nvPr/>
        </p:nvSpPr>
        <p:spPr>
          <a:xfrm>
            <a:off x="3702857" y="319070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7" name="Oval 186">
            <a:extLst>
              <a:ext uri="{FF2B5EF4-FFF2-40B4-BE49-F238E27FC236}">
                <a16:creationId xmlns:a16="http://schemas.microsoft.com/office/drawing/2014/main" id="{6E16B796-F4C0-40C3-9E15-F51FE5EFC32F}"/>
              </a:ext>
            </a:extLst>
          </p:cNvPr>
          <p:cNvSpPr/>
          <p:nvPr/>
        </p:nvSpPr>
        <p:spPr>
          <a:xfrm>
            <a:off x="3702856" y="263381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8" name="Oval 187">
            <a:extLst>
              <a:ext uri="{FF2B5EF4-FFF2-40B4-BE49-F238E27FC236}">
                <a16:creationId xmlns:a16="http://schemas.microsoft.com/office/drawing/2014/main" id="{0CB5A02B-2BB6-4129-8DA0-28B969C0184C}"/>
              </a:ext>
            </a:extLst>
          </p:cNvPr>
          <p:cNvSpPr/>
          <p:nvPr/>
        </p:nvSpPr>
        <p:spPr>
          <a:xfrm>
            <a:off x="3633583" y="291721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9" name="Oval 188">
            <a:extLst>
              <a:ext uri="{FF2B5EF4-FFF2-40B4-BE49-F238E27FC236}">
                <a16:creationId xmlns:a16="http://schemas.microsoft.com/office/drawing/2014/main" id="{7817E124-F052-4883-B014-740D35E27904}"/>
              </a:ext>
            </a:extLst>
          </p:cNvPr>
          <p:cNvSpPr/>
          <p:nvPr/>
        </p:nvSpPr>
        <p:spPr>
          <a:xfrm>
            <a:off x="3455415" y="254850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0" name="Oval 189">
            <a:extLst>
              <a:ext uri="{FF2B5EF4-FFF2-40B4-BE49-F238E27FC236}">
                <a16:creationId xmlns:a16="http://schemas.microsoft.com/office/drawing/2014/main" id="{B5CFDC9C-26FF-4DF3-AF06-059087D9E49F}"/>
              </a:ext>
            </a:extLst>
          </p:cNvPr>
          <p:cNvSpPr/>
          <p:nvPr/>
        </p:nvSpPr>
        <p:spPr>
          <a:xfrm>
            <a:off x="5053449" y="1358512"/>
            <a:ext cx="121915" cy="1147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1" name="Oval 190">
            <a:extLst>
              <a:ext uri="{FF2B5EF4-FFF2-40B4-BE49-F238E27FC236}">
                <a16:creationId xmlns:a16="http://schemas.microsoft.com/office/drawing/2014/main" id="{012AEBE2-9F85-40FF-9691-0559BFA40A76}"/>
              </a:ext>
            </a:extLst>
          </p:cNvPr>
          <p:cNvSpPr/>
          <p:nvPr/>
        </p:nvSpPr>
        <p:spPr>
          <a:xfrm>
            <a:off x="5205849" y="15109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2" name="Oval 191">
            <a:extLst>
              <a:ext uri="{FF2B5EF4-FFF2-40B4-BE49-F238E27FC236}">
                <a16:creationId xmlns:a16="http://schemas.microsoft.com/office/drawing/2014/main" id="{B5445896-20BB-43B5-8D20-36BB2610C00A}"/>
              </a:ext>
            </a:extLst>
          </p:cNvPr>
          <p:cNvSpPr/>
          <p:nvPr/>
        </p:nvSpPr>
        <p:spPr>
          <a:xfrm>
            <a:off x="5358249" y="16633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3" name="Oval 192">
            <a:extLst>
              <a:ext uri="{FF2B5EF4-FFF2-40B4-BE49-F238E27FC236}">
                <a16:creationId xmlns:a16="http://schemas.microsoft.com/office/drawing/2014/main" id="{BA70BCE7-1E1D-4393-B747-9B94498E5D2D}"/>
              </a:ext>
            </a:extLst>
          </p:cNvPr>
          <p:cNvSpPr/>
          <p:nvPr/>
        </p:nvSpPr>
        <p:spPr>
          <a:xfrm>
            <a:off x="5102771" y="174555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4" name="Oval 193">
            <a:extLst>
              <a:ext uri="{FF2B5EF4-FFF2-40B4-BE49-F238E27FC236}">
                <a16:creationId xmlns:a16="http://schemas.microsoft.com/office/drawing/2014/main" id="{275F7630-5E75-423A-A8F7-2B2AAF68C3AC}"/>
              </a:ext>
            </a:extLst>
          </p:cNvPr>
          <p:cNvSpPr/>
          <p:nvPr/>
        </p:nvSpPr>
        <p:spPr>
          <a:xfrm>
            <a:off x="5255171" y="189795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5" name="Oval 194">
            <a:extLst>
              <a:ext uri="{FF2B5EF4-FFF2-40B4-BE49-F238E27FC236}">
                <a16:creationId xmlns:a16="http://schemas.microsoft.com/office/drawing/2014/main" id="{1898D637-6643-47BB-B351-E692F093CB95}"/>
              </a:ext>
            </a:extLst>
          </p:cNvPr>
          <p:cNvSpPr/>
          <p:nvPr/>
        </p:nvSpPr>
        <p:spPr>
          <a:xfrm>
            <a:off x="5160679" y="186893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6" name="Oval 195">
            <a:extLst>
              <a:ext uri="{FF2B5EF4-FFF2-40B4-BE49-F238E27FC236}">
                <a16:creationId xmlns:a16="http://schemas.microsoft.com/office/drawing/2014/main" id="{87EC364F-FAF4-4932-900B-42D2DDE7BF2B}"/>
              </a:ext>
            </a:extLst>
          </p:cNvPr>
          <p:cNvSpPr/>
          <p:nvPr/>
        </p:nvSpPr>
        <p:spPr>
          <a:xfrm>
            <a:off x="5313079" y="202133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7" name="Oval 196">
            <a:extLst>
              <a:ext uri="{FF2B5EF4-FFF2-40B4-BE49-F238E27FC236}">
                <a16:creationId xmlns:a16="http://schemas.microsoft.com/office/drawing/2014/main" id="{A15BF5D3-4FB9-4444-A0A9-871759FC6B17}"/>
              </a:ext>
            </a:extLst>
          </p:cNvPr>
          <p:cNvSpPr/>
          <p:nvPr/>
        </p:nvSpPr>
        <p:spPr>
          <a:xfrm>
            <a:off x="5313078" y="146444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8" name="Oval 197">
            <a:extLst>
              <a:ext uri="{FF2B5EF4-FFF2-40B4-BE49-F238E27FC236}">
                <a16:creationId xmlns:a16="http://schemas.microsoft.com/office/drawing/2014/main" id="{A378F3BA-F20F-4266-9732-3393A25BEC07}"/>
              </a:ext>
            </a:extLst>
          </p:cNvPr>
          <p:cNvSpPr/>
          <p:nvPr/>
        </p:nvSpPr>
        <p:spPr>
          <a:xfrm>
            <a:off x="5243805" y="174785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9" name="Oval 198">
            <a:extLst>
              <a:ext uri="{FF2B5EF4-FFF2-40B4-BE49-F238E27FC236}">
                <a16:creationId xmlns:a16="http://schemas.microsoft.com/office/drawing/2014/main" id="{A1B110F7-1255-41EF-A803-E583A2E23C51}"/>
              </a:ext>
            </a:extLst>
          </p:cNvPr>
          <p:cNvSpPr/>
          <p:nvPr/>
        </p:nvSpPr>
        <p:spPr>
          <a:xfrm>
            <a:off x="5065637" y="137913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200" name="Oval 199">
            <a:extLst>
              <a:ext uri="{FF2B5EF4-FFF2-40B4-BE49-F238E27FC236}">
                <a16:creationId xmlns:a16="http://schemas.microsoft.com/office/drawing/2014/main" id="{A56A40AF-4CA0-4C64-A503-2256BD559907}"/>
              </a:ext>
            </a:extLst>
          </p:cNvPr>
          <p:cNvSpPr/>
          <p:nvPr/>
        </p:nvSpPr>
        <p:spPr>
          <a:xfrm>
            <a:off x="5415931" y="24725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1" name="Oval 200">
            <a:extLst>
              <a:ext uri="{FF2B5EF4-FFF2-40B4-BE49-F238E27FC236}">
                <a16:creationId xmlns:a16="http://schemas.microsoft.com/office/drawing/2014/main" id="{9B8BD9DA-920D-4BF8-94F6-D81D8FE2B248}"/>
              </a:ext>
            </a:extLst>
          </p:cNvPr>
          <p:cNvSpPr/>
          <p:nvPr/>
        </p:nvSpPr>
        <p:spPr>
          <a:xfrm>
            <a:off x="5568331" y="26249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2" name="Oval 201">
            <a:extLst>
              <a:ext uri="{FF2B5EF4-FFF2-40B4-BE49-F238E27FC236}">
                <a16:creationId xmlns:a16="http://schemas.microsoft.com/office/drawing/2014/main" id="{56598737-0D03-4049-A990-57C369580CFE}"/>
              </a:ext>
            </a:extLst>
          </p:cNvPr>
          <p:cNvSpPr/>
          <p:nvPr/>
        </p:nvSpPr>
        <p:spPr>
          <a:xfrm>
            <a:off x="5720731" y="27773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3" name="Oval 202">
            <a:extLst>
              <a:ext uri="{FF2B5EF4-FFF2-40B4-BE49-F238E27FC236}">
                <a16:creationId xmlns:a16="http://schemas.microsoft.com/office/drawing/2014/main" id="{F2465002-3643-493A-8F1C-20990BD52961}"/>
              </a:ext>
            </a:extLst>
          </p:cNvPr>
          <p:cNvSpPr/>
          <p:nvPr/>
        </p:nvSpPr>
        <p:spPr>
          <a:xfrm>
            <a:off x="5465253" y="285956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4" name="Oval 203">
            <a:extLst>
              <a:ext uri="{FF2B5EF4-FFF2-40B4-BE49-F238E27FC236}">
                <a16:creationId xmlns:a16="http://schemas.microsoft.com/office/drawing/2014/main" id="{33633074-11FD-4120-9F13-E98F2A91F79B}"/>
              </a:ext>
            </a:extLst>
          </p:cNvPr>
          <p:cNvSpPr/>
          <p:nvPr/>
        </p:nvSpPr>
        <p:spPr>
          <a:xfrm>
            <a:off x="5617653" y="301196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5" name="Oval 204">
            <a:extLst>
              <a:ext uri="{FF2B5EF4-FFF2-40B4-BE49-F238E27FC236}">
                <a16:creationId xmlns:a16="http://schemas.microsoft.com/office/drawing/2014/main" id="{52825867-79C1-4FA1-84F5-016F1B6A5085}"/>
              </a:ext>
            </a:extLst>
          </p:cNvPr>
          <p:cNvSpPr/>
          <p:nvPr/>
        </p:nvSpPr>
        <p:spPr>
          <a:xfrm>
            <a:off x="5523161" y="298294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6" name="Oval 205">
            <a:extLst>
              <a:ext uri="{FF2B5EF4-FFF2-40B4-BE49-F238E27FC236}">
                <a16:creationId xmlns:a16="http://schemas.microsoft.com/office/drawing/2014/main" id="{C075C1BE-1442-4EF1-A8B4-A089A314C062}"/>
              </a:ext>
            </a:extLst>
          </p:cNvPr>
          <p:cNvSpPr/>
          <p:nvPr/>
        </p:nvSpPr>
        <p:spPr>
          <a:xfrm>
            <a:off x="5675561" y="313534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7" name="Oval 206">
            <a:extLst>
              <a:ext uri="{FF2B5EF4-FFF2-40B4-BE49-F238E27FC236}">
                <a16:creationId xmlns:a16="http://schemas.microsoft.com/office/drawing/2014/main" id="{B6E737C8-AD9F-43C6-B7FC-FCC94789D078}"/>
              </a:ext>
            </a:extLst>
          </p:cNvPr>
          <p:cNvSpPr/>
          <p:nvPr/>
        </p:nvSpPr>
        <p:spPr>
          <a:xfrm>
            <a:off x="5675560" y="257845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8" name="Oval 207">
            <a:extLst>
              <a:ext uri="{FF2B5EF4-FFF2-40B4-BE49-F238E27FC236}">
                <a16:creationId xmlns:a16="http://schemas.microsoft.com/office/drawing/2014/main" id="{D890054B-4F86-49DB-9FCD-B25BB605135C}"/>
              </a:ext>
            </a:extLst>
          </p:cNvPr>
          <p:cNvSpPr/>
          <p:nvPr/>
        </p:nvSpPr>
        <p:spPr>
          <a:xfrm>
            <a:off x="5606287" y="28618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9" name="Oval 208">
            <a:extLst>
              <a:ext uri="{FF2B5EF4-FFF2-40B4-BE49-F238E27FC236}">
                <a16:creationId xmlns:a16="http://schemas.microsoft.com/office/drawing/2014/main" id="{7CF6116E-3DE6-475E-8DBB-E8B1D784F7F8}"/>
              </a:ext>
            </a:extLst>
          </p:cNvPr>
          <p:cNvSpPr/>
          <p:nvPr/>
        </p:nvSpPr>
        <p:spPr>
          <a:xfrm>
            <a:off x="5428119" y="249314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3" name="Right Brace 212">
            <a:extLst>
              <a:ext uri="{FF2B5EF4-FFF2-40B4-BE49-F238E27FC236}">
                <a16:creationId xmlns:a16="http://schemas.microsoft.com/office/drawing/2014/main" id="{561B704C-38D3-48FC-8B49-70C2F8E4719A}"/>
              </a:ext>
            </a:extLst>
          </p:cNvPr>
          <p:cNvSpPr/>
          <p:nvPr/>
        </p:nvSpPr>
        <p:spPr>
          <a:xfrm>
            <a:off x="6720840" y="777240"/>
            <a:ext cx="897869" cy="5632694"/>
          </a:xfrm>
          <a:prstGeom prst="righ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214" name="TextBox 213">
                <a:extLst>
                  <a:ext uri="{FF2B5EF4-FFF2-40B4-BE49-F238E27FC236}">
                    <a16:creationId xmlns:a16="http://schemas.microsoft.com/office/drawing/2014/main" id="{5AFF07E4-5EE4-49E8-8495-0FC7AEBDC648}"/>
                  </a:ext>
                </a:extLst>
              </p:cNvPr>
              <p:cNvSpPr txBox="1"/>
              <p:nvPr/>
            </p:nvSpPr>
            <p:spPr>
              <a:xfrm>
                <a:off x="9061329" y="2446581"/>
                <a:ext cx="965072"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214" name="TextBox 213">
                <a:extLst>
                  <a:ext uri="{FF2B5EF4-FFF2-40B4-BE49-F238E27FC236}">
                    <a16:creationId xmlns:a16="http://schemas.microsoft.com/office/drawing/2014/main" id="{5AFF07E4-5EE4-49E8-8495-0FC7AEBDC648}"/>
                  </a:ext>
                </a:extLst>
              </p:cNvPr>
              <p:cNvSpPr txBox="1">
                <a:spLocks noRot="1" noChangeAspect="1" noMove="1" noResize="1" noEditPoints="1" noAdjustHandles="1" noChangeArrowheads="1" noChangeShapeType="1" noTextEdit="1"/>
              </p:cNvSpPr>
              <p:nvPr/>
            </p:nvSpPr>
            <p:spPr>
              <a:xfrm>
                <a:off x="9061329" y="2446581"/>
                <a:ext cx="965072" cy="369332"/>
              </a:xfrm>
              <a:prstGeom prst="rect">
                <a:avLst/>
              </a:prstGeom>
              <a:blipFill>
                <a:blip r:embed="rId6"/>
                <a:stretch>
                  <a:fillRect/>
                </a:stretch>
              </a:blipFill>
            </p:spPr>
            <p:txBody>
              <a:bodyPr/>
              <a:lstStyle/>
              <a:p>
                <a:r>
                  <a:rPr lang="en-CA">
                    <a:noFill/>
                  </a:rPr>
                  <a:t> </a:t>
                </a:r>
              </a:p>
            </p:txBody>
          </p:sp>
        </mc:Fallback>
      </mc:AlternateContent>
      <p:cxnSp>
        <p:nvCxnSpPr>
          <p:cNvPr id="217" name="Straight Connector 216">
            <a:extLst>
              <a:ext uri="{FF2B5EF4-FFF2-40B4-BE49-F238E27FC236}">
                <a16:creationId xmlns:a16="http://schemas.microsoft.com/office/drawing/2014/main" id="{821F0CF7-903E-4FA7-9750-11AD3E8E4D0C}"/>
              </a:ext>
            </a:extLst>
          </p:cNvPr>
          <p:cNvCxnSpPr>
            <a:cxnSpLocks/>
          </p:cNvCxnSpPr>
          <p:nvPr/>
        </p:nvCxnSpPr>
        <p:spPr>
          <a:xfrm flipH="1" flipV="1">
            <a:off x="7824008" y="2381305"/>
            <a:ext cx="3601830" cy="43880"/>
          </a:xfrm>
          <a:prstGeom prst="line">
            <a:avLst/>
          </a:prstGeom>
          <a:ln w="57150"/>
        </p:spPr>
        <p:style>
          <a:lnRef idx="1">
            <a:schemeClr val="dk1"/>
          </a:lnRef>
          <a:fillRef idx="0">
            <a:schemeClr val="dk1"/>
          </a:fillRef>
          <a:effectRef idx="0">
            <a:schemeClr val="dk1"/>
          </a:effectRef>
          <a:fontRef idx="minor">
            <a:schemeClr val="tx1"/>
          </a:fontRef>
        </p:style>
      </p:cxnSp>
      <p:cxnSp>
        <p:nvCxnSpPr>
          <p:cNvPr id="221" name="Straight Connector 220">
            <a:extLst>
              <a:ext uri="{FF2B5EF4-FFF2-40B4-BE49-F238E27FC236}">
                <a16:creationId xmlns:a16="http://schemas.microsoft.com/office/drawing/2014/main" id="{0239FA8B-79C9-4AB2-B3AF-BF31E1CCE44D}"/>
              </a:ext>
            </a:extLst>
          </p:cNvPr>
          <p:cNvCxnSpPr>
            <a:cxnSpLocks/>
          </p:cNvCxnSpPr>
          <p:nvPr/>
        </p:nvCxnSpPr>
        <p:spPr>
          <a:xfrm flipH="1" flipV="1">
            <a:off x="7824008" y="5185465"/>
            <a:ext cx="3601830" cy="43880"/>
          </a:xfrm>
          <a:prstGeom prst="line">
            <a:avLst/>
          </a:prstGeom>
          <a:ln w="571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2" name="TextBox 221">
                <a:extLst>
                  <a:ext uri="{FF2B5EF4-FFF2-40B4-BE49-F238E27FC236}">
                    <a16:creationId xmlns:a16="http://schemas.microsoft.com/office/drawing/2014/main" id="{7751DB6F-882D-4125-BE8C-3AB1DBB45ED9}"/>
                  </a:ext>
                </a:extLst>
              </p:cNvPr>
              <p:cNvSpPr txBox="1"/>
              <p:nvPr/>
            </p:nvSpPr>
            <p:spPr>
              <a:xfrm>
                <a:off x="9164185" y="5232569"/>
                <a:ext cx="950132" cy="369332"/>
              </a:xfrm>
              <a:prstGeom prst="rect">
                <a:avLst/>
              </a:prstGeom>
              <a:noFill/>
            </p:spPr>
            <p:txBody>
              <a:bodyPr wrap="square" rtlCol="0">
                <a:spAutoFit/>
              </a:bodyPr>
              <a:lstStyle/>
              <a:p>
                <a:pPr/>
                <a14:m>
                  <m:oMathPara xmlns:m="http://schemas.openxmlformats.org/officeDocument/2006/math">
                    <m:oMath>
                      <m:r>
                        <m:rPr>
                          <m:sty m:val="p"/>
                        </m:rPr>
                        <a:rPr lang="en-CA" b="0" i="0" smtClean="0">
                          <a:latin typeface="Cambria Math" panose="02040503050406030204" pitchFamily="18" charset="0"/>
                        </a:rPr>
                        <m:t>ΔE</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222" name="TextBox 221">
                <a:extLst>
                  <a:ext uri="{FF2B5EF4-FFF2-40B4-BE49-F238E27FC236}">
                    <a16:creationId xmlns:a16="http://schemas.microsoft.com/office/drawing/2014/main" id="{7751DB6F-882D-4125-BE8C-3AB1DBB45ED9}"/>
                  </a:ext>
                </a:extLst>
              </p:cNvPr>
              <p:cNvSpPr txBox="1">
                <a:spLocks noRot="1" noChangeAspect="1" noMove="1" noResize="1" noEditPoints="1" noAdjustHandles="1" noChangeArrowheads="1" noChangeShapeType="1" noTextEdit="1"/>
              </p:cNvSpPr>
              <p:nvPr/>
            </p:nvSpPr>
            <p:spPr>
              <a:xfrm>
                <a:off x="9164185" y="5232569"/>
                <a:ext cx="950132" cy="369332"/>
              </a:xfrm>
              <a:prstGeom prst="rect">
                <a:avLst/>
              </a:prstGeom>
              <a:blipFill>
                <a:blip r:embed="rId7"/>
                <a:stretch>
                  <a:fillRect/>
                </a:stretch>
              </a:blipFill>
            </p:spPr>
            <p:txBody>
              <a:bodyPr/>
              <a:lstStyle/>
              <a:p>
                <a:r>
                  <a:rPr lang="en-CA">
                    <a:noFill/>
                  </a:rPr>
                  <a:t> </a:t>
                </a:r>
              </a:p>
            </p:txBody>
          </p:sp>
        </mc:Fallback>
      </mc:AlternateContent>
      <p:sp>
        <p:nvSpPr>
          <p:cNvPr id="232" name="Freeform: Shape 231">
            <a:extLst>
              <a:ext uri="{FF2B5EF4-FFF2-40B4-BE49-F238E27FC236}">
                <a16:creationId xmlns:a16="http://schemas.microsoft.com/office/drawing/2014/main" id="{3FF52A3B-98F6-4496-A6E1-36D9CF59B88F}"/>
              </a:ext>
            </a:extLst>
          </p:cNvPr>
          <p:cNvSpPr/>
          <p:nvPr/>
        </p:nvSpPr>
        <p:spPr>
          <a:xfrm>
            <a:off x="7913285" y="985993"/>
            <a:ext cx="3428990" cy="1336717"/>
          </a:xfrm>
          <a:custGeom>
            <a:avLst/>
            <a:gdLst>
              <a:gd name="connsiteX0" fmla="*/ 0 w 4014216"/>
              <a:gd name="connsiteY0" fmla="*/ 1709947 h 1709947"/>
              <a:gd name="connsiteX1" fmla="*/ 1143000 w 4014216"/>
              <a:gd name="connsiteY1" fmla="*/ 1106443 h 1709947"/>
              <a:gd name="connsiteX2" fmla="*/ 1993392 w 4014216"/>
              <a:gd name="connsiteY2" fmla="*/ 19 h 1709947"/>
              <a:gd name="connsiteX3" fmla="*/ 2807208 w 4014216"/>
              <a:gd name="connsiteY3" fmla="*/ 1079011 h 1709947"/>
              <a:gd name="connsiteX4" fmla="*/ 4014216 w 4014216"/>
              <a:gd name="connsiteY4" fmla="*/ 1709947 h 17099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4216" h="1709947">
                <a:moveTo>
                  <a:pt x="0" y="1709947"/>
                </a:moveTo>
                <a:cubicBezTo>
                  <a:pt x="405384" y="1550689"/>
                  <a:pt x="810768" y="1391431"/>
                  <a:pt x="1143000" y="1106443"/>
                </a:cubicBezTo>
                <a:cubicBezTo>
                  <a:pt x="1475232" y="821455"/>
                  <a:pt x="1716024" y="4591"/>
                  <a:pt x="1993392" y="19"/>
                </a:cubicBezTo>
                <a:cubicBezTo>
                  <a:pt x="2270760" y="-4553"/>
                  <a:pt x="2470404" y="794023"/>
                  <a:pt x="2807208" y="1079011"/>
                </a:cubicBezTo>
                <a:cubicBezTo>
                  <a:pt x="3144012" y="1363999"/>
                  <a:pt x="3579114" y="1536973"/>
                  <a:pt x="4014216" y="1709947"/>
                </a:cubicBezTo>
              </a:path>
            </a:pathLst>
          </a:cu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3" name="Freeform: Shape 232">
            <a:extLst>
              <a:ext uri="{FF2B5EF4-FFF2-40B4-BE49-F238E27FC236}">
                <a16:creationId xmlns:a16="http://schemas.microsoft.com/office/drawing/2014/main" id="{6DB20B2A-C27A-4777-984E-A320A7721199}"/>
              </a:ext>
            </a:extLst>
          </p:cNvPr>
          <p:cNvSpPr/>
          <p:nvPr/>
        </p:nvSpPr>
        <p:spPr>
          <a:xfrm>
            <a:off x="7924756" y="3852788"/>
            <a:ext cx="3428990" cy="1336717"/>
          </a:xfrm>
          <a:custGeom>
            <a:avLst/>
            <a:gdLst>
              <a:gd name="connsiteX0" fmla="*/ 0 w 4014216"/>
              <a:gd name="connsiteY0" fmla="*/ 1709947 h 1709947"/>
              <a:gd name="connsiteX1" fmla="*/ 1143000 w 4014216"/>
              <a:gd name="connsiteY1" fmla="*/ 1106443 h 1709947"/>
              <a:gd name="connsiteX2" fmla="*/ 1993392 w 4014216"/>
              <a:gd name="connsiteY2" fmla="*/ 19 h 1709947"/>
              <a:gd name="connsiteX3" fmla="*/ 2807208 w 4014216"/>
              <a:gd name="connsiteY3" fmla="*/ 1079011 h 1709947"/>
              <a:gd name="connsiteX4" fmla="*/ 4014216 w 4014216"/>
              <a:gd name="connsiteY4" fmla="*/ 1709947 h 17099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4216" h="1709947">
                <a:moveTo>
                  <a:pt x="0" y="1709947"/>
                </a:moveTo>
                <a:cubicBezTo>
                  <a:pt x="405384" y="1550689"/>
                  <a:pt x="810768" y="1391431"/>
                  <a:pt x="1143000" y="1106443"/>
                </a:cubicBezTo>
                <a:cubicBezTo>
                  <a:pt x="1475232" y="821455"/>
                  <a:pt x="1716024" y="4591"/>
                  <a:pt x="1993392" y="19"/>
                </a:cubicBezTo>
                <a:cubicBezTo>
                  <a:pt x="2270760" y="-4553"/>
                  <a:pt x="2470404" y="794023"/>
                  <a:pt x="2807208" y="1079011"/>
                </a:cubicBezTo>
                <a:cubicBezTo>
                  <a:pt x="3144012" y="1363999"/>
                  <a:pt x="3579114" y="1536973"/>
                  <a:pt x="4014216" y="1709947"/>
                </a:cubicBezTo>
              </a:path>
            </a:pathLst>
          </a:cu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ectangle 7">
            <a:extLst>
              <a:ext uri="{FF2B5EF4-FFF2-40B4-BE49-F238E27FC236}">
                <a16:creationId xmlns:a16="http://schemas.microsoft.com/office/drawing/2014/main" id="{2DE74AC2-D149-4BF9-9FAC-6B19E0A095EA}"/>
              </a:ext>
            </a:extLst>
          </p:cNvPr>
          <p:cNvSpPr/>
          <p:nvPr/>
        </p:nvSpPr>
        <p:spPr>
          <a:xfrm>
            <a:off x="7618709" y="579706"/>
            <a:ext cx="4011320" cy="2509822"/>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609736215"/>
      </p:ext>
    </p:extLst>
  </p:cSld>
  <p:clrMapOvr>
    <a:masterClrMapping/>
  </p:clrMapOvr>
  <mc:AlternateContent xmlns:mc="http://schemas.openxmlformats.org/markup-compatibility/2006" xmlns:p14="http://schemas.microsoft.com/office/powerpoint/2010/main">
    <mc:Choice Requires="p14">
      <p:transition spd="slow" p14:dur="2000" advTm="10551"/>
    </mc:Choice>
    <mc:Fallback xmlns="">
      <p:transition spd="slow" advTm="10551"/>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EE43C-91CD-4062-B04C-4FC9E11291E2}"/>
              </a:ext>
            </a:extLst>
          </p:cNvPr>
          <p:cNvSpPr>
            <a:spLocks noGrp="1"/>
          </p:cNvSpPr>
          <p:nvPr>
            <p:ph type="title"/>
          </p:nvPr>
        </p:nvSpPr>
        <p:spPr>
          <a:xfrm>
            <a:off x="188153" y="-148029"/>
            <a:ext cx="10515600" cy="1325563"/>
          </a:xfrm>
        </p:spPr>
        <p:txBody>
          <a:bodyPr>
            <a:normAutofit fontScale="90000"/>
          </a:bodyPr>
          <a:lstStyle/>
          <a:p>
            <a:r>
              <a:rPr lang="en-CA" dirty="0"/>
              <a:t>What we can do with Paulden’s Approach</a:t>
            </a:r>
          </a:p>
        </p:txBody>
      </p:sp>
      <p:cxnSp>
        <p:nvCxnSpPr>
          <p:cNvPr id="4" name="Straight Connector 3">
            <a:extLst>
              <a:ext uri="{FF2B5EF4-FFF2-40B4-BE49-F238E27FC236}">
                <a16:creationId xmlns:a16="http://schemas.microsoft.com/office/drawing/2014/main" id="{AEAE1ED5-BCCF-4267-A533-98176CA2B554}"/>
              </a:ext>
            </a:extLst>
          </p:cNvPr>
          <p:cNvCxnSpPr>
            <a:cxnSpLocks/>
          </p:cNvCxnSpPr>
          <p:nvPr/>
        </p:nvCxnSpPr>
        <p:spPr>
          <a:xfrm>
            <a:off x="3356402" y="1069479"/>
            <a:ext cx="0" cy="5116945"/>
          </a:xfrm>
          <a:prstGeom prst="line">
            <a:avLst/>
          </a:prstGeom>
          <a:ln w="57150"/>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F4F0CB70-812D-49DD-848E-C2BBB2DAA55D}"/>
              </a:ext>
            </a:extLst>
          </p:cNvPr>
          <p:cNvCxnSpPr>
            <a:cxnSpLocks/>
          </p:cNvCxnSpPr>
          <p:nvPr/>
        </p:nvCxnSpPr>
        <p:spPr>
          <a:xfrm flipH="1">
            <a:off x="234511" y="3584079"/>
            <a:ext cx="6373091" cy="0"/>
          </a:xfrm>
          <a:prstGeom prst="line">
            <a:avLst/>
          </a:prstGeom>
          <a:ln w="571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7307D3C-530B-4E70-AF67-3FB109851316}"/>
                  </a:ext>
                </a:extLst>
              </p:cNvPr>
              <p:cNvSpPr txBox="1"/>
              <p:nvPr/>
            </p:nvSpPr>
            <p:spPr>
              <a:xfrm>
                <a:off x="2391330" y="884813"/>
                <a:ext cx="965072" cy="369332"/>
              </a:xfrm>
              <a:prstGeom prst="rect">
                <a:avLst/>
              </a:prstGeom>
              <a:noFill/>
            </p:spPr>
            <p:txBody>
              <a:bodyPr wrap="squar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6" name="TextBox 5">
                <a:extLst>
                  <a:ext uri="{FF2B5EF4-FFF2-40B4-BE49-F238E27FC236}">
                    <a16:creationId xmlns:a16="http://schemas.microsoft.com/office/drawing/2014/main" id="{07307D3C-530B-4E70-AF67-3FB109851316}"/>
                  </a:ext>
                </a:extLst>
              </p:cNvPr>
              <p:cNvSpPr txBox="1">
                <a:spLocks noRot="1" noChangeAspect="1" noMove="1" noResize="1" noEditPoints="1" noAdjustHandles="1" noChangeArrowheads="1" noChangeShapeType="1" noTextEdit="1"/>
              </p:cNvSpPr>
              <p:nvPr/>
            </p:nvSpPr>
            <p:spPr>
              <a:xfrm>
                <a:off x="2391330" y="884813"/>
                <a:ext cx="965072" cy="369332"/>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2D3A862-6896-4422-AF8E-A9D1C1069140}"/>
                  </a:ext>
                </a:extLst>
              </p:cNvPr>
              <p:cNvSpPr txBox="1"/>
              <p:nvPr/>
            </p:nvSpPr>
            <p:spPr>
              <a:xfrm>
                <a:off x="6216587" y="3657969"/>
                <a:ext cx="950132" cy="369332"/>
              </a:xfrm>
              <a:prstGeom prst="rect">
                <a:avLst/>
              </a:prstGeom>
              <a:noFill/>
            </p:spPr>
            <p:txBody>
              <a:bodyPr wrap="square" rtlCol="0">
                <a:spAutoFit/>
              </a:bodyPr>
              <a:lstStyle/>
              <a:p>
                <a:pPr/>
                <a14:m>
                  <m:oMathPara xmlns:m="http://schemas.openxmlformats.org/officeDocument/2006/math">
                    <m:oMath>
                      <m:r>
                        <m:rPr>
                          <m:sty m:val="p"/>
                        </m:rPr>
                        <a:rPr lang="en-CA" b="0" i="0" smtClean="0">
                          <a:latin typeface="Cambria Math" panose="02040503050406030204" pitchFamily="18" charset="0"/>
                        </a:rPr>
                        <m:t>ΔE</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7" name="TextBox 6">
                <a:extLst>
                  <a:ext uri="{FF2B5EF4-FFF2-40B4-BE49-F238E27FC236}">
                    <a16:creationId xmlns:a16="http://schemas.microsoft.com/office/drawing/2014/main" id="{52D3A862-6896-4422-AF8E-A9D1C1069140}"/>
                  </a:ext>
                </a:extLst>
              </p:cNvPr>
              <p:cNvSpPr txBox="1">
                <a:spLocks noRot="1" noChangeAspect="1" noMove="1" noResize="1" noEditPoints="1" noAdjustHandles="1" noChangeArrowheads="1" noChangeShapeType="1" noTextEdit="1"/>
              </p:cNvSpPr>
              <p:nvPr/>
            </p:nvSpPr>
            <p:spPr>
              <a:xfrm>
                <a:off x="6216587" y="3657969"/>
                <a:ext cx="950132" cy="369332"/>
              </a:xfrm>
              <a:prstGeom prst="rect">
                <a:avLst/>
              </a:prstGeom>
              <a:blipFill>
                <a:blip r:embed="rId5"/>
                <a:stretch>
                  <a:fillRect/>
                </a:stretch>
              </a:blipFill>
            </p:spPr>
            <p:txBody>
              <a:bodyPr/>
              <a:lstStyle/>
              <a:p>
                <a:r>
                  <a:rPr lang="en-CA">
                    <a:noFill/>
                  </a:rPr>
                  <a:t> </a:t>
                </a:r>
              </a:p>
            </p:txBody>
          </p:sp>
        </mc:Fallback>
      </mc:AlternateContent>
      <p:sp>
        <p:nvSpPr>
          <p:cNvPr id="3" name="Oval 2">
            <a:extLst>
              <a:ext uri="{FF2B5EF4-FFF2-40B4-BE49-F238E27FC236}">
                <a16:creationId xmlns:a16="http://schemas.microsoft.com/office/drawing/2014/main" id="{5F57B284-E267-4BF3-B186-95C79DD9BF15}"/>
              </a:ext>
            </a:extLst>
          </p:cNvPr>
          <p:cNvSpPr/>
          <p:nvPr/>
        </p:nvSpPr>
        <p:spPr>
          <a:xfrm>
            <a:off x="3733805" y="260101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Oval 9">
            <a:extLst>
              <a:ext uri="{FF2B5EF4-FFF2-40B4-BE49-F238E27FC236}">
                <a16:creationId xmlns:a16="http://schemas.microsoft.com/office/drawing/2014/main" id="{EBED7CC2-EE9D-4A01-B829-AA32FF534F48}"/>
              </a:ext>
            </a:extLst>
          </p:cNvPr>
          <p:cNvSpPr/>
          <p:nvPr/>
        </p:nvSpPr>
        <p:spPr>
          <a:xfrm>
            <a:off x="3886205" y="275341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Oval 10">
            <a:extLst>
              <a:ext uri="{FF2B5EF4-FFF2-40B4-BE49-F238E27FC236}">
                <a16:creationId xmlns:a16="http://schemas.microsoft.com/office/drawing/2014/main" id="{9A3B219A-E17F-4848-B2B6-769F73EAF6EE}"/>
              </a:ext>
            </a:extLst>
          </p:cNvPr>
          <p:cNvSpPr/>
          <p:nvPr/>
        </p:nvSpPr>
        <p:spPr>
          <a:xfrm>
            <a:off x="4038605" y="290581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a:extLst>
              <a:ext uri="{FF2B5EF4-FFF2-40B4-BE49-F238E27FC236}">
                <a16:creationId xmlns:a16="http://schemas.microsoft.com/office/drawing/2014/main" id="{A7741668-6B3B-49B5-9F1B-069EC2B9E621}"/>
              </a:ext>
            </a:extLst>
          </p:cNvPr>
          <p:cNvSpPr/>
          <p:nvPr/>
        </p:nvSpPr>
        <p:spPr>
          <a:xfrm>
            <a:off x="4191005" y="305821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Oval 12">
            <a:extLst>
              <a:ext uri="{FF2B5EF4-FFF2-40B4-BE49-F238E27FC236}">
                <a16:creationId xmlns:a16="http://schemas.microsoft.com/office/drawing/2014/main" id="{3B19F62C-CE0A-453C-8655-5B4C67A5B59A}"/>
              </a:ext>
            </a:extLst>
          </p:cNvPr>
          <p:cNvSpPr/>
          <p:nvPr/>
        </p:nvSpPr>
        <p:spPr>
          <a:xfrm>
            <a:off x="4038604" y="234892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Oval 13">
            <a:extLst>
              <a:ext uri="{FF2B5EF4-FFF2-40B4-BE49-F238E27FC236}">
                <a16:creationId xmlns:a16="http://schemas.microsoft.com/office/drawing/2014/main" id="{CA7A7727-FC44-43E1-A7BD-C3A286B6B062}"/>
              </a:ext>
            </a:extLst>
          </p:cNvPr>
          <p:cNvSpPr/>
          <p:nvPr/>
        </p:nvSpPr>
        <p:spPr>
          <a:xfrm>
            <a:off x="4191004" y="250132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Oval 14">
            <a:extLst>
              <a:ext uri="{FF2B5EF4-FFF2-40B4-BE49-F238E27FC236}">
                <a16:creationId xmlns:a16="http://schemas.microsoft.com/office/drawing/2014/main" id="{7897B0AF-EAF0-4414-961E-B84F9461AFC7}"/>
              </a:ext>
            </a:extLst>
          </p:cNvPr>
          <p:cNvSpPr/>
          <p:nvPr/>
        </p:nvSpPr>
        <p:spPr>
          <a:xfrm>
            <a:off x="4343404" y="265372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Oval 15">
            <a:extLst>
              <a:ext uri="{FF2B5EF4-FFF2-40B4-BE49-F238E27FC236}">
                <a16:creationId xmlns:a16="http://schemas.microsoft.com/office/drawing/2014/main" id="{4B3D5D95-7682-46FC-B680-0C084B6877FD}"/>
              </a:ext>
            </a:extLst>
          </p:cNvPr>
          <p:cNvSpPr/>
          <p:nvPr/>
        </p:nvSpPr>
        <p:spPr>
          <a:xfrm>
            <a:off x="4495804" y="280612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Oval 16">
            <a:extLst>
              <a:ext uri="{FF2B5EF4-FFF2-40B4-BE49-F238E27FC236}">
                <a16:creationId xmlns:a16="http://schemas.microsoft.com/office/drawing/2014/main" id="{FFE7DABB-3E6F-4C37-BBDD-44B0536E875D}"/>
              </a:ext>
            </a:extLst>
          </p:cNvPr>
          <p:cNvSpPr/>
          <p:nvPr/>
        </p:nvSpPr>
        <p:spPr>
          <a:xfrm>
            <a:off x="4648204" y="295852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Oval 17">
            <a:extLst>
              <a:ext uri="{FF2B5EF4-FFF2-40B4-BE49-F238E27FC236}">
                <a16:creationId xmlns:a16="http://schemas.microsoft.com/office/drawing/2014/main" id="{97D6AC66-5406-4B6F-9A57-8572D4EA779B}"/>
              </a:ext>
            </a:extLst>
          </p:cNvPr>
          <p:cNvSpPr/>
          <p:nvPr/>
        </p:nvSpPr>
        <p:spPr>
          <a:xfrm>
            <a:off x="4233124" y="18454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Oval 18">
            <a:extLst>
              <a:ext uri="{FF2B5EF4-FFF2-40B4-BE49-F238E27FC236}">
                <a16:creationId xmlns:a16="http://schemas.microsoft.com/office/drawing/2014/main" id="{F4B16CF5-01C7-4E1C-BE0D-0F975D2D23CA}"/>
              </a:ext>
            </a:extLst>
          </p:cNvPr>
          <p:cNvSpPr/>
          <p:nvPr/>
        </p:nvSpPr>
        <p:spPr>
          <a:xfrm>
            <a:off x="4385524" y="19978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Oval 19">
            <a:extLst>
              <a:ext uri="{FF2B5EF4-FFF2-40B4-BE49-F238E27FC236}">
                <a16:creationId xmlns:a16="http://schemas.microsoft.com/office/drawing/2014/main" id="{7A879D50-96B5-4462-A097-CD33357471F9}"/>
              </a:ext>
            </a:extLst>
          </p:cNvPr>
          <p:cNvSpPr/>
          <p:nvPr/>
        </p:nvSpPr>
        <p:spPr>
          <a:xfrm>
            <a:off x="4537924" y="21502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Oval 20">
            <a:extLst>
              <a:ext uri="{FF2B5EF4-FFF2-40B4-BE49-F238E27FC236}">
                <a16:creationId xmlns:a16="http://schemas.microsoft.com/office/drawing/2014/main" id="{FEF70DC1-0348-4B4B-9843-275B35CA8CCA}"/>
              </a:ext>
            </a:extLst>
          </p:cNvPr>
          <p:cNvSpPr/>
          <p:nvPr/>
        </p:nvSpPr>
        <p:spPr>
          <a:xfrm>
            <a:off x="4690324" y="23026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Oval 21">
            <a:extLst>
              <a:ext uri="{FF2B5EF4-FFF2-40B4-BE49-F238E27FC236}">
                <a16:creationId xmlns:a16="http://schemas.microsoft.com/office/drawing/2014/main" id="{D1F132E2-AF35-4EEE-B7BC-52338E1F105E}"/>
              </a:ext>
            </a:extLst>
          </p:cNvPr>
          <p:cNvSpPr/>
          <p:nvPr/>
        </p:nvSpPr>
        <p:spPr>
          <a:xfrm>
            <a:off x="4842724" y="24550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Oval 22">
            <a:extLst>
              <a:ext uri="{FF2B5EF4-FFF2-40B4-BE49-F238E27FC236}">
                <a16:creationId xmlns:a16="http://schemas.microsoft.com/office/drawing/2014/main" id="{5AD45F0A-7AF5-4185-9286-323AC51C0415}"/>
              </a:ext>
            </a:extLst>
          </p:cNvPr>
          <p:cNvSpPr/>
          <p:nvPr/>
        </p:nvSpPr>
        <p:spPr>
          <a:xfrm>
            <a:off x="4282446" y="223250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Oval 23">
            <a:extLst>
              <a:ext uri="{FF2B5EF4-FFF2-40B4-BE49-F238E27FC236}">
                <a16:creationId xmlns:a16="http://schemas.microsoft.com/office/drawing/2014/main" id="{99D24D74-E12B-44B9-8CAC-EF0AC433A2CC}"/>
              </a:ext>
            </a:extLst>
          </p:cNvPr>
          <p:cNvSpPr/>
          <p:nvPr/>
        </p:nvSpPr>
        <p:spPr>
          <a:xfrm>
            <a:off x="4995124" y="26074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Oval 24">
            <a:extLst>
              <a:ext uri="{FF2B5EF4-FFF2-40B4-BE49-F238E27FC236}">
                <a16:creationId xmlns:a16="http://schemas.microsoft.com/office/drawing/2014/main" id="{72DACCF5-954E-452B-B263-47FF951A5801}"/>
              </a:ext>
            </a:extLst>
          </p:cNvPr>
          <p:cNvSpPr/>
          <p:nvPr/>
        </p:nvSpPr>
        <p:spPr>
          <a:xfrm>
            <a:off x="5147524" y="27598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Oval 25">
            <a:extLst>
              <a:ext uri="{FF2B5EF4-FFF2-40B4-BE49-F238E27FC236}">
                <a16:creationId xmlns:a16="http://schemas.microsoft.com/office/drawing/2014/main" id="{C6118C64-B7CE-4F0A-8AC2-D01162829ABA}"/>
              </a:ext>
            </a:extLst>
          </p:cNvPr>
          <p:cNvSpPr/>
          <p:nvPr/>
        </p:nvSpPr>
        <p:spPr>
          <a:xfrm>
            <a:off x="4394949" y="23698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Oval 26">
            <a:extLst>
              <a:ext uri="{FF2B5EF4-FFF2-40B4-BE49-F238E27FC236}">
                <a16:creationId xmlns:a16="http://schemas.microsoft.com/office/drawing/2014/main" id="{D475BDDB-2763-4177-8A48-4EB42D607A37}"/>
              </a:ext>
            </a:extLst>
          </p:cNvPr>
          <p:cNvSpPr/>
          <p:nvPr/>
        </p:nvSpPr>
        <p:spPr>
          <a:xfrm>
            <a:off x="5299924" y="291226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Oval 27">
            <a:extLst>
              <a:ext uri="{FF2B5EF4-FFF2-40B4-BE49-F238E27FC236}">
                <a16:creationId xmlns:a16="http://schemas.microsoft.com/office/drawing/2014/main" id="{37B65677-2920-46C5-9A3E-EE8C9DAAE457}"/>
              </a:ext>
            </a:extLst>
          </p:cNvPr>
          <p:cNvSpPr/>
          <p:nvPr/>
        </p:nvSpPr>
        <p:spPr>
          <a:xfrm>
            <a:off x="3969331" y="263232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Oval 28">
            <a:extLst>
              <a:ext uri="{FF2B5EF4-FFF2-40B4-BE49-F238E27FC236}">
                <a16:creationId xmlns:a16="http://schemas.microsoft.com/office/drawing/2014/main" id="{30E73610-7BD3-41C1-B9ED-480A95A80E14}"/>
              </a:ext>
            </a:extLst>
          </p:cNvPr>
          <p:cNvSpPr/>
          <p:nvPr/>
        </p:nvSpPr>
        <p:spPr>
          <a:xfrm>
            <a:off x="4587246" y="253730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Oval 29">
            <a:extLst>
              <a:ext uri="{FF2B5EF4-FFF2-40B4-BE49-F238E27FC236}">
                <a16:creationId xmlns:a16="http://schemas.microsoft.com/office/drawing/2014/main" id="{1998C7A0-99C4-4FA4-ACE3-E5548DCC7AC0}"/>
              </a:ext>
            </a:extLst>
          </p:cNvPr>
          <p:cNvSpPr/>
          <p:nvPr/>
        </p:nvSpPr>
        <p:spPr>
          <a:xfrm>
            <a:off x="4739646" y="268970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Oval 30">
            <a:extLst>
              <a:ext uri="{FF2B5EF4-FFF2-40B4-BE49-F238E27FC236}">
                <a16:creationId xmlns:a16="http://schemas.microsoft.com/office/drawing/2014/main" id="{063D83DA-F174-49A2-812C-D10D2228AE7B}"/>
              </a:ext>
            </a:extLst>
          </p:cNvPr>
          <p:cNvSpPr/>
          <p:nvPr/>
        </p:nvSpPr>
        <p:spPr>
          <a:xfrm>
            <a:off x="4892046" y="284210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Oval 31">
            <a:extLst>
              <a:ext uri="{FF2B5EF4-FFF2-40B4-BE49-F238E27FC236}">
                <a16:creationId xmlns:a16="http://schemas.microsoft.com/office/drawing/2014/main" id="{5083CC16-0C90-4F25-A2AA-004DD359D3B2}"/>
              </a:ext>
            </a:extLst>
          </p:cNvPr>
          <p:cNvSpPr/>
          <p:nvPr/>
        </p:nvSpPr>
        <p:spPr>
          <a:xfrm>
            <a:off x="4121731" y="278472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Oval 32">
            <a:extLst>
              <a:ext uri="{FF2B5EF4-FFF2-40B4-BE49-F238E27FC236}">
                <a16:creationId xmlns:a16="http://schemas.microsoft.com/office/drawing/2014/main" id="{AE06EB6B-598C-486B-9323-59F4EF6A8E84}"/>
              </a:ext>
            </a:extLst>
          </p:cNvPr>
          <p:cNvSpPr/>
          <p:nvPr/>
        </p:nvSpPr>
        <p:spPr>
          <a:xfrm>
            <a:off x="4274131" y="293712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Oval 33">
            <a:extLst>
              <a:ext uri="{FF2B5EF4-FFF2-40B4-BE49-F238E27FC236}">
                <a16:creationId xmlns:a16="http://schemas.microsoft.com/office/drawing/2014/main" id="{93339B2B-C945-4247-94B5-E61A74E2DAF5}"/>
              </a:ext>
            </a:extLst>
          </p:cNvPr>
          <p:cNvSpPr/>
          <p:nvPr/>
        </p:nvSpPr>
        <p:spPr>
          <a:xfrm>
            <a:off x="4426531" y="308952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Oval 34">
            <a:extLst>
              <a:ext uri="{FF2B5EF4-FFF2-40B4-BE49-F238E27FC236}">
                <a16:creationId xmlns:a16="http://schemas.microsoft.com/office/drawing/2014/main" id="{20AFB2B6-7A0B-4C49-865B-07DD200A3FEF}"/>
              </a:ext>
            </a:extLst>
          </p:cNvPr>
          <p:cNvSpPr/>
          <p:nvPr/>
        </p:nvSpPr>
        <p:spPr>
          <a:xfrm>
            <a:off x="3376363" y="349694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Oval 35">
            <a:extLst>
              <a:ext uri="{FF2B5EF4-FFF2-40B4-BE49-F238E27FC236}">
                <a16:creationId xmlns:a16="http://schemas.microsoft.com/office/drawing/2014/main" id="{96FC0F30-15AF-481D-AB2A-6D60682CA5E5}"/>
              </a:ext>
            </a:extLst>
          </p:cNvPr>
          <p:cNvSpPr/>
          <p:nvPr/>
        </p:nvSpPr>
        <p:spPr>
          <a:xfrm>
            <a:off x="3528763" y="364934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Oval 36">
            <a:extLst>
              <a:ext uri="{FF2B5EF4-FFF2-40B4-BE49-F238E27FC236}">
                <a16:creationId xmlns:a16="http://schemas.microsoft.com/office/drawing/2014/main" id="{16CA5E5F-DAF6-4832-95C5-193B71C7454D}"/>
              </a:ext>
            </a:extLst>
          </p:cNvPr>
          <p:cNvSpPr/>
          <p:nvPr/>
        </p:nvSpPr>
        <p:spPr>
          <a:xfrm>
            <a:off x="3681163" y="380174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Oval 37">
            <a:extLst>
              <a:ext uri="{FF2B5EF4-FFF2-40B4-BE49-F238E27FC236}">
                <a16:creationId xmlns:a16="http://schemas.microsoft.com/office/drawing/2014/main" id="{6D913749-D9DC-4AC1-880E-DAECAE88405B}"/>
              </a:ext>
            </a:extLst>
          </p:cNvPr>
          <p:cNvSpPr/>
          <p:nvPr/>
        </p:nvSpPr>
        <p:spPr>
          <a:xfrm>
            <a:off x="3833563" y="395414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Oval 38">
            <a:extLst>
              <a:ext uri="{FF2B5EF4-FFF2-40B4-BE49-F238E27FC236}">
                <a16:creationId xmlns:a16="http://schemas.microsoft.com/office/drawing/2014/main" id="{C3FAB0F9-98F3-4795-A709-DCC94E850E12}"/>
              </a:ext>
            </a:extLst>
          </p:cNvPr>
          <p:cNvSpPr/>
          <p:nvPr/>
        </p:nvSpPr>
        <p:spPr>
          <a:xfrm>
            <a:off x="3681162" y="324485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Oval 39">
            <a:extLst>
              <a:ext uri="{FF2B5EF4-FFF2-40B4-BE49-F238E27FC236}">
                <a16:creationId xmlns:a16="http://schemas.microsoft.com/office/drawing/2014/main" id="{01EA33DF-C66E-4667-BEA7-9BAEC703E3F6}"/>
              </a:ext>
            </a:extLst>
          </p:cNvPr>
          <p:cNvSpPr/>
          <p:nvPr/>
        </p:nvSpPr>
        <p:spPr>
          <a:xfrm>
            <a:off x="3833562" y="339725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Oval 40">
            <a:extLst>
              <a:ext uri="{FF2B5EF4-FFF2-40B4-BE49-F238E27FC236}">
                <a16:creationId xmlns:a16="http://schemas.microsoft.com/office/drawing/2014/main" id="{4C7BFD1C-C649-4E65-8466-DF2420A9F1AA}"/>
              </a:ext>
            </a:extLst>
          </p:cNvPr>
          <p:cNvSpPr/>
          <p:nvPr/>
        </p:nvSpPr>
        <p:spPr>
          <a:xfrm>
            <a:off x="3985962" y="354965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Oval 41">
            <a:extLst>
              <a:ext uri="{FF2B5EF4-FFF2-40B4-BE49-F238E27FC236}">
                <a16:creationId xmlns:a16="http://schemas.microsoft.com/office/drawing/2014/main" id="{B79EAAD4-CA9A-48B0-894B-7C2B5BCC5C78}"/>
              </a:ext>
            </a:extLst>
          </p:cNvPr>
          <p:cNvSpPr/>
          <p:nvPr/>
        </p:nvSpPr>
        <p:spPr>
          <a:xfrm>
            <a:off x="4138362" y="370205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3" name="Oval 42">
            <a:extLst>
              <a:ext uri="{FF2B5EF4-FFF2-40B4-BE49-F238E27FC236}">
                <a16:creationId xmlns:a16="http://schemas.microsoft.com/office/drawing/2014/main" id="{4D7D563B-3872-456D-BDDE-C0AD69044DE4}"/>
              </a:ext>
            </a:extLst>
          </p:cNvPr>
          <p:cNvSpPr/>
          <p:nvPr/>
        </p:nvSpPr>
        <p:spPr>
          <a:xfrm>
            <a:off x="4290762" y="385445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Oval 43">
            <a:extLst>
              <a:ext uri="{FF2B5EF4-FFF2-40B4-BE49-F238E27FC236}">
                <a16:creationId xmlns:a16="http://schemas.microsoft.com/office/drawing/2014/main" id="{8CEAD553-FEDB-49FA-81F5-BA5FEF1B8462}"/>
              </a:ext>
            </a:extLst>
          </p:cNvPr>
          <p:cNvSpPr/>
          <p:nvPr/>
        </p:nvSpPr>
        <p:spPr>
          <a:xfrm>
            <a:off x="3875682" y="27413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5" name="Oval 44">
            <a:extLst>
              <a:ext uri="{FF2B5EF4-FFF2-40B4-BE49-F238E27FC236}">
                <a16:creationId xmlns:a16="http://schemas.microsoft.com/office/drawing/2014/main" id="{AFFE994C-E70A-4C37-A943-D11AAB86B2D0}"/>
              </a:ext>
            </a:extLst>
          </p:cNvPr>
          <p:cNvSpPr/>
          <p:nvPr/>
        </p:nvSpPr>
        <p:spPr>
          <a:xfrm>
            <a:off x="4028082" y="28937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Oval 45">
            <a:extLst>
              <a:ext uri="{FF2B5EF4-FFF2-40B4-BE49-F238E27FC236}">
                <a16:creationId xmlns:a16="http://schemas.microsoft.com/office/drawing/2014/main" id="{2623FCF8-9E6F-4B8F-878B-3E14B3F7591B}"/>
              </a:ext>
            </a:extLst>
          </p:cNvPr>
          <p:cNvSpPr/>
          <p:nvPr/>
        </p:nvSpPr>
        <p:spPr>
          <a:xfrm>
            <a:off x="4180482" y="30461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 name="Oval 46">
            <a:extLst>
              <a:ext uri="{FF2B5EF4-FFF2-40B4-BE49-F238E27FC236}">
                <a16:creationId xmlns:a16="http://schemas.microsoft.com/office/drawing/2014/main" id="{D3993E65-07AF-4182-95E9-12B0C25DCD38}"/>
              </a:ext>
            </a:extLst>
          </p:cNvPr>
          <p:cNvSpPr/>
          <p:nvPr/>
        </p:nvSpPr>
        <p:spPr>
          <a:xfrm>
            <a:off x="4332882" y="31985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8" name="Oval 47">
            <a:extLst>
              <a:ext uri="{FF2B5EF4-FFF2-40B4-BE49-F238E27FC236}">
                <a16:creationId xmlns:a16="http://schemas.microsoft.com/office/drawing/2014/main" id="{DE902535-F857-4CED-BC94-BC40F30CE31A}"/>
              </a:ext>
            </a:extLst>
          </p:cNvPr>
          <p:cNvSpPr/>
          <p:nvPr/>
        </p:nvSpPr>
        <p:spPr>
          <a:xfrm>
            <a:off x="4485282" y="33509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Oval 48">
            <a:extLst>
              <a:ext uri="{FF2B5EF4-FFF2-40B4-BE49-F238E27FC236}">
                <a16:creationId xmlns:a16="http://schemas.microsoft.com/office/drawing/2014/main" id="{44F6AF3B-5BC6-45D7-A042-A9AC1A653AF7}"/>
              </a:ext>
            </a:extLst>
          </p:cNvPr>
          <p:cNvSpPr/>
          <p:nvPr/>
        </p:nvSpPr>
        <p:spPr>
          <a:xfrm>
            <a:off x="3925004" y="312843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0" name="Oval 49">
            <a:extLst>
              <a:ext uri="{FF2B5EF4-FFF2-40B4-BE49-F238E27FC236}">
                <a16:creationId xmlns:a16="http://schemas.microsoft.com/office/drawing/2014/main" id="{5F9EBE47-B3E1-419C-AC55-E929598FDB96}"/>
              </a:ext>
            </a:extLst>
          </p:cNvPr>
          <p:cNvSpPr/>
          <p:nvPr/>
        </p:nvSpPr>
        <p:spPr>
          <a:xfrm>
            <a:off x="4637682" y="35033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Oval 50">
            <a:extLst>
              <a:ext uri="{FF2B5EF4-FFF2-40B4-BE49-F238E27FC236}">
                <a16:creationId xmlns:a16="http://schemas.microsoft.com/office/drawing/2014/main" id="{6C44023F-17BC-4895-8FF0-A091568D3761}"/>
              </a:ext>
            </a:extLst>
          </p:cNvPr>
          <p:cNvSpPr/>
          <p:nvPr/>
        </p:nvSpPr>
        <p:spPr>
          <a:xfrm>
            <a:off x="4790082" y="365578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2" name="Oval 51">
            <a:extLst>
              <a:ext uri="{FF2B5EF4-FFF2-40B4-BE49-F238E27FC236}">
                <a16:creationId xmlns:a16="http://schemas.microsoft.com/office/drawing/2014/main" id="{48D3CC53-A934-4611-978D-94AD2F3E6C99}"/>
              </a:ext>
            </a:extLst>
          </p:cNvPr>
          <p:cNvSpPr/>
          <p:nvPr/>
        </p:nvSpPr>
        <p:spPr>
          <a:xfrm>
            <a:off x="4037507" y="326574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3" name="Oval 52">
            <a:extLst>
              <a:ext uri="{FF2B5EF4-FFF2-40B4-BE49-F238E27FC236}">
                <a16:creationId xmlns:a16="http://schemas.microsoft.com/office/drawing/2014/main" id="{15B02DFC-3086-40F5-ABF6-760F2FD292BD}"/>
              </a:ext>
            </a:extLst>
          </p:cNvPr>
          <p:cNvSpPr/>
          <p:nvPr/>
        </p:nvSpPr>
        <p:spPr>
          <a:xfrm>
            <a:off x="3611889" y="352825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4" name="Oval 53">
            <a:extLst>
              <a:ext uri="{FF2B5EF4-FFF2-40B4-BE49-F238E27FC236}">
                <a16:creationId xmlns:a16="http://schemas.microsoft.com/office/drawing/2014/main" id="{913C7AE0-ED50-4780-BA2E-36EF84884AC9}"/>
              </a:ext>
            </a:extLst>
          </p:cNvPr>
          <p:cNvSpPr/>
          <p:nvPr/>
        </p:nvSpPr>
        <p:spPr>
          <a:xfrm>
            <a:off x="4229804" y="343323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5" name="Oval 54">
            <a:extLst>
              <a:ext uri="{FF2B5EF4-FFF2-40B4-BE49-F238E27FC236}">
                <a16:creationId xmlns:a16="http://schemas.microsoft.com/office/drawing/2014/main" id="{4A926640-E2D5-4566-AD00-B1A449C819BD}"/>
              </a:ext>
            </a:extLst>
          </p:cNvPr>
          <p:cNvSpPr/>
          <p:nvPr/>
        </p:nvSpPr>
        <p:spPr>
          <a:xfrm>
            <a:off x="4382204" y="358563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6" name="Oval 55">
            <a:extLst>
              <a:ext uri="{FF2B5EF4-FFF2-40B4-BE49-F238E27FC236}">
                <a16:creationId xmlns:a16="http://schemas.microsoft.com/office/drawing/2014/main" id="{5360CE76-E39C-4044-8AE2-481049B899FB}"/>
              </a:ext>
            </a:extLst>
          </p:cNvPr>
          <p:cNvSpPr/>
          <p:nvPr/>
        </p:nvSpPr>
        <p:spPr>
          <a:xfrm>
            <a:off x="4534604" y="373803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7" name="Oval 56">
            <a:extLst>
              <a:ext uri="{FF2B5EF4-FFF2-40B4-BE49-F238E27FC236}">
                <a16:creationId xmlns:a16="http://schemas.microsoft.com/office/drawing/2014/main" id="{8820F53A-3B15-4934-BCA5-66D2B52B66F0}"/>
              </a:ext>
            </a:extLst>
          </p:cNvPr>
          <p:cNvSpPr/>
          <p:nvPr/>
        </p:nvSpPr>
        <p:spPr>
          <a:xfrm>
            <a:off x="3764289" y="368065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8" name="Oval 57">
            <a:extLst>
              <a:ext uri="{FF2B5EF4-FFF2-40B4-BE49-F238E27FC236}">
                <a16:creationId xmlns:a16="http://schemas.microsoft.com/office/drawing/2014/main" id="{C6997184-C0FE-4E7B-AD22-A19E9FB32802}"/>
              </a:ext>
            </a:extLst>
          </p:cNvPr>
          <p:cNvSpPr/>
          <p:nvPr/>
        </p:nvSpPr>
        <p:spPr>
          <a:xfrm>
            <a:off x="3916689" y="383305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9" name="Oval 58">
            <a:extLst>
              <a:ext uri="{FF2B5EF4-FFF2-40B4-BE49-F238E27FC236}">
                <a16:creationId xmlns:a16="http://schemas.microsoft.com/office/drawing/2014/main" id="{BAF14F54-74AF-4086-A923-18319C0C2D8A}"/>
              </a:ext>
            </a:extLst>
          </p:cNvPr>
          <p:cNvSpPr/>
          <p:nvPr/>
        </p:nvSpPr>
        <p:spPr>
          <a:xfrm>
            <a:off x="4069089" y="398545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0" name="Oval 59">
            <a:extLst>
              <a:ext uri="{FF2B5EF4-FFF2-40B4-BE49-F238E27FC236}">
                <a16:creationId xmlns:a16="http://schemas.microsoft.com/office/drawing/2014/main" id="{AAF27EF0-AE61-43A3-9023-BD2AD03ACF33}"/>
              </a:ext>
            </a:extLst>
          </p:cNvPr>
          <p:cNvSpPr/>
          <p:nvPr/>
        </p:nvSpPr>
        <p:spPr>
          <a:xfrm>
            <a:off x="4287712" y="35566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1" name="Oval 60">
            <a:extLst>
              <a:ext uri="{FF2B5EF4-FFF2-40B4-BE49-F238E27FC236}">
                <a16:creationId xmlns:a16="http://schemas.microsoft.com/office/drawing/2014/main" id="{CB86DF86-4AAE-4962-8CA6-3A8235ABDDCC}"/>
              </a:ext>
            </a:extLst>
          </p:cNvPr>
          <p:cNvSpPr/>
          <p:nvPr/>
        </p:nvSpPr>
        <p:spPr>
          <a:xfrm>
            <a:off x="4440112" y="37090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2" name="Oval 61">
            <a:extLst>
              <a:ext uri="{FF2B5EF4-FFF2-40B4-BE49-F238E27FC236}">
                <a16:creationId xmlns:a16="http://schemas.microsoft.com/office/drawing/2014/main" id="{45018CD3-76B3-41DE-A2F7-DF9E1840D606}"/>
              </a:ext>
            </a:extLst>
          </p:cNvPr>
          <p:cNvSpPr/>
          <p:nvPr/>
        </p:nvSpPr>
        <p:spPr>
          <a:xfrm>
            <a:off x="4592512" y="38614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3" name="Oval 62">
            <a:extLst>
              <a:ext uri="{FF2B5EF4-FFF2-40B4-BE49-F238E27FC236}">
                <a16:creationId xmlns:a16="http://schemas.microsoft.com/office/drawing/2014/main" id="{8BD320B1-E015-4E10-9EDB-6042ACCCDDB9}"/>
              </a:ext>
            </a:extLst>
          </p:cNvPr>
          <p:cNvSpPr/>
          <p:nvPr/>
        </p:nvSpPr>
        <p:spPr>
          <a:xfrm>
            <a:off x="4744912" y="40138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4" name="Oval 63">
            <a:extLst>
              <a:ext uri="{FF2B5EF4-FFF2-40B4-BE49-F238E27FC236}">
                <a16:creationId xmlns:a16="http://schemas.microsoft.com/office/drawing/2014/main" id="{E4788904-4172-4487-A1EE-0B7C6FDE3EF9}"/>
              </a:ext>
            </a:extLst>
          </p:cNvPr>
          <p:cNvSpPr/>
          <p:nvPr/>
        </p:nvSpPr>
        <p:spPr>
          <a:xfrm>
            <a:off x="4592511" y="33045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5" name="Oval 64">
            <a:extLst>
              <a:ext uri="{FF2B5EF4-FFF2-40B4-BE49-F238E27FC236}">
                <a16:creationId xmlns:a16="http://schemas.microsoft.com/office/drawing/2014/main" id="{786B1B03-6055-4772-A61E-1649429157D6}"/>
              </a:ext>
            </a:extLst>
          </p:cNvPr>
          <p:cNvSpPr/>
          <p:nvPr/>
        </p:nvSpPr>
        <p:spPr>
          <a:xfrm>
            <a:off x="4744911" y="34569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6" name="Oval 65">
            <a:extLst>
              <a:ext uri="{FF2B5EF4-FFF2-40B4-BE49-F238E27FC236}">
                <a16:creationId xmlns:a16="http://schemas.microsoft.com/office/drawing/2014/main" id="{F5AE57DA-CBC4-4A5E-AB32-F58C086D7E21}"/>
              </a:ext>
            </a:extLst>
          </p:cNvPr>
          <p:cNvSpPr/>
          <p:nvPr/>
        </p:nvSpPr>
        <p:spPr>
          <a:xfrm>
            <a:off x="4897311" y="36093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7" name="Oval 66">
            <a:extLst>
              <a:ext uri="{FF2B5EF4-FFF2-40B4-BE49-F238E27FC236}">
                <a16:creationId xmlns:a16="http://schemas.microsoft.com/office/drawing/2014/main" id="{ED437819-74A8-454F-8D4B-58B423D6B74D}"/>
              </a:ext>
            </a:extLst>
          </p:cNvPr>
          <p:cNvSpPr/>
          <p:nvPr/>
        </p:nvSpPr>
        <p:spPr>
          <a:xfrm>
            <a:off x="5049711" y="37617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8" name="Oval 67">
            <a:extLst>
              <a:ext uri="{FF2B5EF4-FFF2-40B4-BE49-F238E27FC236}">
                <a16:creationId xmlns:a16="http://schemas.microsoft.com/office/drawing/2014/main" id="{CC825FB0-F2BE-46A2-8FFE-AEC2E7CADA28}"/>
              </a:ext>
            </a:extLst>
          </p:cNvPr>
          <p:cNvSpPr/>
          <p:nvPr/>
        </p:nvSpPr>
        <p:spPr>
          <a:xfrm>
            <a:off x="5202111" y="39141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9" name="Oval 68">
            <a:extLst>
              <a:ext uri="{FF2B5EF4-FFF2-40B4-BE49-F238E27FC236}">
                <a16:creationId xmlns:a16="http://schemas.microsoft.com/office/drawing/2014/main" id="{96E9FD36-B4B0-447D-B7CA-6F7012E62297}"/>
              </a:ext>
            </a:extLst>
          </p:cNvPr>
          <p:cNvSpPr/>
          <p:nvPr/>
        </p:nvSpPr>
        <p:spPr>
          <a:xfrm>
            <a:off x="4787031" y="28010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0" name="Oval 69">
            <a:extLst>
              <a:ext uri="{FF2B5EF4-FFF2-40B4-BE49-F238E27FC236}">
                <a16:creationId xmlns:a16="http://schemas.microsoft.com/office/drawing/2014/main" id="{2255843F-3E96-4723-AAF2-6D7BD8443CF6}"/>
              </a:ext>
            </a:extLst>
          </p:cNvPr>
          <p:cNvSpPr/>
          <p:nvPr/>
        </p:nvSpPr>
        <p:spPr>
          <a:xfrm>
            <a:off x="4939431" y="29534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1" name="Oval 70">
            <a:extLst>
              <a:ext uri="{FF2B5EF4-FFF2-40B4-BE49-F238E27FC236}">
                <a16:creationId xmlns:a16="http://schemas.microsoft.com/office/drawing/2014/main" id="{A4AA25E0-6786-4981-9151-24AE3F77A69D}"/>
              </a:ext>
            </a:extLst>
          </p:cNvPr>
          <p:cNvSpPr/>
          <p:nvPr/>
        </p:nvSpPr>
        <p:spPr>
          <a:xfrm>
            <a:off x="5091831" y="31058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2" name="Oval 71">
            <a:extLst>
              <a:ext uri="{FF2B5EF4-FFF2-40B4-BE49-F238E27FC236}">
                <a16:creationId xmlns:a16="http://schemas.microsoft.com/office/drawing/2014/main" id="{DDA08D14-A5C7-42BD-91F6-8AE8D24D35E2}"/>
              </a:ext>
            </a:extLst>
          </p:cNvPr>
          <p:cNvSpPr/>
          <p:nvPr/>
        </p:nvSpPr>
        <p:spPr>
          <a:xfrm>
            <a:off x="5244231" y="32582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3" name="Oval 72">
            <a:extLst>
              <a:ext uri="{FF2B5EF4-FFF2-40B4-BE49-F238E27FC236}">
                <a16:creationId xmlns:a16="http://schemas.microsoft.com/office/drawing/2014/main" id="{DE347C27-841A-40F4-96F6-5E530E35998E}"/>
              </a:ext>
            </a:extLst>
          </p:cNvPr>
          <p:cNvSpPr/>
          <p:nvPr/>
        </p:nvSpPr>
        <p:spPr>
          <a:xfrm>
            <a:off x="5396631" y="34106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4" name="Oval 73">
            <a:extLst>
              <a:ext uri="{FF2B5EF4-FFF2-40B4-BE49-F238E27FC236}">
                <a16:creationId xmlns:a16="http://schemas.microsoft.com/office/drawing/2014/main" id="{C35A1A91-3143-4590-A229-330FB335119F}"/>
              </a:ext>
            </a:extLst>
          </p:cNvPr>
          <p:cNvSpPr/>
          <p:nvPr/>
        </p:nvSpPr>
        <p:spPr>
          <a:xfrm>
            <a:off x="4836353" y="318810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5" name="Oval 74">
            <a:extLst>
              <a:ext uri="{FF2B5EF4-FFF2-40B4-BE49-F238E27FC236}">
                <a16:creationId xmlns:a16="http://schemas.microsoft.com/office/drawing/2014/main" id="{2E2B744E-88F8-47DB-A7DE-8133CAE9267E}"/>
              </a:ext>
            </a:extLst>
          </p:cNvPr>
          <p:cNvSpPr/>
          <p:nvPr/>
        </p:nvSpPr>
        <p:spPr>
          <a:xfrm>
            <a:off x="5549031" y="35630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6" name="Oval 75">
            <a:extLst>
              <a:ext uri="{FF2B5EF4-FFF2-40B4-BE49-F238E27FC236}">
                <a16:creationId xmlns:a16="http://schemas.microsoft.com/office/drawing/2014/main" id="{126B171F-3940-4BFB-951B-69D8DBCAFF43}"/>
              </a:ext>
            </a:extLst>
          </p:cNvPr>
          <p:cNvSpPr/>
          <p:nvPr/>
        </p:nvSpPr>
        <p:spPr>
          <a:xfrm>
            <a:off x="5701431" y="37154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7" name="Oval 76">
            <a:extLst>
              <a:ext uri="{FF2B5EF4-FFF2-40B4-BE49-F238E27FC236}">
                <a16:creationId xmlns:a16="http://schemas.microsoft.com/office/drawing/2014/main" id="{A047D286-4782-4AFB-B4E2-2C7A07FE0604}"/>
              </a:ext>
            </a:extLst>
          </p:cNvPr>
          <p:cNvSpPr/>
          <p:nvPr/>
        </p:nvSpPr>
        <p:spPr>
          <a:xfrm>
            <a:off x="4948856" y="332541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8" name="Oval 77">
            <a:extLst>
              <a:ext uri="{FF2B5EF4-FFF2-40B4-BE49-F238E27FC236}">
                <a16:creationId xmlns:a16="http://schemas.microsoft.com/office/drawing/2014/main" id="{AA09D543-0E02-4301-B897-7BB6994C38CD}"/>
              </a:ext>
            </a:extLst>
          </p:cNvPr>
          <p:cNvSpPr/>
          <p:nvPr/>
        </p:nvSpPr>
        <p:spPr>
          <a:xfrm>
            <a:off x="4523238" y="358792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9" name="Oval 78">
            <a:extLst>
              <a:ext uri="{FF2B5EF4-FFF2-40B4-BE49-F238E27FC236}">
                <a16:creationId xmlns:a16="http://schemas.microsoft.com/office/drawing/2014/main" id="{9DD605F8-B850-4939-B67A-CC1857E69232}"/>
              </a:ext>
            </a:extLst>
          </p:cNvPr>
          <p:cNvSpPr/>
          <p:nvPr/>
        </p:nvSpPr>
        <p:spPr>
          <a:xfrm>
            <a:off x="5141153" y="349290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0" name="Oval 79">
            <a:extLst>
              <a:ext uri="{FF2B5EF4-FFF2-40B4-BE49-F238E27FC236}">
                <a16:creationId xmlns:a16="http://schemas.microsoft.com/office/drawing/2014/main" id="{E9BA5146-1503-49CC-98B2-0651681DEA07}"/>
              </a:ext>
            </a:extLst>
          </p:cNvPr>
          <p:cNvSpPr/>
          <p:nvPr/>
        </p:nvSpPr>
        <p:spPr>
          <a:xfrm>
            <a:off x="5293553" y="364530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1" name="Oval 80">
            <a:extLst>
              <a:ext uri="{FF2B5EF4-FFF2-40B4-BE49-F238E27FC236}">
                <a16:creationId xmlns:a16="http://schemas.microsoft.com/office/drawing/2014/main" id="{EB90AA96-6391-4409-9623-E586ADE5B32E}"/>
              </a:ext>
            </a:extLst>
          </p:cNvPr>
          <p:cNvSpPr/>
          <p:nvPr/>
        </p:nvSpPr>
        <p:spPr>
          <a:xfrm>
            <a:off x="5445953" y="379770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2" name="Oval 81">
            <a:extLst>
              <a:ext uri="{FF2B5EF4-FFF2-40B4-BE49-F238E27FC236}">
                <a16:creationId xmlns:a16="http://schemas.microsoft.com/office/drawing/2014/main" id="{D37ACCC7-AE18-4639-8359-4432C691B689}"/>
              </a:ext>
            </a:extLst>
          </p:cNvPr>
          <p:cNvSpPr/>
          <p:nvPr/>
        </p:nvSpPr>
        <p:spPr>
          <a:xfrm>
            <a:off x="4675638" y="374032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3" name="Oval 82">
            <a:extLst>
              <a:ext uri="{FF2B5EF4-FFF2-40B4-BE49-F238E27FC236}">
                <a16:creationId xmlns:a16="http://schemas.microsoft.com/office/drawing/2014/main" id="{F3137FEF-158B-4D9C-B1F4-31349E6BA178}"/>
              </a:ext>
            </a:extLst>
          </p:cNvPr>
          <p:cNvSpPr/>
          <p:nvPr/>
        </p:nvSpPr>
        <p:spPr>
          <a:xfrm>
            <a:off x="4828038" y="389272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4" name="Oval 83">
            <a:extLst>
              <a:ext uri="{FF2B5EF4-FFF2-40B4-BE49-F238E27FC236}">
                <a16:creationId xmlns:a16="http://schemas.microsoft.com/office/drawing/2014/main" id="{4D465651-48BF-48CD-AF7A-5639DAB9C226}"/>
              </a:ext>
            </a:extLst>
          </p:cNvPr>
          <p:cNvSpPr/>
          <p:nvPr/>
        </p:nvSpPr>
        <p:spPr>
          <a:xfrm>
            <a:off x="4980438" y="404512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5" name="Oval 84">
            <a:extLst>
              <a:ext uri="{FF2B5EF4-FFF2-40B4-BE49-F238E27FC236}">
                <a16:creationId xmlns:a16="http://schemas.microsoft.com/office/drawing/2014/main" id="{878E72EF-183E-4444-82BC-DC09AF86FAEF}"/>
              </a:ext>
            </a:extLst>
          </p:cNvPr>
          <p:cNvSpPr/>
          <p:nvPr/>
        </p:nvSpPr>
        <p:spPr>
          <a:xfrm>
            <a:off x="2931351" y="306035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6" name="Oval 85">
            <a:extLst>
              <a:ext uri="{FF2B5EF4-FFF2-40B4-BE49-F238E27FC236}">
                <a16:creationId xmlns:a16="http://schemas.microsoft.com/office/drawing/2014/main" id="{803C297A-829D-4704-A5CC-641357DCA711}"/>
              </a:ext>
            </a:extLst>
          </p:cNvPr>
          <p:cNvSpPr/>
          <p:nvPr/>
        </p:nvSpPr>
        <p:spPr>
          <a:xfrm>
            <a:off x="3083751" y="321275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7" name="Oval 86">
            <a:extLst>
              <a:ext uri="{FF2B5EF4-FFF2-40B4-BE49-F238E27FC236}">
                <a16:creationId xmlns:a16="http://schemas.microsoft.com/office/drawing/2014/main" id="{ABF6151B-2AD0-452D-81CA-201D053D02AF}"/>
              </a:ext>
            </a:extLst>
          </p:cNvPr>
          <p:cNvSpPr/>
          <p:nvPr/>
        </p:nvSpPr>
        <p:spPr>
          <a:xfrm>
            <a:off x="3236151" y="336515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8" name="Oval 87">
            <a:extLst>
              <a:ext uri="{FF2B5EF4-FFF2-40B4-BE49-F238E27FC236}">
                <a16:creationId xmlns:a16="http://schemas.microsoft.com/office/drawing/2014/main" id="{6E7B2CE8-42BA-475E-A37B-E59FEE35E02A}"/>
              </a:ext>
            </a:extLst>
          </p:cNvPr>
          <p:cNvSpPr/>
          <p:nvPr/>
        </p:nvSpPr>
        <p:spPr>
          <a:xfrm>
            <a:off x="3388551" y="351755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9" name="Oval 88">
            <a:extLst>
              <a:ext uri="{FF2B5EF4-FFF2-40B4-BE49-F238E27FC236}">
                <a16:creationId xmlns:a16="http://schemas.microsoft.com/office/drawing/2014/main" id="{84E44D56-E487-4A1B-821F-89F068288F68}"/>
              </a:ext>
            </a:extLst>
          </p:cNvPr>
          <p:cNvSpPr/>
          <p:nvPr/>
        </p:nvSpPr>
        <p:spPr>
          <a:xfrm>
            <a:off x="3236150" y="280827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0" name="Oval 89">
            <a:extLst>
              <a:ext uri="{FF2B5EF4-FFF2-40B4-BE49-F238E27FC236}">
                <a16:creationId xmlns:a16="http://schemas.microsoft.com/office/drawing/2014/main" id="{6C5B25AD-3A40-4F5E-BDA8-1E01BB199E79}"/>
              </a:ext>
            </a:extLst>
          </p:cNvPr>
          <p:cNvSpPr/>
          <p:nvPr/>
        </p:nvSpPr>
        <p:spPr>
          <a:xfrm>
            <a:off x="3388550" y="296067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1" name="Oval 90">
            <a:extLst>
              <a:ext uri="{FF2B5EF4-FFF2-40B4-BE49-F238E27FC236}">
                <a16:creationId xmlns:a16="http://schemas.microsoft.com/office/drawing/2014/main" id="{A8135C19-8904-4F7C-BEAE-34974F713AD2}"/>
              </a:ext>
            </a:extLst>
          </p:cNvPr>
          <p:cNvSpPr/>
          <p:nvPr/>
        </p:nvSpPr>
        <p:spPr>
          <a:xfrm>
            <a:off x="3540950" y="311307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2" name="Oval 91">
            <a:extLst>
              <a:ext uri="{FF2B5EF4-FFF2-40B4-BE49-F238E27FC236}">
                <a16:creationId xmlns:a16="http://schemas.microsoft.com/office/drawing/2014/main" id="{D65D9114-4506-465E-8A12-97A603C84567}"/>
              </a:ext>
            </a:extLst>
          </p:cNvPr>
          <p:cNvSpPr/>
          <p:nvPr/>
        </p:nvSpPr>
        <p:spPr>
          <a:xfrm>
            <a:off x="3693350" y="326547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3" name="Oval 92">
            <a:extLst>
              <a:ext uri="{FF2B5EF4-FFF2-40B4-BE49-F238E27FC236}">
                <a16:creationId xmlns:a16="http://schemas.microsoft.com/office/drawing/2014/main" id="{C3226C92-FCA9-4356-BE8C-8FB74F6F29E2}"/>
              </a:ext>
            </a:extLst>
          </p:cNvPr>
          <p:cNvSpPr/>
          <p:nvPr/>
        </p:nvSpPr>
        <p:spPr>
          <a:xfrm>
            <a:off x="3845750" y="341787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4" name="Oval 93">
            <a:extLst>
              <a:ext uri="{FF2B5EF4-FFF2-40B4-BE49-F238E27FC236}">
                <a16:creationId xmlns:a16="http://schemas.microsoft.com/office/drawing/2014/main" id="{4BAD65FB-0EFD-470C-8C45-0CC77A4CDF5C}"/>
              </a:ext>
            </a:extLst>
          </p:cNvPr>
          <p:cNvSpPr/>
          <p:nvPr/>
        </p:nvSpPr>
        <p:spPr>
          <a:xfrm>
            <a:off x="3430670" y="23048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5" name="Oval 94">
            <a:extLst>
              <a:ext uri="{FF2B5EF4-FFF2-40B4-BE49-F238E27FC236}">
                <a16:creationId xmlns:a16="http://schemas.microsoft.com/office/drawing/2014/main" id="{17CE32F2-E28A-4CE9-B0E0-B78BF215F66A}"/>
              </a:ext>
            </a:extLst>
          </p:cNvPr>
          <p:cNvSpPr/>
          <p:nvPr/>
        </p:nvSpPr>
        <p:spPr>
          <a:xfrm>
            <a:off x="3583070" y="24572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6" name="Oval 95">
            <a:extLst>
              <a:ext uri="{FF2B5EF4-FFF2-40B4-BE49-F238E27FC236}">
                <a16:creationId xmlns:a16="http://schemas.microsoft.com/office/drawing/2014/main" id="{611147A8-02DA-4427-BAFA-59446234B682}"/>
              </a:ext>
            </a:extLst>
          </p:cNvPr>
          <p:cNvSpPr/>
          <p:nvPr/>
        </p:nvSpPr>
        <p:spPr>
          <a:xfrm>
            <a:off x="3735470" y="26096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7" name="Oval 96">
            <a:extLst>
              <a:ext uri="{FF2B5EF4-FFF2-40B4-BE49-F238E27FC236}">
                <a16:creationId xmlns:a16="http://schemas.microsoft.com/office/drawing/2014/main" id="{E01AD58A-3A9C-4F43-8B80-0DA5E1AE78CD}"/>
              </a:ext>
            </a:extLst>
          </p:cNvPr>
          <p:cNvSpPr/>
          <p:nvPr/>
        </p:nvSpPr>
        <p:spPr>
          <a:xfrm>
            <a:off x="3887870" y="27620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8" name="Oval 97">
            <a:extLst>
              <a:ext uri="{FF2B5EF4-FFF2-40B4-BE49-F238E27FC236}">
                <a16:creationId xmlns:a16="http://schemas.microsoft.com/office/drawing/2014/main" id="{B4610250-CDE3-4EEE-8085-E52E5DFAFC61}"/>
              </a:ext>
            </a:extLst>
          </p:cNvPr>
          <p:cNvSpPr/>
          <p:nvPr/>
        </p:nvSpPr>
        <p:spPr>
          <a:xfrm>
            <a:off x="4040270" y="29144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9" name="Oval 98">
            <a:extLst>
              <a:ext uri="{FF2B5EF4-FFF2-40B4-BE49-F238E27FC236}">
                <a16:creationId xmlns:a16="http://schemas.microsoft.com/office/drawing/2014/main" id="{588CC098-9D24-4075-B9A6-B2CEF346074F}"/>
              </a:ext>
            </a:extLst>
          </p:cNvPr>
          <p:cNvSpPr/>
          <p:nvPr/>
        </p:nvSpPr>
        <p:spPr>
          <a:xfrm>
            <a:off x="3479992" y="269185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0" name="Oval 99">
            <a:extLst>
              <a:ext uri="{FF2B5EF4-FFF2-40B4-BE49-F238E27FC236}">
                <a16:creationId xmlns:a16="http://schemas.microsoft.com/office/drawing/2014/main" id="{026D1300-E62F-415F-ACBC-513EB296D8F9}"/>
              </a:ext>
            </a:extLst>
          </p:cNvPr>
          <p:cNvSpPr/>
          <p:nvPr/>
        </p:nvSpPr>
        <p:spPr>
          <a:xfrm>
            <a:off x="4192670" y="30668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1" name="Oval 100">
            <a:extLst>
              <a:ext uri="{FF2B5EF4-FFF2-40B4-BE49-F238E27FC236}">
                <a16:creationId xmlns:a16="http://schemas.microsoft.com/office/drawing/2014/main" id="{5D4F3442-DA0C-4672-B0EA-0BB2A81489A2}"/>
              </a:ext>
            </a:extLst>
          </p:cNvPr>
          <p:cNvSpPr/>
          <p:nvPr/>
        </p:nvSpPr>
        <p:spPr>
          <a:xfrm>
            <a:off x="4345070" y="32192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2" name="Oval 101">
            <a:extLst>
              <a:ext uri="{FF2B5EF4-FFF2-40B4-BE49-F238E27FC236}">
                <a16:creationId xmlns:a16="http://schemas.microsoft.com/office/drawing/2014/main" id="{90ABB4DD-60A7-412B-B7C3-043962CB9384}"/>
              </a:ext>
            </a:extLst>
          </p:cNvPr>
          <p:cNvSpPr/>
          <p:nvPr/>
        </p:nvSpPr>
        <p:spPr>
          <a:xfrm>
            <a:off x="3592495" y="282916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3" name="Oval 102">
            <a:extLst>
              <a:ext uri="{FF2B5EF4-FFF2-40B4-BE49-F238E27FC236}">
                <a16:creationId xmlns:a16="http://schemas.microsoft.com/office/drawing/2014/main" id="{B2DE9222-C066-44A1-906E-43C2F679722A}"/>
              </a:ext>
            </a:extLst>
          </p:cNvPr>
          <p:cNvSpPr/>
          <p:nvPr/>
        </p:nvSpPr>
        <p:spPr>
          <a:xfrm>
            <a:off x="3166877" y="309167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 name="Oval 103">
            <a:extLst>
              <a:ext uri="{FF2B5EF4-FFF2-40B4-BE49-F238E27FC236}">
                <a16:creationId xmlns:a16="http://schemas.microsoft.com/office/drawing/2014/main" id="{8A553B91-5A3C-47A8-891B-5A45D6778C58}"/>
              </a:ext>
            </a:extLst>
          </p:cNvPr>
          <p:cNvSpPr/>
          <p:nvPr/>
        </p:nvSpPr>
        <p:spPr>
          <a:xfrm>
            <a:off x="3784792" y="299665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5" name="Oval 104">
            <a:extLst>
              <a:ext uri="{FF2B5EF4-FFF2-40B4-BE49-F238E27FC236}">
                <a16:creationId xmlns:a16="http://schemas.microsoft.com/office/drawing/2014/main" id="{1CFB862C-D7D5-4BCD-B7BC-1FCCF9973B88}"/>
              </a:ext>
            </a:extLst>
          </p:cNvPr>
          <p:cNvSpPr/>
          <p:nvPr/>
        </p:nvSpPr>
        <p:spPr>
          <a:xfrm>
            <a:off x="3937192" y="314905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 name="Oval 105">
            <a:extLst>
              <a:ext uri="{FF2B5EF4-FFF2-40B4-BE49-F238E27FC236}">
                <a16:creationId xmlns:a16="http://schemas.microsoft.com/office/drawing/2014/main" id="{3BA8F966-1372-4318-A5BC-DF397E508850}"/>
              </a:ext>
            </a:extLst>
          </p:cNvPr>
          <p:cNvSpPr/>
          <p:nvPr/>
        </p:nvSpPr>
        <p:spPr>
          <a:xfrm>
            <a:off x="4089592" y="330145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7" name="Oval 106">
            <a:extLst>
              <a:ext uri="{FF2B5EF4-FFF2-40B4-BE49-F238E27FC236}">
                <a16:creationId xmlns:a16="http://schemas.microsoft.com/office/drawing/2014/main" id="{E8974DBE-C4B3-422F-B9D6-473AB289BB83}"/>
              </a:ext>
            </a:extLst>
          </p:cNvPr>
          <p:cNvSpPr/>
          <p:nvPr/>
        </p:nvSpPr>
        <p:spPr>
          <a:xfrm>
            <a:off x="3319277" y="324407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8" name="Oval 107">
            <a:extLst>
              <a:ext uri="{FF2B5EF4-FFF2-40B4-BE49-F238E27FC236}">
                <a16:creationId xmlns:a16="http://schemas.microsoft.com/office/drawing/2014/main" id="{D75551DB-5F02-488D-A06C-FF1DC7E2FA6D}"/>
              </a:ext>
            </a:extLst>
          </p:cNvPr>
          <p:cNvSpPr/>
          <p:nvPr/>
        </p:nvSpPr>
        <p:spPr>
          <a:xfrm>
            <a:off x="3471677" y="339647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9" name="Oval 108">
            <a:extLst>
              <a:ext uri="{FF2B5EF4-FFF2-40B4-BE49-F238E27FC236}">
                <a16:creationId xmlns:a16="http://schemas.microsoft.com/office/drawing/2014/main" id="{2D5B78D2-1653-487B-9132-503D3954ED31}"/>
              </a:ext>
            </a:extLst>
          </p:cNvPr>
          <p:cNvSpPr/>
          <p:nvPr/>
        </p:nvSpPr>
        <p:spPr>
          <a:xfrm>
            <a:off x="3624077" y="354887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0" name="Oval 109">
            <a:extLst>
              <a:ext uri="{FF2B5EF4-FFF2-40B4-BE49-F238E27FC236}">
                <a16:creationId xmlns:a16="http://schemas.microsoft.com/office/drawing/2014/main" id="{7702D241-92F5-4B38-943E-74EA190B945D}"/>
              </a:ext>
            </a:extLst>
          </p:cNvPr>
          <p:cNvSpPr/>
          <p:nvPr/>
        </p:nvSpPr>
        <p:spPr>
          <a:xfrm>
            <a:off x="3622814" y="227911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1" name="Oval 110">
            <a:extLst>
              <a:ext uri="{FF2B5EF4-FFF2-40B4-BE49-F238E27FC236}">
                <a16:creationId xmlns:a16="http://schemas.microsoft.com/office/drawing/2014/main" id="{4C4B11C3-EBED-4F53-AB11-51EE37B25C12}"/>
              </a:ext>
            </a:extLst>
          </p:cNvPr>
          <p:cNvSpPr/>
          <p:nvPr/>
        </p:nvSpPr>
        <p:spPr>
          <a:xfrm>
            <a:off x="3775214" y="243151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2" name="Oval 111">
            <a:extLst>
              <a:ext uri="{FF2B5EF4-FFF2-40B4-BE49-F238E27FC236}">
                <a16:creationId xmlns:a16="http://schemas.microsoft.com/office/drawing/2014/main" id="{9F4E0F87-D48B-4695-BE57-3EE6B69A2811}"/>
              </a:ext>
            </a:extLst>
          </p:cNvPr>
          <p:cNvSpPr/>
          <p:nvPr/>
        </p:nvSpPr>
        <p:spPr>
          <a:xfrm>
            <a:off x="3927614" y="258391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3" name="Oval 112">
            <a:extLst>
              <a:ext uri="{FF2B5EF4-FFF2-40B4-BE49-F238E27FC236}">
                <a16:creationId xmlns:a16="http://schemas.microsoft.com/office/drawing/2014/main" id="{3B7F425B-9C0A-4732-8265-D934C923B698}"/>
              </a:ext>
            </a:extLst>
          </p:cNvPr>
          <p:cNvSpPr/>
          <p:nvPr/>
        </p:nvSpPr>
        <p:spPr>
          <a:xfrm>
            <a:off x="4080014" y="273631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4" name="Oval 113">
            <a:extLst>
              <a:ext uri="{FF2B5EF4-FFF2-40B4-BE49-F238E27FC236}">
                <a16:creationId xmlns:a16="http://schemas.microsoft.com/office/drawing/2014/main" id="{14EF5209-0CF0-48A4-88F8-F7B6EDE0FE49}"/>
              </a:ext>
            </a:extLst>
          </p:cNvPr>
          <p:cNvSpPr/>
          <p:nvPr/>
        </p:nvSpPr>
        <p:spPr>
          <a:xfrm>
            <a:off x="3927613" y="202702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5" name="Oval 114">
            <a:extLst>
              <a:ext uri="{FF2B5EF4-FFF2-40B4-BE49-F238E27FC236}">
                <a16:creationId xmlns:a16="http://schemas.microsoft.com/office/drawing/2014/main" id="{CA1E5706-12ED-4B0C-999D-394B28C7840F}"/>
              </a:ext>
            </a:extLst>
          </p:cNvPr>
          <p:cNvSpPr/>
          <p:nvPr/>
        </p:nvSpPr>
        <p:spPr>
          <a:xfrm>
            <a:off x="4080013" y="217942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6" name="Oval 115">
            <a:extLst>
              <a:ext uri="{FF2B5EF4-FFF2-40B4-BE49-F238E27FC236}">
                <a16:creationId xmlns:a16="http://schemas.microsoft.com/office/drawing/2014/main" id="{1AED3242-6818-4FD7-9EFB-3BBCC237F63B}"/>
              </a:ext>
            </a:extLst>
          </p:cNvPr>
          <p:cNvSpPr/>
          <p:nvPr/>
        </p:nvSpPr>
        <p:spPr>
          <a:xfrm>
            <a:off x="4232413" y="233182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7" name="Oval 116">
            <a:extLst>
              <a:ext uri="{FF2B5EF4-FFF2-40B4-BE49-F238E27FC236}">
                <a16:creationId xmlns:a16="http://schemas.microsoft.com/office/drawing/2014/main" id="{5F60B3D9-6E34-4330-8E96-965F3DE3A98B}"/>
              </a:ext>
            </a:extLst>
          </p:cNvPr>
          <p:cNvSpPr/>
          <p:nvPr/>
        </p:nvSpPr>
        <p:spPr>
          <a:xfrm>
            <a:off x="4384813" y="248422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8" name="Oval 117">
            <a:extLst>
              <a:ext uri="{FF2B5EF4-FFF2-40B4-BE49-F238E27FC236}">
                <a16:creationId xmlns:a16="http://schemas.microsoft.com/office/drawing/2014/main" id="{DCDCCC96-8885-49E3-9815-06A8E46678DB}"/>
              </a:ext>
            </a:extLst>
          </p:cNvPr>
          <p:cNvSpPr/>
          <p:nvPr/>
        </p:nvSpPr>
        <p:spPr>
          <a:xfrm>
            <a:off x="4537213" y="263662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9" name="Oval 118">
            <a:extLst>
              <a:ext uri="{FF2B5EF4-FFF2-40B4-BE49-F238E27FC236}">
                <a16:creationId xmlns:a16="http://schemas.microsoft.com/office/drawing/2014/main" id="{59A858DE-F087-4BE2-9B7C-4A53C83E6B5C}"/>
              </a:ext>
            </a:extLst>
          </p:cNvPr>
          <p:cNvSpPr/>
          <p:nvPr/>
        </p:nvSpPr>
        <p:spPr>
          <a:xfrm>
            <a:off x="4122133" y="15235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0" name="Oval 119">
            <a:extLst>
              <a:ext uri="{FF2B5EF4-FFF2-40B4-BE49-F238E27FC236}">
                <a16:creationId xmlns:a16="http://schemas.microsoft.com/office/drawing/2014/main" id="{8A5AB66D-D1C0-49DC-A754-2BD44263E746}"/>
              </a:ext>
            </a:extLst>
          </p:cNvPr>
          <p:cNvSpPr/>
          <p:nvPr/>
        </p:nvSpPr>
        <p:spPr>
          <a:xfrm>
            <a:off x="4274533" y="16759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1" name="Oval 120">
            <a:extLst>
              <a:ext uri="{FF2B5EF4-FFF2-40B4-BE49-F238E27FC236}">
                <a16:creationId xmlns:a16="http://schemas.microsoft.com/office/drawing/2014/main" id="{BF5F46A3-68B9-4318-B97D-34FE5432F165}"/>
              </a:ext>
            </a:extLst>
          </p:cNvPr>
          <p:cNvSpPr/>
          <p:nvPr/>
        </p:nvSpPr>
        <p:spPr>
          <a:xfrm>
            <a:off x="4426933" y="18283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2" name="Oval 121">
            <a:extLst>
              <a:ext uri="{FF2B5EF4-FFF2-40B4-BE49-F238E27FC236}">
                <a16:creationId xmlns:a16="http://schemas.microsoft.com/office/drawing/2014/main" id="{0520BC9B-4447-478E-853E-B259A623C9E0}"/>
              </a:ext>
            </a:extLst>
          </p:cNvPr>
          <p:cNvSpPr/>
          <p:nvPr/>
        </p:nvSpPr>
        <p:spPr>
          <a:xfrm>
            <a:off x="4579333" y="19807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3" name="Oval 122">
            <a:extLst>
              <a:ext uri="{FF2B5EF4-FFF2-40B4-BE49-F238E27FC236}">
                <a16:creationId xmlns:a16="http://schemas.microsoft.com/office/drawing/2014/main" id="{7805A758-070C-464A-9D73-38F810502AA1}"/>
              </a:ext>
            </a:extLst>
          </p:cNvPr>
          <p:cNvSpPr/>
          <p:nvPr/>
        </p:nvSpPr>
        <p:spPr>
          <a:xfrm>
            <a:off x="4731733" y="21331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4" name="Oval 123">
            <a:extLst>
              <a:ext uri="{FF2B5EF4-FFF2-40B4-BE49-F238E27FC236}">
                <a16:creationId xmlns:a16="http://schemas.microsoft.com/office/drawing/2014/main" id="{DB42BF95-B9E0-4DFE-9D90-38CFF27C3EAE}"/>
              </a:ext>
            </a:extLst>
          </p:cNvPr>
          <p:cNvSpPr/>
          <p:nvPr/>
        </p:nvSpPr>
        <p:spPr>
          <a:xfrm>
            <a:off x="4171455" y="19106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5" name="Oval 124">
            <a:extLst>
              <a:ext uri="{FF2B5EF4-FFF2-40B4-BE49-F238E27FC236}">
                <a16:creationId xmlns:a16="http://schemas.microsoft.com/office/drawing/2014/main" id="{C3CC1ABD-7651-4A6A-A8D5-8EFAA6CBC239}"/>
              </a:ext>
            </a:extLst>
          </p:cNvPr>
          <p:cNvSpPr/>
          <p:nvPr/>
        </p:nvSpPr>
        <p:spPr>
          <a:xfrm>
            <a:off x="4884133" y="22855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6" name="Oval 125">
            <a:extLst>
              <a:ext uri="{FF2B5EF4-FFF2-40B4-BE49-F238E27FC236}">
                <a16:creationId xmlns:a16="http://schemas.microsoft.com/office/drawing/2014/main" id="{E090AF65-3B86-49C6-8F47-6B16999EE349}"/>
              </a:ext>
            </a:extLst>
          </p:cNvPr>
          <p:cNvSpPr/>
          <p:nvPr/>
        </p:nvSpPr>
        <p:spPr>
          <a:xfrm>
            <a:off x="5036533" y="243796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7" name="Oval 126">
            <a:extLst>
              <a:ext uri="{FF2B5EF4-FFF2-40B4-BE49-F238E27FC236}">
                <a16:creationId xmlns:a16="http://schemas.microsoft.com/office/drawing/2014/main" id="{B34E94B6-60F3-4CFC-ABD6-6D38C3C17F64}"/>
              </a:ext>
            </a:extLst>
          </p:cNvPr>
          <p:cNvSpPr/>
          <p:nvPr/>
        </p:nvSpPr>
        <p:spPr>
          <a:xfrm>
            <a:off x="4283958" y="204791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8" name="Oval 127">
            <a:extLst>
              <a:ext uri="{FF2B5EF4-FFF2-40B4-BE49-F238E27FC236}">
                <a16:creationId xmlns:a16="http://schemas.microsoft.com/office/drawing/2014/main" id="{40FE8D5E-602F-4F5B-AA96-DD7E44474365}"/>
              </a:ext>
            </a:extLst>
          </p:cNvPr>
          <p:cNvSpPr/>
          <p:nvPr/>
        </p:nvSpPr>
        <p:spPr>
          <a:xfrm>
            <a:off x="3858340" y="231043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9" name="Oval 128">
            <a:extLst>
              <a:ext uri="{FF2B5EF4-FFF2-40B4-BE49-F238E27FC236}">
                <a16:creationId xmlns:a16="http://schemas.microsoft.com/office/drawing/2014/main" id="{CE369D0D-EEB3-4F69-9F35-087E31C2210F}"/>
              </a:ext>
            </a:extLst>
          </p:cNvPr>
          <p:cNvSpPr/>
          <p:nvPr/>
        </p:nvSpPr>
        <p:spPr>
          <a:xfrm>
            <a:off x="4476255" y="22154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0" name="Oval 129">
            <a:extLst>
              <a:ext uri="{FF2B5EF4-FFF2-40B4-BE49-F238E27FC236}">
                <a16:creationId xmlns:a16="http://schemas.microsoft.com/office/drawing/2014/main" id="{E20FF904-C516-4650-95D8-C3C791436309}"/>
              </a:ext>
            </a:extLst>
          </p:cNvPr>
          <p:cNvSpPr/>
          <p:nvPr/>
        </p:nvSpPr>
        <p:spPr>
          <a:xfrm>
            <a:off x="4628655" y="23678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1" name="Oval 130">
            <a:extLst>
              <a:ext uri="{FF2B5EF4-FFF2-40B4-BE49-F238E27FC236}">
                <a16:creationId xmlns:a16="http://schemas.microsoft.com/office/drawing/2014/main" id="{75F0DBAD-F766-4CD5-B0C1-E422A601846B}"/>
              </a:ext>
            </a:extLst>
          </p:cNvPr>
          <p:cNvSpPr/>
          <p:nvPr/>
        </p:nvSpPr>
        <p:spPr>
          <a:xfrm>
            <a:off x="4781055" y="25202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2" name="Oval 131">
            <a:extLst>
              <a:ext uri="{FF2B5EF4-FFF2-40B4-BE49-F238E27FC236}">
                <a16:creationId xmlns:a16="http://schemas.microsoft.com/office/drawing/2014/main" id="{ABB93EAB-125B-41F5-A4B5-E42447EDC0D9}"/>
              </a:ext>
            </a:extLst>
          </p:cNvPr>
          <p:cNvSpPr/>
          <p:nvPr/>
        </p:nvSpPr>
        <p:spPr>
          <a:xfrm>
            <a:off x="4010740" y="246283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3" name="Oval 132">
            <a:extLst>
              <a:ext uri="{FF2B5EF4-FFF2-40B4-BE49-F238E27FC236}">
                <a16:creationId xmlns:a16="http://schemas.microsoft.com/office/drawing/2014/main" id="{3AF8A026-5FE9-4C1E-8C64-36E5D8D453CA}"/>
              </a:ext>
            </a:extLst>
          </p:cNvPr>
          <p:cNvSpPr/>
          <p:nvPr/>
        </p:nvSpPr>
        <p:spPr>
          <a:xfrm>
            <a:off x="4163140" y="261523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4" name="Oval 133">
            <a:extLst>
              <a:ext uri="{FF2B5EF4-FFF2-40B4-BE49-F238E27FC236}">
                <a16:creationId xmlns:a16="http://schemas.microsoft.com/office/drawing/2014/main" id="{1AB14C69-0246-4395-A766-8790A95C1D96}"/>
              </a:ext>
            </a:extLst>
          </p:cNvPr>
          <p:cNvSpPr/>
          <p:nvPr/>
        </p:nvSpPr>
        <p:spPr>
          <a:xfrm>
            <a:off x="4315540" y="276763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5" name="Oval 134">
            <a:extLst>
              <a:ext uri="{FF2B5EF4-FFF2-40B4-BE49-F238E27FC236}">
                <a16:creationId xmlns:a16="http://schemas.microsoft.com/office/drawing/2014/main" id="{D0FCB924-FA2B-49E7-84A0-DE4A3494D66B}"/>
              </a:ext>
            </a:extLst>
          </p:cNvPr>
          <p:cNvSpPr/>
          <p:nvPr/>
        </p:nvSpPr>
        <p:spPr>
          <a:xfrm>
            <a:off x="4496914" y="224976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6" name="Oval 135">
            <a:extLst>
              <a:ext uri="{FF2B5EF4-FFF2-40B4-BE49-F238E27FC236}">
                <a16:creationId xmlns:a16="http://schemas.microsoft.com/office/drawing/2014/main" id="{1C18F280-113B-4EA8-8C57-FEB12410EE88}"/>
              </a:ext>
            </a:extLst>
          </p:cNvPr>
          <p:cNvSpPr/>
          <p:nvPr/>
        </p:nvSpPr>
        <p:spPr>
          <a:xfrm>
            <a:off x="4649314" y="240216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7" name="Oval 136">
            <a:extLst>
              <a:ext uri="{FF2B5EF4-FFF2-40B4-BE49-F238E27FC236}">
                <a16:creationId xmlns:a16="http://schemas.microsoft.com/office/drawing/2014/main" id="{23688623-0F11-4997-AD78-738345C89833}"/>
              </a:ext>
            </a:extLst>
          </p:cNvPr>
          <p:cNvSpPr/>
          <p:nvPr/>
        </p:nvSpPr>
        <p:spPr>
          <a:xfrm>
            <a:off x="4801714" y="255456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8" name="Oval 137">
            <a:extLst>
              <a:ext uri="{FF2B5EF4-FFF2-40B4-BE49-F238E27FC236}">
                <a16:creationId xmlns:a16="http://schemas.microsoft.com/office/drawing/2014/main" id="{F4F32FC9-6D80-4D9C-980D-557876555C4C}"/>
              </a:ext>
            </a:extLst>
          </p:cNvPr>
          <p:cNvSpPr/>
          <p:nvPr/>
        </p:nvSpPr>
        <p:spPr>
          <a:xfrm>
            <a:off x="4954114" y="270696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9" name="Oval 138">
            <a:extLst>
              <a:ext uri="{FF2B5EF4-FFF2-40B4-BE49-F238E27FC236}">
                <a16:creationId xmlns:a16="http://schemas.microsoft.com/office/drawing/2014/main" id="{2DB8F44F-DA69-4638-B8E3-6F5517AD109B}"/>
              </a:ext>
            </a:extLst>
          </p:cNvPr>
          <p:cNvSpPr/>
          <p:nvPr/>
        </p:nvSpPr>
        <p:spPr>
          <a:xfrm>
            <a:off x="4801713" y="199767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0" name="Oval 139">
            <a:extLst>
              <a:ext uri="{FF2B5EF4-FFF2-40B4-BE49-F238E27FC236}">
                <a16:creationId xmlns:a16="http://schemas.microsoft.com/office/drawing/2014/main" id="{CDB4903C-A423-40F5-9BFD-05B83A2A3326}"/>
              </a:ext>
            </a:extLst>
          </p:cNvPr>
          <p:cNvSpPr/>
          <p:nvPr/>
        </p:nvSpPr>
        <p:spPr>
          <a:xfrm>
            <a:off x="4954113" y="215007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1" name="Oval 140">
            <a:extLst>
              <a:ext uri="{FF2B5EF4-FFF2-40B4-BE49-F238E27FC236}">
                <a16:creationId xmlns:a16="http://schemas.microsoft.com/office/drawing/2014/main" id="{376C7A9B-B7FF-4E61-9733-0274FF1528FB}"/>
              </a:ext>
            </a:extLst>
          </p:cNvPr>
          <p:cNvSpPr/>
          <p:nvPr/>
        </p:nvSpPr>
        <p:spPr>
          <a:xfrm>
            <a:off x="5106513" y="230247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2" name="Oval 141">
            <a:extLst>
              <a:ext uri="{FF2B5EF4-FFF2-40B4-BE49-F238E27FC236}">
                <a16:creationId xmlns:a16="http://schemas.microsoft.com/office/drawing/2014/main" id="{A3CC1881-AA28-4091-952A-257EF1E63A04}"/>
              </a:ext>
            </a:extLst>
          </p:cNvPr>
          <p:cNvSpPr/>
          <p:nvPr/>
        </p:nvSpPr>
        <p:spPr>
          <a:xfrm>
            <a:off x="5258913" y="245487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3" name="Oval 142">
            <a:extLst>
              <a:ext uri="{FF2B5EF4-FFF2-40B4-BE49-F238E27FC236}">
                <a16:creationId xmlns:a16="http://schemas.microsoft.com/office/drawing/2014/main" id="{B49DC7F2-3EF4-4DDA-BDDE-419F13ED1B24}"/>
              </a:ext>
            </a:extLst>
          </p:cNvPr>
          <p:cNvSpPr/>
          <p:nvPr/>
        </p:nvSpPr>
        <p:spPr>
          <a:xfrm>
            <a:off x="5411313" y="260727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4" name="Oval 143">
            <a:extLst>
              <a:ext uri="{FF2B5EF4-FFF2-40B4-BE49-F238E27FC236}">
                <a16:creationId xmlns:a16="http://schemas.microsoft.com/office/drawing/2014/main" id="{F54B984A-76B5-42DE-9A7B-A64AA14EC0FB}"/>
              </a:ext>
            </a:extLst>
          </p:cNvPr>
          <p:cNvSpPr/>
          <p:nvPr/>
        </p:nvSpPr>
        <p:spPr>
          <a:xfrm>
            <a:off x="4996233" y="14942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5" name="Oval 144">
            <a:extLst>
              <a:ext uri="{FF2B5EF4-FFF2-40B4-BE49-F238E27FC236}">
                <a16:creationId xmlns:a16="http://schemas.microsoft.com/office/drawing/2014/main" id="{B1892DC4-F07A-48FE-B465-39B7392D6516}"/>
              </a:ext>
            </a:extLst>
          </p:cNvPr>
          <p:cNvSpPr/>
          <p:nvPr/>
        </p:nvSpPr>
        <p:spPr>
          <a:xfrm>
            <a:off x="5148633" y="16466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6" name="Oval 145">
            <a:extLst>
              <a:ext uri="{FF2B5EF4-FFF2-40B4-BE49-F238E27FC236}">
                <a16:creationId xmlns:a16="http://schemas.microsoft.com/office/drawing/2014/main" id="{F2B411CE-73BA-468E-B444-04A109A2710D}"/>
              </a:ext>
            </a:extLst>
          </p:cNvPr>
          <p:cNvSpPr/>
          <p:nvPr/>
        </p:nvSpPr>
        <p:spPr>
          <a:xfrm>
            <a:off x="5301033" y="17990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7" name="Oval 146">
            <a:extLst>
              <a:ext uri="{FF2B5EF4-FFF2-40B4-BE49-F238E27FC236}">
                <a16:creationId xmlns:a16="http://schemas.microsoft.com/office/drawing/2014/main" id="{C398403F-EA7B-49E6-9D2E-CA1AA7BA13F0}"/>
              </a:ext>
            </a:extLst>
          </p:cNvPr>
          <p:cNvSpPr/>
          <p:nvPr/>
        </p:nvSpPr>
        <p:spPr>
          <a:xfrm>
            <a:off x="5453433" y="19514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8" name="Oval 147">
            <a:extLst>
              <a:ext uri="{FF2B5EF4-FFF2-40B4-BE49-F238E27FC236}">
                <a16:creationId xmlns:a16="http://schemas.microsoft.com/office/drawing/2014/main" id="{0C401491-B150-4543-9C55-3F7AEF198FCA}"/>
              </a:ext>
            </a:extLst>
          </p:cNvPr>
          <p:cNvSpPr/>
          <p:nvPr/>
        </p:nvSpPr>
        <p:spPr>
          <a:xfrm>
            <a:off x="5605833" y="21038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9" name="Oval 148">
            <a:extLst>
              <a:ext uri="{FF2B5EF4-FFF2-40B4-BE49-F238E27FC236}">
                <a16:creationId xmlns:a16="http://schemas.microsoft.com/office/drawing/2014/main" id="{A987265E-F25D-4EC6-86D8-62D4809A9E87}"/>
              </a:ext>
            </a:extLst>
          </p:cNvPr>
          <p:cNvSpPr/>
          <p:nvPr/>
        </p:nvSpPr>
        <p:spPr>
          <a:xfrm>
            <a:off x="5045555" y="18812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0" name="Oval 149">
            <a:extLst>
              <a:ext uri="{FF2B5EF4-FFF2-40B4-BE49-F238E27FC236}">
                <a16:creationId xmlns:a16="http://schemas.microsoft.com/office/drawing/2014/main" id="{47013FC9-F932-404C-9E83-9058DEA9CC83}"/>
              </a:ext>
            </a:extLst>
          </p:cNvPr>
          <p:cNvSpPr/>
          <p:nvPr/>
        </p:nvSpPr>
        <p:spPr>
          <a:xfrm>
            <a:off x="5758233" y="22562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1" name="Oval 150">
            <a:extLst>
              <a:ext uri="{FF2B5EF4-FFF2-40B4-BE49-F238E27FC236}">
                <a16:creationId xmlns:a16="http://schemas.microsoft.com/office/drawing/2014/main" id="{4D210047-8BB5-4CAE-A9EE-A9A6A5BA76BC}"/>
              </a:ext>
            </a:extLst>
          </p:cNvPr>
          <p:cNvSpPr/>
          <p:nvPr/>
        </p:nvSpPr>
        <p:spPr>
          <a:xfrm>
            <a:off x="5910633" y="24086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2" name="Oval 151">
            <a:extLst>
              <a:ext uri="{FF2B5EF4-FFF2-40B4-BE49-F238E27FC236}">
                <a16:creationId xmlns:a16="http://schemas.microsoft.com/office/drawing/2014/main" id="{240118E7-5D1A-4311-8760-81F017F88C6A}"/>
              </a:ext>
            </a:extLst>
          </p:cNvPr>
          <p:cNvSpPr/>
          <p:nvPr/>
        </p:nvSpPr>
        <p:spPr>
          <a:xfrm>
            <a:off x="5158058" y="201857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3" name="Oval 152">
            <a:extLst>
              <a:ext uri="{FF2B5EF4-FFF2-40B4-BE49-F238E27FC236}">
                <a16:creationId xmlns:a16="http://schemas.microsoft.com/office/drawing/2014/main" id="{D25B3E8B-E127-4B65-8355-ADF46CD69159}"/>
              </a:ext>
            </a:extLst>
          </p:cNvPr>
          <p:cNvSpPr/>
          <p:nvPr/>
        </p:nvSpPr>
        <p:spPr>
          <a:xfrm>
            <a:off x="4732440" y="228108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4" name="Oval 153">
            <a:extLst>
              <a:ext uri="{FF2B5EF4-FFF2-40B4-BE49-F238E27FC236}">
                <a16:creationId xmlns:a16="http://schemas.microsoft.com/office/drawing/2014/main" id="{A6438CD7-6AC3-4BC2-AFF3-A67E3CABC22C}"/>
              </a:ext>
            </a:extLst>
          </p:cNvPr>
          <p:cNvSpPr/>
          <p:nvPr/>
        </p:nvSpPr>
        <p:spPr>
          <a:xfrm>
            <a:off x="5350355" y="21860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5" name="Oval 154">
            <a:extLst>
              <a:ext uri="{FF2B5EF4-FFF2-40B4-BE49-F238E27FC236}">
                <a16:creationId xmlns:a16="http://schemas.microsoft.com/office/drawing/2014/main" id="{A929890E-D0F5-4B73-AA7D-885B7E52FA84}"/>
              </a:ext>
            </a:extLst>
          </p:cNvPr>
          <p:cNvSpPr/>
          <p:nvPr/>
        </p:nvSpPr>
        <p:spPr>
          <a:xfrm>
            <a:off x="5502755" y="23384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6" name="Oval 155">
            <a:extLst>
              <a:ext uri="{FF2B5EF4-FFF2-40B4-BE49-F238E27FC236}">
                <a16:creationId xmlns:a16="http://schemas.microsoft.com/office/drawing/2014/main" id="{132CF812-D713-43CB-85C8-821798D86132}"/>
              </a:ext>
            </a:extLst>
          </p:cNvPr>
          <p:cNvSpPr/>
          <p:nvPr/>
        </p:nvSpPr>
        <p:spPr>
          <a:xfrm>
            <a:off x="5655155" y="24908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7" name="Oval 156">
            <a:extLst>
              <a:ext uri="{FF2B5EF4-FFF2-40B4-BE49-F238E27FC236}">
                <a16:creationId xmlns:a16="http://schemas.microsoft.com/office/drawing/2014/main" id="{365456C7-0E14-43E7-BE37-BAD3FE58AB4F}"/>
              </a:ext>
            </a:extLst>
          </p:cNvPr>
          <p:cNvSpPr/>
          <p:nvPr/>
        </p:nvSpPr>
        <p:spPr>
          <a:xfrm>
            <a:off x="4884840" y="243348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8" name="Oval 157">
            <a:extLst>
              <a:ext uri="{FF2B5EF4-FFF2-40B4-BE49-F238E27FC236}">
                <a16:creationId xmlns:a16="http://schemas.microsoft.com/office/drawing/2014/main" id="{0D208D8E-6554-4598-A934-6AFC8EEED7C2}"/>
              </a:ext>
            </a:extLst>
          </p:cNvPr>
          <p:cNvSpPr/>
          <p:nvPr/>
        </p:nvSpPr>
        <p:spPr>
          <a:xfrm>
            <a:off x="5037240" y="258588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9" name="Oval 158">
            <a:extLst>
              <a:ext uri="{FF2B5EF4-FFF2-40B4-BE49-F238E27FC236}">
                <a16:creationId xmlns:a16="http://schemas.microsoft.com/office/drawing/2014/main" id="{C7764121-F9F1-44EF-B97D-2FDD050C278E}"/>
              </a:ext>
            </a:extLst>
          </p:cNvPr>
          <p:cNvSpPr/>
          <p:nvPr/>
        </p:nvSpPr>
        <p:spPr>
          <a:xfrm>
            <a:off x="5189640" y="273828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0" name="Oval 159">
            <a:extLst>
              <a:ext uri="{FF2B5EF4-FFF2-40B4-BE49-F238E27FC236}">
                <a16:creationId xmlns:a16="http://schemas.microsoft.com/office/drawing/2014/main" id="{B39E123B-E0D3-4E6F-938B-29F85069DCF3}"/>
              </a:ext>
            </a:extLst>
          </p:cNvPr>
          <p:cNvSpPr/>
          <p:nvPr/>
        </p:nvSpPr>
        <p:spPr>
          <a:xfrm>
            <a:off x="5436438" y="272998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1" name="Oval 160">
            <a:extLst>
              <a:ext uri="{FF2B5EF4-FFF2-40B4-BE49-F238E27FC236}">
                <a16:creationId xmlns:a16="http://schemas.microsoft.com/office/drawing/2014/main" id="{E5A32F6E-243A-409C-8BC4-CA7487B297D8}"/>
              </a:ext>
            </a:extLst>
          </p:cNvPr>
          <p:cNvSpPr/>
          <p:nvPr/>
        </p:nvSpPr>
        <p:spPr>
          <a:xfrm>
            <a:off x="5588838" y="288238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2" name="Oval 161">
            <a:extLst>
              <a:ext uri="{FF2B5EF4-FFF2-40B4-BE49-F238E27FC236}">
                <a16:creationId xmlns:a16="http://schemas.microsoft.com/office/drawing/2014/main" id="{6F39C052-7C71-4076-A834-C2984DC3B61B}"/>
              </a:ext>
            </a:extLst>
          </p:cNvPr>
          <p:cNvSpPr/>
          <p:nvPr/>
        </p:nvSpPr>
        <p:spPr>
          <a:xfrm>
            <a:off x="5741238" y="303478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3" name="Oval 162">
            <a:extLst>
              <a:ext uri="{FF2B5EF4-FFF2-40B4-BE49-F238E27FC236}">
                <a16:creationId xmlns:a16="http://schemas.microsoft.com/office/drawing/2014/main" id="{7EBF9D9E-D06F-4451-8272-F2A9BC77F675}"/>
              </a:ext>
            </a:extLst>
          </p:cNvPr>
          <p:cNvSpPr/>
          <p:nvPr/>
        </p:nvSpPr>
        <p:spPr>
          <a:xfrm>
            <a:off x="5485760" y="311702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4" name="Oval 163">
            <a:extLst>
              <a:ext uri="{FF2B5EF4-FFF2-40B4-BE49-F238E27FC236}">
                <a16:creationId xmlns:a16="http://schemas.microsoft.com/office/drawing/2014/main" id="{DA87259D-AB5E-45A5-95AD-8629CF08039B}"/>
              </a:ext>
            </a:extLst>
          </p:cNvPr>
          <p:cNvSpPr/>
          <p:nvPr/>
        </p:nvSpPr>
        <p:spPr>
          <a:xfrm>
            <a:off x="5638160" y="326942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5" name="Oval 164">
            <a:extLst>
              <a:ext uri="{FF2B5EF4-FFF2-40B4-BE49-F238E27FC236}">
                <a16:creationId xmlns:a16="http://schemas.microsoft.com/office/drawing/2014/main" id="{E065F0DF-34FE-4406-9123-7691D8C55477}"/>
              </a:ext>
            </a:extLst>
          </p:cNvPr>
          <p:cNvSpPr/>
          <p:nvPr/>
        </p:nvSpPr>
        <p:spPr>
          <a:xfrm>
            <a:off x="5543668" y="32404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6" name="Oval 165">
            <a:extLst>
              <a:ext uri="{FF2B5EF4-FFF2-40B4-BE49-F238E27FC236}">
                <a16:creationId xmlns:a16="http://schemas.microsoft.com/office/drawing/2014/main" id="{09EDB509-7D0A-41C2-826C-ABEE1C103075}"/>
              </a:ext>
            </a:extLst>
          </p:cNvPr>
          <p:cNvSpPr/>
          <p:nvPr/>
        </p:nvSpPr>
        <p:spPr>
          <a:xfrm>
            <a:off x="5696068" y="339280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7" name="Oval 166">
            <a:extLst>
              <a:ext uri="{FF2B5EF4-FFF2-40B4-BE49-F238E27FC236}">
                <a16:creationId xmlns:a16="http://schemas.microsoft.com/office/drawing/2014/main" id="{B70A8E20-E4AA-46FD-8B2A-03F83758700C}"/>
              </a:ext>
            </a:extLst>
          </p:cNvPr>
          <p:cNvSpPr/>
          <p:nvPr/>
        </p:nvSpPr>
        <p:spPr>
          <a:xfrm>
            <a:off x="5696067" y="283591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8" name="Oval 167">
            <a:extLst>
              <a:ext uri="{FF2B5EF4-FFF2-40B4-BE49-F238E27FC236}">
                <a16:creationId xmlns:a16="http://schemas.microsoft.com/office/drawing/2014/main" id="{C15825A4-C35A-4B40-9661-9F948AE2EEF5}"/>
              </a:ext>
            </a:extLst>
          </p:cNvPr>
          <p:cNvSpPr/>
          <p:nvPr/>
        </p:nvSpPr>
        <p:spPr>
          <a:xfrm>
            <a:off x="5626794" y="31193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9" name="Oval 168">
            <a:extLst>
              <a:ext uri="{FF2B5EF4-FFF2-40B4-BE49-F238E27FC236}">
                <a16:creationId xmlns:a16="http://schemas.microsoft.com/office/drawing/2014/main" id="{36174607-672F-4692-B590-1C77CC671910}"/>
              </a:ext>
            </a:extLst>
          </p:cNvPr>
          <p:cNvSpPr/>
          <p:nvPr/>
        </p:nvSpPr>
        <p:spPr>
          <a:xfrm>
            <a:off x="5448626" y="275060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0" name="Oval 169">
            <a:extLst>
              <a:ext uri="{FF2B5EF4-FFF2-40B4-BE49-F238E27FC236}">
                <a16:creationId xmlns:a16="http://schemas.microsoft.com/office/drawing/2014/main" id="{F126B8B3-D136-48AB-8706-BE9A81780908}"/>
              </a:ext>
            </a:extLst>
          </p:cNvPr>
          <p:cNvSpPr/>
          <p:nvPr/>
        </p:nvSpPr>
        <p:spPr>
          <a:xfrm>
            <a:off x="4621889" y="146709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1" name="Oval 170">
            <a:extLst>
              <a:ext uri="{FF2B5EF4-FFF2-40B4-BE49-F238E27FC236}">
                <a16:creationId xmlns:a16="http://schemas.microsoft.com/office/drawing/2014/main" id="{A53CD5A6-D3A2-42F1-AC08-E57B5B25B5EF}"/>
              </a:ext>
            </a:extLst>
          </p:cNvPr>
          <p:cNvSpPr/>
          <p:nvPr/>
        </p:nvSpPr>
        <p:spPr>
          <a:xfrm>
            <a:off x="4774289" y="161949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2" name="Oval 171">
            <a:extLst>
              <a:ext uri="{FF2B5EF4-FFF2-40B4-BE49-F238E27FC236}">
                <a16:creationId xmlns:a16="http://schemas.microsoft.com/office/drawing/2014/main" id="{087B2756-D388-4ACD-BC06-54DFE9638BF7}"/>
              </a:ext>
            </a:extLst>
          </p:cNvPr>
          <p:cNvSpPr/>
          <p:nvPr/>
        </p:nvSpPr>
        <p:spPr>
          <a:xfrm>
            <a:off x="4926689" y="177189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3" name="Oval 172">
            <a:extLst>
              <a:ext uri="{FF2B5EF4-FFF2-40B4-BE49-F238E27FC236}">
                <a16:creationId xmlns:a16="http://schemas.microsoft.com/office/drawing/2014/main" id="{01A8F13D-5496-4B05-B30B-3A585FE081BC}"/>
              </a:ext>
            </a:extLst>
          </p:cNvPr>
          <p:cNvSpPr/>
          <p:nvPr/>
        </p:nvSpPr>
        <p:spPr>
          <a:xfrm>
            <a:off x="4671211" y="185413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4" name="Oval 173">
            <a:extLst>
              <a:ext uri="{FF2B5EF4-FFF2-40B4-BE49-F238E27FC236}">
                <a16:creationId xmlns:a16="http://schemas.microsoft.com/office/drawing/2014/main" id="{E3D8ACB7-3145-499A-9C50-FE79A09114F5}"/>
              </a:ext>
            </a:extLst>
          </p:cNvPr>
          <p:cNvSpPr/>
          <p:nvPr/>
        </p:nvSpPr>
        <p:spPr>
          <a:xfrm>
            <a:off x="4823611" y="200653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5" name="Oval 174">
            <a:extLst>
              <a:ext uri="{FF2B5EF4-FFF2-40B4-BE49-F238E27FC236}">
                <a16:creationId xmlns:a16="http://schemas.microsoft.com/office/drawing/2014/main" id="{8500C648-AB92-473E-9839-6ECCE416F626}"/>
              </a:ext>
            </a:extLst>
          </p:cNvPr>
          <p:cNvSpPr/>
          <p:nvPr/>
        </p:nvSpPr>
        <p:spPr>
          <a:xfrm>
            <a:off x="4729119" y="19775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6" name="Oval 175">
            <a:extLst>
              <a:ext uri="{FF2B5EF4-FFF2-40B4-BE49-F238E27FC236}">
                <a16:creationId xmlns:a16="http://schemas.microsoft.com/office/drawing/2014/main" id="{38D92663-2BC8-4D59-8127-3BBBA40A2BE0}"/>
              </a:ext>
            </a:extLst>
          </p:cNvPr>
          <p:cNvSpPr/>
          <p:nvPr/>
        </p:nvSpPr>
        <p:spPr>
          <a:xfrm>
            <a:off x="4881519" y="212991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7" name="Oval 176">
            <a:extLst>
              <a:ext uri="{FF2B5EF4-FFF2-40B4-BE49-F238E27FC236}">
                <a16:creationId xmlns:a16="http://schemas.microsoft.com/office/drawing/2014/main" id="{578EFEFA-5614-436D-A330-4F8B2D73ECD8}"/>
              </a:ext>
            </a:extLst>
          </p:cNvPr>
          <p:cNvSpPr/>
          <p:nvPr/>
        </p:nvSpPr>
        <p:spPr>
          <a:xfrm>
            <a:off x="4881518" y="1573028"/>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8" name="Oval 177">
            <a:extLst>
              <a:ext uri="{FF2B5EF4-FFF2-40B4-BE49-F238E27FC236}">
                <a16:creationId xmlns:a16="http://schemas.microsoft.com/office/drawing/2014/main" id="{421D6E2F-EED3-4CA8-B212-01E4FEDEA017}"/>
              </a:ext>
            </a:extLst>
          </p:cNvPr>
          <p:cNvSpPr/>
          <p:nvPr/>
        </p:nvSpPr>
        <p:spPr>
          <a:xfrm>
            <a:off x="4812245" y="185643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9" name="Oval 178">
            <a:extLst>
              <a:ext uri="{FF2B5EF4-FFF2-40B4-BE49-F238E27FC236}">
                <a16:creationId xmlns:a16="http://schemas.microsoft.com/office/drawing/2014/main" id="{D78010AC-8D0B-4100-B9D4-B5786AF331A6}"/>
              </a:ext>
            </a:extLst>
          </p:cNvPr>
          <p:cNvSpPr/>
          <p:nvPr/>
        </p:nvSpPr>
        <p:spPr>
          <a:xfrm>
            <a:off x="4634077" y="148771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0" name="Oval 179">
            <a:extLst>
              <a:ext uri="{FF2B5EF4-FFF2-40B4-BE49-F238E27FC236}">
                <a16:creationId xmlns:a16="http://schemas.microsoft.com/office/drawing/2014/main" id="{6EA4BD1A-DB21-4008-A6CA-CE3AFA97B4DC}"/>
              </a:ext>
            </a:extLst>
          </p:cNvPr>
          <p:cNvSpPr/>
          <p:nvPr/>
        </p:nvSpPr>
        <p:spPr>
          <a:xfrm>
            <a:off x="3443227" y="252788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1" name="Oval 180">
            <a:extLst>
              <a:ext uri="{FF2B5EF4-FFF2-40B4-BE49-F238E27FC236}">
                <a16:creationId xmlns:a16="http://schemas.microsoft.com/office/drawing/2014/main" id="{CD13E8E8-191E-441B-A344-E625AF693C09}"/>
              </a:ext>
            </a:extLst>
          </p:cNvPr>
          <p:cNvSpPr/>
          <p:nvPr/>
        </p:nvSpPr>
        <p:spPr>
          <a:xfrm>
            <a:off x="3595627" y="268028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2" name="Oval 181">
            <a:extLst>
              <a:ext uri="{FF2B5EF4-FFF2-40B4-BE49-F238E27FC236}">
                <a16:creationId xmlns:a16="http://schemas.microsoft.com/office/drawing/2014/main" id="{C9D79743-C66A-4CA3-B152-95730EAD211F}"/>
              </a:ext>
            </a:extLst>
          </p:cNvPr>
          <p:cNvSpPr/>
          <p:nvPr/>
        </p:nvSpPr>
        <p:spPr>
          <a:xfrm>
            <a:off x="3748027" y="283268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3" name="Oval 182">
            <a:extLst>
              <a:ext uri="{FF2B5EF4-FFF2-40B4-BE49-F238E27FC236}">
                <a16:creationId xmlns:a16="http://schemas.microsoft.com/office/drawing/2014/main" id="{E51B3BD4-01B8-40EA-99C0-384134798EC5}"/>
              </a:ext>
            </a:extLst>
          </p:cNvPr>
          <p:cNvSpPr/>
          <p:nvPr/>
        </p:nvSpPr>
        <p:spPr>
          <a:xfrm>
            <a:off x="3492549" y="291492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4" name="Oval 183">
            <a:extLst>
              <a:ext uri="{FF2B5EF4-FFF2-40B4-BE49-F238E27FC236}">
                <a16:creationId xmlns:a16="http://schemas.microsoft.com/office/drawing/2014/main" id="{8FA410E5-EA5E-4CD7-9428-22E8BF49EFBE}"/>
              </a:ext>
            </a:extLst>
          </p:cNvPr>
          <p:cNvSpPr/>
          <p:nvPr/>
        </p:nvSpPr>
        <p:spPr>
          <a:xfrm>
            <a:off x="3644949" y="306732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5" name="Oval 184">
            <a:extLst>
              <a:ext uri="{FF2B5EF4-FFF2-40B4-BE49-F238E27FC236}">
                <a16:creationId xmlns:a16="http://schemas.microsoft.com/office/drawing/2014/main" id="{E09C205D-18F2-4882-8625-88510522E5CF}"/>
              </a:ext>
            </a:extLst>
          </p:cNvPr>
          <p:cNvSpPr/>
          <p:nvPr/>
        </p:nvSpPr>
        <p:spPr>
          <a:xfrm>
            <a:off x="3550457" y="303830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6" name="Oval 185">
            <a:extLst>
              <a:ext uri="{FF2B5EF4-FFF2-40B4-BE49-F238E27FC236}">
                <a16:creationId xmlns:a16="http://schemas.microsoft.com/office/drawing/2014/main" id="{AEC08FAF-7FCC-4F44-B950-A3FBDB758C1F}"/>
              </a:ext>
            </a:extLst>
          </p:cNvPr>
          <p:cNvSpPr/>
          <p:nvPr/>
        </p:nvSpPr>
        <p:spPr>
          <a:xfrm>
            <a:off x="3702857" y="3190704"/>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7" name="Oval 186">
            <a:extLst>
              <a:ext uri="{FF2B5EF4-FFF2-40B4-BE49-F238E27FC236}">
                <a16:creationId xmlns:a16="http://schemas.microsoft.com/office/drawing/2014/main" id="{6E16B796-F4C0-40C3-9E15-F51FE5EFC32F}"/>
              </a:ext>
            </a:extLst>
          </p:cNvPr>
          <p:cNvSpPr/>
          <p:nvPr/>
        </p:nvSpPr>
        <p:spPr>
          <a:xfrm>
            <a:off x="3702856" y="263381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8" name="Oval 187">
            <a:extLst>
              <a:ext uri="{FF2B5EF4-FFF2-40B4-BE49-F238E27FC236}">
                <a16:creationId xmlns:a16="http://schemas.microsoft.com/office/drawing/2014/main" id="{0CB5A02B-2BB6-4129-8DA0-28B969C0184C}"/>
              </a:ext>
            </a:extLst>
          </p:cNvPr>
          <p:cNvSpPr/>
          <p:nvPr/>
        </p:nvSpPr>
        <p:spPr>
          <a:xfrm>
            <a:off x="3633583" y="2917219"/>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9" name="Oval 188">
            <a:extLst>
              <a:ext uri="{FF2B5EF4-FFF2-40B4-BE49-F238E27FC236}">
                <a16:creationId xmlns:a16="http://schemas.microsoft.com/office/drawing/2014/main" id="{7817E124-F052-4883-B014-740D35E27904}"/>
              </a:ext>
            </a:extLst>
          </p:cNvPr>
          <p:cNvSpPr/>
          <p:nvPr/>
        </p:nvSpPr>
        <p:spPr>
          <a:xfrm>
            <a:off x="3455415" y="254850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0" name="Oval 189">
            <a:extLst>
              <a:ext uri="{FF2B5EF4-FFF2-40B4-BE49-F238E27FC236}">
                <a16:creationId xmlns:a16="http://schemas.microsoft.com/office/drawing/2014/main" id="{B5CFDC9C-26FF-4DF3-AF06-059087D9E49F}"/>
              </a:ext>
            </a:extLst>
          </p:cNvPr>
          <p:cNvSpPr/>
          <p:nvPr/>
        </p:nvSpPr>
        <p:spPr>
          <a:xfrm>
            <a:off x="5053449" y="1358512"/>
            <a:ext cx="121915" cy="1147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1" name="Oval 190">
            <a:extLst>
              <a:ext uri="{FF2B5EF4-FFF2-40B4-BE49-F238E27FC236}">
                <a16:creationId xmlns:a16="http://schemas.microsoft.com/office/drawing/2014/main" id="{012AEBE2-9F85-40FF-9691-0559BFA40A76}"/>
              </a:ext>
            </a:extLst>
          </p:cNvPr>
          <p:cNvSpPr/>
          <p:nvPr/>
        </p:nvSpPr>
        <p:spPr>
          <a:xfrm>
            <a:off x="5205849" y="15109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2" name="Oval 191">
            <a:extLst>
              <a:ext uri="{FF2B5EF4-FFF2-40B4-BE49-F238E27FC236}">
                <a16:creationId xmlns:a16="http://schemas.microsoft.com/office/drawing/2014/main" id="{B5445896-20BB-43B5-8D20-36BB2610C00A}"/>
              </a:ext>
            </a:extLst>
          </p:cNvPr>
          <p:cNvSpPr/>
          <p:nvPr/>
        </p:nvSpPr>
        <p:spPr>
          <a:xfrm>
            <a:off x="5358249" y="166331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3" name="Oval 192">
            <a:extLst>
              <a:ext uri="{FF2B5EF4-FFF2-40B4-BE49-F238E27FC236}">
                <a16:creationId xmlns:a16="http://schemas.microsoft.com/office/drawing/2014/main" id="{BA70BCE7-1E1D-4393-B747-9B94498E5D2D}"/>
              </a:ext>
            </a:extLst>
          </p:cNvPr>
          <p:cNvSpPr/>
          <p:nvPr/>
        </p:nvSpPr>
        <p:spPr>
          <a:xfrm>
            <a:off x="5102771" y="174555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4" name="Oval 193">
            <a:extLst>
              <a:ext uri="{FF2B5EF4-FFF2-40B4-BE49-F238E27FC236}">
                <a16:creationId xmlns:a16="http://schemas.microsoft.com/office/drawing/2014/main" id="{275F7630-5E75-423A-A8F7-2B2AAF68C3AC}"/>
              </a:ext>
            </a:extLst>
          </p:cNvPr>
          <p:cNvSpPr/>
          <p:nvPr/>
        </p:nvSpPr>
        <p:spPr>
          <a:xfrm>
            <a:off x="5255171" y="189795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5" name="Oval 194">
            <a:extLst>
              <a:ext uri="{FF2B5EF4-FFF2-40B4-BE49-F238E27FC236}">
                <a16:creationId xmlns:a16="http://schemas.microsoft.com/office/drawing/2014/main" id="{1898D637-6643-47BB-B351-E692F093CB95}"/>
              </a:ext>
            </a:extLst>
          </p:cNvPr>
          <p:cNvSpPr/>
          <p:nvPr/>
        </p:nvSpPr>
        <p:spPr>
          <a:xfrm>
            <a:off x="5160679" y="186893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6" name="Oval 195">
            <a:extLst>
              <a:ext uri="{FF2B5EF4-FFF2-40B4-BE49-F238E27FC236}">
                <a16:creationId xmlns:a16="http://schemas.microsoft.com/office/drawing/2014/main" id="{87EC364F-FAF4-4932-900B-42D2DDE7BF2B}"/>
              </a:ext>
            </a:extLst>
          </p:cNvPr>
          <p:cNvSpPr/>
          <p:nvPr/>
        </p:nvSpPr>
        <p:spPr>
          <a:xfrm>
            <a:off x="5313079" y="2021335"/>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7" name="Oval 196">
            <a:extLst>
              <a:ext uri="{FF2B5EF4-FFF2-40B4-BE49-F238E27FC236}">
                <a16:creationId xmlns:a16="http://schemas.microsoft.com/office/drawing/2014/main" id="{A15BF5D3-4FB9-4444-A0A9-871759FC6B17}"/>
              </a:ext>
            </a:extLst>
          </p:cNvPr>
          <p:cNvSpPr/>
          <p:nvPr/>
        </p:nvSpPr>
        <p:spPr>
          <a:xfrm>
            <a:off x="5313078" y="146444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8" name="Oval 197">
            <a:extLst>
              <a:ext uri="{FF2B5EF4-FFF2-40B4-BE49-F238E27FC236}">
                <a16:creationId xmlns:a16="http://schemas.microsoft.com/office/drawing/2014/main" id="{A378F3BA-F20F-4266-9732-3393A25BEC07}"/>
              </a:ext>
            </a:extLst>
          </p:cNvPr>
          <p:cNvSpPr/>
          <p:nvPr/>
        </p:nvSpPr>
        <p:spPr>
          <a:xfrm>
            <a:off x="5243805" y="1747850"/>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199" name="Oval 198">
            <a:extLst>
              <a:ext uri="{FF2B5EF4-FFF2-40B4-BE49-F238E27FC236}">
                <a16:creationId xmlns:a16="http://schemas.microsoft.com/office/drawing/2014/main" id="{A1B110F7-1255-41EF-A803-E583A2E23C51}"/>
              </a:ext>
            </a:extLst>
          </p:cNvPr>
          <p:cNvSpPr/>
          <p:nvPr/>
        </p:nvSpPr>
        <p:spPr>
          <a:xfrm>
            <a:off x="5065637" y="137913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b="1"/>
          </a:p>
        </p:txBody>
      </p:sp>
      <p:sp>
        <p:nvSpPr>
          <p:cNvPr id="200" name="Oval 199">
            <a:extLst>
              <a:ext uri="{FF2B5EF4-FFF2-40B4-BE49-F238E27FC236}">
                <a16:creationId xmlns:a16="http://schemas.microsoft.com/office/drawing/2014/main" id="{A56A40AF-4CA0-4C64-A503-2256BD559907}"/>
              </a:ext>
            </a:extLst>
          </p:cNvPr>
          <p:cNvSpPr/>
          <p:nvPr/>
        </p:nvSpPr>
        <p:spPr>
          <a:xfrm>
            <a:off x="5415931" y="24725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1" name="Oval 200">
            <a:extLst>
              <a:ext uri="{FF2B5EF4-FFF2-40B4-BE49-F238E27FC236}">
                <a16:creationId xmlns:a16="http://schemas.microsoft.com/office/drawing/2014/main" id="{9B8BD9DA-920D-4BF8-94F6-D81D8FE2B248}"/>
              </a:ext>
            </a:extLst>
          </p:cNvPr>
          <p:cNvSpPr/>
          <p:nvPr/>
        </p:nvSpPr>
        <p:spPr>
          <a:xfrm>
            <a:off x="5568331" y="26249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2" name="Oval 201">
            <a:extLst>
              <a:ext uri="{FF2B5EF4-FFF2-40B4-BE49-F238E27FC236}">
                <a16:creationId xmlns:a16="http://schemas.microsoft.com/office/drawing/2014/main" id="{56598737-0D03-4049-A990-57C369580CFE}"/>
              </a:ext>
            </a:extLst>
          </p:cNvPr>
          <p:cNvSpPr/>
          <p:nvPr/>
        </p:nvSpPr>
        <p:spPr>
          <a:xfrm>
            <a:off x="5720731" y="2777323"/>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3" name="Oval 202">
            <a:extLst>
              <a:ext uri="{FF2B5EF4-FFF2-40B4-BE49-F238E27FC236}">
                <a16:creationId xmlns:a16="http://schemas.microsoft.com/office/drawing/2014/main" id="{F2465002-3643-493A-8F1C-20990BD52961}"/>
              </a:ext>
            </a:extLst>
          </p:cNvPr>
          <p:cNvSpPr/>
          <p:nvPr/>
        </p:nvSpPr>
        <p:spPr>
          <a:xfrm>
            <a:off x="5465253" y="285956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4" name="Oval 203">
            <a:extLst>
              <a:ext uri="{FF2B5EF4-FFF2-40B4-BE49-F238E27FC236}">
                <a16:creationId xmlns:a16="http://schemas.microsoft.com/office/drawing/2014/main" id="{33633074-11FD-4120-9F13-E98F2A91F79B}"/>
              </a:ext>
            </a:extLst>
          </p:cNvPr>
          <p:cNvSpPr/>
          <p:nvPr/>
        </p:nvSpPr>
        <p:spPr>
          <a:xfrm>
            <a:off x="5617653" y="301196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5" name="Oval 204">
            <a:extLst>
              <a:ext uri="{FF2B5EF4-FFF2-40B4-BE49-F238E27FC236}">
                <a16:creationId xmlns:a16="http://schemas.microsoft.com/office/drawing/2014/main" id="{52825867-79C1-4FA1-84F5-016F1B6A5085}"/>
              </a:ext>
            </a:extLst>
          </p:cNvPr>
          <p:cNvSpPr/>
          <p:nvPr/>
        </p:nvSpPr>
        <p:spPr>
          <a:xfrm>
            <a:off x="5523161" y="298294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6" name="Oval 205">
            <a:extLst>
              <a:ext uri="{FF2B5EF4-FFF2-40B4-BE49-F238E27FC236}">
                <a16:creationId xmlns:a16="http://schemas.microsoft.com/office/drawing/2014/main" id="{C075C1BE-1442-4EF1-A8B4-A089A314C062}"/>
              </a:ext>
            </a:extLst>
          </p:cNvPr>
          <p:cNvSpPr/>
          <p:nvPr/>
        </p:nvSpPr>
        <p:spPr>
          <a:xfrm>
            <a:off x="5675561" y="3135346"/>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7" name="Oval 206">
            <a:extLst>
              <a:ext uri="{FF2B5EF4-FFF2-40B4-BE49-F238E27FC236}">
                <a16:creationId xmlns:a16="http://schemas.microsoft.com/office/drawing/2014/main" id="{B6E737C8-AD9F-43C6-B7FC-FCC94789D078}"/>
              </a:ext>
            </a:extLst>
          </p:cNvPr>
          <p:cNvSpPr/>
          <p:nvPr/>
        </p:nvSpPr>
        <p:spPr>
          <a:xfrm>
            <a:off x="5675560" y="2578457"/>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8" name="Oval 207">
            <a:extLst>
              <a:ext uri="{FF2B5EF4-FFF2-40B4-BE49-F238E27FC236}">
                <a16:creationId xmlns:a16="http://schemas.microsoft.com/office/drawing/2014/main" id="{D890054B-4F86-49DB-9FCD-B25BB605135C}"/>
              </a:ext>
            </a:extLst>
          </p:cNvPr>
          <p:cNvSpPr/>
          <p:nvPr/>
        </p:nvSpPr>
        <p:spPr>
          <a:xfrm>
            <a:off x="5606287" y="2861861"/>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9" name="Oval 208">
            <a:extLst>
              <a:ext uri="{FF2B5EF4-FFF2-40B4-BE49-F238E27FC236}">
                <a16:creationId xmlns:a16="http://schemas.microsoft.com/office/drawing/2014/main" id="{7CF6116E-3DE6-475E-8DBB-E8B1D784F7F8}"/>
              </a:ext>
            </a:extLst>
          </p:cNvPr>
          <p:cNvSpPr/>
          <p:nvPr/>
        </p:nvSpPr>
        <p:spPr>
          <a:xfrm>
            <a:off x="5428119" y="2493142"/>
            <a:ext cx="121915" cy="114755"/>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3" name="Right Brace 212">
            <a:extLst>
              <a:ext uri="{FF2B5EF4-FFF2-40B4-BE49-F238E27FC236}">
                <a16:creationId xmlns:a16="http://schemas.microsoft.com/office/drawing/2014/main" id="{561B704C-38D3-48FC-8B49-70C2F8E4719A}"/>
              </a:ext>
            </a:extLst>
          </p:cNvPr>
          <p:cNvSpPr/>
          <p:nvPr/>
        </p:nvSpPr>
        <p:spPr>
          <a:xfrm>
            <a:off x="6720840" y="777240"/>
            <a:ext cx="897869" cy="5632694"/>
          </a:xfrm>
          <a:prstGeom prst="righ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214" name="TextBox 213">
                <a:extLst>
                  <a:ext uri="{FF2B5EF4-FFF2-40B4-BE49-F238E27FC236}">
                    <a16:creationId xmlns:a16="http://schemas.microsoft.com/office/drawing/2014/main" id="{5AFF07E4-5EE4-49E8-8495-0FC7AEBDC648}"/>
                  </a:ext>
                </a:extLst>
              </p:cNvPr>
              <p:cNvSpPr txBox="1"/>
              <p:nvPr/>
            </p:nvSpPr>
            <p:spPr>
              <a:xfrm>
                <a:off x="9061329" y="2446581"/>
                <a:ext cx="965072" cy="369332"/>
              </a:xfrm>
              <a:prstGeom prst="rect">
                <a:avLst/>
              </a:prstGeom>
              <a:noFill/>
            </p:spPr>
            <p:txBody>
              <a:bodyPr wrap="none" rtlCol="0">
                <a:spAutoFit/>
              </a:bodyPr>
              <a:lstStyle/>
              <a:p>
                <a:pPr/>
                <a14:m>
                  <m:oMathPara xmlns:m="http://schemas.openxmlformats.org/officeDocument/2006/math">
                    <m:o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214" name="TextBox 213">
                <a:extLst>
                  <a:ext uri="{FF2B5EF4-FFF2-40B4-BE49-F238E27FC236}">
                    <a16:creationId xmlns:a16="http://schemas.microsoft.com/office/drawing/2014/main" id="{5AFF07E4-5EE4-49E8-8495-0FC7AEBDC648}"/>
                  </a:ext>
                </a:extLst>
              </p:cNvPr>
              <p:cNvSpPr txBox="1">
                <a:spLocks noRot="1" noChangeAspect="1" noMove="1" noResize="1" noEditPoints="1" noAdjustHandles="1" noChangeArrowheads="1" noChangeShapeType="1" noTextEdit="1"/>
              </p:cNvSpPr>
              <p:nvPr/>
            </p:nvSpPr>
            <p:spPr>
              <a:xfrm>
                <a:off x="9061329" y="2446581"/>
                <a:ext cx="965072" cy="369332"/>
              </a:xfrm>
              <a:prstGeom prst="rect">
                <a:avLst/>
              </a:prstGeom>
              <a:blipFill>
                <a:blip r:embed="rId6"/>
                <a:stretch>
                  <a:fillRect/>
                </a:stretch>
              </a:blipFill>
            </p:spPr>
            <p:txBody>
              <a:bodyPr/>
              <a:lstStyle/>
              <a:p>
                <a:r>
                  <a:rPr lang="en-CA">
                    <a:noFill/>
                  </a:rPr>
                  <a:t> </a:t>
                </a:r>
              </a:p>
            </p:txBody>
          </p:sp>
        </mc:Fallback>
      </mc:AlternateContent>
      <p:cxnSp>
        <p:nvCxnSpPr>
          <p:cNvPr id="217" name="Straight Connector 216">
            <a:extLst>
              <a:ext uri="{FF2B5EF4-FFF2-40B4-BE49-F238E27FC236}">
                <a16:creationId xmlns:a16="http://schemas.microsoft.com/office/drawing/2014/main" id="{821F0CF7-903E-4FA7-9750-11AD3E8E4D0C}"/>
              </a:ext>
            </a:extLst>
          </p:cNvPr>
          <p:cNvCxnSpPr>
            <a:cxnSpLocks/>
          </p:cNvCxnSpPr>
          <p:nvPr/>
        </p:nvCxnSpPr>
        <p:spPr>
          <a:xfrm flipH="1" flipV="1">
            <a:off x="7824008" y="2381305"/>
            <a:ext cx="3601830" cy="43880"/>
          </a:xfrm>
          <a:prstGeom prst="line">
            <a:avLst/>
          </a:prstGeom>
          <a:ln w="57150"/>
        </p:spPr>
        <p:style>
          <a:lnRef idx="1">
            <a:schemeClr val="dk1"/>
          </a:lnRef>
          <a:fillRef idx="0">
            <a:schemeClr val="dk1"/>
          </a:fillRef>
          <a:effectRef idx="0">
            <a:schemeClr val="dk1"/>
          </a:effectRef>
          <a:fontRef idx="minor">
            <a:schemeClr val="tx1"/>
          </a:fontRef>
        </p:style>
      </p:cxnSp>
      <p:cxnSp>
        <p:nvCxnSpPr>
          <p:cNvPr id="221" name="Straight Connector 220">
            <a:extLst>
              <a:ext uri="{FF2B5EF4-FFF2-40B4-BE49-F238E27FC236}">
                <a16:creationId xmlns:a16="http://schemas.microsoft.com/office/drawing/2014/main" id="{0239FA8B-79C9-4AB2-B3AF-BF31E1CCE44D}"/>
              </a:ext>
            </a:extLst>
          </p:cNvPr>
          <p:cNvCxnSpPr>
            <a:cxnSpLocks/>
          </p:cNvCxnSpPr>
          <p:nvPr/>
        </p:nvCxnSpPr>
        <p:spPr>
          <a:xfrm flipH="1" flipV="1">
            <a:off x="7824008" y="5185465"/>
            <a:ext cx="3601830" cy="43880"/>
          </a:xfrm>
          <a:prstGeom prst="line">
            <a:avLst/>
          </a:prstGeom>
          <a:ln w="571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2" name="TextBox 221">
                <a:extLst>
                  <a:ext uri="{FF2B5EF4-FFF2-40B4-BE49-F238E27FC236}">
                    <a16:creationId xmlns:a16="http://schemas.microsoft.com/office/drawing/2014/main" id="{7751DB6F-882D-4125-BE8C-3AB1DBB45ED9}"/>
                  </a:ext>
                </a:extLst>
              </p:cNvPr>
              <p:cNvSpPr txBox="1"/>
              <p:nvPr/>
            </p:nvSpPr>
            <p:spPr>
              <a:xfrm>
                <a:off x="9164185" y="5232569"/>
                <a:ext cx="950132" cy="369332"/>
              </a:xfrm>
              <a:prstGeom prst="rect">
                <a:avLst/>
              </a:prstGeom>
              <a:noFill/>
            </p:spPr>
            <p:txBody>
              <a:bodyPr wrap="square" rtlCol="0">
                <a:spAutoFit/>
              </a:bodyPr>
              <a:lstStyle/>
              <a:p>
                <a:pPr/>
                <a14:m>
                  <m:oMathPara xmlns:m="http://schemas.openxmlformats.org/officeDocument/2006/math">
                    <m:oMath>
                      <m:r>
                        <m:rPr>
                          <m:sty m:val="p"/>
                        </m:rPr>
                        <a:rPr lang="en-CA" b="0" i="0" smtClean="0">
                          <a:latin typeface="Cambria Math" panose="02040503050406030204" pitchFamily="18" charset="0"/>
                        </a:rPr>
                        <m:t>ΔE</m:t>
                      </m:r>
                      <m:r>
                        <a:rPr lang="en-CA" b="0" i="1" smtClean="0">
                          <a:latin typeface="Cambria Math" panose="02040503050406030204" pitchFamily="18" charset="0"/>
                        </a:rPr>
                        <m:t>×</m:t>
                      </m:r>
                      <m:r>
                        <a:rPr lang="en-CA" b="0" i="1" smtClean="0">
                          <a:latin typeface="Cambria Math" panose="02040503050406030204" pitchFamily="18" charset="0"/>
                        </a:rPr>
                        <m:t>𝑁</m:t>
                      </m:r>
                    </m:oMath>
                  </m:oMathPara>
                </a14:m>
                <a:endParaRPr lang="en-CA" dirty="0"/>
              </a:p>
            </p:txBody>
          </p:sp>
        </mc:Choice>
        <mc:Fallback xmlns="">
          <p:sp>
            <p:nvSpPr>
              <p:cNvPr id="222" name="TextBox 221">
                <a:extLst>
                  <a:ext uri="{FF2B5EF4-FFF2-40B4-BE49-F238E27FC236}">
                    <a16:creationId xmlns:a16="http://schemas.microsoft.com/office/drawing/2014/main" id="{7751DB6F-882D-4125-BE8C-3AB1DBB45ED9}"/>
                  </a:ext>
                </a:extLst>
              </p:cNvPr>
              <p:cNvSpPr txBox="1">
                <a:spLocks noRot="1" noChangeAspect="1" noMove="1" noResize="1" noEditPoints="1" noAdjustHandles="1" noChangeArrowheads="1" noChangeShapeType="1" noTextEdit="1"/>
              </p:cNvSpPr>
              <p:nvPr/>
            </p:nvSpPr>
            <p:spPr>
              <a:xfrm>
                <a:off x="9164185" y="5232569"/>
                <a:ext cx="950132" cy="369332"/>
              </a:xfrm>
              <a:prstGeom prst="rect">
                <a:avLst/>
              </a:prstGeom>
              <a:blipFill>
                <a:blip r:embed="rId7"/>
                <a:stretch>
                  <a:fillRect/>
                </a:stretch>
              </a:blipFill>
            </p:spPr>
            <p:txBody>
              <a:bodyPr/>
              <a:lstStyle/>
              <a:p>
                <a:r>
                  <a:rPr lang="en-CA">
                    <a:noFill/>
                  </a:rPr>
                  <a:t> </a:t>
                </a:r>
              </a:p>
            </p:txBody>
          </p:sp>
        </mc:Fallback>
      </mc:AlternateContent>
      <p:sp>
        <p:nvSpPr>
          <p:cNvPr id="232" name="Freeform: Shape 231">
            <a:extLst>
              <a:ext uri="{FF2B5EF4-FFF2-40B4-BE49-F238E27FC236}">
                <a16:creationId xmlns:a16="http://schemas.microsoft.com/office/drawing/2014/main" id="{3FF52A3B-98F6-4496-A6E1-36D9CF59B88F}"/>
              </a:ext>
            </a:extLst>
          </p:cNvPr>
          <p:cNvSpPr/>
          <p:nvPr/>
        </p:nvSpPr>
        <p:spPr>
          <a:xfrm>
            <a:off x="7913285" y="985993"/>
            <a:ext cx="3428990" cy="1336717"/>
          </a:xfrm>
          <a:custGeom>
            <a:avLst/>
            <a:gdLst>
              <a:gd name="connsiteX0" fmla="*/ 0 w 4014216"/>
              <a:gd name="connsiteY0" fmla="*/ 1709947 h 1709947"/>
              <a:gd name="connsiteX1" fmla="*/ 1143000 w 4014216"/>
              <a:gd name="connsiteY1" fmla="*/ 1106443 h 1709947"/>
              <a:gd name="connsiteX2" fmla="*/ 1993392 w 4014216"/>
              <a:gd name="connsiteY2" fmla="*/ 19 h 1709947"/>
              <a:gd name="connsiteX3" fmla="*/ 2807208 w 4014216"/>
              <a:gd name="connsiteY3" fmla="*/ 1079011 h 1709947"/>
              <a:gd name="connsiteX4" fmla="*/ 4014216 w 4014216"/>
              <a:gd name="connsiteY4" fmla="*/ 1709947 h 17099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4216" h="1709947">
                <a:moveTo>
                  <a:pt x="0" y="1709947"/>
                </a:moveTo>
                <a:cubicBezTo>
                  <a:pt x="405384" y="1550689"/>
                  <a:pt x="810768" y="1391431"/>
                  <a:pt x="1143000" y="1106443"/>
                </a:cubicBezTo>
                <a:cubicBezTo>
                  <a:pt x="1475232" y="821455"/>
                  <a:pt x="1716024" y="4591"/>
                  <a:pt x="1993392" y="19"/>
                </a:cubicBezTo>
                <a:cubicBezTo>
                  <a:pt x="2270760" y="-4553"/>
                  <a:pt x="2470404" y="794023"/>
                  <a:pt x="2807208" y="1079011"/>
                </a:cubicBezTo>
                <a:cubicBezTo>
                  <a:pt x="3144012" y="1363999"/>
                  <a:pt x="3579114" y="1536973"/>
                  <a:pt x="4014216" y="1709947"/>
                </a:cubicBezTo>
              </a:path>
            </a:pathLst>
          </a:cu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3" name="Freeform: Shape 232">
            <a:extLst>
              <a:ext uri="{FF2B5EF4-FFF2-40B4-BE49-F238E27FC236}">
                <a16:creationId xmlns:a16="http://schemas.microsoft.com/office/drawing/2014/main" id="{6DB20B2A-C27A-4777-984E-A320A7721199}"/>
              </a:ext>
            </a:extLst>
          </p:cNvPr>
          <p:cNvSpPr/>
          <p:nvPr/>
        </p:nvSpPr>
        <p:spPr>
          <a:xfrm>
            <a:off x="7924756" y="3852788"/>
            <a:ext cx="3428990" cy="1336717"/>
          </a:xfrm>
          <a:custGeom>
            <a:avLst/>
            <a:gdLst>
              <a:gd name="connsiteX0" fmla="*/ 0 w 4014216"/>
              <a:gd name="connsiteY0" fmla="*/ 1709947 h 1709947"/>
              <a:gd name="connsiteX1" fmla="*/ 1143000 w 4014216"/>
              <a:gd name="connsiteY1" fmla="*/ 1106443 h 1709947"/>
              <a:gd name="connsiteX2" fmla="*/ 1993392 w 4014216"/>
              <a:gd name="connsiteY2" fmla="*/ 19 h 1709947"/>
              <a:gd name="connsiteX3" fmla="*/ 2807208 w 4014216"/>
              <a:gd name="connsiteY3" fmla="*/ 1079011 h 1709947"/>
              <a:gd name="connsiteX4" fmla="*/ 4014216 w 4014216"/>
              <a:gd name="connsiteY4" fmla="*/ 1709947 h 17099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4216" h="1709947">
                <a:moveTo>
                  <a:pt x="0" y="1709947"/>
                </a:moveTo>
                <a:cubicBezTo>
                  <a:pt x="405384" y="1550689"/>
                  <a:pt x="810768" y="1391431"/>
                  <a:pt x="1143000" y="1106443"/>
                </a:cubicBezTo>
                <a:cubicBezTo>
                  <a:pt x="1475232" y="821455"/>
                  <a:pt x="1716024" y="4591"/>
                  <a:pt x="1993392" y="19"/>
                </a:cubicBezTo>
                <a:cubicBezTo>
                  <a:pt x="2270760" y="-4553"/>
                  <a:pt x="2470404" y="794023"/>
                  <a:pt x="2807208" y="1079011"/>
                </a:cubicBezTo>
                <a:cubicBezTo>
                  <a:pt x="3144012" y="1363999"/>
                  <a:pt x="3579114" y="1536973"/>
                  <a:pt x="4014216" y="1709947"/>
                </a:cubicBezTo>
              </a:path>
            </a:pathLst>
          </a:cu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A567E1-E6D8-4F53-A2E7-B15C8F44F069}"/>
                  </a:ext>
                </a:extLst>
              </p:cNvPr>
              <p:cNvSpPr txBox="1"/>
              <p:nvPr/>
            </p:nvSpPr>
            <p:spPr>
              <a:xfrm>
                <a:off x="7247769" y="2750113"/>
                <a:ext cx="4842260" cy="646331"/>
              </a:xfrm>
              <a:prstGeom prst="rect">
                <a:avLst/>
              </a:prstGeom>
              <a:noFill/>
              <a:ln w="28575">
                <a:solidFill>
                  <a:schemeClr val="tx1"/>
                </a:solidFill>
              </a:ln>
            </p:spPr>
            <p:txBody>
              <a:bodyPr wrap="square" rtlCol="0">
                <a:spAutoFit/>
              </a:bodyPr>
              <a:lstStyle/>
              <a:p>
                <a:r>
                  <a:rPr lang="en-CA" dirty="0"/>
                  <a:t>Using the distribution of </a:t>
                </a:r>
                <a14:m>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𝐶</m:t>
                    </m:r>
                    <m:r>
                      <a:rPr lang="en-CA" b="0" i="1" smtClean="0">
                        <a:latin typeface="Cambria Math" panose="02040503050406030204" pitchFamily="18" charset="0"/>
                      </a:rPr>
                      <m:t>×</m:t>
                    </m:r>
                    <m:r>
                      <a:rPr lang="en-CA" b="0" i="1" smtClean="0">
                        <a:latin typeface="Cambria Math" panose="02040503050406030204" pitchFamily="18" charset="0"/>
                      </a:rPr>
                      <m:t>𝑁</m:t>
                    </m:r>
                  </m:oMath>
                </a14:m>
                <a:r>
                  <a:rPr lang="en-CA" dirty="0"/>
                  <a:t> the average budget Impact we see is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𝜇</m:t>
                        </m:r>
                      </m:e>
                      <m:sub>
                        <m:r>
                          <a:rPr lang="en-CA" b="0" i="1" smtClean="0">
                            <a:latin typeface="Cambria Math" panose="02040503050406030204" pitchFamily="18" charset="0"/>
                          </a:rPr>
                          <m:t>𝐵</m:t>
                        </m:r>
                      </m:sub>
                    </m:sSub>
                  </m:oMath>
                </a14:m>
                <a:r>
                  <a:rPr lang="en-CA" dirty="0"/>
                  <a:t> with a variance </a:t>
                </a:r>
                <a14:m>
                  <m:oMath xmlns:m="http://schemas.openxmlformats.org/officeDocument/2006/math">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𝜎</m:t>
                        </m:r>
                      </m:e>
                      <m:sub>
                        <m:r>
                          <a:rPr lang="en-CA" b="0" i="1" smtClean="0">
                            <a:latin typeface="Cambria Math" panose="02040503050406030204" pitchFamily="18" charset="0"/>
                          </a:rPr>
                          <m:t>𝐵</m:t>
                        </m:r>
                      </m:sub>
                      <m:sup>
                        <m:r>
                          <a:rPr lang="en-CA" b="0" i="1" smtClean="0">
                            <a:latin typeface="Cambria Math" panose="02040503050406030204" pitchFamily="18" charset="0"/>
                          </a:rPr>
                          <m:t>2</m:t>
                        </m:r>
                      </m:sup>
                    </m:sSubSup>
                  </m:oMath>
                </a14:m>
                <a:endParaRPr lang="en-CA" dirty="0"/>
              </a:p>
            </p:txBody>
          </p:sp>
        </mc:Choice>
        <mc:Fallback xmlns="">
          <p:sp>
            <p:nvSpPr>
              <p:cNvPr id="8" name="TextBox 7">
                <a:extLst>
                  <a:ext uri="{FF2B5EF4-FFF2-40B4-BE49-F238E27FC236}">
                    <a16:creationId xmlns:a16="http://schemas.microsoft.com/office/drawing/2014/main" id="{76A567E1-E6D8-4F53-A2E7-B15C8F44F069}"/>
                  </a:ext>
                </a:extLst>
              </p:cNvPr>
              <p:cNvSpPr txBox="1">
                <a:spLocks noRot="1" noChangeAspect="1" noMove="1" noResize="1" noEditPoints="1" noAdjustHandles="1" noChangeArrowheads="1" noChangeShapeType="1" noTextEdit="1"/>
              </p:cNvSpPr>
              <p:nvPr/>
            </p:nvSpPr>
            <p:spPr>
              <a:xfrm>
                <a:off x="7247769" y="2750113"/>
                <a:ext cx="4842260" cy="646331"/>
              </a:xfrm>
              <a:prstGeom prst="rect">
                <a:avLst/>
              </a:prstGeom>
              <a:blipFill>
                <a:blip r:embed="rId8"/>
                <a:stretch>
                  <a:fillRect l="-876" t="-2703" b="-11712"/>
                </a:stretch>
              </a:blipFill>
              <a:ln w="28575">
                <a:solidFill>
                  <a:schemeClr val="tx1"/>
                </a:solidFill>
              </a:ln>
            </p:spPr>
            <p:txBody>
              <a:bodyPr/>
              <a:lstStyle/>
              <a:p>
                <a:r>
                  <a:rPr lang="en-CA">
                    <a:noFill/>
                  </a:rPr>
                  <a:t> </a:t>
                </a:r>
              </a:p>
            </p:txBody>
          </p:sp>
        </mc:Fallback>
      </mc:AlternateContent>
    </p:spTree>
    <p:extLst>
      <p:ext uri="{BB962C8B-B14F-4D97-AF65-F5344CB8AC3E}">
        <p14:creationId xmlns:p14="http://schemas.microsoft.com/office/powerpoint/2010/main" val="3525346506"/>
      </p:ext>
    </p:extLst>
  </p:cSld>
  <p:clrMapOvr>
    <a:masterClrMapping/>
  </p:clrMapOvr>
  <mc:AlternateContent xmlns:mc="http://schemas.openxmlformats.org/markup-compatibility/2006" xmlns:p14="http://schemas.microsoft.com/office/powerpoint/2010/main">
    <mc:Choice Requires="p14">
      <p:transition spd="slow" p14:dur="2000" advTm="15450"/>
    </mc:Choice>
    <mc:Fallback xmlns="">
      <p:transition spd="slow" advTm="1545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92DEE-5554-8B90-714E-BF4761FF11A6}"/>
              </a:ext>
            </a:extLst>
          </p:cNvPr>
          <p:cNvSpPr>
            <a:spLocks noGrp="1"/>
          </p:cNvSpPr>
          <p:nvPr>
            <p:ph type="ctrTitle"/>
          </p:nvPr>
        </p:nvSpPr>
        <p:spPr/>
        <p:txBody>
          <a:bodyPr/>
          <a:lstStyle/>
          <a:p>
            <a:r>
              <a:rPr lang="en-CA" dirty="0"/>
              <a:t>Line Models and Sequencing </a:t>
            </a:r>
          </a:p>
        </p:txBody>
      </p:sp>
      <p:sp>
        <p:nvSpPr>
          <p:cNvPr id="3" name="Subtitle 2">
            <a:extLst>
              <a:ext uri="{FF2B5EF4-FFF2-40B4-BE49-F238E27FC236}">
                <a16:creationId xmlns:a16="http://schemas.microsoft.com/office/drawing/2014/main" id="{C26C5681-F4AD-3306-8C16-A6AA462FB365}"/>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12653178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0D3A9-7A82-5927-919F-8D8E7E1DE03D}"/>
              </a:ext>
            </a:extLst>
          </p:cNvPr>
          <p:cNvSpPr>
            <a:spLocks noGrp="1"/>
          </p:cNvSpPr>
          <p:nvPr>
            <p:ph type="title"/>
          </p:nvPr>
        </p:nvSpPr>
        <p:spPr/>
        <p:txBody>
          <a:bodyPr/>
          <a:lstStyle/>
          <a:p>
            <a:r>
              <a:rPr lang="en-CA" dirty="0"/>
              <a:t>The Sequencing Problem</a:t>
            </a:r>
          </a:p>
        </p:txBody>
      </p:sp>
      <p:sp>
        <p:nvSpPr>
          <p:cNvPr id="3" name="Content Placeholder 2">
            <a:extLst>
              <a:ext uri="{FF2B5EF4-FFF2-40B4-BE49-F238E27FC236}">
                <a16:creationId xmlns:a16="http://schemas.microsoft.com/office/drawing/2014/main" id="{FC33B785-B8DD-1F9B-71DA-7417CD3F170E}"/>
              </a:ext>
            </a:extLst>
          </p:cNvPr>
          <p:cNvSpPr>
            <a:spLocks noGrp="1"/>
          </p:cNvSpPr>
          <p:nvPr>
            <p:ph idx="1"/>
          </p:nvPr>
        </p:nvSpPr>
        <p:spPr/>
        <p:txBody>
          <a:bodyPr/>
          <a:lstStyle/>
          <a:p>
            <a:r>
              <a:rPr lang="en-CA" dirty="0"/>
              <a:t>There are over 10 different targeted drugs used for treating ulcerative colitis with dozens of different variants.</a:t>
            </a:r>
          </a:p>
          <a:p>
            <a:r>
              <a:rPr lang="en-CA" dirty="0"/>
              <a:t>Treatments will not work for everyone.</a:t>
            </a:r>
          </a:p>
          <a:p>
            <a:r>
              <a:rPr lang="en-CA" dirty="0"/>
              <a:t>The question we ask: what is the optimal sequence of drugs to try?</a:t>
            </a:r>
          </a:p>
          <a:p>
            <a:r>
              <a:rPr lang="en-CA" dirty="0"/>
              <a:t>With 10 alone, there are over 10!=3,628,800  different possible drug sequences!</a:t>
            </a:r>
          </a:p>
          <a:p>
            <a:r>
              <a:rPr lang="en-CA" dirty="0"/>
              <a:t>While diagnostics help, more often than not </a:t>
            </a:r>
            <a:r>
              <a:rPr lang="en-CA" b="1" dirty="0"/>
              <a:t>step therapy </a:t>
            </a:r>
            <a:r>
              <a:rPr lang="en-CA" dirty="0"/>
              <a:t> or </a:t>
            </a:r>
            <a:r>
              <a:rPr lang="en-CA" b="1" dirty="0"/>
              <a:t>“Fail First” </a:t>
            </a:r>
            <a:r>
              <a:rPr lang="en-CA" dirty="0"/>
              <a:t> Therapy is  used. This is often a constraint required by insurance where lower cost treatments are used before more costly ones.</a:t>
            </a:r>
          </a:p>
          <a:p>
            <a:endParaRPr lang="en-CA" dirty="0"/>
          </a:p>
        </p:txBody>
      </p:sp>
    </p:spTree>
    <p:extLst>
      <p:ext uri="{BB962C8B-B14F-4D97-AF65-F5344CB8AC3E}">
        <p14:creationId xmlns:p14="http://schemas.microsoft.com/office/powerpoint/2010/main" val="4119670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B3ADB-A57E-02A2-782D-74E135A89C02}"/>
              </a:ext>
            </a:extLst>
          </p:cNvPr>
          <p:cNvSpPr>
            <a:spLocks noGrp="1"/>
          </p:cNvSpPr>
          <p:nvPr>
            <p:ph type="title"/>
          </p:nvPr>
        </p:nvSpPr>
        <p:spPr/>
        <p:txBody>
          <a:bodyPr/>
          <a:lstStyle/>
          <a:p>
            <a:r>
              <a:rPr lang="en-CA" dirty="0"/>
              <a:t>Sequencing Treatments an Example</a:t>
            </a:r>
          </a:p>
        </p:txBody>
      </p:sp>
      <p:pic>
        <p:nvPicPr>
          <p:cNvPr id="5" name="Picture 4">
            <a:extLst>
              <a:ext uri="{FF2B5EF4-FFF2-40B4-BE49-F238E27FC236}">
                <a16:creationId xmlns:a16="http://schemas.microsoft.com/office/drawing/2014/main" id="{3203C5A8-BD33-5BA1-2BFE-60FE0D93EC28}"/>
              </a:ext>
            </a:extLst>
          </p:cNvPr>
          <p:cNvPicPr>
            <a:picLocks noChangeAspect="1"/>
          </p:cNvPicPr>
          <p:nvPr/>
        </p:nvPicPr>
        <p:blipFill>
          <a:blip r:embed="rId2"/>
          <a:stretch>
            <a:fillRect/>
          </a:stretch>
        </p:blipFill>
        <p:spPr>
          <a:xfrm>
            <a:off x="666750" y="1920943"/>
            <a:ext cx="5429250" cy="4251673"/>
          </a:xfrm>
          <a:prstGeom prst="rect">
            <a:avLst/>
          </a:prstGeom>
        </p:spPr>
      </p:pic>
      <p:sp>
        <p:nvSpPr>
          <p:cNvPr id="6" name="TextBox 5">
            <a:extLst>
              <a:ext uri="{FF2B5EF4-FFF2-40B4-BE49-F238E27FC236}">
                <a16:creationId xmlns:a16="http://schemas.microsoft.com/office/drawing/2014/main" id="{69B888CB-644E-04C2-E437-E05135327697}"/>
              </a:ext>
            </a:extLst>
          </p:cNvPr>
          <p:cNvSpPr txBox="1"/>
          <p:nvPr/>
        </p:nvSpPr>
        <p:spPr>
          <a:xfrm>
            <a:off x="521208" y="6172616"/>
            <a:ext cx="6045708" cy="646331"/>
          </a:xfrm>
          <a:prstGeom prst="rect">
            <a:avLst/>
          </a:prstGeom>
          <a:noFill/>
        </p:spPr>
        <p:txBody>
          <a:bodyPr wrap="square" rtlCol="0">
            <a:spAutoFit/>
          </a:bodyPr>
          <a:lstStyle/>
          <a:p>
            <a:r>
              <a:rPr lang="en-CA" i="1" dirty="0"/>
              <a:t>From “Budget Impact Analysis of healthcare interventions” by Mauskopf et al </a:t>
            </a:r>
          </a:p>
        </p:txBody>
      </p:sp>
      <p:sp>
        <p:nvSpPr>
          <p:cNvPr id="7" name="Content Placeholder 2">
            <a:extLst>
              <a:ext uri="{FF2B5EF4-FFF2-40B4-BE49-F238E27FC236}">
                <a16:creationId xmlns:a16="http://schemas.microsoft.com/office/drawing/2014/main" id="{A75558E5-4551-C5CC-6471-8ACBE9470B89}"/>
              </a:ext>
            </a:extLst>
          </p:cNvPr>
          <p:cNvSpPr>
            <a:spLocks noGrp="1"/>
          </p:cNvSpPr>
          <p:nvPr>
            <p:ph idx="1"/>
          </p:nvPr>
        </p:nvSpPr>
        <p:spPr>
          <a:xfrm>
            <a:off x="6566916" y="1920943"/>
            <a:ext cx="5109972" cy="4424993"/>
          </a:xfrm>
        </p:spPr>
        <p:txBody>
          <a:bodyPr>
            <a:normAutofit fontScale="92500" lnSpcReduction="10000"/>
          </a:bodyPr>
          <a:lstStyle/>
          <a:p>
            <a:r>
              <a:rPr lang="en-CA" dirty="0"/>
              <a:t>The sequencing of treatments is not trivial.</a:t>
            </a:r>
          </a:p>
          <a:p>
            <a:r>
              <a:rPr lang="en-CA" dirty="0"/>
              <a:t>In a case where we know 3 costs will be incurred over three periods the cheapest should be incurred first followed by the more expensive. </a:t>
            </a:r>
          </a:p>
          <a:p>
            <a:r>
              <a:rPr lang="en-CA" dirty="0"/>
              <a:t>This is argument is based on </a:t>
            </a:r>
            <a:r>
              <a:rPr lang="en-CA" b="1" dirty="0"/>
              <a:t>discounting </a:t>
            </a:r>
            <a:r>
              <a:rPr lang="en-CA" dirty="0"/>
              <a:t>(more expensive treatments are cheaper if the cost is incurred later).</a:t>
            </a:r>
          </a:p>
          <a:p>
            <a:r>
              <a:rPr lang="en-CA" b="1" dirty="0"/>
              <a:t>THIS RULE OFTEN FAILS WHEN WE ACCOUNT FOR THE EFFICACY</a:t>
            </a:r>
            <a:r>
              <a:rPr lang="en-CA" dirty="0"/>
              <a:t> </a:t>
            </a:r>
            <a:r>
              <a:rPr lang="en-CA" b="1" dirty="0"/>
              <a:t>OF A TREATMENT </a:t>
            </a:r>
            <a:r>
              <a:rPr lang="en-CA" dirty="0"/>
              <a:t>(i.e.  The cheapest option, which is least effective may not be the </a:t>
            </a:r>
            <a:r>
              <a:rPr lang="en-CA" dirty="0" err="1"/>
              <a:t>the</a:t>
            </a:r>
            <a:r>
              <a:rPr lang="en-CA" dirty="0"/>
              <a:t> best treatment to put first if we wish to minimize budget impact).</a:t>
            </a:r>
            <a:endParaRPr lang="en-CA" b="1" dirty="0"/>
          </a:p>
          <a:p>
            <a:r>
              <a:rPr lang="en-CA" b="1" dirty="0"/>
              <a:t>THERE IS NO SIMPLE ANSWER TO THIS QUESTION.</a:t>
            </a:r>
          </a:p>
        </p:txBody>
      </p:sp>
    </p:spTree>
    <p:extLst>
      <p:ext uri="{BB962C8B-B14F-4D97-AF65-F5344CB8AC3E}">
        <p14:creationId xmlns:p14="http://schemas.microsoft.com/office/powerpoint/2010/main" val="22566740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6BFD-8C1F-1A76-C667-F4048A7D44D8}"/>
              </a:ext>
            </a:extLst>
          </p:cNvPr>
          <p:cNvSpPr>
            <a:spLocks noGrp="1"/>
          </p:cNvSpPr>
          <p:nvPr>
            <p:ph type="title"/>
          </p:nvPr>
        </p:nvSpPr>
        <p:spPr/>
        <p:txBody>
          <a:bodyPr/>
          <a:lstStyle/>
          <a:p>
            <a:r>
              <a:rPr lang="en-CA" dirty="0"/>
              <a:t>Concluding Remarks on Budget Impact Analysis</a:t>
            </a:r>
          </a:p>
        </p:txBody>
      </p:sp>
      <p:sp>
        <p:nvSpPr>
          <p:cNvPr id="3" name="Content Placeholder 2">
            <a:extLst>
              <a:ext uri="{FF2B5EF4-FFF2-40B4-BE49-F238E27FC236}">
                <a16:creationId xmlns:a16="http://schemas.microsoft.com/office/drawing/2014/main" id="{AF0AAD3C-29B4-0A90-A243-8125358BAA99}"/>
              </a:ext>
            </a:extLst>
          </p:cNvPr>
          <p:cNvSpPr>
            <a:spLocks noGrp="1"/>
          </p:cNvSpPr>
          <p:nvPr>
            <p:ph idx="1"/>
          </p:nvPr>
        </p:nvSpPr>
        <p:spPr>
          <a:xfrm>
            <a:off x="521208" y="2578608"/>
            <a:ext cx="6565392" cy="3767328"/>
          </a:xfrm>
        </p:spPr>
        <p:txBody>
          <a:bodyPr>
            <a:normAutofit fontScale="92500"/>
          </a:bodyPr>
          <a:lstStyle/>
          <a:p>
            <a:r>
              <a:rPr lang="en-CA" dirty="0"/>
              <a:t>Budget Impact Analysis is not Rocket Science.</a:t>
            </a:r>
          </a:p>
          <a:p>
            <a:r>
              <a:rPr lang="en-CA" dirty="0"/>
              <a:t>Budget Impact Analysis can Be as Simple or as Complex as You Like.</a:t>
            </a:r>
          </a:p>
          <a:p>
            <a:pPr lvl="1"/>
            <a:r>
              <a:rPr lang="en-CA" dirty="0"/>
              <a:t>Simple?- Scenario Analysis</a:t>
            </a:r>
          </a:p>
          <a:p>
            <a:pPr lvl="1"/>
            <a:r>
              <a:rPr lang="en-CA" dirty="0"/>
              <a:t>Complex?- Analyze a whole sequence of treatments</a:t>
            </a:r>
          </a:p>
          <a:p>
            <a:r>
              <a:rPr lang="en-CA" dirty="0"/>
              <a:t>We will see more simpler budget impacts compared to complex ones, but things are changing and its good to be aware of what’s going on.</a:t>
            </a:r>
          </a:p>
          <a:p>
            <a:r>
              <a:rPr lang="en-CA" dirty="0"/>
              <a:t>To do a budget impact analysis we need to know the treatment options available for the condition and what kind of adoption would take place when a new treatment is introduced.</a:t>
            </a:r>
          </a:p>
          <a:p>
            <a:pPr marL="0" indent="0">
              <a:buNone/>
            </a:pPr>
            <a:endParaRPr lang="en-CA" dirty="0"/>
          </a:p>
        </p:txBody>
      </p:sp>
      <p:pic>
        <p:nvPicPr>
          <p:cNvPr id="5" name="Picture 4">
            <a:extLst>
              <a:ext uri="{FF2B5EF4-FFF2-40B4-BE49-F238E27FC236}">
                <a16:creationId xmlns:a16="http://schemas.microsoft.com/office/drawing/2014/main" id="{62C4100A-B621-F8BF-3ADC-5226B0BA0AD6}"/>
              </a:ext>
            </a:extLst>
          </p:cNvPr>
          <p:cNvPicPr>
            <a:picLocks noChangeAspect="1"/>
          </p:cNvPicPr>
          <p:nvPr/>
        </p:nvPicPr>
        <p:blipFill>
          <a:blip r:embed="rId2"/>
          <a:stretch>
            <a:fillRect/>
          </a:stretch>
        </p:blipFill>
        <p:spPr>
          <a:xfrm>
            <a:off x="7086600" y="2930768"/>
            <a:ext cx="4755330" cy="2598843"/>
          </a:xfrm>
          <a:prstGeom prst="rect">
            <a:avLst/>
          </a:prstGeom>
        </p:spPr>
      </p:pic>
    </p:spTree>
    <p:extLst>
      <p:ext uri="{BB962C8B-B14F-4D97-AF65-F5344CB8AC3E}">
        <p14:creationId xmlns:p14="http://schemas.microsoft.com/office/powerpoint/2010/main" val="226463344"/>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9649</TotalTime>
  <Words>2117</Words>
  <Application>Microsoft Office PowerPoint</Application>
  <PresentationFormat>Widescreen</PresentationFormat>
  <Paragraphs>323</Paragraphs>
  <Slides>32</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39" baseType="lpstr">
      <vt:lpstr>Aptos</vt:lpstr>
      <vt:lpstr>Arial</vt:lpstr>
      <vt:lpstr>Bierstadt</vt:lpstr>
      <vt:lpstr>Cambria Math</vt:lpstr>
      <vt:lpstr>Wingdings</vt:lpstr>
      <vt:lpstr>GestaltVTI</vt:lpstr>
      <vt:lpstr>Slide</vt:lpstr>
      <vt:lpstr>Advanced Topics in Economic Evaluation and Healthcare</vt:lpstr>
      <vt:lpstr>Lecture Overview</vt:lpstr>
      <vt:lpstr>Motivation</vt:lpstr>
      <vt:lpstr>PowerPoint Presentation</vt:lpstr>
      <vt:lpstr>PowerPoint Presentation</vt:lpstr>
      <vt:lpstr>PowerPoint Presentation</vt:lpstr>
      <vt:lpstr>An Introduction to Budget Impact Analysis</vt:lpstr>
      <vt:lpstr>What is Budget Impact Analysis</vt:lpstr>
      <vt:lpstr>Why Budget Impact Analysis is Important.</vt:lpstr>
      <vt:lpstr>Budget Impact Analysis VS Cost Effectiveness Analysis</vt:lpstr>
      <vt:lpstr>Comments about Budget Impact Analysis</vt:lpstr>
      <vt:lpstr>Static Models of Budget Impact Analysis</vt:lpstr>
      <vt:lpstr>What is Budget Impact Analysis</vt:lpstr>
      <vt:lpstr>A Static Model of Budget Impact Analysis</vt:lpstr>
      <vt:lpstr>A Static Model of Budget Impact Analysis</vt:lpstr>
      <vt:lpstr>Conducting Budget Impact Analysis</vt:lpstr>
      <vt:lpstr>Scenario Analysis In Budget Impact Analysis</vt:lpstr>
      <vt:lpstr>Scenario Analysis In Budget Impact Analysis</vt:lpstr>
      <vt:lpstr>Scenario Analysis In Budget Impact Analysis</vt:lpstr>
      <vt:lpstr>Budget Impact Analysis “Implied” from Cost Effectiveness Analysis</vt:lpstr>
      <vt:lpstr>Cost Effectiveness Analysis VS Budget Impact Analysis</vt:lpstr>
      <vt:lpstr>How to theoretically ground Budget Impact Analysis</vt:lpstr>
      <vt:lpstr>Paulden’s Approach</vt:lpstr>
      <vt:lpstr>PowerPoint Presentation</vt:lpstr>
      <vt:lpstr>Paulden’s Approach</vt:lpstr>
      <vt:lpstr>What we can do with Paulden’s Approach</vt:lpstr>
      <vt:lpstr>What we can do with Paulden’s Approach</vt:lpstr>
      <vt:lpstr>What we can do with Paulden’s Approach</vt:lpstr>
      <vt:lpstr>Line Models and Sequencing </vt:lpstr>
      <vt:lpstr>The Sequencing Problem</vt:lpstr>
      <vt:lpstr>Sequencing Treatments an Example</vt:lpstr>
      <vt:lpstr>Concluding Remarks on Budget Impact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Smith</dc:creator>
  <cp:lastModifiedBy>Jacob Smith</cp:lastModifiedBy>
  <cp:revision>73</cp:revision>
  <dcterms:created xsi:type="dcterms:W3CDTF">2026-08-17T03:21:10Z</dcterms:created>
  <dcterms:modified xsi:type="dcterms:W3CDTF">2026-10-29T15:04:44Z</dcterms:modified>
</cp:coreProperties>
</file>